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image" Target="../media/image-22-1.png"/><Relationship Id="rId4" Type="http://schemas.openxmlformats.org/officeDocument/2006/relationships/image" Target="../media/image-22-1.png"/><Relationship Id="rId5" Type="http://schemas.openxmlformats.org/officeDocument/2006/relationships/image" Target="../media/image-22-1.png"/><Relationship Id="rId6" Type="http://schemas.openxmlformats.org/officeDocument/2006/relationships/image" Target="../media/image-22-1.png"/><Relationship Id="rId7" Type="http://schemas.openxmlformats.org/officeDocument/2006/relationships/image" Target="../media/image-22-1.png"/><Relationship Id="rId8" Type="http://schemas.openxmlformats.org/officeDocument/2006/relationships/image" Target="../media/image-22-1.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image" Target="../media/image-23-1.png"/><Relationship Id="rId4" Type="http://schemas.openxmlformats.org/officeDocument/2006/relationships/image" Target="../media/image-23-1.png"/><Relationship Id="rId5" Type="http://schemas.openxmlformats.org/officeDocument/2006/relationships/image" Target="../media/image-23-1.png"/><Relationship Id="rId6" Type="http://schemas.openxmlformats.org/officeDocument/2006/relationships/image" Target="../media/image-23-1.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image" Target="../media/image-27-1.png"/><Relationship Id="rId4" Type="http://schemas.openxmlformats.org/officeDocument/2006/relationships/image" Target="../media/image-27-1.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1.png"/><Relationship Id="rId3" Type="http://schemas.openxmlformats.org/officeDocument/2006/relationships/image" Target="../media/image-30-1.png"/><Relationship Id="rId4" Type="http://schemas.openxmlformats.org/officeDocument/2006/relationships/image" Target="../media/image-30-1.png"/><Relationship Id="rId5" Type="http://schemas.openxmlformats.org/officeDocument/2006/relationships/image" Target="../media/image-30-1.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1371600"/>
            <a:ext cx="10515600" cy="365760"/>
          </a:xfrm>
          <a:prstGeom prst="rect">
            <a:avLst/>
          </a:prstGeom>
          <a:noFill/>
          <a:ln/>
        </p:spPr>
        <p:txBody>
          <a:bodyPr wrap="square" rtlCol="0" anchor="ctr"/>
          <a:lstStyle/>
          <a:p>
            <a:pPr indent="0" marL="0">
              <a:buNone/>
            </a:pPr>
            <a:r>
              <a:rPr lang="en-US" sz="1400" b="1" spc="200" kern="0" dirty="0">
                <a:solidFill>
                  <a:srgbClr val="F2B705"/>
                </a:solidFill>
                <a:latin typeface="Calibri" pitchFamily="34" charset="0"/>
                <a:ea typeface="Calibri" pitchFamily="34" charset="-122"/>
                <a:cs typeface="Calibri" pitchFamily="34" charset="-120"/>
              </a:rPr>
              <a:t>PENATARAN KURIKULUM PERSEKOLAHAN 2027  •  SIDANG 3</a:t>
            </a:r>
            <a:endParaRPr lang="en-US" sz="1400" dirty="0"/>
          </a:p>
        </p:txBody>
      </p:sp>
      <p:sp>
        <p:nvSpPr>
          <p:cNvPr id="5" name="Text 3"/>
          <p:cNvSpPr txBox="1"/>
          <p:nvPr/>
        </p:nvSpPr>
        <p:spPr>
          <a:xfrm>
            <a:off x="822960" y="1828800"/>
            <a:ext cx="10058400" cy="1737360"/>
          </a:xfrm>
          <a:prstGeom prst="rect">
            <a:avLst/>
          </a:prstGeom>
          <a:noFill/>
          <a:ln/>
        </p:spPr>
        <p:txBody>
          <a:bodyPr wrap="square" rtlCol="0" anchor="ctr"/>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Membongkar Dokumen Kurikulum</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Matematik Tingkatan 1 (KP2027)</a:t>
            </a:r>
            <a:endParaRPr lang="en-US" sz="3800" dirty="0"/>
          </a:p>
        </p:txBody>
      </p:sp>
      <p:sp>
        <p:nvSpPr>
          <p:cNvPr id="6" name="Shape 4"/>
          <p:cNvSpPr/>
          <p:nvPr/>
        </p:nvSpPr>
        <p:spPr>
          <a:xfrm>
            <a:off x="868680" y="3749040"/>
            <a:ext cx="2194560" cy="0"/>
          </a:xfrm>
          <a:prstGeom prst="line">
            <a:avLst/>
          </a:prstGeom>
          <a:noFill/>
          <a:ln w="38100">
            <a:solidFill>
              <a:srgbClr val="F2B705"/>
            </a:solidFill>
            <a:prstDash val="solid"/>
          </a:ln>
        </p:spPr>
      </p:sp>
      <p:sp>
        <p:nvSpPr>
          <p:cNvPr id="7" name="Text 5"/>
          <p:cNvSpPr txBox="1"/>
          <p:nvPr/>
        </p:nvSpPr>
        <p:spPr>
          <a:xfrm>
            <a:off x="822960" y="3931920"/>
            <a:ext cx="9601200" cy="45720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“Teras Kurikulum Masa Hadapan: Menyingkap Arah, Memahami Haluan”</a:t>
            </a:r>
            <a:endParaRPr lang="en-US" sz="1500" dirty="0"/>
          </a:p>
        </p:txBody>
      </p:sp>
      <p:sp>
        <p:nvSpPr>
          <p:cNvPr id="8" name="Shape 6"/>
          <p:cNvSpPr/>
          <p:nvPr/>
        </p:nvSpPr>
        <p:spPr>
          <a:xfrm>
            <a:off x="822960" y="4892040"/>
            <a:ext cx="566928" cy="566928"/>
          </a:xfrm>
          <a:prstGeom prst="ellipse">
            <a:avLst/>
          </a:prstGeom>
          <a:solidFill>
            <a:srgbClr val="2E86AB"/>
          </a:solidFill>
          <a:ln/>
        </p:spPr>
      </p:sp>
      <p:pic>
        <p:nvPicPr>
          <p:cNvPr id="9" name="Image 0" descr="/home/claude/shared_icons/icon_sitemap.png">    </p:cNvPr>
          <p:cNvPicPr>
            <a:picLocks noChangeAspect="1"/>
          </p:cNvPicPr>
          <p:nvPr/>
        </p:nvPicPr>
        <p:blipFill>
          <a:blip r:embed="rId1"/>
          <a:stretch>
            <a:fillRect/>
          </a:stretch>
        </p:blipFill>
        <p:spPr>
          <a:xfrm>
            <a:off x="902330" y="4971410"/>
            <a:ext cx="408188" cy="408188"/>
          </a:xfrm>
          <a:prstGeom prst="rect">
            <a:avLst/>
          </a:prstGeom>
        </p:spPr>
      </p:pic>
      <p:sp>
        <p:nvSpPr>
          <p:cNvPr id="10" name="Shape 7"/>
          <p:cNvSpPr/>
          <p:nvPr/>
        </p:nvSpPr>
        <p:spPr>
          <a:xfrm>
            <a:off x="1572768" y="4892040"/>
            <a:ext cx="566928" cy="566928"/>
          </a:xfrm>
          <a:prstGeom prst="ellipse">
            <a:avLst/>
          </a:prstGeom>
          <a:solidFill>
            <a:srgbClr val="E67E22"/>
          </a:solidFill>
          <a:ln/>
        </p:spPr>
      </p:sp>
      <p:pic>
        <p:nvPicPr>
          <p:cNvPr id="11" name="Image 1" descr="/home/claude/shared_icons/icon_bookReader.png">    </p:cNvPr>
          <p:cNvPicPr>
            <a:picLocks noChangeAspect="1"/>
          </p:cNvPicPr>
          <p:nvPr/>
        </p:nvPicPr>
        <p:blipFill>
          <a:blip r:embed="rId2"/>
          <a:stretch>
            <a:fillRect/>
          </a:stretch>
        </p:blipFill>
        <p:spPr>
          <a:xfrm>
            <a:off x="1652138" y="4971410"/>
            <a:ext cx="408188" cy="408188"/>
          </a:xfrm>
          <a:prstGeom prst="rect">
            <a:avLst/>
          </a:prstGeom>
        </p:spPr>
      </p:pic>
      <p:sp>
        <p:nvSpPr>
          <p:cNvPr id="12" name="Shape 8"/>
          <p:cNvSpPr/>
          <p:nvPr/>
        </p:nvSpPr>
        <p:spPr>
          <a:xfrm>
            <a:off x="2322576" y="4892040"/>
            <a:ext cx="566928" cy="566928"/>
          </a:xfrm>
          <a:prstGeom prst="ellipse">
            <a:avLst/>
          </a:prstGeom>
          <a:solidFill>
            <a:srgbClr val="8E44AD"/>
          </a:solidFill>
          <a:ln/>
        </p:spPr>
      </p:sp>
      <p:pic>
        <p:nvPicPr>
          <p:cNvPr id="13" name="Image 2" descr="/home/claude/shared_icons/icon_balanceScale.png">    </p:cNvPr>
          <p:cNvPicPr>
            <a:picLocks noChangeAspect="1"/>
          </p:cNvPicPr>
          <p:nvPr/>
        </p:nvPicPr>
        <p:blipFill>
          <a:blip r:embed="rId3"/>
          <a:stretch>
            <a:fillRect/>
          </a:stretch>
        </p:blipFill>
        <p:spPr>
          <a:xfrm>
            <a:off x="2401946" y="4971410"/>
            <a:ext cx="408188" cy="408188"/>
          </a:xfrm>
          <a:prstGeom prst="rect">
            <a:avLst/>
          </a:prstGeom>
        </p:spPr>
      </p:pic>
      <p:sp>
        <p:nvSpPr>
          <p:cNvPr id="14" name="Shape 9"/>
          <p:cNvSpPr/>
          <p:nvPr/>
        </p:nvSpPr>
        <p:spPr>
          <a:xfrm>
            <a:off x="3072384" y="4892040"/>
            <a:ext cx="566928" cy="566928"/>
          </a:xfrm>
          <a:prstGeom prst="ellipse">
            <a:avLst/>
          </a:prstGeom>
          <a:solidFill>
            <a:srgbClr val="27AE60"/>
          </a:solidFill>
          <a:ln/>
        </p:spPr>
      </p:sp>
      <p:pic>
        <p:nvPicPr>
          <p:cNvPr id="15" name="Image 3" descr="/home/claude/shared_icons/icon_chalkboard.png">    </p:cNvPr>
          <p:cNvPicPr>
            <a:picLocks noChangeAspect="1"/>
          </p:cNvPicPr>
          <p:nvPr/>
        </p:nvPicPr>
        <p:blipFill>
          <a:blip r:embed="rId4"/>
          <a:stretch>
            <a:fillRect/>
          </a:stretch>
        </p:blipFill>
        <p:spPr>
          <a:xfrm>
            <a:off x="3151754" y="4971410"/>
            <a:ext cx="408188" cy="408188"/>
          </a:xfrm>
          <a:prstGeom prst="rect">
            <a:avLst/>
          </a:prstGeom>
        </p:spPr>
      </p:pic>
      <p:sp>
        <p:nvSpPr>
          <p:cNvPr id="16" name="Text 10"/>
          <p:cNvSpPr txBox="1"/>
          <p:nvPr/>
        </p:nvSpPr>
        <p:spPr>
          <a:xfrm>
            <a:off x="822960" y="5577840"/>
            <a:ext cx="1042416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Struktur   •   Kandungan   •   Pentaksiran   •   Pedagogi</a:t>
            </a:r>
            <a:endParaRPr lang="en-US" sz="1250" dirty="0"/>
          </a:p>
        </p:txBody>
      </p:sp>
      <p:sp>
        <p:nvSpPr>
          <p:cNvPr id="17" name="Text 11"/>
          <p:cNvSpPr txBox="1"/>
          <p:nvPr/>
        </p:nvSpPr>
        <p:spPr>
          <a:xfrm>
            <a:off x="822960" y="6400800"/>
            <a:ext cx="105156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Bahan Perkongsian Peringkat Sekolah  |  Disintesis daripada Slaid Rasmi BPK, Analisis Rakaman Bengkel &amp; Dokumen Kurikulum Matematik 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HASIL PEMBELAJARAN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Selepas Sidang Ini, Guru Dapat...</a:t>
            </a:r>
            <a:endParaRPr lang="en-US" sz="2700" dirty="0"/>
          </a:p>
        </p:txBody>
      </p:sp>
      <p:sp>
        <p:nvSpPr>
          <p:cNvPr id="4" name="Shape 2"/>
          <p:cNvSpPr/>
          <p:nvPr/>
        </p:nvSpPr>
        <p:spPr>
          <a:xfrm>
            <a:off x="822960" y="1828800"/>
            <a:ext cx="3520440" cy="3840480"/>
          </a:xfrm>
          <a:prstGeom prst="roundRect">
            <a:avLst>
              <a:gd name="adj" fmla="val 2078"/>
            </a:avLst>
          </a:prstGeom>
          <a:solidFill>
            <a:srgbClr val="F5F7FC"/>
          </a:solidFill>
          <a:ln w="12700">
            <a:solidFill>
              <a:srgbClr val="E7EAF2"/>
            </a:solidFill>
            <a:prstDash val="solid"/>
          </a:ln>
        </p:spPr>
      </p:sp>
      <p:sp>
        <p:nvSpPr>
          <p:cNvPr id="5" name="Text 3"/>
          <p:cNvSpPr txBox="1"/>
          <p:nvPr/>
        </p:nvSpPr>
        <p:spPr>
          <a:xfrm>
            <a:off x="1051560" y="2057400"/>
            <a:ext cx="731520" cy="731520"/>
          </a:xfrm>
          <a:prstGeom prst="rect">
            <a:avLst/>
          </a:prstGeom>
          <a:noFill/>
          <a:ln/>
        </p:spPr>
        <p:txBody>
          <a:bodyPr wrap="square" rtlCol="0" anchor="ctr"/>
          <a:lstStyle/>
          <a:p>
            <a:pPr indent="0" marL="0">
              <a:buNone/>
            </a:pPr>
            <a:r>
              <a:rPr lang="en-US" sz="3400" b="1" dirty="0">
                <a:solidFill>
                  <a:srgbClr val="E7EAF2"/>
                </a:solidFill>
                <a:latin typeface="Cambria" pitchFamily="34" charset="0"/>
                <a:ea typeface="Cambria" pitchFamily="34" charset="-122"/>
                <a:cs typeface="Cambria" pitchFamily="34" charset="-120"/>
              </a:rPr>
              <a:t>1</a:t>
            </a:r>
            <a:endParaRPr lang="en-US" sz="3400" dirty="0"/>
          </a:p>
        </p:txBody>
      </p:sp>
      <p:sp>
        <p:nvSpPr>
          <p:cNvPr id="6" name="Shape 4"/>
          <p:cNvSpPr/>
          <p:nvPr/>
        </p:nvSpPr>
        <p:spPr>
          <a:xfrm>
            <a:off x="2217420" y="2286000"/>
            <a:ext cx="731520" cy="731520"/>
          </a:xfrm>
          <a:prstGeom prst="ellipse">
            <a:avLst/>
          </a:prstGeom>
          <a:solidFill>
            <a:srgbClr val="1E2761"/>
          </a:solidFill>
          <a:ln/>
        </p:spPr>
      </p:sp>
      <p:pic>
        <p:nvPicPr>
          <p:cNvPr id="7" name="Image 0" descr="/home/claude/shared_icons/icon_sitemap.png">    </p:cNvPr>
          <p:cNvPicPr>
            <a:picLocks noChangeAspect="1"/>
          </p:cNvPicPr>
          <p:nvPr/>
        </p:nvPicPr>
        <p:blipFill>
          <a:blip r:embed="rId1"/>
          <a:stretch>
            <a:fillRect/>
          </a:stretch>
        </p:blipFill>
        <p:spPr>
          <a:xfrm>
            <a:off x="2319833" y="2388413"/>
            <a:ext cx="526694" cy="526694"/>
          </a:xfrm>
          <a:prstGeom prst="rect">
            <a:avLst/>
          </a:prstGeom>
        </p:spPr>
      </p:pic>
      <p:sp>
        <p:nvSpPr>
          <p:cNvPr id="8" name="Text 5"/>
          <p:cNvSpPr txBox="1"/>
          <p:nvPr/>
        </p:nvSpPr>
        <p:spPr>
          <a:xfrm>
            <a:off x="1024128" y="3200400"/>
            <a:ext cx="3118104" cy="822960"/>
          </a:xfrm>
          <a:prstGeom prst="rect">
            <a:avLst/>
          </a:prstGeom>
          <a:noFill/>
          <a:ln/>
        </p:spPr>
        <p:txBody>
          <a:bodyPr wrap="square" rtlCol="0" anchor="t"/>
          <a:lstStyle/>
          <a:p>
            <a:pPr algn="ctr" indent="0" marL="0">
              <a:buNone/>
            </a:pPr>
            <a:r>
              <a:rPr lang="en-US" sz="1500" b="1" dirty="0">
                <a:solidFill>
                  <a:srgbClr val="1E2761"/>
                </a:solidFill>
                <a:latin typeface="Cambria" pitchFamily="34" charset="0"/>
                <a:ea typeface="Cambria" pitchFamily="34" charset="-122"/>
                <a:cs typeface="Cambria" pitchFamily="34" charset="-120"/>
              </a:rPr>
              <a:t>Mengenal Pasti Struktur &amp; Hala Tuju</a:t>
            </a:r>
            <a:endParaRPr lang="en-US" sz="1500" dirty="0"/>
          </a:p>
        </p:txBody>
      </p:sp>
      <p:sp>
        <p:nvSpPr>
          <p:cNvPr id="9" name="Text 6"/>
          <p:cNvSpPr txBox="1"/>
          <p:nvPr/>
        </p:nvSpPr>
        <p:spPr>
          <a:xfrm>
            <a:off x="1060704" y="4114800"/>
            <a:ext cx="3044952" cy="1371600"/>
          </a:xfrm>
          <a:prstGeom prst="rect">
            <a:avLst/>
          </a:prstGeom>
          <a:noFill/>
          <a:ln/>
        </p:spPr>
        <p:txBody>
          <a:bodyPr wrap="square" rtlCol="0" anchor="t"/>
          <a:lstStyle/>
          <a:p>
            <a:pPr algn="ctr" indent="0" marL="0">
              <a:lnSpc>
                <a:spcPct val="120000"/>
              </a:lnSpc>
              <a:buNone/>
            </a:pPr>
            <a:r>
              <a:rPr lang="en-US" sz="1150" dirty="0">
                <a:solidFill>
                  <a:srgbClr val="5B6472"/>
                </a:solidFill>
                <a:latin typeface="Calibri" pitchFamily="34" charset="0"/>
                <a:ea typeface="Calibri" pitchFamily="34" charset="-122"/>
                <a:cs typeface="Calibri" pitchFamily="34" charset="-120"/>
              </a:rPr>
              <a:t>Mengenal pasti struktur utama dan hala tuju Kurikulum Matematik Tingkatan 1.</a:t>
            </a:r>
            <a:endParaRPr lang="en-US" sz="1150" dirty="0"/>
          </a:p>
        </p:txBody>
      </p:sp>
      <p:sp>
        <p:nvSpPr>
          <p:cNvPr id="10" name="Shape 7"/>
          <p:cNvSpPr/>
          <p:nvPr/>
        </p:nvSpPr>
        <p:spPr>
          <a:xfrm>
            <a:off x="4617720" y="1828800"/>
            <a:ext cx="3520440" cy="3840480"/>
          </a:xfrm>
          <a:prstGeom prst="roundRect">
            <a:avLst>
              <a:gd name="adj" fmla="val 2078"/>
            </a:avLst>
          </a:prstGeom>
          <a:solidFill>
            <a:srgbClr val="F5F7FC"/>
          </a:solidFill>
          <a:ln w="12700">
            <a:solidFill>
              <a:srgbClr val="E7EAF2"/>
            </a:solidFill>
            <a:prstDash val="solid"/>
          </a:ln>
        </p:spPr>
      </p:sp>
      <p:sp>
        <p:nvSpPr>
          <p:cNvPr id="11" name="Text 8"/>
          <p:cNvSpPr txBox="1"/>
          <p:nvPr/>
        </p:nvSpPr>
        <p:spPr>
          <a:xfrm>
            <a:off x="4846320" y="2057400"/>
            <a:ext cx="731520" cy="731520"/>
          </a:xfrm>
          <a:prstGeom prst="rect">
            <a:avLst/>
          </a:prstGeom>
          <a:noFill/>
          <a:ln/>
        </p:spPr>
        <p:txBody>
          <a:bodyPr wrap="square" rtlCol="0" anchor="ctr"/>
          <a:lstStyle/>
          <a:p>
            <a:pPr indent="0" marL="0">
              <a:buNone/>
            </a:pPr>
            <a:r>
              <a:rPr lang="en-US" sz="3400" b="1" dirty="0">
                <a:solidFill>
                  <a:srgbClr val="E7EAF2"/>
                </a:solidFill>
                <a:latin typeface="Cambria" pitchFamily="34" charset="0"/>
                <a:ea typeface="Cambria" pitchFamily="34" charset="-122"/>
                <a:cs typeface="Cambria" pitchFamily="34" charset="-120"/>
              </a:rPr>
              <a:t>2</a:t>
            </a:r>
            <a:endParaRPr lang="en-US" sz="3400" dirty="0"/>
          </a:p>
        </p:txBody>
      </p:sp>
      <p:sp>
        <p:nvSpPr>
          <p:cNvPr id="12" name="Shape 9"/>
          <p:cNvSpPr/>
          <p:nvPr/>
        </p:nvSpPr>
        <p:spPr>
          <a:xfrm>
            <a:off x="6012180" y="2286000"/>
            <a:ext cx="731520" cy="731520"/>
          </a:xfrm>
          <a:prstGeom prst="ellipse">
            <a:avLst/>
          </a:prstGeom>
          <a:solidFill>
            <a:srgbClr val="1E2761"/>
          </a:solidFill>
          <a:ln/>
        </p:spPr>
      </p:sp>
      <p:pic>
        <p:nvPicPr>
          <p:cNvPr id="13" name="Image 1" descr="/home/claude/shared_icons/icon_microscope.png">    </p:cNvPr>
          <p:cNvPicPr>
            <a:picLocks noChangeAspect="1"/>
          </p:cNvPicPr>
          <p:nvPr/>
        </p:nvPicPr>
        <p:blipFill>
          <a:blip r:embed="rId2"/>
          <a:stretch>
            <a:fillRect/>
          </a:stretch>
        </p:blipFill>
        <p:spPr>
          <a:xfrm>
            <a:off x="6114593" y="2388413"/>
            <a:ext cx="526694" cy="526694"/>
          </a:xfrm>
          <a:prstGeom prst="rect">
            <a:avLst/>
          </a:prstGeom>
        </p:spPr>
      </p:pic>
      <p:sp>
        <p:nvSpPr>
          <p:cNvPr id="14" name="Text 10"/>
          <p:cNvSpPr txBox="1"/>
          <p:nvPr/>
        </p:nvSpPr>
        <p:spPr>
          <a:xfrm>
            <a:off x="4818888" y="3200400"/>
            <a:ext cx="3118104" cy="822960"/>
          </a:xfrm>
          <a:prstGeom prst="rect">
            <a:avLst/>
          </a:prstGeom>
          <a:noFill/>
          <a:ln/>
        </p:spPr>
        <p:txBody>
          <a:bodyPr wrap="square" rtlCol="0" anchor="t"/>
          <a:lstStyle/>
          <a:p>
            <a:pPr algn="ctr" indent="0" marL="0">
              <a:buNone/>
            </a:pPr>
            <a:r>
              <a:rPr lang="en-US" sz="1500" b="1" dirty="0">
                <a:solidFill>
                  <a:srgbClr val="1E2761"/>
                </a:solidFill>
                <a:latin typeface="Cambria" pitchFamily="34" charset="0"/>
                <a:ea typeface="Cambria" pitchFamily="34" charset="-122"/>
                <a:cs typeface="Cambria" pitchFamily="34" charset="-120"/>
              </a:rPr>
              <a:t>Menganalisis Komponen Utama</a:t>
            </a:r>
            <a:endParaRPr lang="en-US" sz="1500" dirty="0"/>
          </a:p>
        </p:txBody>
      </p:sp>
      <p:sp>
        <p:nvSpPr>
          <p:cNvPr id="15" name="Text 11"/>
          <p:cNvSpPr txBox="1"/>
          <p:nvPr/>
        </p:nvSpPr>
        <p:spPr>
          <a:xfrm>
            <a:off x="4855464" y="4114800"/>
            <a:ext cx="3044952" cy="1371600"/>
          </a:xfrm>
          <a:prstGeom prst="rect">
            <a:avLst/>
          </a:prstGeom>
          <a:noFill/>
          <a:ln/>
        </p:spPr>
        <p:txBody>
          <a:bodyPr wrap="square" rtlCol="0" anchor="t"/>
          <a:lstStyle/>
          <a:p>
            <a:pPr algn="ctr" indent="0" marL="0">
              <a:lnSpc>
                <a:spcPct val="120000"/>
              </a:lnSpc>
              <a:buNone/>
            </a:pPr>
            <a:r>
              <a:rPr lang="en-US" sz="1150" dirty="0">
                <a:solidFill>
                  <a:srgbClr val="5B6472"/>
                </a:solidFill>
                <a:latin typeface="Calibri" pitchFamily="34" charset="0"/>
                <a:ea typeface="Calibri" pitchFamily="34" charset="-122"/>
                <a:cs typeface="Calibri" pitchFamily="34" charset="-120"/>
              </a:rPr>
              <a:t>Menganalisis komponen utama kurikulum matematik: SP, SK, Kompetensi, Standard Prestasi.</a:t>
            </a:r>
            <a:endParaRPr lang="en-US" sz="1150" dirty="0"/>
          </a:p>
        </p:txBody>
      </p:sp>
      <p:sp>
        <p:nvSpPr>
          <p:cNvPr id="16" name="Shape 12"/>
          <p:cNvSpPr/>
          <p:nvPr/>
        </p:nvSpPr>
        <p:spPr>
          <a:xfrm>
            <a:off x="8412480" y="1828800"/>
            <a:ext cx="3520440" cy="3840480"/>
          </a:xfrm>
          <a:prstGeom prst="roundRect">
            <a:avLst>
              <a:gd name="adj" fmla="val 2078"/>
            </a:avLst>
          </a:prstGeom>
          <a:solidFill>
            <a:srgbClr val="F5F7FC"/>
          </a:solidFill>
          <a:ln w="12700">
            <a:solidFill>
              <a:srgbClr val="E7EAF2"/>
            </a:solidFill>
            <a:prstDash val="solid"/>
          </a:ln>
        </p:spPr>
      </p:sp>
      <p:sp>
        <p:nvSpPr>
          <p:cNvPr id="17" name="Text 13"/>
          <p:cNvSpPr txBox="1"/>
          <p:nvPr/>
        </p:nvSpPr>
        <p:spPr>
          <a:xfrm>
            <a:off x="8641080" y="2057400"/>
            <a:ext cx="731520" cy="731520"/>
          </a:xfrm>
          <a:prstGeom prst="rect">
            <a:avLst/>
          </a:prstGeom>
          <a:noFill/>
          <a:ln/>
        </p:spPr>
        <p:txBody>
          <a:bodyPr wrap="square" rtlCol="0" anchor="ctr"/>
          <a:lstStyle/>
          <a:p>
            <a:pPr indent="0" marL="0">
              <a:buNone/>
            </a:pPr>
            <a:r>
              <a:rPr lang="en-US" sz="3400" b="1" dirty="0">
                <a:solidFill>
                  <a:srgbClr val="E7EAF2"/>
                </a:solidFill>
                <a:latin typeface="Cambria" pitchFamily="34" charset="0"/>
                <a:ea typeface="Cambria" pitchFamily="34" charset="-122"/>
                <a:cs typeface="Cambria" pitchFamily="34" charset="-120"/>
              </a:rPr>
              <a:t>3</a:t>
            </a:r>
            <a:endParaRPr lang="en-US" sz="3400" dirty="0"/>
          </a:p>
        </p:txBody>
      </p:sp>
      <p:sp>
        <p:nvSpPr>
          <p:cNvPr id="18" name="Shape 14"/>
          <p:cNvSpPr/>
          <p:nvPr/>
        </p:nvSpPr>
        <p:spPr>
          <a:xfrm>
            <a:off x="9806940" y="2286000"/>
            <a:ext cx="731520" cy="731520"/>
          </a:xfrm>
          <a:prstGeom prst="ellipse">
            <a:avLst/>
          </a:prstGeom>
          <a:solidFill>
            <a:srgbClr val="1E2761"/>
          </a:solidFill>
          <a:ln/>
        </p:spPr>
      </p:sp>
      <p:pic>
        <p:nvPicPr>
          <p:cNvPr id="19" name="Image 2" descr="/home/claude/shared_icons/icon_chalkboard.png">    </p:cNvPr>
          <p:cNvPicPr>
            <a:picLocks noChangeAspect="1"/>
          </p:cNvPicPr>
          <p:nvPr/>
        </p:nvPicPr>
        <p:blipFill>
          <a:blip r:embed="rId3"/>
          <a:stretch>
            <a:fillRect/>
          </a:stretch>
        </p:blipFill>
        <p:spPr>
          <a:xfrm>
            <a:off x="9909353" y="2388413"/>
            <a:ext cx="526694" cy="526694"/>
          </a:xfrm>
          <a:prstGeom prst="rect">
            <a:avLst/>
          </a:prstGeom>
        </p:spPr>
      </p:pic>
      <p:sp>
        <p:nvSpPr>
          <p:cNvPr id="20" name="Text 15"/>
          <p:cNvSpPr txBox="1"/>
          <p:nvPr/>
        </p:nvSpPr>
        <p:spPr>
          <a:xfrm>
            <a:off x="8613648" y="3200400"/>
            <a:ext cx="3118104" cy="822960"/>
          </a:xfrm>
          <a:prstGeom prst="rect">
            <a:avLst/>
          </a:prstGeom>
          <a:noFill/>
          <a:ln/>
        </p:spPr>
        <p:txBody>
          <a:bodyPr wrap="square" rtlCol="0" anchor="t"/>
          <a:lstStyle/>
          <a:p>
            <a:pPr algn="ctr" indent="0" marL="0">
              <a:buNone/>
            </a:pPr>
            <a:r>
              <a:rPr lang="en-US" sz="1500" b="1" dirty="0">
                <a:solidFill>
                  <a:srgbClr val="1E2761"/>
                </a:solidFill>
                <a:latin typeface="Cambria" pitchFamily="34" charset="0"/>
                <a:ea typeface="Cambria" pitchFamily="34" charset="-122"/>
                <a:cs typeface="Cambria" pitchFamily="34" charset="-120"/>
              </a:rPr>
              <a:t>Mengaplikasi dalam Perancangan PdP</a:t>
            </a:r>
            <a:endParaRPr lang="en-US" sz="1500" dirty="0"/>
          </a:p>
        </p:txBody>
      </p:sp>
      <p:sp>
        <p:nvSpPr>
          <p:cNvPr id="21" name="Text 16"/>
          <p:cNvSpPr txBox="1"/>
          <p:nvPr/>
        </p:nvSpPr>
        <p:spPr>
          <a:xfrm>
            <a:off x="8650224" y="4114800"/>
            <a:ext cx="3044952" cy="1371600"/>
          </a:xfrm>
          <a:prstGeom prst="rect">
            <a:avLst/>
          </a:prstGeom>
          <a:noFill/>
          <a:ln/>
        </p:spPr>
        <p:txBody>
          <a:bodyPr wrap="square" rtlCol="0" anchor="t"/>
          <a:lstStyle/>
          <a:p>
            <a:pPr algn="ctr" indent="0" marL="0">
              <a:lnSpc>
                <a:spcPct val="120000"/>
              </a:lnSpc>
              <a:buNone/>
            </a:pPr>
            <a:r>
              <a:rPr lang="en-US" sz="1150" dirty="0">
                <a:solidFill>
                  <a:srgbClr val="5B6472"/>
                </a:solidFill>
                <a:latin typeface="Calibri" pitchFamily="34" charset="0"/>
                <a:ea typeface="Calibri" pitchFamily="34" charset="-122"/>
                <a:cs typeface="Calibri" pitchFamily="34" charset="-120"/>
              </a:rPr>
              <a:t>Mengaplikasikan kefahaman kurikulum dalam perancangan PdP harian di bilik darjah.</a:t>
            </a:r>
            <a:endParaRPr lang="en-US" sz="1150" dirty="0"/>
          </a:p>
        </p:txBody>
      </p:sp>
      <p:sp>
        <p:nvSpPr>
          <p:cNvPr id="22" name="Text 17"/>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2</a:t>
            </a:r>
            <a:endParaRPr lang="en-US" sz="1000" dirty="0"/>
          </a:p>
        </p:txBody>
      </p:sp>
      <p:sp>
        <p:nvSpPr>
          <p:cNvPr id="23" name="Text 1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GAMBARAN KESELURUHAN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Matematik: Mata Pelajaran Teras</a:t>
            </a:r>
            <a:endParaRPr lang="en-US" sz="2700" dirty="0"/>
          </a:p>
        </p:txBody>
      </p:sp>
      <p:sp>
        <p:nvSpPr>
          <p:cNvPr id="4" name="Text 2"/>
          <p:cNvSpPr txBox="1"/>
          <p:nvPr/>
        </p:nvSpPr>
        <p:spPr>
          <a:xfrm>
            <a:off x="548640" y="1600200"/>
            <a:ext cx="11064240" cy="777240"/>
          </a:xfrm>
          <a:prstGeom prst="rect">
            <a:avLst/>
          </a:prstGeom>
          <a:noFill/>
          <a:ln/>
        </p:spPr>
        <p:txBody>
          <a:bodyPr wrap="square" rtlCol="0" anchor="ctr"/>
          <a:lstStyle/>
          <a:p>
            <a:pPr indent="0" marL="0">
              <a:lnSpc>
                <a:spcPct val="120000"/>
              </a:lnSpc>
              <a:buNone/>
            </a:pPr>
            <a:r>
              <a:rPr lang="en-US" sz="1400" dirty="0">
                <a:solidFill>
                  <a:srgbClr val="141A45"/>
                </a:solidFill>
                <a:latin typeface="Calibri" pitchFamily="34" charset="0"/>
                <a:ea typeface="Calibri" pitchFamily="34" charset="-122"/>
                <a:cs typeface="Calibri" pitchFamily="34" charset="-120"/>
              </a:rPr>
              <a:t>Matematik ialah subjek WAJIB yang dipelajari oleh semua murid dalam Sistem Pendidikan Kebangsaan — bermula Menengah Rendah, diteruskan ke Menengah Atas, sehingga Matematik Tambahan (pilihan).</a:t>
            </a:r>
            <a:endParaRPr lang="en-US" sz="1400" dirty="0"/>
          </a:p>
        </p:txBody>
      </p:sp>
      <p:sp>
        <p:nvSpPr>
          <p:cNvPr id="5" name="Shape 3"/>
          <p:cNvSpPr/>
          <p:nvPr/>
        </p:nvSpPr>
        <p:spPr>
          <a:xfrm>
            <a:off x="822960" y="2560320"/>
            <a:ext cx="3383280" cy="1554480"/>
          </a:xfrm>
          <a:prstGeom prst="roundRect">
            <a:avLst>
              <a:gd name="adj" fmla="val 4706"/>
            </a:avLst>
          </a:prstGeom>
          <a:solidFill>
            <a:srgbClr val="2E86AB"/>
          </a:solidFill>
          <a:ln/>
        </p:spPr>
      </p:sp>
      <p:sp>
        <p:nvSpPr>
          <p:cNvPr id="6" name="Shape 4"/>
          <p:cNvSpPr/>
          <p:nvPr/>
        </p:nvSpPr>
        <p:spPr>
          <a:xfrm>
            <a:off x="1051560" y="2971800"/>
            <a:ext cx="731520" cy="731520"/>
          </a:xfrm>
          <a:prstGeom prst="ellipse">
            <a:avLst/>
          </a:prstGeom>
          <a:solidFill>
            <a:srgbClr val="FFFFFF"/>
          </a:solidFill>
          <a:ln/>
        </p:spPr>
      </p:sp>
      <p:pic>
        <p:nvPicPr>
          <p:cNvPr id="7" name="Image 0" descr="/home/claude/shared_icons/icon_cap.png">    </p:cNvPr>
          <p:cNvPicPr>
            <a:picLocks noChangeAspect="1"/>
          </p:cNvPicPr>
          <p:nvPr/>
        </p:nvPicPr>
        <p:blipFill>
          <a:blip r:embed="rId1"/>
          <a:stretch>
            <a:fillRect/>
          </a:stretch>
        </p:blipFill>
        <p:spPr>
          <a:xfrm>
            <a:off x="1153973" y="3074213"/>
            <a:ext cx="526694" cy="526694"/>
          </a:xfrm>
          <a:prstGeom prst="rect">
            <a:avLst/>
          </a:prstGeom>
        </p:spPr>
      </p:pic>
      <p:sp>
        <p:nvSpPr>
          <p:cNvPr id="8" name="Text 5"/>
          <p:cNvSpPr txBox="1"/>
          <p:nvPr/>
        </p:nvSpPr>
        <p:spPr>
          <a:xfrm>
            <a:off x="1965960" y="2834640"/>
            <a:ext cx="21031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Menengah Rendah</a:t>
            </a:r>
            <a:endParaRPr lang="en-US" sz="1500" dirty="0"/>
          </a:p>
        </p:txBody>
      </p:sp>
      <p:sp>
        <p:nvSpPr>
          <p:cNvPr id="9" name="Text 6"/>
          <p:cNvSpPr txBox="1"/>
          <p:nvPr/>
        </p:nvSpPr>
        <p:spPr>
          <a:xfrm>
            <a:off x="1965960" y="3337560"/>
            <a:ext cx="210312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Status: WAJIB</a:t>
            </a:r>
            <a:endParaRPr lang="en-US" sz="1200" dirty="0"/>
          </a:p>
        </p:txBody>
      </p:sp>
      <p:sp>
        <p:nvSpPr>
          <p:cNvPr id="10" name="Text 7"/>
          <p:cNvSpPr txBox="1"/>
          <p:nvPr/>
        </p:nvSpPr>
        <p:spPr>
          <a:xfrm>
            <a:off x="4160520" y="315468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1" name="Shape 8"/>
          <p:cNvSpPr/>
          <p:nvPr/>
        </p:nvSpPr>
        <p:spPr>
          <a:xfrm>
            <a:off x="4480560" y="2560320"/>
            <a:ext cx="3383280" cy="1554480"/>
          </a:xfrm>
          <a:prstGeom prst="roundRect">
            <a:avLst>
              <a:gd name="adj" fmla="val 4706"/>
            </a:avLst>
          </a:prstGeom>
          <a:solidFill>
            <a:srgbClr val="E67E22"/>
          </a:solidFill>
          <a:ln/>
        </p:spPr>
      </p:sp>
      <p:sp>
        <p:nvSpPr>
          <p:cNvPr id="12" name="Shape 9"/>
          <p:cNvSpPr/>
          <p:nvPr/>
        </p:nvSpPr>
        <p:spPr>
          <a:xfrm>
            <a:off x="4709160" y="2971800"/>
            <a:ext cx="731520" cy="731520"/>
          </a:xfrm>
          <a:prstGeom prst="ellipse">
            <a:avLst/>
          </a:prstGeom>
          <a:solidFill>
            <a:srgbClr val="FFFFFF"/>
          </a:solidFill>
          <a:ln/>
        </p:spPr>
      </p:sp>
      <p:pic>
        <p:nvPicPr>
          <p:cNvPr id="13" name="Image 1" descr="/home/claude/shared_icons/icon_cap.png">    </p:cNvPr>
          <p:cNvPicPr>
            <a:picLocks noChangeAspect="1"/>
          </p:cNvPicPr>
          <p:nvPr/>
        </p:nvPicPr>
        <p:blipFill>
          <a:blip r:embed="rId2"/>
          <a:stretch>
            <a:fillRect/>
          </a:stretch>
        </p:blipFill>
        <p:spPr>
          <a:xfrm>
            <a:off x="4811573" y="3074213"/>
            <a:ext cx="526694" cy="526694"/>
          </a:xfrm>
          <a:prstGeom prst="rect">
            <a:avLst/>
          </a:prstGeom>
        </p:spPr>
      </p:pic>
      <p:sp>
        <p:nvSpPr>
          <p:cNvPr id="14" name="Text 10"/>
          <p:cNvSpPr txBox="1"/>
          <p:nvPr/>
        </p:nvSpPr>
        <p:spPr>
          <a:xfrm>
            <a:off x="5623560" y="2834640"/>
            <a:ext cx="21031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Menengah Atas</a:t>
            </a:r>
            <a:endParaRPr lang="en-US" sz="1500" dirty="0"/>
          </a:p>
        </p:txBody>
      </p:sp>
      <p:sp>
        <p:nvSpPr>
          <p:cNvPr id="15" name="Text 11"/>
          <p:cNvSpPr txBox="1"/>
          <p:nvPr/>
        </p:nvSpPr>
        <p:spPr>
          <a:xfrm>
            <a:off x="5623560" y="3337560"/>
            <a:ext cx="210312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Status: WAJIB</a:t>
            </a:r>
            <a:endParaRPr lang="en-US" sz="1200" dirty="0"/>
          </a:p>
        </p:txBody>
      </p:sp>
      <p:sp>
        <p:nvSpPr>
          <p:cNvPr id="16" name="Text 12"/>
          <p:cNvSpPr txBox="1"/>
          <p:nvPr/>
        </p:nvSpPr>
        <p:spPr>
          <a:xfrm>
            <a:off x="7818120" y="315468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7" name="Shape 13"/>
          <p:cNvSpPr/>
          <p:nvPr/>
        </p:nvSpPr>
        <p:spPr>
          <a:xfrm>
            <a:off x="8138160" y="2560320"/>
            <a:ext cx="3383280" cy="1554480"/>
          </a:xfrm>
          <a:prstGeom prst="roundRect">
            <a:avLst>
              <a:gd name="adj" fmla="val 4706"/>
            </a:avLst>
          </a:prstGeom>
          <a:solidFill>
            <a:srgbClr val="8E44AD"/>
          </a:solidFill>
          <a:ln/>
        </p:spPr>
      </p:sp>
      <p:sp>
        <p:nvSpPr>
          <p:cNvPr id="18" name="Shape 14"/>
          <p:cNvSpPr/>
          <p:nvPr/>
        </p:nvSpPr>
        <p:spPr>
          <a:xfrm>
            <a:off x="8366760" y="2971800"/>
            <a:ext cx="731520" cy="731520"/>
          </a:xfrm>
          <a:prstGeom prst="ellipse">
            <a:avLst/>
          </a:prstGeom>
          <a:solidFill>
            <a:srgbClr val="FFFFFF"/>
          </a:solidFill>
          <a:ln/>
        </p:spPr>
      </p:sp>
      <p:pic>
        <p:nvPicPr>
          <p:cNvPr id="19" name="Image 2" descr="/home/claude/shared_icons/icon_cap.png">    </p:cNvPr>
          <p:cNvPicPr>
            <a:picLocks noChangeAspect="1"/>
          </p:cNvPicPr>
          <p:nvPr/>
        </p:nvPicPr>
        <p:blipFill>
          <a:blip r:embed="rId3"/>
          <a:stretch>
            <a:fillRect/>
          </a:stretch>
        </p:blipFill>
        <p:spPr>
          <a:xfrm>
            <a:off x="8469173" y="3074213"/>
            <a:ext cx="526694" cy="526694"/>
          </a:xfrm>
          <a:prstGeom prst="rect">
            <a:avLst/>
          </a:prstGeom>
        </p:spPr>
      </p:pic>
      <p:sp>
        <p:nvSpPr>
          <p:cNvPr id="20" name="Text 15"/>
          <p:cNvSpPr txBox="1"/>
          <p:nvPr/>
        </p:nvSpPr>
        <p:spPr>
          <a:xfrm>
            <a:off x="9281160" y="2834640"/>
            <a:ext cx="21031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Matematik Tambahan</a:t>
            </a:r>
            <a:endParaRPr lang="en-US" sz="1500" dirty="0"/>
          </a:p>
        </p:txBody>
      </p:sp>
      <p:sp>
        <p:nvSpPr>
          <p:cNvPr id="21" name="Text 16"/>
          <p:cNvSpPr txBox="1"/>
          <p:nvPr/>
        </p:nvSpPr>
        <p:spPr>
          <a:xfrm>
            <a:off x="9281160" y="3337560"/>
            <a:ext cx="210312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Status: Pilihan</a:t>
            </a:r>
            <a:endParaRPr lang="en-US" sz="1200" dirty="0"/>
          </a:p>
        </p:txBody>
      </p:sp>
      <p:sp>
        <p:nvSpPr>
          <p:cNvPr id="22" name="Text 17"/>
          <p:cNvSpPr txBox="1"/>
          <p:nvPr/>
        </p:nvSpPr>
        <p:spPr>
          <a:xfrm>
            <a:off x="822960" y="4480560"/>
            <a:ext cx="73152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Tujuan Pendidikan Matematik</a:t>
            </a:r>
            <a:endParaRPr lang="en-US" sz="1500" dirty="0"/>
          </a:p>
        </p:txBody>
      </p:sp>
      <p:sp>
        <p:nvSpPr>
          <p:cNvPr id="23" name="Text 18"/>
          <p:cNvSpPr txBox="1"/>
          <p:nvPr/>
        </p:nvSpPr>
        <p:spPr>
          <a:xfrm>
            <a:off x="822960" y="4892040"/>
            <a:ext cx="10515600" cy="1463040"/>
          </a:xfrm>
          <a:prstGeom prst="rect">
            <a:avLst/>
          </a:prstGeom>
          <a:noFill/>
          <a:ln/>
        </p:spPr>
        <p:txBody>
          <a:bodyPr wrap="square" rtlCol="0" anchor="t"/>
          <a:lstStyle/>
          <a:p>
            <a:pPr marL="228600" indent="-228600">
              <a:spcAft>
                <a:spcPts val="800"/>
              </a:spcAft>
              <a:buSzPct val="100000"/>
              <a:buChar char="▪"/>
            </a:pPr>
            <a:r>
              <a:rPr lang="en-US" sz="1300" dirty="0">
                <a:solidFill>
                  <a:srgbClr val="141A45"/>
                </a:solidFill>
                <a:latin typeface="Calibri" pitchFamily="34" charset="0"/>
                <a:ea typeface="Calibri" pitchFamily="34" charset="-122"/>
                <a:cs typeface="Calibri" pitchFamily="34" charset="-120"/>
              </a:rPr>
              <a:t>Penguasaan kemahiran menyelesaikan masalah dalam situasi kehidupan harian murid.</a:t>
            </a:r>
            <a:endParaRPr lang="en-US" sz="1300" dirty="0"/>
          </a:p>
          <a:p>
            <a:pPr marL="228600" indent="-228600">
              <a:spcAft>
                <a:spcPts val="800"/>
              </a:spcAft>
              <a:buSzPct val="100000"/>
              <a:buChar char="▪"/>
            </a:pPr>
            <a:r>
              <a:rPr lang="en-US" sz="1300" dirty="0">
                <a:solidFill>
                  <a:srgbClr val="141A45"/>
                </a:solidFill>
                <a:latin typeface="Calibri" pitchFamily="34" charset="0"/>
                <a:ea typeface="Calibri" pitchFamily="34" charset="-122"/>
                <a:cs typeface="Calibri" pitchFamily="34" charset="-120"/>
              </a:rPr>
              <a:t>Persediaan masa hadapan: asas melanjutkan pelajaran &amp; tenaga kerja berkesan.</a:t>
            </a:r>
            <a:endParaRPr lang="en-US" sz="1300" dirty="0"/>
          </a:p>
          <a:p>
            <a:pPr marL="228600" indent="-228600">
              <a:spcAft>
                <a:spcPts val="800"/>
              </a:spcAft>
              <a:buSzPct val="100000"/>
              <a:buChar char="▪"/>
            </a:pPr>
            <a:r>
              <a:rPr lang="en-US" sz="1300" dirty="0">
                <a:solidFill>
                  <a:srgbClr val="141A45"/>
                </a:solidFill>
                <a:latin typeface="Calibri" pitchFamily="34" charset="0"/>
                <a:ea typeface="Calibri" pitchFamily="34" charset="-122"/>
                <a:cs typeface="Calibri" pitchFamily="34" charset="-120"/>
              </a:rPr>
              <a:t>Sebagai mata pelajaran teras, wajib dipelajari oleh semua murid dalam Sistem Pendidikan Kebangsaan.</a:t>
            </a:r>
            <a:endParaRPr lang="en-US" sz="1300" dirty="0"/>
          </a:p>
        </p:txBody>
      </p:sp>
      <p:sp>
        <p:nvSpPr>
          <p:cNvPr id="24" name="Text 19"/>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12</a:t>
            </a:r>
            <a:endParaRPr lang="en-US" sz="1000" dirty="0"/>
          </a:p>
        </p:txBody>
      </p:sp>
      <p:sp>
        <p:nvSpPr>
          <p:cNvPr id="25"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Matlamat Kurikulum Matematik Menengah Rendah</a:t>
            </a:r>
            <a:endParaRPr lang="en-US" sz="2600" dirty="0"/>
          </a:p>
        </p:txBody>
      </p:sp>
      <p:sp>
        <p:nvSpPr>
          <p:cNvPr id="4" name="Shape 2"/>
          <p:cNvSpPr/>
          <p:nvPr/>
        </p:nvSpPr>
        <p:spPr>
          <a:xfrm>
            <a:off x="548640" y="1463040"/>
            <a:ext cx="11064240" cy="640080"/>
          </a:xfrm>
          <a:prstGeom prst="roundRect">
            <a:avLst>
              <a:gd name="adj" fmla="val 11429"/>
            </a:avLst>
          </a:prstGeom>
          <a:solidFill>
            <a:srgbClr val="141A45"/>
          </a:solidFill>
          <a:ln w="12700">
            <a:solidFill>
              <a:srgbClr val="F2B705"/>
            </a:solidFill>
            <a:prstDash val="solid"/>
          </a:ln>
        </p:spPr>
      </p:sp>
      <p:sp>
        <p:nvSpPr>
          <p:cNvPr id="5" name="Text 3"/>
          <p:cNvSpPr txBox="1"/>
          <p:nvPr/>
        </p:nvSpPr>
        <p:spPr>
          <a:xfrm>
            <a:off x="731520" y="1463040"/>
            <a:ext cx="10698480" cy="64008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Melahirkan Generasi Berpemikiran Matematik &amp; Berdaya Saing Global</a:t>
            </a:r>
            <a:endParaRPr lang="en-US" sz="1600" dirty="0"/>
          </a:p>
        </p:txBody>
      </p:sp>
      <p:sp>
        <p:nvSpPr>
          <p:cNvPr id="6" name="Shape 4"/>
          <p:cNvSpPr/>
          <p:nvPr/>
        </p:nvSpPr>
        <p:spPr>
          <a:xfrm>
            <a:off x="548640" y="2331720"/>
            <a:ext cx="3520440" cy="3566160"/>
          </a:xfrm>
          <a:prstGeom prst="roundRect">
            <a:avLst>
              <a:gd name="adj" fmla="val 2078"/>
            </a:avLst>
          </a:prstGeom>
          <a:solidFill>
            <a:srgbClr val="141A45"/>
          </a:solidFill>
          <a:ln/>
        </p:spPr>
      </p:sp>
      <p:sp>
        <p:nvSpPr>
          <p:cNvPr id="7" name="Shape 5"/>
          <p:cNvSpPr/>
          <p:nvPr/>
        </p:nvSpPr>
        <p:spPr>
          <a:xfrm>
            <a:off x="1988820" y="2606040"/>
            <a:ext cx="640080" cy="640080"/>
          </a:xfrm>
          <a:prstGeom prst="ellipse">
            <a:avLst/>
          </a:prstGeom>
          <a:solidFill>
            <a:srgbClr val="F2B705"/>
          </a:solidFill>
          <a:ln/>
        </p:spPr>
      </p:sp>
      <p:pic>
        <p:nvPicPr>
          <p:cNvPr id="8" name="Image 0" descr="/home/claude/shared_icons/icon_puzzle.png">    </p:cNvPr>
          <p:cNvPicPr>
            <a:picLocks noChangeAspect="1"/>
          </p:cNvPicPr>
          <p:nvPr/>
        </p:nvPicPr>
        <p:blipFill>
          <a:blip r:embed="rId1"/>
          <a:stretch>
            <a:fillRect/>
          </a:stretch>
        </p:blipFill>
        <p:spPr>
          <a:xfrm>
            <a:off x="2078431" y="2695651"/>
            <a:ext cx="460858" cy="460858"/>
          </a:xfrm>
          <a:prstGeom prst="rect">
            <a:avLst/>
          </a:prstGeom>
        </p:spPr>
      </p:pic>
      <p:sp>
        <p:nvSpPr>
          <p:cNvPr id="9" name="Text 6"/>
          <p:cNvSpPr txBox="1"/>
          <p:nvPr/>
        </p:nvSpPr>
        <p:spPr>
          <a:xfrm>
            <a:off x="685800" y="3383280"/>
            <a:ext cx="3246120" cy="45720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Aplikasi &amp; Minat</a:t>
            </a:r>
            <a:endParaRPr lang="en-US" sz="1350" dirty="0"/>
          </a:p>
        </p:txBody>
      </p:sp>
      <p:sp>
        <p:nvSpPr>
          <p:cNvPr id="10" name="Text 7"/>
          <p:cNvSpPr txBox="1"/>
          <p:nvPr/>
        </p:nvSpPr>
        <p:spPr>
          <a:xfrm>
            <a:off x="777240" y="3886200"/>
            <a:ext cx="3063240" cy="1920240"/>
          </a:xfrm>
          <a:prstGeom prst="rect">
            <a:avLst/>
          </a:prstGeom>
          <a:noFill/>
          <a:ln/>
        </p:spPr>
        <p:txBody>
          <a:bodyPr wrap="square" rtlCol="0" anchor="ctr"/>
          <a:lstStyle/>
          <a:p>
            <a:pPr algn="ctr" indent="0" marL="0">
              <a:lnSpc>
                <a:spcPct val="120000"/>
              </a:lnSpc>
              <a:buNone/>
            </a:pPr>
            <a:r>
              <a:rPr lang="en-US" sz="1100" dirty="0">
                <a:solidFill>
                  <a:srgbClr val="CADCFC"/>
                </a:solidFill>
                <a:latin typeface="Calibri" pitchFamily="34" charset="0"/>
                <a:ea typeface="Calibri" pitchFamily="34" charset="-122"/>
                <a:cs typeface="Calibri" pitchFamily="34" charset="-120"/>
              </a:rPr>
              <a:t>Mengaplikasikan konsep matematik dalam situasi sebenar; mewujudkan persekitaran bermakna yang merangsang minat &amp; potensi intelektual.</a:t>
            </a:r>
            <a:endParaRPr lang="en-US" sz="1100" dirty="0"/>
          </a:p>
        </p:txBody>
      </p:sp>
      <p:sp>
        <p:nvSpPr>
          <p:cNvPr id="11" name="Shape 8"/>
          <p:cNvSpPr/>
          <p:nvPr/>
        </p:nvSpPr>
        <p:spPr>
          <a:xfrm>
            <a:off x="4343400" y="2331720"/>
            <a:ext cx="3520440" cy="3566160"/>
          </a:xfrm>
          <a:prstGeom prst="roundRect">
            <a:avLst>
              <a:gd name="adj" fmla="val 2078"/>
            </a:avLst>
          </a:prstGeom>
          <a:solidFill>
            <a:srgbClr val="141A45"/>
          </a:solidFill>
          <a:ln/>
        </p:spPr>
      </p:sp>
      <p:sp>
        <p:nvSpPr>
          <p:cNvPr id="12" name="Shape 9"/>
          <p:cNvSpPr/>
          <p:nvPr/>
        </p:nvSpPr>
        <p:spPr>
          <a:xfrm>
            <a:off x="5783580" y="2606040"/>
            <a:ext cx="640080" cy="640080"/>
          </a:xfrm>
          <a:prstGeom prst="ellipse">
            <a:avLst/>
          </a:prstGeom>
          <a:solidFill>
            <a:srgbClr val="F2B705"/>
          </a:solidFill>
          <a:ln/>
        </p:spPr>
      </p:sp>
      <p:pic>
        <p:nvPicPr>
          <p:cNvPr id="13" name="Image 1" descr="/home/claude/shared_icons/icon_target.png">    </p:cNvPr>
          <p:cNvPicPr>
            <a:picLocks noChangeAspect="1"/>
          </p:cNvPicPr>
          <p:nvPr/>
        </p:nvPicPr>
        <p:blipFill>
          <a:blip r:embed="rId2"/>
          <a:stretch>
            <a:fillRect/>
          </a:stretch>
        </p:blipFill>
        <p:spPr>
          <a:xfrm>
            <a:off x="5873191" y="2695651"/>
            <a:ext cx="460858" cy="460858"/>
          </a:xfrm>
          <a:prstGeom prst="rect">
            <a:avLst/>
          </a:prstGeom>
        </p:spPr>
      </p:pic>
      <p:sp>
        <p:nvSpPr>
          <p:cNvPr id="14" name="Text 10"/>
          <p:cNvSpPr txBox="1"/>
          <p:nvPr/>
        </p:nvSpPr>
        <p:spPr>
          <a:xfrm>
            <a:off x="4480560" y="3383280"/>
            <a:ext cx="3246120" cy="45720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Fokus Utama</a:t>
            </a:r>
            <a:endParaRPr lang="en-US" sz="1350" dirty="0"/>
          </a:p>
        </p:txBody>
      </p:sp>
      <p:sp>
        <p:nvSpPr>
          <p:cNvPr id="15" name="Text 11"/>
          <p:cNvSpPr txBox="1"/>
          <p:nvPr/>
        </p:nvSpPr>
        <p:spPr>
          <a:xfrm>
            <a:off x="4572000" y="3886200"/>
            <a:ext cx="3063240" cy="1920240"/>
          </a:xfrm>
          <a:prstGeom prst="rect">
            <a:avLst/>
          </a:prstGeom>
          <a:noFill/>
          <a:ln/>
        </p:spPr>
        <p:txBody>
          <a:bodyPr wrap="square" rtlCol="0" anchor="ctr"/>
          <a:lstStyle/>
          <a:p>
            <a:pPr algn="ctr" indent="0" marL="0">
              <a:lnSpc>
                <a:spcPct val="120000"/>
              </a:lnSpc>
              <a:buNone/>
            </a:pPr>
            <a:r>
              <a:rPr lang="en-US" sz="1100" dirty="0">
                <a:solidFill>
                  <a:srgbClr val="CADCFC"/>
                </a:solidFill>
                <a:latin typeface="Calibri" pitchFamily="34" charset="0"/>
                <a:ea typeface="Calibri" pitchFamily="34" charset="-122"/>
                <a:cs typeface="Calibri" pitchFamily="34" charset="-120"/>
              </a:rPr>
              <a:t>Penguasaan Kandungan + Standard Proses + Kemahiran Matematik — memacu kecerdasan &amp; inovasi murid untuk bersaing di peringkat antarabangsa.</a:t>
            </a:r>
            <a:endParaRPr lang="en-US" sz="1100" dirty="0"/>
          </a:p>
        </p:txBody>
      </p:sp>
      <p:sp>
        <p:nvSpPr>
          <p:cNvPr id="16" name="Shape 12"/>
          <p:cNvSpPr/>
          <p:nvPr/>
        </p:nvSpPr>
        <p:spPr>
          <a:xfrm>
            <a:off x="8138160" y="2331720"/>
            <a:ext cx="3520440" cy="3566160"/>
          </a:xfrm>
          <a:prstGeom prst="roundRect">
            <a:avLst>
              <a:gd name="adj" fmla="val 2078"/>
            </a:avLst>
          </a:prstGeom>
          <a:solidFill>
            <a:srgbClr val="141A45"/>
          </a:solidFill>
          <a:ln/>
        </p:spPr>
      </p:sp>
      <p:sp>
        <p:nvSpPr>
          <p:cNvPr id="17" name="Shape 13"/>
          <p:cNvSpPr/>
          <p:nvPr/>
        </p:nvSpPr>
        <p:spPr>
          <a:xfrm>
            <a:off x="9578340" y="2606040"/>
            <a:ext cx="640080" cy="640080"/>
          </a:xfrm>
          <a:prstGeom prst="ellipse">
            <a:avLst/>
          </a:prstGeom>
          <a:solidFill>
            <a:srgbClr val="F2B705"/>
          </a:solidFill>
          <a:ln/>
        </p:spPr>
      </p:sp>
      <p:pic>
        <p:nvPicPr>
          <p:cNvPr id="18" name="Image 2" descr="/home/claude/shared_icons/icon_balanceScale.png">    </p:cNvPr>
          <p:cNvPicPr>
            <a:picLocks noChangeAspect="1"/>
          </p:cNvPicPr>
          <p:nvPr/>
        </p:nvPicPr>
        <p:blipFill>
          <a:blip r:embed="rId3"/>
          <a:stretch>
            <a:fillRect/>
          </a:stretch>
        </p:blipFill>
        <p:spPr>
          <a:xfrm>
            <a:off x="9667951" y="2695651"/>
            <a:ext cx="460858" cy="460858"/>
          </a:xfrm>
          <a:prstGeom prst="rect">
            <a:avLst/>
          </a:prstGeom>
        </p:spPr>
      </p:pic>
      <p:sp>
        <p:nvSpPr>
          <p:cNvPr id="19" name="Text 14"/>
          <p:cNvSpPr txBox="1"/>
          <p:nvPr/>
        </p:nvSpPr>
        <p:spPr>
          <a:xfrm>
            <a:off x="8275320" y="3383280"/>
            <a:ext cx="3246120" cy="45720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Akses &amp; Nilai</a:t>
            </a:r>
            <a:endParaRPr lang="en-US" sz="1350" dirty="0"/>
          </a:p>
        </p:txBody>
      </p:sp>
      <p:sp>
        <p:nvSpPr>
          <p:cNvPr id="20" name="Text 15"/>
          <p:cNvSpPr txBox="1"/>
          <p:nvPr/>
        </p:nvSpPr>
        <p:spPr>
          <a:xfrm>
            <a:off x="8366760" y="3886200"/>
            <a:ext cx="3063240" cy="1920240"/>
          </a:xfrm>
          <a:prstGeom prst="rect">
            <a:avLst/>
          </a:prstGeom>
          <a:noFill/>
          <a:ln/>
        </p:spPr>
        <p:txBody>
          <a:bodyPr wrap="square" rtlCol="0" anchor="ctr"/>
          <a:lstStyle/>
          <a:p>
            <a:pPr algn="ctr" indent="0" marL="0">
              <a:lnSpc>
                <a:spcPct val="120000"/>
              </a:lnSpc>
              <a:buNone/>
            </a:pPr>
            <a:r>
              <a:rPr lang="en-US" sz="1100" dirty="0">
                <a:solidFill>
                  <a:srgbClr val="CADCFC"/>
                </a:solidFill>
                <a:latin typeface="Calibri" pitchFamily="34" charset="0"/>
                <a:ea typeface="Calibri" pitchFamily="34" charset="-122"/>
                <a:cs typeface="Calibri" pitchFamily="34" charset="-120"/>
              </a:rPr>
              <a:t>Akses saksama kepada pendidikan matematik berkualiti untuk semua murid; penerapan nilai murni secara holistik membentuk sahsiah seimbang.</a:t>
            </a:r>
            <a:endParaRPr lang="en-US" sz="1100" dirty="0"/>
          </a:p>
        </p:txBody>
      </p:sp>
      <p:sp>
        <p:nvSpPr>
          <p:cNvPr id="21" name="Text 16"/>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13</a:t>
            </a:r>
            <a:endParaRPr lang="en-US" sz="1000" dirty="0"/>
          </a:p>
        </p:txBody>
      </p:sp>
      <p:sp>
        <p:nvSpPr>
          <p:cNvPr id="22" name="Text 1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Objektif Umum Kurikulum Matematik</a:t>
            </a:r>
            <a:endParaRPr lang="en-US" sz="2700" dirty="0"/>
          </a:p>
        </p:txBody>
      </p:sp>
      <p:sp>
        <p:nvSpPr>
          <p:cNvPr id="4" name="Shape 2"/>
          <p:cNvSpPr/>
          <p:nvPr/>
        </p:nvSpPr>
        <p:spPr>
          <a:xfrm>
            <a:off x="548640" y="1691640"/>
            <a:ext cx="3520440" cy="2011680"/>
          </a:xfrm>
          <a:prstGeom prst="roundRect">
            <a:avLst>
              <a:gd name="adj" fmla="val 3636"/>
            </a:avLst>
          </a:prstGeom>
          <a:solidFill>
            <a:srgbClr val="F5F7FC"/>
          </a:solidFill>
          <a:ln w="12700">
            <a:solidFill>
              <a:srgbClr val="E7EAF2"/>
            </a:solidFill>
            <a:prstDash val="solid"/>
          </a:ln>
        </p:spPr>
      </p:sp>
      <p:sp>
        <p:nvSpPr>
          <p:cNvPr id="5" name="Shape 3"/>
          <p:cNvSpPr/>
          <p:nvPr/>
        </p:nvSpPr>
        <p:spPr>
          <a:xfrm>
            <a:off x="731520" y="1892808"/>
            <a:ext cx="548640" cy="548640"/>
          </a:xfrm>
          <a:prstGeom prst="ellipse">
            <a:avLst/>
          </a:prstGeom>
          <a:solidFill>
            <a:srgbClr val="1E2761"/>
          </a:solidFill>
          <a:ln/>
        </p:spPr>
      </p:sp>
      <p:pic>
        <p:nvPicPr>
          <p:cNvPr id="6" name="Image 0" descr="/home/claude/shared_icons/icon_brain.png">    </p:cNvPr>
          <p:cNvPicPr>
            <a:picLocks noChangeAspect="1"/>
          </p:cNvPicPr>
          <p:nvPr/>
        </p:nvPicPr>
        <p:blipFill>
          <a:blip r:embed="rId1"/>
          <a:stretch>
            <a:fillRect/>
          </a:stretch>
        </p:blipFill>
        <p:spPr>
          <a:xfrm>
            <a:off x="808330" y="1969618"/>
            <a:ext cx="395021" cy="395021"/>
          </a:xfrm>
          <a:prstGeom prst="rect">
            <a:avLst/>
          </a:prstGeom>
        </p:spPr>
      </p:pic>
      <p:sp>
        <p:nvSpPr>
          <p:cNvPr id="7" name="Text 4"/>
          <p:cNvSpPr txBox="1"/>
          <p:nvPr/>
        </p:nvSpPr>
        <p:spPr>
          <a:xfrm>
            <a:off x="1417320" y="1856232"/>
            <a:ext cx="2514600" cy="64008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Celik Matematik</a:t>
            </a:r>
            <a:endParaRPr lang="en-US" sz="1300" dirty="0"/>
          </a:p>
        </p:txBody>
      </p:sp>
      <p:sp>
        <p:nvSpPr>
          <p:cNvPr id="8" name="Text 5"/>
          <p:cNvSpPr txBox="1"/>
          <p:nvPr/>
        </p:nvSpPr>
        <p:spPr>
          <a:xfrm>
            <a:off x="731520" y="2560320"/>
            <a:ext cx="3154680" cy="1051560"/>
          </a:xfrm>
          <a:prstGeom prst="rect">
            <a:avLst/>
          </a:prstGeom>
          <a:noFill/>
          <a:ln/>
        </p:spPr>
        <p:txBody>
          <a:bodyPr wrap="square" rtlCol="0" anchor="t"/>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Membina penguasaan kukuh dalam pengetahuan dan kemahiran asas pembelajaran matematik.</a:t>
            </a:r>
            <a:endParaRPr lang="en-US" sz="1050" dirty="0"/>
          </a:p>
        </p:txBody>
      </p:sp>
      <p:sp>
        <p:nvSpPr>
          <p:cNvPr id="9" name="Shape 6"/>
          <p:cNvSpPr/>
          <p:nvPr/>
        </p:nvSpPr>
        <p:spPr>
          <a:xfrm>
            <a:off x="4343400" y="1691640"/>
            <a:ext cx="3520440" cy="2011680"/>
          </a:xfrm>
          <a:prstGeom prst="roundRect">
            <a:avLst>
              <a:gd name="adj" fmla="val 3636"/>
            </a:avLst>
          </a:prstGeom>
          <a:solidFill>
            <a:srgbClr val="F5F7FC"/>
          </a:solidFill>
          <a:ln w="12700">
            <a:solidFill>
              <a:srgbClr val="E7EAF2"/>
            </a:solidFill>
            <a:prstDash val="solid"/>
          </a:ln>
        </p:spPr>
      </p:sp>
      <p:sp>
        <p:nvSpPr>
          <p:cNvPr id="10" name="Shape 7"/>
          <p:cNvSpPr/>
          <p:nvPr/>
        </p:nvSpPr>
        <p:spPr>
          <a:xfrm>
            <a:off x="4526280" y="1892808"/>
            <a:ext cx="548640" cy="548640"/>
          </a:xfrm>
          <a:prstGeom prst="ellipse">
            <a:avLst/>
          </a:prstGeom>
          <a:solidFill>
            <a:srgbClr val="1E2761"/>
          </a:solidFill>
          <a:ln/>
        </p:spPr>
      </p:sp>
      <p:pic>
        <p:nvPicPr>
          <p:cNvPr id="11" name="Image 1" descr="/home/claude/shared_icons/icon_puzzle.png">    </p:cNvPr>
          <p:cNvPicPr>
            <a:picLocks noChangeAspect="1"/>
          </p:cNvPicPr>
          <p:nvPr/>
        </p:nvPicPr>
        <p:blipFill>
          <a:blip r:embed="rId2"/>
          <a:stretch>
            <a:fillRect/>
          </a:stretch>
        </p:blipFill>
        <p:spPr>
          <a:xfrm>
            <a:off x="4603090" y="1969618"/>
            <a:ext cx="395021" cy="395021"/>
          </a:xfrm>
          <a:prstGeom prst="rect">
            <a:avLst/>
          </a:prstGeom>
        </p:spPr>
      </p:pic>
      <p:sp>
        <p:nvSpPr>
          <p:cNvPr id="12" name="Text 8"/>
          <p:cNvSpPr txBox="1"/>
          <p:nvPr/>
        </p:nvSpPr>
        <p:spPr>
          <a:xfrm>
            <a:off x="5212080" y="1856232"/>
            <a:ext cx="2514600" cy="64008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Pemikiran Logik &amp; Kritis</a:t>
            </a:r>
            <a:endParaRPr lang="en-US" sz="1300" dirty="0"/>
          </a:p>
        </p:txBody>
      </p:sp>
      <p:sp>
        <p:nvSpPr>
          <p:cNvPr id="13" name="Text 9"/>
          <p:cNvSpPr txBox="1"/>
          <p:nvPr/>
        </p:nvSpPr>
        <p:spPr>
          <a:xfrm>
            <a:off x="4526280" y="2560320"/>
            <a:ext cx="3154680" cy="1051560"/>
          </a:xfrm>
          <a:prstGeom prst="rect">
            <a:avLst/>
          </a:prstGeom>
          <a:noFill/>
          <a:ln/>
        </p:spPr>
        <p:txBody>
          <a:bodyPr wrap="square" rtlCol="0" anchor="t"/>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Mampu berfikir kreatif dan inovatif untuk menyelesaikan masalah dan membuat keputusan berhemah.</a:t>
            </a:r>
            <a:endParaRPr lang="en-US" sz="1050" dirty="0"/>
          </a:p>
        </p:txBody>
      </p:sp>
      <p:sp>
        <p:nvSpPr>
          <p:cNvPr id="14" name="Shape 10"/>
          <p:cNvSpPr/>
          <p:nvPr/>
        </p:nvSpPr>
        <p:spPr>
          <a:xfrm>
            <a:off x="8138160" y="1691640"/>
            <a:ext cx="3520440" cy="2011680"/>
          </a:xfrm>
          <a:prstGeom prst="roundRect">
            <a:avLst>
              <a:gd name="adj" fmla="val 3636"/>
            </a:avLst>
          </a:prstGeom>
          <a:solidFill>
            <a:srgbClr val="F5F7FC"/>
          </a:solidFill>
          <a:ln w="12700">
            <a:solidFill>
              <a:srgbClr val="E7EAF2"/>
            </a:solidFill>
            <a:prstDash val="solid"/>
          </a:ln>
        </p:spPr>
      </p:sp>
      <p:sp>
        <p:nvSpPr>
          <p:cNvPr id="15" name="Shape 11"/>
          <p:cNvSpPr/>
          <p:nvPr/>
        </p:nvSpPr>
        <p:spPr>
          <a:xfrm>
            <a:off x="8321040" y="1892808"/>
            <a:ext cx="548640" cy="548640"/>
          </a:xfrm>
          <a:prstGeom prst="ellipse">
            <a:avLst/>
          </a:prstGeom>
          <a:solidFill>
            <a:srgbClr val="1E2761"/>
          </a:solidFill>
          <a:ln/>
        </p:spPr>
      </p:sp>
      <p:pic>
        <p:nvPicPr>
          <p:cNvPr id="16" name="Image 2" descr="/home/claude/shared_icons/icon_cubes.png">    </p:cNvPr>
          <p:cNvPicPr>
            <a:picLocks noChangeAspect="1"/>
          </p:cNvPicPr>
          <p:nvPr/>
        </p:nvPicPr>
        <p:blipFill>
          <a:blip r:embed="rId3"/>
          <a:stretch>
            <a:fillRect/>
          </a:stretch>
        </p:blipFill>
        <p:spPr>
          <a:xfrm>
            <a:off x="8397850" y="1969618"/>
            <a:ext cx="395021" cy="395021"/>
          </a:xfrm>
          <a:prstGeom prst="rect">
            <a:avLst/>
          </a:prstGeom>
        </p:spPr>
      </p:pic>
      <p:sp>
        <p:nvSpPr>
          <p:cNvPr id="17" name="Text 12"/>
          <p:cNvSpPr txBox="1"/>
          <p:nvPr/>
        </p:nvSpPr>
        <p:spPr>
          <a:xfrm>
            <a:off x="9006840" y="1856232"/>
            <a:ext cx="2514600" cy="64008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Aplikasi Bersepadu</a:t>
            </a:r>
            <a:endParaRPr lang="en-US" sz="1300" dirty="0"/>
          </a:p>
        </p:txBody>
      </p:sp>
      <p:sp>
        <p:nvSpPr>
          <p:cNvPr id="18" name="Text 13"/>
          <p:cNvSpPr txBox="1"/>
          <p:nvPr/>
        </p:nvSpPr>
        <p:spPr>
          <a:xfrm>
            <a:off x="8321040" y="2560320"/>
            <a:ext cx="3154680" cy="1051560"/>
          </a:xfrm>
          <a:prstGeom prst="rect">
            <a:avLst/>
          </a:prstGeom>
          <a:noFill/>
          <a:ln/>
        </p:spPr>
        <p:txBody>
          <a:bodyPr wrap="square" rtlCol="0" anchor="t"/>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Mengaplikasikan kemahiran matematik merentas pelbagai konteks dan bidang ilmu secara menyeluruh.</a:t>
            </a:r>
            <a:endParaRPr lang="en-US" sz="1050" dirty="0"/>
          </a:p>
        </p:txBody>
      </p:sp>
      <p:sp>
        <p:nvSpPr>
          <p:cNvPr id="19" name="Shape 14"/>
          <p:cNvSpPr/>
          <p:nvPr/>
        </p:nvSpPr>
        <p:spPr>
          <a:xfrm>
            <a:off x="548640" y="3886200"/>
            <a:ext cx="3520440" cy="2011680"/>
          </a:xfrm>
          <a:prstGeom prst="roundRect">
            <a:avLst>
              <a:gd name="adj" fmla="val 3636"/>
            </a:avLst>
          </a:prstGeom>
          <a:solidFill>
            <a:srgbClr val="F5F7FC"/>
          </a:solidFill>
          <a:ln w="12700">
            <a:solidFill>
              <a:srgbClr val="E7EAF2"/>
            </a:solidFill>
            <a:prstDash val="solid"/>
          </a:ln>
        </p:spPr>
      </p:sp>
      <p:sp>
        <p:nvSpPr>
          <p:cNvPr id="20" name="Shape 15"/>
          <p:cNvSpPr/>
          <p:nvPr/>
        </p:nvSpPr>
        <p:spPr>
          <a:xfrm>
            <a:off x="731520" y="4087368"/>
            <a:ext cx="548640" cy="548640"/>
          </a:xfrm>
          <a:prstGeom prst="ellipse">
            <a:avLst/>
          </a:prstGeom>
          <a:solidFill>
            <a:srgbClr val="1E2761"/>
          </a:solidFill>
          <a:ln/>
        </p:spPr>
      </p:sp>
      <p:pic>
        <p:nvPicPr>
          <p:cNvPr id="21" name="Image 3" descr="/home/claude/shared_icons/icon_chalkboard.png">    </p:cNvPr>
          <p:cNvPicPr>
            <a:picLocks noChangeAspect="1"/>
          </p:cNvPicPr>
          <p:nvPr/>
        </p:nvPicPr>
        <p:blipFill>
          <a:blip r:embed="rId4"/>
          <a:stretch>
            <a:fillRect/>
          </a:stretch>
        </p:blipFill>
        <p:spPr>
          <a:xfrm>
            <a:off x="808330" y="4164178"/>
            <a:ext cx="395021" cy="395021"/>
          </a:xfrm>
          <a:prstGeom prst="rect">
            <a:avLst/>
          </a:prstGeom>
        </p:spPr>
      </p:pic>
      <p:sp>
        <p:nvSpPr>
          <p:cNvPr id="22" name="Text 16"/>
          <p:cNvSpPr txBox="1"/>
          <p:nvPr/>
        </p:nvSpPr>
        <p:spPr>
          <a:xfrm>
            <a:off x="1417320" y="4050792"/>
            <a:ext cx="2514600" cy="64008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Penggunaan Teknologi</a:t>
            </a:r>
            <a:endParaRPr lang="en-US" sz="1300" dirty="0"/>
          </a:p>
        </p:txBody>
      </p:sp>
      <p:sp>
        <p:nvSpPr>
          <p:cNvPr id="23" name="Text 17"/>
          <p:cNvSpPr txBox="1"/>
          <p:nvPr/>
        </p:nvSpPr>
        <p:spPr>
          <a:xfrm>
            <a:off x="731520" y="4754880"/>
            <a:ext cx="3154680" cy="1051560"/>
          </a:xfrm>
          <a:prstGeom prst="rect">
            <a:avLst/>
          </a:prstGeom>
          <a:noFill/>
          <a:ln/>
        </p:spPr>
        <p:txBody>
          <a:bodyPr wrap="square" rtlCol="0" anchor="t"/>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Menggunakan teknologi secara berkesan dan bertanggungjawab untuk meneroka dan menyiasat.</a:t>
            </a:r>
            <a:endParaRPr lang="en-US" sz="1050" dirty="0"/>
          </a:p>
        </p:txBody>
      </p:sp>
      <p:sp>
        <p:nvSpPr>
          <p:cNvPr id="24" name="Shape 18"/>
          <p:cNvSpPr/>
          <p:nvPr/>
        </p:nvSpPr>
        <p:spPr>
          <a:xfrm>
            <a:off x="4343400" y="3886200"/>
            <a:ext cx="3520440" cy="2011680"/>
          </a:xfrm>
          <a:prstGeom prst="roundRect">
            <a:avLst>
              <a:gd name="adj" fmla="val 3636"/>
            </a:avLst>
          </a:prstGeom>
          <a:solidFill>
            <a:srgbClr val="F5F7FC"/>
          </a:solidFill>
          <a:ln w="12700">
            <a:solidFill>
              <a:srgbClr val="E7EAF2"/>
            </a:solidFill>
            <a:prstDash val="solid"/>
          </a:ln>
        </p:spPr>
      </p:sp>
      <p:sp>
        <p:nvSpPr>
          <p:cNvPr id="25" name="Shape 19"/>
          <p:cNvSpPr/>
          <p:nvPr/>
        </p:nvSpPr>
        <p:spPr>
          <a:xfrm>
            <a:off x="4526280" y="4087368"/>
            <a:ext cx="548640" cy="548640"/>
          </a:xfrm>
          <a:prstGeom prst="ellipse">
            <a:avLst/>
          </a:prstGeom>
          <a:solidFill>
            <a:srgbClr val="1E2761"/>
          </a:solidFill>
          <a:ln/>
        </p:spPr>
      </p:sp>
      <p:pic>
        <p:nvPicPr>
          <p:cNvPr id="26" name="Image 4" descr="/home/claude/shared_icons/icon_chart.png">    </p:cNvPr>
          <p:cNvPicPr>
            <a:picLocks noChangeAspect="1"/>
          </p:cNvPicPr>
          <p:nvPr/>
        </p:nvPicPr>
        <p:blipFill>
          <a:blip r:embed="rId5"/>
          <a:stretch>
            <a:fillRect/>
          </a:stretch>
        </p:blipFill>
        <p:spPr>
          <a:xfrm>
            <a:off x="4603090" y="4164178"/>
            <a:ext cx="395021" cy="395021"/>
          </a:xfrm>
          <a:prstGeom prst="rect">
            <a:avLst/>
          </a:prstGeom>
        </p:spPr>
      </p:pic>
      <p:sp>
        <p:nvSpPr>
          <p:cNvPr id="27" name="Text 20"/>
          <p:cNvSpPr txBox="1"/>
          <p:nvPr/>
        </p:nvSpPr>
        <p:spPr>
          <a:xfrm>
            <a:off x="5212080" y="4050792"/>
            <a:ext cx="2514600" cy="64008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Adaptasi Dunia Sebenar</a:t>
            </a:r>
            <a:endParaRPr lang="en-US" sz="1300" dirty="0"/>
          </a:p>
        </p:txBody>
      </p:sp>
      <p:sp>
        <p:nvSpPr>
          <p:cNvPr id="28" name="Text 21"/>
          <p:cNvSpPr txBox="1"/>
          <p:nvPr/>
        </p:nvSpPr>
        <p:spPr>
          <a:xfrm>
            <a:off x="4526280" y="4754880"/>
            <a:ext cx="3154680" cy="1051560"/>
          </a:xfrm>
          <a:prstGeom prst="rect">
            <a:avLst/>
          </a:prstGeom>
          <a:noFill/>
          <a:ln/>
        </p:spPr>
        <p:txBody>
          <a:bodyPr wrap="square" rtlCol="0" anchor="t"/>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Menyesuaikan diri dengan pantas terhadap perubahan dan keperluan dunia sebenar melalui inovasi.</a:t>
            </a:r>
            <a:endParaRPr lang="en-US" sz="1050" dirty="0"/>
          </a:p>
        </p:txBody>
      </p:sp>
      <p:sp>
        <p:nvSpPr>
          <p:cNvPr id="29" name="Shape 22"/>
          <p:cNvSpPr/>
          <p:nvPr/>
        </p:nvSpPr>
        <p:spPr>
          <a:xfrm>
            <a:off x="8138160" y="3886200"/>
            <a:ext cx="3520440" cy="2011680"/>
          </a:xfrm>
          <a:prstGeom prst="roundRect">
            <a:avLst>
              <a:gd name="adj" fmla="val 3636"/>
            </a:avLst>
          </a:prstGeom>
          <a:solidFill>
            <a:srgbClr val="F5F7FC"/>
          </a:solidFill>
          <a:ln w="12700">
            <a:solidFill>
              <a:srgbClr val="E7EAF2"/>
            </a:solidFill>
            <a:prstDash val="solid"/>
          </a:ln>
        </p:spPr>
      </p:sp>
      <p:sp>
        <p:nvSpPr>
          <p:cNvPr id="30" name="Shape 23"/>
          <p:cNvSpPr/>
          <p:nvPr/>
        </p:nvSpPr>
        <p:spPr>
          <a:xfrm>
            <a:off x="8321040" y="4087368"/>
            <a:ext cx="548640" cy="548640"/>
          </a:xfrm>
          <a:prstGeom prst="ellipse">
            <a:avLst/>
          </a:prstGeom>
          <a:solidFill>
            <a:srgbClr val="1E2761"/>
          </a:solidFill>
          <a:ln/>
        </p:spPr>
      </p:sp>
      <p:pic>
        <p:nvPicPr>
          <p:cNvPr id="31" name="Image 5" descr="/home/claude/shared_icons/icon_star.png">    </p:cNvPr>
          <p:cNvPicPr>
            <a:picLocks noChangeAspect="1"/>
          </p:cNvPicPr>
          <p:nvPr/>
        </p:nvPicPr>
        <p:blipFill>
          <a:blip r:embed="rId6"/>
          <a:stretch>
            <a:fillRect/>
          </a:stretch>
        </p:blipFill>
        <p:spPr>
          <a:xfrm>
            <a:off x="8397850" y="4164178"/>
            <a:ext cx="395021" cy="395021"/>
          </a:xfrm>
          <a:prstGeom prst="rect">
            <a:avLst/>
          </a:prstGeom>
        </p:spPr>
      </p:pic>
      <p:sp>
        <p:nvSpPr>
          <p:cNvPr id="32" name="Text 24"/>
          <p:cNvSpPr txBox="1"/>
          <p:nvPr/>
        </p:nvSpPr>
        <p:spPr>
          <a:xfrm>
            <a:off x="9006840" y="4050792"/>
            <a:ext cx="2514600" cy="64008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Sikap Positif</a:t>
            </a:r>
            <a:endParaRPr lang="en-US" sz="1300" dirty="0"/>
          </a:p>
        </p:txBody>
      </p:sp>
      <p:sp>
        <p:nvSpPr>
          <p:cNvPr id="33" name="Text 25"/>
          <p:cNvSpPr txBox="1"/>
          <p:nvPr/>
        </p:nvSpPr>
        <p:spPr>
          <a:xfrm>
            <a:off x="8321040" y="4754880"/>
            <a:ext cx="3154680" cy="1051560"/>
          </a:xfrm>
          <a:prstGeom prst="rect">
            <a:avLst/>
          </a:prstGeom>
          <a:noFill/>
          <a:ln/>
        </p:spPr>
        <p:txBody>
          <a:bodyPr wrap="square" rtlCol="0" anchor="t"/>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Membentuk individu yang menghargai kepentingan dan keindahan matematik dalam kehidupan harian.</a:t>
            </a:r>
            <a:endParaRPr lang="en-US" sz="1050" dirty="0"/>
          </a:p>
        </p:txBody>
      </p:sp>
      <p:sp>
        <p:nvSpPr>
          <p:cNvPr id="34" name="Text 26"/>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14</a:t>
            </a:r>
            <a:endParaRPr lang="en-US" sz="1000" dirty="0"/>
          </a:p>
        </p:txBody>
      </p:sp>
      <p:sp>
        <p:nvSpPr>
          <p:cNvPr id="35" name="Text 2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Objektif Khusus Kurikulum Matematik Tingkatan 1</a:t>
            </a:r>
            <a:endParaRPr lang="en-US" sz="2700" dirty="0"/>
          </a:p>
        </p:txBody>
      </p:sp>
      <p:sp>
        <p:nvSpPr>
          <p:cNvPr id="4" name="Shape 2"/>
          <p:cNvSpPr/>
          <p:nvPr/>
        </p:nvSpPr>
        <p:spPr>
          <a:xfrm>
            <a:off x="548640" y="1645920"/>
            <a:ext cx="5349240" cy="1078992"/>
          </a:xfrm>
          <a:prstGeom prst="roundRect">
            <a:avLst>
              <a:gd name="adj" fmla="val 5085"/>
            </a:avLst>
          </a:prstGeom>
          <a:solidFill>
            <a:srgbClr val="F5F7FC"/>
          </a:solidFill>
          <a:ln w="12700">
            <a:solidFill>
              <a:srgbClr val="E7EAF2"/>
            </a:solidFill>
            <a:prstDash val="solid"/>
          </a:ln>
        </p:spPr>
      </p:sp>
      <p:sp>
        <p:nvSpPr>
          <p:cNvPr id="5" name="Shape 3"/>
          <p:cNvSpPr/>
          <p:nvPr/>
        </p:nvSpPr>
        <p:spPr>
          <a:xfrm>
            <a:off x="685800" y="1865376"/>
            <a:ext cx="502920" cy="502920"/>
          </a:xfrm>
          <a:prstGeom prst="ellipse">
            <a:avLst/>
          </a:prstGeom>
          <a:solidFill>
            <a:srgbClr val="1E2761"/>
          </a:solidFill>
          <a:ln/>
        </p:spPr>
      </p:sp>
      <p:sp>
        <p:nvSpPr>
          <p:cNvPr id="6" name="Text 4"/>
          <p:cNvSpPr txBox="1"/>
          <p:nvPr/>
        </p:nvSpPr>
        <p:spPr>
          <a:xfrm>
            <a:off x="685800" y="186537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25880" y="173736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Nombor Nisbah &amp; Punca Kuasa</a:t>
            </a:r>
            <a:endParaRPr lang="en-US" sz="1250" dirty="0"/>
          </a:p>
        </p:txBody>
      </p:sp>
      <p:sp>
        <p:nvSpPr>
          <p:cNvPr id="8" name="Text 6"/>
          <p:cNvSpPr txBox="1"/>
          <p:nvPr/>
        </p:nvSpPr>
        <p:spPr>
          <a:xfrm>
            <a:off x="1325880" y="210312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Aplikasi operasi asas aritmetik secara teratur; ketepatan &amp; ketekalan penyelesaian masalah.</a:t>
            </a:r>
            <a:endParaRPr lang="en-US" sz="980" dirty="0"/>
          </a:p>
        </p:txBody>
      </p:sp>
      <p:sp>
        <p:nvSpPr>
          <p:cNvPr id="9" name="Shape 7"/>
          <p:cNvSpPr/>
          <p:nvPr/>
        </p:nvSpPr>
        <p:spPr>
          <a:xfrm>
            <a:off x="6172200" y="1645920"/>
            <a:ext cx="5349240" cy="1078992"/>
          </a:xfrm>
          <a:prstGeom prst="roundRect">
            <a:avLst>
              <a:gd name="adj" fmla="val 5085"/>
            </a:avLst>
          </a:prstGeom>
          <a:solidFill>
            <a:srgbClr val="F5F7FC"/>
          </a:solidFill>
          <a:ln w="12700">
            <a:solidFill>
              <a:srgbClr val="E7EAF2"/>
            </a:solidFill>
            <a:prstDash val="solid"/>
          </a:ln>
        </p:spPr>
      </p:sp>
      <p:sp>
        <p:nvSpPr>
          <p:cNvPr id="10" name="Shape 8"/>
          <p:cNvSpPr/>
          <p:nvPr/>
        </p:nvSpPr>
        <p:spPr>
          <a:xfrm>
            <a:off x="6309360" y="1865376"/>
            <a:ext cx="502920" cy="502920"/>
          </a:xfrm>
          <a:prstGeom prst="ellipse">
            <a:avLst/>
          </a:prstGeom>
          <a:solidFill>
            <a:srgbClr val="1E2761"/>
          </a:solidFill>
          <a:ln/>
        </p:spPr>
      </p:sp>
      <p:sp>
        <p:nvSpPr>
          <p:cNvPr id="11" name="Text 9"/>
          <p:cNvSpPr txBox="1"/>
          <p:nvPr/>
        </p:nvSpPr>
        <p:spPr>
          <a:xfrm>
            <a:off x="6309360" y="186537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6949440" y="173736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FSTB &amp; GSTK</a:t>
            </a:r>
            <a:endParaRPr lang="en-US" sz="1250" dirty="0"/>
          </a:p>
        </p:txBody>
      </p:sp>
      <p:sp>
        <p:nvSpPr>
          <p:cNvPr id="13" name="Text 11"/>
          <p:cNvSpPr txBox="1"/>
          <p:nvPr/>
        </p:nvSpPr>
        <p:spPr>
          <a:xfrm>
            <a:off x="6949440" y="210312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Penggunaan Faktor dan Gandaan Sepunya dalam pelbagai situasi secara teliti dan rasional.</a:t>
            </a:r>
            <a:endParaRPr lang="en-US" sz="980" dirty="0"/>
          </a:p>
        </p:txBody>
      </p:sp>
      <p:sp>
        <p:nvSpPr>
          <p:cNvPr id="14" name="Shape 12"/>
          <p:cNvSpPr/>
          <p:nvPr/>
        </p:nvSpPr>
        <p:spPr>
          <a:xfrm>
            <a:off x="548640" y="2880360"/>
            <a:ext cx="5349240" cy="1078992"/>
          </a:xfrm>
          <a:prstGeom prst="roundRect">
            <a:avLst>
              <a:gd name="adj" fmla="val 5085"/>
            </a:avLst>
          </a:prstGeom>
          <a:solidFill>
            <a:srgbClr val="F5F7FC"/>
          </a:solidFill>
          <a:ln w="12700">
            <a:solidFill>
              <a:srgbClr val="E7EAF2"/>
            </a:solidFill>
            <a:prstDash val="solid"/>
          </a:ln>
        </p:spPr>
      </p:sp>
      <p:sp>
        <p:nvSpPr>
          <p:cNvPr id="15" name="Shape 13"/>
          <p:cNvSpPr/>
          <p:nvPr/>
        </p:nvSpPr>
        <p:spPr>
          <a:xfrm>
            <a:off x="685800" y="3099816"/>
            <a:ext cx="502920" cy="502920"/>
          </a:xfrm>
          <a:prstGeom prst="ellipse">
            <a:avLst/>
          </a:prstGeom>
          <a:solidFill>
            <a:srgbClr val="1E2761"/>
          </a:solidFill>
          <a:ln/>
        </p:spPr>
      </p:sp>
      <p:sp>
        <p:nvSpPr>
          <p:cNvPr id="16" name="Text 14"/>
          <p:cNvSpPr txBox="1"/>
          <p:nvPr/>
        </p:nvSpPr>
        <p:spPr>
          <a:xfrm>
            <a:off x="685800" y="309981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325880" y="297180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Nisbah &amp; Algebra</a:t>
            </a:r>
            <a:endParaRPr lang="en-US" sz="1250" dirty="0"/>
          </a:p>
        </p:txBody>
      </p:sp>
      <p:sp>
        <p:nvSpPr>
          <p:cNvPr id="18" name="Text 16"/>
          <p:cNvSpPr txBox="1"/>
          <p:nvPr/>
        </p:nvSpPr>
        <p:spPr>
          <a:xfrm>
            <a:off x="1325880" y="333756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Mewakil &amp; memanipulasi ungkapan algebra serta persamaan linear dengan pemikiran logik.</a:t>
            </a:r>
            <a:endParaRPr lang="en-US" sz="980" dirty="0"/>
          </a:p>
        </p:txBody>
      </p:sp>
      <p:sp>
        <p:nvSpPr>
          <p:cNvPr id="19" name="Shape 17"/>
          <p:cNvSpPr/>
          <p:nvPr/>
        </p:nvSpPr>
        <p:spPr>
          <a:xfrm>
            <a:off x="6172200" y="2880360"/>
            <a:ext cx="5349240" cy="1078992"/>
          </a:xfrm>
          <a:prstGeom prst="roundRect">
            <a:avLst>
              <a:gd name="adj" fmla="val 5085"/>
            </a:avLst>
          </a:prstGeom>
          <a:solidFill>
            <a:srgbClr val="F5F7FC"/>
          </a:solidFill>
          <a:ln w="12700">
            <a:solidFill>
              <a:srgbClr val="E7EAF2"/>
            </a:solidFill>
            <a:prstDash val="solid"/>
          </a:ln>
        </p:spPr>
      </p:sp>
      <p:sp>
        <p:nvSpPr>
          <p:cNvPr id="20" name="Shape 18"/>
          <p:cNvSpPr/>
          <p:nvPr/>
        </p:nvSpPr>
        <p:spPr>
          <a:xfrm>
            <a:off x="6309360" y="3099816"/>
            <a:ext cx="502920" cy="502920"/>
          </a:xfrm>
          <a:prstGeom prst="ellipse">
            <a:avLst/>
          </a:prstGeom>
          <a:solidFill>
            <a:srgbClr val="1E2761"/>
          </a:solidFill>
          <a:ln/>
        </p:spPr>
      </p:sp>
      <p:sp>
        <p:nvSpPr>
          <p:cNvPr id="21" name="Text 19"/>
          <p:cNvSpPr txBox="1"/>
          <p:nvPr/>
        </p:nvSpPr>
        <p:spPr>
          <a:xfrm>
            <a:off x="6309360" y="309981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6949440" y="297180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Sifat Geometri</a:t>
            </a:r>
            <a:endParaRPr lang="en-US" sz="1250" dirty="0"/>
          </a:p>
        </p:txBody>
      </p:sp>
      <p:sp>
        <p:nvSpPr>
          <p:cNvPr id="23" name="Text 21"/>
          <p:cNvSpPr txBox="1"/>
          <p:nvPr/>
        </p:nvSpPr>
        <p:spPr>
          <a:xfrm>
            <a:off x="6949440" y="333756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Analisis sudut, garis, Teorem Pythagoras serta pengiraan perimeter &amp; luas secara teratur.</a:t>
            </a:r>
            <a:endParaRPr lang="en-US" sz="980" dirty="0"/>
          </a:p>
        </p:txBody>
      </p:sp>
      <p:sp>
        <p:nvSpPr>
          <p:cNvPr id="24" name="Shape 22"/>
          <p:cNvSpPr/>
          <p:nvPr/>
        </p:nvSpPr>
        <p:spPr>
          <a:xfrm>
            <a:off x="548640" y="4114800"/>
            <a:ext cx="5349240" cy="1078992"/>
          </a:xfrm>
          <a:prstGeom prst="roundRect">
            <a:avLst>
              <a:gd name="adj" fmla="val 5085"/>
            </a:avLst>
          </a:prstGeom>
          <a:solidFill>
            <a:srgbClr val="F5F7FC"/>
          </a:solidFill>
          <a:ln w="12700">
            <a:solidFill>
              <a:srgbClr val="E7EAF2"/>
            </a:solidFill>
            <a:prstDash val="solid"/>
          </a:ln>
        </p:spPr>
      </p:sp>
      <p:sp>
        <p:nvSpPr>
          <p:cNvPr id="25" name="Shape 23"/>
          <p:cNvSpPr/>
          <p:nvPr/>
        </p:nvSpPr>
        <p:spPr>
          <a:xfrm>
            <a:off x="685800" y="4334256"/>
            <a:ext cx="502920" cy="502920"/>
          </a:xfrm>
          <a:prstGeom prst="ellipse">
            <a:avLst/>
          </a:prstGeom>
          <a:solidFill>
            <a:srgbClr val="1E2761"/>
          </a:solidFill>
          <a:ln/>
        </p:spPr>
      </p:sp>
      <p:sp>
        <p:nvSpPr>
          <p:cNvPr id="26" name="Text 24"/>
          <p:cNvSpPr txBox="1"/>
          <p:nvPr/>
        </p:nvSpPr>
        <p:spPr>
          <a:xfrm>
            <a:off x="685800" y="433425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5</a:t>
            </a:r>
            <a:endParaRPr lang="en-US" sz="1600" dirty="0"/>
          </a:p>
        </p:txBody>
      </p:sp>
      <p:sp>
        <p:nvSpPr>
          <p:cNvPr id="27" name="Text 25"/>
          <p:cNvSpPr txBox="1"/>
          <p:nvPr/>
        </p:nvSpPr>
        <p:spPr>
          <a:xfrm>
            <a:off x="1325880" y="420624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Inkuiri Statistik</a:t>
            </a:r>
            <a:endParaRPr lang="en-US" sz="1250" dirty="0"/>
          </a:p>
        </p:txBody>
      </p:sp>
      <p:sp>
        <p:nvSpPr>
          <p:cNvPr id="28" name="Text 26"/>
          <p:cNvSpPr txBox="1"/>
          <p:nvPr/>
        </p:nvSpPr>
        <p:spPr>
          <a:xfrm>
            <a:off x="1325880" y="457200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Pengumpulan, perwakilan, dan pentafsiran data untuk menyelesaikan masalah secara berintegriti.</a:t>
            </a:r>
            <a:endParaRPr lang="en-US" sz="980" dirty="0"/>
          </a:p>
        </p:txBody>
      </p:sp>
      <p:sp>
        <p:nvSpPr>
          <p:cNvPr id="29" name="Shape 27"/>
          <p:cNvSpPr/>
          <p:nvPr/>
        </p:nvSpPr>
        <p:spPr>
          <a:xfrm>
            <a:off x="6172200" y="4114800"/>
            <a:ext cx="5349240" cy="1078992"/>
          </a:xfrm>
          <a:prstGeom prst="roundRect">
            <a:avLst>
              <a:gd name="adj" fmla="val 5085"/>
            </a:avLst>
          </a:prstGeom>
          <a:solidFill>
            <a:srgbClr val="F5F7FC"/>
          </a:solidFill>
          <a:ln w="12700">
            <a:solidFill>
              <a:srgbClr val="E7EAF2"/>
            </a:solidFill>
            <a:prstDash val="solid"/>
          </a:ln>
        </p:spPr>
      </p:sp>
      <p:sp>
        <p:nvSpPr>
          <p:cNvPr id="30" name="Shape 28"/>
          <p:cNvSpPr/>
          <p:nvPr/>
        </p:nvSpPr>
        <p:spPr>
          <a:xfrm>
            <a:off x="6309360" y="4334256"/>
            <a:ext cx="502920" cy="502920"/>
          </a:xfrm>
          <a:prstGeom prst="ellipse">
            <a:avLst/>
          </a:prstGeom>
          <a:solidFill>
            <a:srgbClr val="1E2761"/>
          </a:solidFill>
          <a:ln/>
        </p:spPr>
      </p:sp>
      <p:sp>
        <p:nvSpPr>
          <p:cNvPr id="31" name="Text 29"/>
          <p:cNvSpPr txBox="1"/>
          <p:nvPr/>
        </p:nvSpPr>
        <p:spPr>
          <a:xfrm>
            <a:off x="6309360" y="433425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6</a:t>
            </a:r>
            <a:endParaRPr lang="en-US" sz="1600" dirty="0"/>
          </a:p>
        </p:txBody>
      </p:sp>
      <p:sp>
        <p:nvSpPr>
          <p:cNvPr id="32" name="Text 30"/>
          <p:cNvSpPr txBox="1"/>
          <p:nvPr/>
        </p:nvSpPr>
        <p:spPr>
          <a:xfrm>
            <a:off x="6949440" y="420624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Teknologi Digital</a:t>
            </a:r>
            <a:endParaRPr lang="en-US" sz="1250" dirty="0"/>
          </a:p>
        </p:txBody>
      </p:sp>
      <p:sp>
        <p:nvSpPr>
          <p:cNvPr id="33" name="Text 31"/>
          <p:cNvSpPr txBox="1"/>
          <p:nvPr/>
        </p:nvSpPr>
        <p:spPr>
          <a:xfrm>
            <a:off x="6949440" y="457200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Integrasi alatan digital moden dalam matematik secara berkesan &amp; bertanggungjawab.</a:t>
            </a:r>
            <a:endParaRPr lang="en-US" sz="980" dirty="0"/>
          </a:p>
        </p:txBody>
      </p:sp>
      <p:sp>
        <p:nvSpPr>
          <p:cNvPr id="34" name="Shape 32"/>
          <p:cNvSpPr/>
          <p:nvPr/>
        </p:nvSpPr>
        <p:spPr>
          <a:xfrm>
            <a:off x="548640" y="5349240"/>
            <a:ext cx="5349240" cy="1078992"/>
          </a:xfrm>
          <a:prstGeom prst="roundRect">
            <a:avLst>
              <a:gd name="adj" fmla="val 5085"/>
            </a:avLst>
          </a:prstGeom>
          <a:solidFill>
            <a:srgbClr val="F5F7FC"/>
          </a:solidFill>
          <a:ln w="12700">
            <a:solidFill>
              <a:srgbClr val="E7EAF2"/>
            </a:solidFill>
            <a:prstDash val="solid"/>
          </a:ln>
        </p:spPr>
      </p:sp>
      <p:sp>
        <p:nvSpPr>
          <p:cNvPr id="35" name="Shape 33"/>
          <p:cNvSpPr/>
          <p:nvPr/>
        </p:nvSpPr>
        <p:spPr>
          <a:xfrm>
            <a:off x="685800" y="5568696"/>
            <a:ext cx="502920" cy="502920"/>
          </a:xfrm>
          <a:prstGeom prst="ellipse">
            <a:avLst/>
          </a:prstGeom>
          <a:solidFill>
            <a:srgbClr val="1E2761"/>
          </a:solidFill>
          <a:ln/>
        </p:spPr>
      </p:sp>
      <p:sp>
        <p:nvSpPr>
          <p:cNvPr id="36" name="Text 34"/>
          <p:cNvSpPr txBox="1"/>
          <p:nvPr/>
        </p:nvSpPr>
        <p:spPr>
          <a:xfrm>
            <a:off x="685800" y="5568696"/>
            <a:ext cx="502920" cy="502920"/>
          </a:xfrm>
          <a:prstGeom prst="rect">
            <a:avLst/>
          </a:prstGeom>
          <a:noFill/>
          <a:ln/>
        </p:spPr>
        <p:txBody>
          <a:bodyPr wrap="square" rtlCol="0" anchor="ctr"/>
          <a:lstStyle/>
          <a:p>
            <a:pPr algn="ctr" indent="0" marL="0">
              <a:buNone/>
            </a:pPr>
            <a:r>
              <a:rPr lang="en-US" sz="1600" b="1" dirty="0">
                <a:solidFill>
                  <a:srgbClr val="F2B705"/>
                </a:solidFill>
                <a:latin typeface="Cambria" pitchFamily="34" charset="0"/>
                <a:ea typeface="Cambria" pitchFamily="34" charset="-122"/>
                <a:cs typeface="Cambria" pitchFamily="34" charset="-120"/>
              </a:rPr>
              <a:t>7</a:t>
            </a:r>
            <a:endParaRPr lang="en-US" sz="1600" dirty="0"/>
          </a:p>
        </p:txBody>
      </p:sp>
      <p:sp>
        <p:nvSpPr>
          <p:cNvPr id="37" name="Text 35"/>
          <p:cNvSpPr txBox="1"/>
          <p:nvPr/>
        </p:nvSpPr>
        <p:spPr>
          <a:xfrm>
            <a:off x="1325880" y="5440680"/>
            <a:ext cx="4434840" cy="36576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Karakter &amp; Nilai Tambah</a:t>
            </a:r>
            <a:endParaRPr lang="en-US" sz="1250" dirty="0"/>
          </a:p>
        </p:txBody>
      </p:sp>
      <p:sp>
        <p:nvSpPr>
          <p:cNvPr id="38" name="Text 36"/>
          <p:cNvSpPr txBox="1"/>
          <p:nvPr/>
        </p:nvSpPr>
        <p:spPr>
          <a:xfrm>
            <a:off x="1325880" y="5806440"/>
            <a:ext cx="4434840" cy="54864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Elemen nilai tambah: PKJR, Pendidikan Kewangan dan Kelestarian/Pembangunan Mampan.</a:t>
            </a:r>
            <a:endParaRPr lang="en-US" sz="980" dirty="0"/>
          </a:p>
        </p:txBody>
      </p:sp>
      <p:sp>
        <p:nvSpPr>
          <p:cNvPr id="39" name="Text 37"/>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15</a:t>
            </a:r>
            <a:endParaRPr lang="en-US" sz="1000" dirty="0"/>
          </a:p>
        </p:txBody>
      </p:sp>
      <p:sp>
        <p:nvSpPr>
          <p:cNvPr id="40" name="Text 3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594360"/>
            <a:ext cx="1124712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Kerangka Kurikulum Matematik Menengah Rendah</a:t>
            </a:r>
            <a:endParaRPr lang="en-US" sz="2400" dirty="0"/>
          </a:p>
        </p:txBody>
      </p:sp>
      <p:sp>
        <p:nvSpPr>
          <p:cNvPr id="4" name="Shape 2"/>
          <p:cNvSpPr/>
          <p:nvPr/>
        </p:nvSpPr>
        <p:spPr>
          <a:xfrm>
            <a:off x="3566160" y="1280160"/>
            <a:ext cx="5029200" cy="502920"/>
          </a:xfrm>
          <a:prstGeom prst="roundRect">
            <a:avLst>
              <a:gd name="adj" fmla="val 50909"/>
            </a:avLst>
          </a:prstGeom>
          <a:solidFill>
            <a:srgbClr val="F2B705"/>
          </a:solidFill>
          <a:ln/>
        </p:spPr>
      </p:sp>
      <p:sp>
        <p:nvSpPr>
          <p:cNvPr id="5" name="Text 3"/>
          <p:cNvSpPr txBox="1"/>
          <p:nvPr/>
        </p:nvSpPr>
        <p:spPr>
          <a:xfrm>
            <a:off x="3566160" y="1280160"/>
            <a:ext cx="5029200" cy="50292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MURID KOMPETEN &amp; BERKARAKTER</a:t>
            </a:r>
            <a:endParaRPr lang="en-US" sz="1400" dirty="0"/>
          </a:p>
        </p:txBody>
      </p:sp>
      <p:sp>
        <p:nvSpPr>
          <p:cNvPr id="6" name="Shape 4"/>
          <p:cNvSpPr/>
          <p:nvPr/>
        </p:nvSpPr>
        <p:spPr>
          <a:xfrm>
            <a:off x="4480560" y="1965960"/>
            <a:ext cx="3200400" cy="457200"/>
          </a:xfrm>
          <a:prstGeom prst="roundRect">
            <a:avLst>
              <a:gd name="adj" fmla="val 12000"/>
            </a:avLst>
          </a:prstGeom>
          <a:solidFill>
            <a:srgbClr val="141A45"/>
          </a:solidFill>
          <a:ln w="12700">
            <a:solidFill>
              <a:srgbClr val="F2B705"/>
            </a:solidFill>
            <a:prstDash val="solid"/>
          </a:ln>
        </p:spPr>
      </p:sp>
      <p:sp>
        <p:nvSpPr>
          <p:cNvPr id="7" name="Text 5"/>
          <p:cNvSpPr txBox="1"/>
          <p:nvPr/>
        </p:nvSpPr>
        <p:spPr>
          <a:xfrm>
            <a:off x="4480560" y="1965960"/>
            <a:ext cx="3200400" cy="457200"/>
          </a:xfrm>
          <a:prstGeom prst="rect">
            <a:avLst/>
          </a:prstGeom>
          <a:noFill/>
          <a:ln/>
        </p:spPr>
        <p:txBody>
          <a:bodyPr wrap="square" rtlCol="0" anchor="ctr"/>
          <a:lstStyle/>
          <a:p>
            <a:pPr algn="ctr" indent="0" marL="0">
              <a:buNone/>
            </a:pPr>
            <a:r>
              <a:rPr lang="en-US" sz="1200" b="1" dirty="0">
                <a:solidFill>
                  <a:srgbClr val="CADCFC"/>
                </a:solidFill>
                <a:latin typeface="Calibri" pitchFamily="34" charset="0"/>
                <a:ea typeface="Calibri" pitchFamily="34" charset="-122"/>
                <a:cs typeface="Calibri" pitchFamily="34" charset="-120"/>
              </a:rPr>
              <a:t>Standard Proses &amp; Nilai</a:t>
            </a:r>
            <a:endParaRPr lang="en-US" sz="1200" dirty="0"/>
          </a:p>
        </p:txBody>
      </p:sp>
      <p:sp>
        <p:nvSpPr>
          <p:cNvPr id="8" name="Shape 6"/>
          <p:cNvSpPr/>
          <p:nvPr/>
        </p:nvSpPr>
        <p:spPr>
          <a:xfrm>
            <a:off x="548640" y="2788920"/>
            <a:ext cx="2011680" cy="685800"/>
          </a:xfrm>
          <a:prstGeom prst="roundRect">
            <a:avLst>
              <a:gd name="adj" fmla="val 8000"/>
            </a:avLst>
          </a:prstGeom>
          <a:solidFill>
            <a:srgbClr val="141A45"/>
          </a:solidFill>
          <a:ln w="9525">
            <a:solidFill>
              <a:srgbClr val="CADCFC"/>
            </a:solidFill>
            <a:prstDash val="solid"/>
          </a:ln>
        </p:spPr>
      </p:sp>
      <p:sp>
        <p:nvSpPr>
          <p:cNvPr id="9" name="Text 7"/>
          <p:cNvSpPr txBox="1"/>
          <p:nvPr/>
        </p:nvSpPr>
        <p:spPr>
          <a:xfrm>
            <a:off x="594360" y="2788920"/>
            <a:ext cx="1920240" cy="68580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Perwakilan</a:t>
            </a:r>
            <a:endParaRPr lang="en-US" sz="1050" dirty="0"/>
          </a:p>
        </p:txBody>
      </p:sp>
      <p:sp>
        <p:nvSpPr>
          <p:cNvPr id="10" name="Shape 8"/>
          <p:cNvSpPr/>
          <p:nvPr/>
        </p:nvSpPr>
        <p:spPr>
          <a:xfrm>
            <a:off x="2697480" y="2788920"/>
            <a:ext cx="2011680" cy="685800"/>
          </a:xfrm>
          <a:prstGeom prst="roundRect">
            <a:avLst>
              <a:gd name="adj" fmla="val 8000"/>
            </a:avLst>
          </a:prstGeom>
          <a:solidFill>
            <a:srgbClr val="141A45"/>
          </a:solidFill>
          <a:ln w="9525">
            <a:solidFill>
              <a:srgbClr val="CADCFC"/>
            </a:solidFill>
            <a:prstDash val="solid"/>
          </a:ln>
        </p:spPr>
      </p:sp>
      <p:sp>
        <p:nvSpPr>
          <p:cNvPr id="11" name="Text 9"/>
          <p:cNvSpPr txBox="1"/>
          <p:nvPr/>
        </p:nvSpPr>
        <p:spPr>
          <a:xfrm>
            <a:off x="2743200" y="2788920"/>
            <a:ext cx="1920240" cy="68580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Perkaitan</a:t>
            </a:r>
            <a:endParaRPr lang="en-US" sz="1050" dirty="0"/>
          </a:p>
        </p:txBody>
      </p:sp>
      <p:sp>
        <p:nvSpPr>
          <p:cNvPr id="12" name="Shape 10"/>
          <p:cNvSpPr/>
          <p:nvPr/>
        </p:nvSpPr>
        <p:spPr>
          <a:xfrm>
            <a:off x="4846320" y="2788920"/>
            <a:ext cx="2011680" cy="685800"/>
          </a:xfrm>
          <a:prstGeom prst="roundRect">
            <a:avLst>
              <a:gd name="adj" fmla="val 8000"/>
            </a:avLst>
          </a:prstGeom>
          <a:solidFill>
            <a:srgbClr val="141A45"/>
          </a:solidFill>
          <a:ln w="9525">
            <a:solidFill>
              <a:srgbClr val="CADCFC"/>
            </a:solidFill>
            <a:prstDash val="solid"/>
          </a:ln>
        </p:spPr>
      </p:sp>
      <p:sp>
        <p:nvSpPr>
          <p:cNvPr id="13" name="Text 11"/>
          <p:cNvSpPr txBox="1"/>
          <p:nvPr/>
        </p:nvSpPr>
        <p:spPr>
          <a:xfrm>
            <a:off x="4892040" y="2788920"/>
            <a:ext cx="1920240" cy="68580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Penyelesaian Masalah</a:t>
            </a:r>
            <a:endParaRPr lang="en-US" sz="1050" dirty="0"/>
          </a:p>
        </p:txBody>
      </p:sp>
      <p:sp>
        <p:nvSpPr>
          <p:cNvPr id="14" name="Shape 12"/>
          <p:cNvSpPr/>
          <p:nvPr/>
        </p:nvSpPr>
        <p:spPr>
          <a:xfrm>
            <a:off x="6995160" y="2788920"/>
            <a:ext cx="2011680" cy="685800"/>
          </a:xfrm>
          <a:prstGeom prst="roundRect">
            <a:avLst>
              <a:gd name="adj" fmla="val 8000"/>
            </a:avLst>
          </a:prstGeom>
          <a:solidFill>
            <a:srgbClr val="141A45"/>
          </a:solidFill>
          <a:ln w="9525">
            <a:solidFill>
              <a:srgbClr val="CADCFC"/>
            </a:solidFill>
            <a:prstDash val="solid"/>
          </a:ln>
        </p:spPr>
      </p:sp>
      <p:sp>
        <p:nvSpPr>
          <p:cNvPr id="15" name="Text 13"/>
          <p:cNvSpPr txBox="1"/>
          <p:nvPr/>
        </p:nvSpPr>
        <p:spPr>
          <a:xfrm>
            <a:off x="7040880" y="2788920"/>
            <a:ext cx="1920240" cy="68580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Penaakulan</a:t>
            </a:r>
            <a:endParaRPr lang="en-US" sz="1050" dirty="0"/>
          </a:p>
        </p:txBody>
      </p:sp>
      <p:sp>
        <p:nvSpPr>
          <p:cNvPr id="16" name="Shape 14"/>
          <p:cNvSpPr/>
          <p:nvPr/>
        </p:nvSpPr>
        <p:spPr>
          <a:xfrm>
            <a:off x="9144000" y="2788920"/>
            <a:ext cx="2011680" cy="685800"/>
          </a:xfrm>
          <a:prstGeom prst="roundRect">
            <a:avLst>
              <a:gd name="adj" fmla="val 8000"/>
            </a:avLst>
          </a:prstGeom>
          <a:solidFill>
            <a:srgbClr val="141A45"/>
          </a:solidFill>
          <a:ln w="9525">
            <a:solidFill>
              <a:srgbClr val="CADCFC"/>
            </a:solidFill>
            <a:prstDash val="solid"/>
          </a:ln>
        </p:spPr>
      </p:sp>
      <p:sp>
        <p:nvSpPr>
          <p:cNvPr id="17" name="Text 15"/>
          <p:cNvSpPr txBox="1"/>
          <p:nvPr/>
        </p:nvSpPr>
        <p:spPr>
          <a:xfrm>
            <a:off x="9189720" y="2788920"/>
            <a:ext cx="1920240" cy="68580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Komunikasi</a:t>
            </a:r>
            <a:endParaRPr lang="en-US" sz="1050" dirty="0"/>
          </a:p>
        </p:txBody>
      </p:sp>
      <p:sp>
        <p:nvSpPr>
          <p:cNvPr id="18" name="Text 16"/>
          <p:cNvSpPr txBox="1"/>
          <p:nvPr/>
        </p:nvSpPr>
        <p:spPr>
          <a:xfrm>
            <a:off x="548640" y="3703320"/>
            <a:ext cx="10972800" cy="320040"/>
          </a:xfrm>
          <a:prstGeom prst="rect">
            <a:avLst/>
          </a:prstGeom>
          <a:noFill/>
          <a:ln/>
        </p:spPr>
        <p:txBody>
          <a:bodyPr wrap="square" rtlCol="0" anchor="ctr"/>
          <a:lstStyle/>
          <a:p>
            <a:pPr indent="0" marL="0">
              <a:buNone/>
            </a:pPr>
            <a:r>
              <a:rPr lang="en-US" sz="1250" b="1" spc="100" kern="0" dirty="0">
                <a:solidFill>
                  <a:srgbClr val="F2B705"/>
                </a:solidFill>
                <a:latin typeface="Calibri" pitchFamily="34" charset="0"/>
                <a:ea typeface="Calibri" pitchFamily="34" charset="-122"/>
                <a:cs typeface="Calibri" pitchFamily="34" charset="-120"/>
              </a:rPr>
              <a:t>TERAS PEMBELAJARAN &amp; KEMAHIRAN (ASAS)</a:t>
            </a:r>
            <a:endParaRPr lang="en-US" sz="1250" dirty="0"/>
          </a:p>
        </p:txBody>
      </p:sp>
      <p:sp>
        <p:nvSpPr>
          <p:cNvPr id="19" name="Shape 17"/>
          <p:cNvSpPr/>
          <p:nvPr/>
        </p:nvSpPr>
        <p:spPr>
          <a:xfrm>
            <a:off x="548640" y="4069080"/>
            <a:ext cx="2651760" cy="2148840"/>
          </a:xfrm>
          <a:prstGeom prst="roundRect">
            <a:avLst>
              <a:gd name="adj" fmla="val 3404"/>
            </a:avLst>
          </a:prstGeom>
          <a:solidFill>
            <a:srgbClr val="2E86AB"/>
          </a:solidFill>
          <a:ln/>
        </p:spPr>
      </p:sp>
      <p:sp>
        <p:nvSpPr>
          <p:cNvPr id="20" name="Text 18"/>
          <p:cNvSpPr txBox="1"/>
          <p:nvPr/>
        </p:nvSpPr>
        <p:spPr>
          <a:xfrm>
            <a:off x="685800" y="4233672"/>
            <a:ext cx="2377440" cy="594360"/>
          </a:xfrm>
          <a:prstGeom prst="rect">
            <a:avLst/>
          </a:prstGeom>
          <a:noFill/>
          <a:ln/>
        </p:spPr>
        <p:txBody>
          <a:bodyPr wrap="square"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4 Bidang Pembelajaran Utama</a:t>
            </a:r>
            <a:endParaRPr lang="en-US" sz="1200" dirty="0"/>
          </a:p>
        </p:txBody>
      </p:sp>
      <p:sp>
        <p:nvSpPr>
          <p:cNvPr id="21" name="Text 19"/>
          <p:cNvSpPr txBox="1"/>
          <p:nvPr/>
        </p:nvSpPr>
        <p:spPr>
          <a:xfrm>
            <a:off x="731520" y="4937760"/>
            <a:ext cx="2286000" cy="1188720"/>
          </a:xfrm>
          <a:prstGeom prst="rect">
            <a:avLst/>
          </a:prstGeom>
          <a:noFill/>
          <a:ln/>
        </p:spPr>
        <p:txBody>
          <a:bodyPr wrap="square" rtlCol="0" anchor="t"/>
          <a:lstStyle/>
          <a:p>
            <a:pPr algn="ctr" indent="0" marL="0">
              <a:lnSpc>
                <a:spcPct val="115000"/>
              </a:lnSpc>
              <a:buNone/>
            </a:pPr>
            <a:r>
              <a:rPr lang="en-US" sz="1000" dirty="0">
                <a:solidFill>
                  <a:srgbClr val="FFFFFF"/>
                </a:solidFill>
                <a:latin typeface="Calibri" pitchFamily="34" charset="0"/>
                <a:ea typeface="Calibri" pitchFamily="34" charset="-122"/>
                <a:cs typeface="Calibri" pitchFamily="34" charset="-120"/>
              </a:rPr>
              <a:t>Nombor, Algebra, Sukatan &amp; Geometri, Statistik &amp; Kebarangkalian</a:t>
            </a:r>
            <a:endParaRPr lang="en-US" sz="1000" dirty="0"/>
          </a:p>
        </p:txBody>
      </p:sp>
      <p:sp>
        <p:nvSpPr>
          <p:cNvPr id="22" name="Shape 20"/>
          <p:cNvSpPr/>
          <p:nvPr/>
        </p:nvSpPr>
        <p:spPr>
          <a:xfrm>
            <a:off x="3429000" y="4069080"/>
            <a:ext cx="2651760" cy="2148840"/>
          </a:xfrm>
          <a:prstGeom prst="roundRect">
            <a:avLst>
              <a:gd name="adj" fmla="val 3404"/>
            </a:avLst>
          </a:prstGeom>
          <a:solidFill>
            <a:srgbClr val="E67E22"/>
          </a:solidFill>
          <a:ln/>
        </p:spPr>
      </p:sp>
      <p:sp>
        <p:nvSpPr>
          <p:cNvPr id="23" name="Text 21"/>
          <p:cNvSpPr txBox="1"/>
          <p:nvPr/>
        </p:nvSpPr>
        <p:spPr>
          <a:xfrm>
            <a:off x="3566160" y="4233672"/>
            <a:ext cx="2377440" cy="594360"/>
          </a:xfrm>
          <a:prstGeom prst="rect">
            <a:avLst/>
          </a:prstGeom>
          <a:noFill/>
          <a:ln/>
        </p:spPr>
        <p:txBody>
          <a:bodyPr wrap="square"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Integrasi Teknologi Bijaksana</a:t>
            </a:r>
            <a:endParaRPr lang="en-US" sz="1200" dirty="0"/>
          </a:p>
        </p:txBody>
      </p:sp>
      <p:sp>
        <p:nvSpPr>
          <p:cNvPr id="24" name="Text 22"/>
          <p:cNvSpPr txBox="1"/>
          <p:nvPr/>
        </p:nvSpPr>
        <p:spPr>
          <a:xfrm>
            <a:off x="3611880" y="4937760"/>
            <a:ext cx="2286000" cy="1188720"/>
          </a:xfrm>
          <a:prstGeom prst="rect">
            <a:avLst/>
          </a:prstGeom>
          <a:noFill/>
          <a:ln/>
        </p:spPr>
        <p:txBody>
          <a:bodyPr wrap="square" rtlCol="0" anchor="t"/>
          <a:lstStyle/>
          <a:p>
            <a:pPr algn="ctr" indent="0" marL="0">
              <a:lnSpc>
                <a:spcPct val="115000"/>
              </a:lnSpc>
              <a:buNone/>
            </a:pPr>
            <a:r>
              <a:rPr lang="en-US" sz="1000" dirty="0">
                <a:solidFill>
                  <a:srgbClr val="FFFFFF"/>
                </a:solidFill>
                <a:latin typeface="Calibri" pitchFamily="34" charset="0"/>
                <a:ea typeface="Calibri" pitchFamily="34" charset="-122"/>
                <a:cs typeface="Calibri" pitchFamily="34" charset="-120"/>
              </a:rPr>
              <a:t>Kalkulator &amp; perisian untuk kefahaman tanpa abai kemahiran mencongak</a:t>
            </a:r>
            <a:endParaRPr lang="en-US" sz="1000" dirty="0"/>
          </a:p>
        </p:txBody>
      </p:sp>
      <p:sp>
        <p:nvSpPr>
          <p:cNvPr id="25" name="Shape 23"/>
          <p:cNvSpPr/>
          <p:nvPr/>
        </p:nvSpPr>
        <p:spPr>
          <a:xfrm>
            <a:off x="6309360" y="4069080"/>
            <a:ext cx="2651760" cy="2148840"/>
          </a:xfrm>
          <a:prstGeom prst="roundRect">
            <a:avLst>
              <a:gd name="adj" fmla="val 3404"/>
            </a:avLst>
          </a:prstGeom>
          <a:solidFill>
            <a:srgbClr val="8E44AD"/>
          </a:solidFill>
          <a:ln/>
        </p:spPr>
      </p:sp>
      <p:sp>
        <p:nvSpPr>
          <p:cNvPr id="26" name="Text 24"/>
          <p:cNvSpPr txBox="1"/>
          <p:nvPr/>
        </p:nvSpPr>
        <p:spPr>
          <a:xfrm>
            <a:off x="6446520" y="4233672"/>
            <a:ext cx="2377440" cy="594360"/>
          </a:xfrm>
          <a:prstGeom prst="rect">
            <a:avLst/>
          </a:prstGeom>
          <a:noFill/>
          <a:ln/>
        </p:spPr>
        <p:txBody>
          <a:bodyPr wrap="square"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Kemahiran Berfikir Kreatif</a:t>
            </a:r>
            <a:endParaRPr lang="en-US" sz="1200" dirty="0"/>
          </a:p>
        </p:txBody>
      </p:sp>
      <p:sp>
        <p:nvSpPr>
          <p:cNvPr id="27" name="Text 25"/>
          <p:cNvSpPr txBox="1"/>
          <p:nvPr/>
        </p:nvSpPr>
        <p:spPr>
          <a:xfrm>
            <a:off x="6492240" y="4937760"/>
            <a:ext cx="2286000" cy="1188720"/>
          </a:xfrm>
          <a:prstGeom prst="rect">
            <a:avLst/>
          </a:prstGeom>
          <a:noFill/>
          <a:ln/>
        </p:spPr>
        <p:txBody>
          <a:bodyPr wrap="square" rtlCol="0" anchor="t"/>
          <a:lstStyle/>
          <a:p>
            <a:pPr algn="ctr" indent="0" marL="0">
              <a:lnSpc>
                <a:spcPct val="115000"/>
              </a:lnSpc>
              <a:buNone/>
            </a:pPr>
            <a:r>
              <a:rPr lang="en-US" sz="1000" dirty="0">
                <a:solidFill>
                  <a:srgbClr val="FFFFFF"/>
                </a:solidFill>
                <a:latin typeface="Calibri" pitchFamily="34" charset="0"/>
                <a:ea typeface="Calibri" pitchFamily="34" charset="-122"/>
                <a:cs typeface="Calibri" pitchFamily="34" charset="-120"/>
              </a:rPr>
              <a:t>Melihat matematik dari perspektif baharu untuk penyelesaian dunia sebenar</a:t>
            </a:r>
            <a:endParaRPr lang="en-US" sz="1000" dirty="0"/>
          </a:p>
        </p:txBody>
      </p:sp>
      <p:sp>
        <p:nvSpPr>
          <p:cNvPr id="28" name="Shape 26"/>
          <p:cNvSpPr/>
          <p:nvPr/>
        </p:nvSpPr>
        <p:spPr>
          <a:xfrm>
            <a:off x="9189720" y="4069080"/>
            <a:ext cx="2651760" cy="2148840"/>
          </a:xfrm>
          <a:prstGeom prst="roundRect">
            <a:avLst>
              <a:gd name="adj" fmla="val 3404"/>
            </a:avLst>
          </a:prstGeom>
          <a:solidFill>
            <a:srgbClr val="27AE60"/>
          </a:solidFill>
          <a:ln/>
        </p:spPr>
      </p:sp>
      <p:sp>
        <p:nvSpPr>
          <p:cNvPr id="29" name="Text 27"/>
          <p:cNvSpPr txBox="1"/>
          <p:nvPr/>
        </p:nvSpPr>
        <p:spPr>
          <a:xfrm>
            <a:off x="9326880" y="4233672"/>
            <a:ext cx="2377440" cy="594360"/>
          </a:xfrm>
          <a:prstGeom prst="rect">
            <a:avLst/>
          </a:prstGeom>
          <a:noFill/>
          <a:ln/>
        </p:spPr>
        <p:txBody>
          <a:bodyPr wrap="square"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Pembentukan Karakter &amp; Nilai</a:t>
            </a:r>
            <a:endParaRPr lang="en-US" sz="1200" dirty="0"/>
          </a:p>
        </p:txBody>
      </p:sp>
      <p:sp>
        <p:nvSpPr>
          <p:cNvPr id="30" name="Text 28"/>
          <p:cNvSpPr txBox="1"/>
          <p:nvPr/>
        </p:nvSpPr>
        <p:spPr>
          <a:xfrm>
            <a:off x="9372600" y="4937760"/>
            <a:ext cx="2286000" cy="1188720"/>
          </a:xfrm>
          <a:prstGeom prst="rect">
            <a:avLst/>
          </a:prstGeom>
          <a:noFill/>
          <a:ln/>
        </p:spPr>
        <p:txBody>
          <a:bodyPr wrap="square" rtlCol="0" anchor="t"/>
          <a:lstStyle/>
          <a:p>
            <a:pPr algn="ctr" indent="0" marL="0">
              <a:lnSpc>
                <a:spcPct val="115000"/>
              </a:lnSpc>
              <a:buNone/>
            </a:pPr>
            <a:r>
              <a:rPr lang="en-US" sz="1000" dirty="0">
                <a:solidFill>
                  <a:srgbClr val="FFFFFF"/>
                </a:solidFill>
                <a:latin typeface="Calibri" pitchFamily="34" charset="0"/>
                <a:ea typeface="Calibri" pitchFamily="34" charset="-122"/>
                <a:cs typeface="Calibri" pitchFamily="34" charset="-120"/>
              </a:rPr>
              <a:t>Nilai sejagat, unsur ketuhanan, penghargaan sejarah matematik</a:t>
            </a:r>
            <a:endParaRPr lang="en-US" sz="1000" dirty="0"/>
          </a:p>
        </p:txBody>
      </p:sp>
      <p:sp>
        <p:nvSpPr>
          <p:cNvPr id="31" name="Text 29"/>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16</a:t>
            </a:r>
            <a:endParaRPr lang="en-US" sz="1000" dirty="0"/>
          </a:p>
        </p:txBody>
      </p:sp>
      <p:sp>
        <p:nvSpPr>
          <p:cNvPr id="32" name="Text 3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Bidang Pembelajaran &amp; Tajuk Matematik Tingkatan 1</a:t>
            </a:r>
            <a:endParaRPr lang="en-US" sz="2700" dirty="0"/>
          </a:p>
        </p:txBody>
      </p:sp>
      <p:sp>
        <p:nvSpPr>
          <p:cNvPr id="4" name="Shape 2"/>
          <p:cNvSpPr/>
          <p:nvPr/>
        </p:nvSpPr>
        <p:spPr>
          <a:xfrm>
            <a:off x="548640" y="1645920"/>
            <a:ext cx="1371600" cy="1371600"/>
          </a:xfrm>
          <a:prstGeom prst="ellipse">
            <a:avLst/>
          </a:prstGeom>
          <a:solidFill>
            <a:srgbClr val="1E2761"/>
          </a:solidFill>
          <a:ln/>
        </p:spPr>
      </p:sp>
      <p:sp>
        <p:nvSpPr>
          <p:cNvPr id="5" name="Text 3"/>
          <p:cNvSpPr txBox="1"/>
          <p:nvPr/>
        </p:nvSpPr>
        <p:spPr>
          <a:xfrm>
            <a:off x="548640" y="1783080"/>
            <a:ext cx="1371600" cy="731520"/>
          </a:xfrm>
          <a:prstGeom prst="rect">
            <a:avLst/>
          </a:prstGeom>
          <a:noFill/>
          <a:ln/>
        </p:spPr>
        <p:txBody>
          <a:bodyPr wrap="square" rtlCol="0" anchor="ctr"/>
          <a:lstStyle/>
          <a:p>
            <a:pPr algn="ctr" indent="0" marL="0">
              <a:buNone/>
            </a:pPr>
            <a:r>
              <a:rPr lang="en-US" sz="3400" b="1" dirty="0">
                <a:solidFill>
                  <a:srgbClr val="F2B705"/>
                </a:solidFill>
                <a:latin typeface="Cambria" pitchFamily="34" charset="0"/>
                <a:ea typeface="Cambria" pitchFamily="34" charset="-122"/>
                <a:cs typeface="Cambria" pitchFamily="34" charset="-120"/>
              </a:rPr>
              <a:t>6</a:t>
            </a:r>
            <a:endParaRPr lang="en-US" sz="3400" dirty="0"/>
          </a:p>
        </p:txBody>
      </p:sp>
      <p:sp>
        <p:nvSpPr>
          <p:cNvPr id="6" name="Text 4"/>
          <p:cNvSpPr txBox="1"/>
          <p:nvPr/>
        </p:nvSpPr>
        <p:spPr>
          <a:xfrm>
            <a:off x="320040" y="2423160"/>
            <a:ext cx="18288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WAKTU/MINGGU</a:t>
            </a:r>
            <a:endParaRPr lang="en-US" sz="900" dirty="0"/>
          </a:p>
        </p:txBody>
      </p:sp>
      <p:sp>
        <p:nvSpPr>
          <p:cNvPr id="7" name="Shape 5"/>
          <p:cNvSpPr/>
          <p:nvPr/>
        </p:nvSpPr>
        <p:spPr>
          <a:xfrm>
            <a:off x="2148840" y="1600200"/>
            <a:ext cx="2286000" cy="3566160"/>
          </a:xfrm>
          <a:prstGeom prst="roundRect">
            <a:avLst>
              <a:gd name="adj" fmla="val 3200"/>
            </a:avLst>
          </a:prstGeom>
          <a:solidFill>
            <a:srgbClr val="F5F7FC"/>
          </a:solidFill>
          <a:ln w="19050">
            <a:solidFill>
              <a:srgbClr val="2E86AB"/>
            </a:solidFill>
            <a:prstDash val="solid"/>
          </a:ln>
        </p:spPr>
      </p:sp>
      <p:sp>
        <p:nvSpPr>
          <p:cNvPr id="8" name="Shape 6"/>
          <p:cNvSpPr/>
          <p:nvPr/>
        </p:nvSpPr>
        <p:spPr>
          <a:xfrm>
            <a:off x="2148840" y="1600200"/>
            <a:ext cx="2286000" cy="502920"/>
          </a:xfrm>
          <a:prstGeom prst="rect">
            <a:avLst/>
          </a:prstGeom>
          <a:solidFill>
            <a:srgbClr val="2E86AB"/>
          </a:solidFill>
          <a:ln/>
        </p:spPr>
      </p:sp>
      <p:sp>
        <p:nvSpPr>
          <p:cNvPr id="9" name="Text 7"/>
          <p:cNvSpPr txBox="1"/>
          <p:nvPr/>
        </p:nvSpPr>
        <p:spPr>
          <a:xfrm>
            <a:off x="2240280" y="1600200"/>
            <a:ext cx="2103120" cy="502920"/>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Cambria" pitchFamily="34" charset="0"/>
                <a:ea typeface="Cambria" pitchFamily="34" charset="-122"/>
                <a:cs typeface="Cambria" pitchFamily="34" charset="-120"/>
              </a:rPr>
              <a:t>Nombor dan Operasi</a:t>
            </a:r>
            <a:endParaRPr lang="en-US" sz="1200" dirty="0"/>
          </a:p>
        </p:txBody>
      </p:sp>
      <p:sp>
        <p:nvSpPr>
          <p:cNvPr id="10" name="Text 8"/>
          <p:cNvSpPr txBox="1"/>
          <p:nvPr/>
        </p:nvSpPr>
        <p:spPr>
          <a:xfrm>
            <a:off x="2286000" y="2286000"/>
            <a:ext cx="2011680" cy="2743200"/>
          </a:xfrm>
          <a:prstGeom prst="rect">
            <a:avLst/>
          </a:prstGeom>
          <a:noFill/>
          <a:ln/>
        </p:spPr>
        <p:txBody>
          <a:bodyPr wrap="square" rtlCol="0" anchor="t"/>
          <a:lstStyle/>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Nombor Nyata</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Faktor dan Gandaan</a:t>
            </a:r>
            <a:endParaRPr lang="en-US" sz="1050" dirty="0"/>
          </a:p>
        </p:txBody>
      </p:sp>
      <p:sp>
        <p:nvSpPr>
          <p:cNvPr id="11" name="Shape 9"/>
          <p:cNvSpPr/>
          <p:nvPr/>
        </p:nvSpPr>
        <p:spPr>
          <a:xfrm>
            <a:off x="4581144" y="1600200"/>
            <a:ext cx="2286000" cy="3566160"/>
          </a:xfrm>
          <a:prstGeom prst="roundRect">
            <a:avLst>
              <a:gd name="adj" fmla="val 3200"/>
            </a:avLst>
          </a:prstGeom>
          <a:solidFill>
            <a:srgbClr val="F5F7FC"/>
          </a:solidFill>
          <a:ln w="19050">
            <a:solidFill>
              <a:srgbClr val="E67E22"/>
            </a:solidFill>
            <a:prstDash val="solid"/>
          </a:ln>
        </p:spPr>
      </p:sp>
      <p:sp>
        <p:nvSpPr>
          <p:cNvPr id="12" name="Shape 10"/>
          <p:cNvSpPr/>
          <p:nvPr/>
        </p:nvSpPr>
        <p:spPr>
          <a:xfrm>
            <a:off x="4581144" y="1600200"/>
            <a:ext cx="2286000" cy="502920"/>
          </a:xfrm>
          <a:prstGeom prst="rect">
            <a:avLst/>
          </a:prstGeom>
          <a:solidFill>
            <a:srgbClr val="E67E22"/>
          </a:solidFill>
          <a:ln/>
        </p:spPr>
      </p:sp>
      <p:sp>
        <p:nvSpPr>
          <p:cNvPr id="13" name="Text 11"/>
          <p:cNvSpPr txBox="1"/>
          <p:nvPr/>
        </p:nvSpPr>
        <p:spPr>
          <a:xfrm>
            <a:off x="4672584" y="1600200"/>
            <a:ext cx="2103120" cy="502920"/>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Cambria" pitchFamily="34" charset="0"/>
                <a:ea typeface="Cambria" pitchFamily="34" charset="-122"/>
                <a:cs typeface="Cambria" pitchFamily="34" charset="-120"/>
              </a:rPr>
              <a:t>Sukatan dan Geometri</a:t>
            </a:r>
            <a:endParaRPr lang="en-US" sz="1200" dirty="0"/>
          </a:p>
        </p:txBody>
      </p:sp>
      <p:sp>
        <p:nvSpPr>
          <p:cNvPr id="14" name="Text 12"/>
          <p:cNvSpPr txBox="1"/>
          <p:nvPr/>
        </p:nvSpPr>
        <p:spPr>
          <a:xfrm>
            <a:off x="4718304" y="2286000"/>
            <a:ext cx="2011680" cy="2743200"/>
          </a:xfrm>
          <a:prstGeom prst="rect">
            <a:avLst/>
          </a:prstGeom>
          <a:noFill/>
          <a:ln/>
        </p:spPr>
        <p:txBody>
          <a:bodyPr wrap="square" rtlCol="0" anchor="t"/>
          <a:lstStyle/>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Garis dan Sudut</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Segi Tiga dan Sisi Empat</a:t>
            </a:r>
            <a:endParaRPr lang="en-US" sz="1050" dirty="0"/>
          </a:p>
        </p:txBody>
      </p:sp>
      <p:sp>
        <p:nvSpPr>
          <p:cNvPr id="15" name="Shape 13"/>
          <p:cNvSpPr/>
          <p:nvPr/>
        </p:nvSpPr>
        <p:spPr>
          <a:xfrm>
            <a:off x="7013448" y="1600200"/>
            <a:ext cx="2286000" cy="3566160"/>
          </a:xfrm>
          <a:prstGeom prst="roundRect">
            <a:avLst>
              <a:gd name="adj" fmla="val 3200"/>
            </a:avLst>
          </a:prstGeom>
          <a:solidFill>
            <a:srgbClr val="F5F7FC"/>
          </a:solidFill>
          <a:ln w="19050">
            <a:solidFill>
              <a:srgbClr val="8E44AD"/>
            </a:solidFill>
            <a:prstDash val="solid"/>
          </a:ln>
        </p:spPr>
      </p:sp>
      <p:sp>
        <p:nvSpPr>
          <p:cNvPr id="16" name="Shape 14"/>
          <p:cNvSpPr/>
          <p:nvPr/>
        </p:nvSpPr>
        <p:spPr>
          <a:xfrm>
            <a:off x="7013448" y="1600200"/>
            <a:ext cx="2286000" cy="502920"/>
          </a:xfrm>
          <a:prstGeom prst="rect">
            <a:avLst/>
          </a:prstGeom>
          <a:solidFill>
            <a:srgbClr val="8E44AD"/>
          </a:solidFill>
          <a:ln/>
        </p:spPr>
      </p:sp>
      <p:sp>
        <p:nvSpPr>
          <p:cNvPr id="17" name="Text 15"/>
          <p:cNvSpPr txBox="1"/>
          <p:nvPr/>
        </p:nvSpPr>
        <p:spPr>
          <a:xfrm>
            <a:off x="7104888" y="1600200"/>
            <a:ext cx="2103120" cy="502920"/>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Cambria" pitchFamily="34" charset="0"/>
                <a:ea typeface="Cambria" pitchFamily="34" charset="-122"/>
                <a:cs typeface="Cambria" pitchFamily="34" charset="-120"/>
              </a:rPr>
              <a:t>Perkaitan dan Algebra</a:t>
            </a:r>
            <a:endParaRPr lang="en-US" sz="1200" dirty="0"/>
          </a:p>
        </p:txBody>
      </p:sp>
      <p:sp>
        <p:nvSpPr>
          <p:cNvPr id="18" name="Text 16"/>
          <p:cNvSpPr txBox="1"/>
          <p:nvPr/>
        </p:nvSpPr>
        <p:spPr>
          <a:xfrm>
            <a:off x="7150608" y="2286000"/>
            <a:ext cx="2011680" cy="2743200"/>
          </a:xfrm>
          <a:prstGeom prst="rect">
            <a:avLst/>
          </a:prstGeom>
          <a:noFill/>
          <a:ln/>
        </p:spPr>
        <p:txBody>
          <a:bodyPr wrap="square" rtlCol="0" anchor="t"/>
          <a:lstStyle/>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Nisbah, Kadar dan Perkadaran</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Ungkapan Algebra</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Persamaan &amp; Ketaksamaan Linear</a:t>
            </a:r>
            <a:endParaRPr lang="en-US" sz="1050" dirty="0"/>
          </a:p>
        </p:txBody>
      </p:sp>
      <p:sp>
        <p:nvSpPr>
          <p:cNvPr id="19" name="Shape 17"/>
          <p:cNvSpPr/>
          <p:nvPr/>
        </p:nvSpPr>
        <p:spPr>
          <a:xfrm>
            <a:off x="9445752" y="1600200"/>
            <a:ext cx="2286000" cy="3566160"/>
          </a:xfrm>
          <a:prstGeom prst="roundRect">
            <a:avLst>
              <a:gd name="adj" fmla="val 3200"/>
            </a:avLst>
          </a:prstGeom>
          <a:solidFill>
            <a:srgbClr val="F5F7FC"/>
          </a:solidFill>
          <a:ln w="19050">
            <a:solidFill>
              <a:srgbClr val="27AE60"/>
            </a:solidFill>
            <a:prstDash val="solid"/>
          </a:ln>
        </p:spPr>
      </p:sp>
      <p:sp>
        <p:nvSpPr>
          <p:cNvPr id="20" name="Shape 18"/>
          <p:cNvSpPr/>
          <p:nvPr/>
        </p:nvSpPr>
        <p:spPr>
          <a:xfrm>
            <a:off x="9445752" y="1600200"/>
            <a:ext cx="2286000" cy="502920"/>
          </a:xfrm>
          <a:prstGeom prst="rect">
            <a:avLst/>
          </a:prstGeom>
          <a:solidFill>
            <a:srgbClr val="27AE60"/>
          </a:solidFill>
          <a:ln/>
        </p:spPr>
      </p:sp>
      <p:sp>
        <p:nvSpPr>
          <p:cNvPr id="21" name="Text 19"/>
          <p:cNvSpPr txBox="1"/>
          <p:nvPr/>
        </p:nvSpPr>
        <p:spPr>
          <a:xfrm>
            <a:off x="9537192" y="1600200"/>
            <a:ext cx="2103120" cy="502920"/>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Cambria" pitchFamily="34" charset="0"/>
                <a:ea typeface="Cambria" pitchFamily="34" charset="-122"/>
                <a:cs typeface="Cambria" pitchFamily="34" charset="-120"/>
              </a:rPr>
              <a:t>Statistik dan Kebarangkalian</a:t>
            </a:r>
            <a:endParaRPr lang="en-US" sz="1200" dirty="0"/>
          </a:p>
        </p:txBody>
      </p:sp>
      <p:sp>
        <p:nvSpPr>
          <p:cNvPr id="22" name="Text 20"/>
          <p:cNvSpPr txBox="1"/>
          <p:nvPr/>
        </p:nvSpPr>
        <p:spPr>
          <a:xfrm>
            <a:off x="9582912" y="2286000"/>
            <a:ext cx="2011680" cy="2743200"/>
          </a:xfrm>
          <a:prstGeom prst="rect">
            <a:avLst/>
          </a:prstGeom>
          <a:noFill/>
          <a:ln/>
        </p:spPr>
        <p:txBody>
          <a:bodyPr wrap="square" rtlCol="0" anchor="t"/>
          <a:lstStyle/>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Pengendalian Data</a:t>
            </a:r>
            <a:endParaRPr lang="en-US" sz="1050" dirty="0"/>
          </a:p>
        </p:txBody>
      </p:sp>
      <p:sp>
        <p:nvSpPr>
          <p:cNvPr id="23" name="Shape 21"/>
          <p:cNvSpPr/>
          <p:nvPr/>
        </p:nvSpPr>
        <p:spPr>
          <a:xfrm>
            <a:off x="548640" y="3246120"/>
            <a:ext cx="1371600" cy="1920240"/>
          </a:xfrm>
          <a:prstGeom prst="roundRect">
            <a:avLst>
              <a:gd name="adj" fmla="val 5333"/>
            </a:avLst>
          </a:prstGeom>
          <a:solidFill>
            <a:srgbClr val="F5F7FC"/>
          </a:solidFill>
          <a:ln w="12700">
            <a:solidFill>
              <a:srgbClr val="E7EAF2"/>
            </a:solidFill>
            <a:prstDash val="solid"/>
          </a:ln>
        </p:spPr>
      </p:sp>
      <p:sp>
        <p:nvSpPr>
          <p:cNvPr id="24" name="Text 22"/>
          <p:cNvSpPr txBox="1"/>
          <p:nvPr/>
        </p:nvSpPr>
        <p:spPr>
          <a:xfrm>
            <a:off x="640080" y="3383280"/>
            <a:ext cx="1188720" cy="1691640"/>
          </a:xfrm>
          <a:prstGeom prst="rect">
            <a:avLst/>
          </a:prstGeom>
          <a:noFill/>
          <a:ln/>
        </p:spPr>
        <p:txBody>
          <a:bodyPr wrap="square" rtlCol="0" anchor="ctr"/>
          <a:lstStyle/>
          <a:p>
            <a:pPr algn="ctr" indent="0" marL="0">
              <a:lnSpc>
                <a:spcPct val="115000"/>
              </a:lnSpc>
              <a:buNone/>
            </a:pPr>
            <a:r>
              <a:rPr lang="en-US" sz="900" dirty="0">
                <a:solidFill>
                  <a:srgbClr val="5B6472"/>
                </a:solidFill>
                <a:latin typeface="Calibri" pitchFamily="34" charset="0"/>
                <a:ea typeface="Calibri" pitchFamily="34" charset="-122"/>
                <a:cs typeface="Calibri" pitchFamily="34" charset="-120"/>
              </a:rPr>
              <a:t>Tajuk baharu → disusun mengikut Ansur Maju: Konkrit → Berstruktur → Abstrak.</a:t>
            </a:r>
            <a:endParaRPr lang="en-US" sz="900" dirty="0"/>
          </a:p>
        </p:txBody>
      </p:sp>
      <p:sp>
        <p:nvSpPr>
          <p:cNvPr id="25" name="Text 23"/>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17</a:t>
            </a:r>
            <a:endParaRPr lang="en-US" sz="1000" dirty="0"/>
          </a:p>
        </p:txBody>
      </p:sp>
      <p:sp>
        <p:nvSpPr>
          <p:cNvPr id="26" name="Text 24"/>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PENERANGAN TERPERINCI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Kemahiran Matematik: Minda &amp; Teknologi Bijaksana</a:t>
            </a:r>
            <a:endParaRPr lang="en-US" sz="2700" dirty="0"/>
          </a:p>
        </p:txBody>
      </p:sp>
      <p:sp>
        <p:nvSpPr>
          <p:cNvPr id="4" name="Shape 2"/>
          <p:cNvSpPr/>
          <p:nvPr/>
        </p:nvSpPr>
        <p:spPr>
          <a:xfrm>
            <a:off x="548640" y="1645920"/>
            <a:ext cx="3520440" cy="2743200"/>
          </a:xfrm>
          <a:prstGeom prst="roundRect">
            <a:avLst>
              <a:gd name="adj" fmla="val 2667"/>
            </a:avLst>
          </a:prstGeom>
          <a:solidFill>
            <a:srgbClr val="F5F7FC"/>
          </a:solidFill>
          <a:ln w="12700">
            <a:solidFill>
              <a:srgbClr val="E7EAF2"/>
            </a:solidFill>
            <a:prstDash val="solid"/>
          </a:ln>
        </p:spPr>
      </p:sp>
      <p:sp>
        <p:nvSpPr>
          <p:cNvPr id="5" name="Shape 3"/>
          <p:cNvSpPr/>
          <p:nvPr/>
        </p:nvSpPr>
        <p:spPr>
          <a:xfrm>
            <a:off x="731520" y="1828800"/>
            <a:ext cx="548640" cy="548640"/>
          </a:xfrm>
          <a:prstGeom prst="ellipse">
            <a:avLst/>
          </a:prstGeom>
          <a:solidFill>
            <a:srgbClr val="1E2761"/>
          </a:solidFill>
          <a:ln/>
        </p:spPr>
      </p:sp>
      <p:pic>
        <p:nvPicPr>
          <p:cNvPr id="6" name="Image 0" descr="/home/claude/shared_icons/icon_brain.png">    </p:cNvPr>
          <p:cNvPicPr>
            <a:picLocks noChangeAspect="1"/>
          </p:cNvPicPr>
          <p:nvPr/>
        </p:nvPicPr>
        <p:blipFill>
          <a:blip r:embed="rId1"/>
          <a:stretch>
            <a:fillRect/>
          </a:stretch>
        </p:blipFill>
        <p:spPr>
          <a:xfrm>
            <a:off x="808330" y="1905610"/>
            <a:ext cx="395021" cy="395021"/>
          </a:xfrm>
          <a:prstGeom prst="rect">
            <a:avLst/>
          </a:prstGeom>
        </p:spPr>
      </p:pic>
      <p:sp>
        <p:nvSpPr>
          <p:cNvPr id="7" name="Text 4"/>
          <p:cNvSpPr txBox="1"/>
          <p:nvPr/>
        </p:nvSpPr>
        <p:spPr>
          <a:xfrm>
            <a:off x="1417320" y="1783080"/>
            <a:ext cx="2514600" cy="548640"/>
          </a:xfrm>
          <a:prstGeom prst="rect">
            <a:avLst/>
          </a:prstGeom>
          <a:noFill/>
          <a:ln/>
        </p:spPr>
        <p:txBody>
          <a:bodyPr wrap="square" rtlCol="0" anchor="t"/>
          <a:lstStyle/>
          <a:p>
            <a:pPr indent="0" marL="0">
              <a:buNone/>
            </a:pPr>
            <a:r>
              <a:rPr lang="en-US" sz="1250" b="1" dirty="0">
                <a:solidFill>
                  <a:srgbClr val="1E2761"/>
                </a:solidFill>
                <a:latin typeface="Cambria" pitchFamily="34" charset="0"/>
                <a:ea typeface="Cambria" pitchFamily="34" charset="-122"/>
                <a:cs typeface="Cambria" pitchFamily="34" charset="-120"/>
              </a:rPr>
              <a:t>Asas Minda &amp; Penaakulan</a:t>
            </a:r>
            <a:endParaRPr lang="en-US" sz="1250" dirty="0"/>
          </a:p>
        </p:txBody>
      </p:sp>
      <p:sp>
        <p:nvSpPr>
          <p:cNvPr id="8" name="Text 5"/>
          <p:cNvSpPr txBox="1"/>
          <p:nvPr/>
        </p:nvSpPr>
        <p:spPr>
          <a:xfrm>
            <a:off x="731520" y="2560320"/>
            <a:ext cx="3154680" cy="1737360"/>
          </a:xfrm>
          <a:prstGeom prst="rect">
            <a:avLst/>
          </a:prstGeom>
          <a:noFill/>
          <a:ln/>
        </p:spPr>
        <p:txBody>
          <a:bodyPr wrap="square" rtlCol="0" anchor="t"/>
          <a:lstStyle/>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Mencongak &amp; pengiraan mental memperkukuh kepekaan nombor.</a:t>
            </a:r>
            <a:endParaRPr lang="en-US" sz="1000" dirty="0"/>
          </a:p>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Melangkaui algoritma — perkaitan angka pantas secara mental.</a:t>
            </a:r>
            <a:endParaRPr lang="en-US" sz="1000" dirty="0"/>
          </a:p>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Penaakulan logik: memilih strategi paling cekap.</a:t>
            </a:r>
            <a:endParaRPr lang="en-US" sz="1000" dirty="0"/>
          </a:p>
        </p:txBody>
      </p:sp>
      <p:sp>
        <p:nvSpPr>
          <p:cNvPr id="9" name="Shape 6"/>
          <p:cNvSpPr/>
          <p:nvPr/>
        </p:nvSpPr>
        <p:spPr>
          <a:xfrm>
            <a:off x="4343400" y="1645920"/>
            <a:ext cx="3520440" cy="2743200"/>
          </a:xfrm>
          <a:prstGeom prst="roundRect">
            <a:avLst>
              <a:gd name="adj" fmla="val 2667"/>
            </a:avLst>
          </a:prstGeom>
          <a:solidFill>
            <a:srgbClr val="F5F7FC"/>
          </a:solidFill>
          <a:ln w="12700">
            <a:solidFill>
              <a:srgbClr val="E7EAF2"/>
            </a:solidFill>
            <a:prstDash val="solid"/>
          </a:ln>
        </p:spPr>
      </p:sp>
      <p:sp>
        <p:nvSpPr>
          <p:cNvPr id="10" name="Shape 7"/>
          <p:cNvSpPr/>
          <p:nvPr/>
        </p:nvSpPr>
        <p:spPr>
          <a:xfrm>
            <a:off x="4526280" y="1828800"/>
            <a:ext cx="548640" cy="548640"/>
          </a:xfrm>
          <a:prstGeom prst="ellipse">
            <a:avLst/>
          </a:prstGeom>
          <a:solidFill>
            <a:srgbClr val="1E2761"/>
          </a:solidFill>
          <a:ln/>
        </p:spPr>
      </p:sp>
      <p:pic>
        <p:nvPicPr>
          <p:cNvPr id="11" name="Image 1" descr="/home/claude/shared_icons/icon_puzzle.png">    </p:cNvPr>
          <p:cNvPicPr>
            <a:picLocks noChangeAspect="1"/>
          </p:cNvPicPr>
          <p:nvPr/>
        </p:nvPicPr>
        <p:blipFill>
          <a:blip r:embed="rId2"/>
          <a:stretch>
            <a:fillRect/>
          </a:stretch>
        </p:blipFill>
        <p:spPr>
          <a:xfrm>
            <a:off x="4603090" y="1905610"/>
            <a:ext cx="395021" cy="395021"/>
          </a:xfrm>
          <a:prstGeom prst="rect">
            <a:avLst/>
          </a:prstGeom>
        </p:spPr>
      </p:pic>
      <p:sp>
        <p:nvSpPr>
          <p:cNvPr id="12" name="Text 8"/>
          <p:cNvSpPr txBox="1"/>
          <p:nvPr/>
        </p:nvSpPr>
        <p:spPr>
          <a:xfrm>
            <a:off x="5212080" y="1783080"/>
            <a:ext cx="2514600" cy="548640"/>
          </a:xfrm>
          <a:prstGeom prst="rect">
            <a:avLst/>
          </a:prstGeom>
          <a:noFill/>
          <a:ln/>
        </p:spPr>
        <p:txBody>
          <a:bodyPr wrap="square" rtlCol="0" anchor="t"/>
          <a:lstStyle/>
          <a:p>
            <a:pPr indent="0" marL="0">
              <a:buNone/>
            </a:pPr>
            <a:r>
              <a:rPr lang="en-US" sz="1250" b="1" dirty="0">
                <a:solidFill>
                  <a:srgbClr val="1E2761"/>
                </a:solidFill>
                <a:latin typeface="Cambria" pitchFamily="34" charset="0"/>
                <a:ea typeface="Cambria" pitchFamily="34" charset="-122"/>
                <a:cs typeface="Cambria" pitchFamily="34" charset="-120"/>
              </a:rPr>
              <a:t>Kreativiti &amp; Aplikasi Realiti</a:t>
            </a:r>
            <a:endParaRPr lang="en-US" sz="1250" dirty="0"/>
          </a:p>
        </p:txBody>
      </p:sp>
      <p:sp>
        <p:nvSpPr>
          <p:cNvPr id="13" name="Text 9"/>
          <p:cNvSpPr txBox="1"/>
          <p:nvPr/>
        </p:nvSpPr>
        <p:spPr>
          <a:xfrm>
            <a:off x="4526280" y="2560320"/>
            <a:ext cx="3154680" cy="1737360"/>
          </a:xfrm>
          <a:prstGeom prst="rect">
            <a:avLst/>
          </a:prstGeom>
          <a:noFill/>
          <a:ln/>
        </p:spPr>
        <p:txBody>
          <a:bodyPr wrap="square" rtlCol="0" anchor="t"/>
          <a:lstStyle/>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Pemikiran baharu: perspektif kritis, kreatif, inovatif.</a:t>
            </a:r>
            <a:endParaRPr lang="en-US" sz="1000" dirty="0"/>
          </a:p>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Pemodelan matematik: terjemah situasi sebenar kepada model tepat.</a:t>
            </a:r>
            <a:endParaRPr lang="en-US" sz="1000" dirty="0"/>
          </a:p>
        </p:txBody>
      </p:sp>
      <p:sp>
        <p:nvSpPr>
          <p:cNvPr id="14" name="Shape 10"/>
          <p:cNvSpPr/>
          <p:nvPr/>
        </p:nvSpPr>
        <p:spPr>
          <a:xfrm>
            <a:off x="8138160" y="1645920"/>
            <a:ext cx="3520440" cy="2743200"/>
          </a:xfrm>
          <a:prstGeom prst="roundRect">
            <a:avLst>
              <a:gd name="adj" fmla="val 2667"/>
            </a:avLst>
          </a:prstGeom>
          <a:solidFill>
            <a:srgbClr val="F5F7FC"/>
          </a:solidFill>
          <a:ln w="12700">
            <a:solidFill>
              <a:srgbClr val="E7EAF2"/>
            </a:solidFill>
            <a:prstDash val="solid"/>
          </a:ln>
        </p:spPr>
      </p:sp>
      <p:sp>
        <p:nvSpPr>
          <p:cNvPr id="15" name="Shape 11"/>
          <p:cNvSpPr/>
          <p:nvPr/>
        </p:nvSpPr>
        <p:spPr>
          <a:xfrm>
            <a:off x="8321040" y="1828800"/>
            <a:ext cx="548640" cy="548640"/>
          </a:xfrm>
          <a:prstGeom prst="ellipse">
            <a:avLst/>
          </a:prstGeom>
          <a:solidFill>
            <a:srgbClr val="1E2761"/>
          </a:solidFill>
          <a:ln/>
        </p:spPr>
      </p:sp>
      <p:pic>
        <p:nvPicPr>
          <p:cNvPr id="16" name="Image 2" descr="/home/claude/shared_icons/icon_balanceScale.png">    </p:cNvPr>
          <p:cNvPicPr>
            <a:picLocks noChangeAspect="1"/>
          </p:cNvPicPr>
          <p:nvPr/>
        </p:nvPicPr>
        <p:blipFill>
          <a:blip r:embed="rId3"/>
          <a:stretch>
            <a:fillRect/>
          </a:stretch>
        </p:blipFill>
        <p:spPr>
          <a:xfrm>
            <a:off x="8397850" y="1905610"/>
            <a:ext cx="395021" cy="395021"/>
          </a:xfrm>
          <a:prstGeom prst="rect">
            <a:avLst/>
          </a:prstGeom>
        </p:spPr>
      </p:pic>
      <p:sp>
        <p:nvSpPr>
          <p:cNvPr id="17" name="Text 12"/>
          <p:cNvSpPr txBox="1"/>
          <p:nvPr/>
        </p:nvSpPr>
        <p:spPr>
          <a:xfrm>
            <a:off x="9006840" y="1783080"/>
            <a:ext cx="2514600" cy="548640"/>
          </a:xfrm>
          <a:prstGeom prst="rect">
            <a:avLst/>
          </a:prstGeom>
          <a:noFill/>
          <a:ln/>
        </p:spPr>
        <p:txBody>
          <a:bodyPr wrap="square" rtlCol="0" anchor="t"/>
          <a:lstStyle/>
          <a:p>
            <a:pPr indent="0" marL="0">
              <a:buNone/>
            </a:pPr>
            <a:r>
              <a:rPr lang="en-US" sz="1250" b="1" dirty="0">
                <a:solidFill>
                  <a:srgbClr val="1E2761"/>
                </a:solidFill>
                <a:latin typeface="Cambria" pitchFamily="34" charset="0"/>
                <a:ea typeface="Cambria" pitchFamily="34" charset="-122"/>
                <a:cs typeface="Cambria" pitchFamily="34" charset="-120"/>
              </a:rPr>
              <a:t>Keseimbangan Penggunaan Alat</a:t>
            </a:r>
            <a:endParaRPr lang="en-US" sz="1250" dirty="0"/>
          </a:p>
        </p:txBody>
      </p:sp>
      <p:sp>
        <p:nvSpPr>
          <p:cNvPr id="18" name="Text 13"/>
          <p:cNvSpPr txBox="1"/>
          <p:nvPr/>
        </p:nvSpPr>
        <p:spPr>
          <a:xfrm>
            <a:off x="8321040" y="2560320"/>
            <a:ext cx="3154680" cy="1737360"/>
          </a:xfrm>
          <a:prstGeom prst="rect">
            <a:avLst/>
          </a:prstGeom>
          <a:noFill/>
          <a:ln/>
        </p:spPr>
        <p:txBody>
          <a:bodyPr wrap="square" rtlCol="0" anchor="t"/>
          <a:lstStyle/>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Harmoni manual &amp; digital — teknologi tidak gantikan kemahiran asas.</a:t>
            </a:r>
            <a:endParaRPr lang="en-US" sz="1000" dirty="0"/>
          </a:p>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Penguasaan komprehensif: gabung alat tradisional &amp; perisian moden.</a:t>
            </a:r>
            <a:endParaRPr lang="en-US" sz="1000" dirty="0"/>
          </a:p>
        </p:txBody>
      </p:sp>
      <p:sp>
        <p:nvSpPr>
          <p:cNvPr id="19" name="Shape 14"/>
          <p:cNvSpPr/>
          <p:nvPr/>
        </p:nvSpPr>
        <p:spPr>
          <a:xfrm>
            <a:off x="548640" y="4572000"/>
            <a:ext cx="11064240" cy="1280160"/>
          </a:xfrm>
          <a:prstGeom prst="roundRect">
            <a:avLst>
              <a:gd name="adj" fmla="val 5714"/>
            </a:avLst>
          </a:prstGeom>
          <a:solidFill>
            <a:srgbClr val="1E2761"/>
          </a:solidFill>
          <a:ln/>
        </p:spPr>
      </p:sp>
      <p:sp>
        <p:nvSpPr>
          <p:cNvPr id="20" name="Text 15"/>
          <p:cNvSpPr txBox="1"/>
          <p:nvPr/>
        </p:nvSpPr>
        <p:spPr>
          <a:xfrm>
            <a:off x="777240" y="4690872"/>
            <a:ext cx="10607040" cy="274320"/>
          </a:xfrm>
          <a:prstGeom prst="rect">
            <a:avLst/>
          </a:prstGeom>
          <a:noFill/>
          <a:ln/>
        </p:spPr>
        <p:txBody>
          <a:bodyPr wrap="square" rtlCol="0" anchor="ctr"/>
          <a:lstStyle/>
          <a:p>
            <a:pPr indent="0" marL="0">
              <a:buNone/>
            </a:pPr>
            <a:r>
              <a:rPr lang="en-US" sz="1150" b="1" spc="100" kern="0" dirty="0">
                <a:solidFill>
                  <a:srgbClr val="F2B705"/>
                </a:solidFill>
                <a:latin typeface="Calibri" pitchFamily="34" charset="0"/>
                <a:ea typeface="Calibri" pitchFamily="34" charset="-122"/>
                <a:cs typeface="Calibri" pitchFamily="34" charset="-120"/>
              </a:rPr>
              <a:t>4 TUNJANG TEKNOLOGI BIJAKSANA</a:t>
            </a:r>
            <a:endParaRPr lang="en-US" sz="1150" dirty="0"/>
          </a:p>
        </p:txBody>
      </p:sp>
      <p:sp>
        <p:nvSpPr>
          <p:cNvPr id="21" name="Text 16"/>
          <p:cNvSpPr txBox="1"/>
          <p:nvPr/>
        </p:nvSpPr>
        <p:spPr>
          <a:xfrm>
            <a:off x="777240" y="5029200"/>
            <a:ext cx="260604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1. Meneroka &amp; Memodel</a:t>
            </a:r>
            <a:endParaRPr lang="en-US" sz="1150" dirty="0"/>
          </a:p>
        </p:txBody>
      </p:sp>
      <p:sp>
        <p:nvSpPr>
          <p:cNvPr id="22" name="Text 17"/>
          <p:cNvSpPr txBox="1"/>
          <p:nvPr/>
        </p:nvSpPr>
        <p:spPr>
          <a:xfrm>
            <a:off x="3474720" y="5029200"/>
            <a:ext cx="260604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2. Mengira (sokongan pantas)</a:t>
            </a:r>
            <a:endParaRPr lang="en-US" sz="1150" dirty="0"/>
          </a:p>
        </p:txBody>
      </p:sp>
      <p:sp>
        <p:nvSpPr>
          <p:cNvPr id="23" name="Text 18"/>
          <p:cNvSpPr txBox="1"/>
          <p:nvPr/>
        </p:nvSpPr>
        <p:spPr>
          <a:xfrm>
            <a:off x="6172200" y="5029200"/>
            <a:ext cx="260604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3. Mengurus Data</a:t>
            </a:r>
            <a:endParaRPr lang="en-US" sz="1150" dirty="0"/>
          </a:p>
        </p:txBody>
      </p:sp>
      <p:sp>
        <p:nvSpPr>
          <p:cNvPr id="24" name="Text 19"/>
          <p:cNvSpPr txBox="1"/>
          <p:nvPr/>
        </p:nvSpPr>
        <p:spPr>
          <a:xfrm>
            <a:off x="8869680" y="5029200"/>
            <a:ext cx="260604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4. Etika Digital</a:t>
            </a:r>
            <a:endParaRPr lang="en-US" sz="1150" dirty="0"/>
          </a:p>
        </p:txBody>
      </p:sp>
      <p:sp>
        <p:nvSpPr>
          <p:cNvPr id="25" name="Text 20"/>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18</a:t>
            </a:r>
            <a:endParaRPr lang="en-US" sz="1000" dirty="0"/>
          </a:p>
        </p:txBody>
      </p:sp>
      <p:sp>
        <p:nvSpPr>
          <p:cNvPr id="26"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5 Standard Proses Matematik</a:t>
            </a:r>
            <a:endParaRPr lang="en-US" sz="2700" dirty="0"/>
          </a:p>
        </p:txBody>
      </p:sp>
      <p:sp>
        <p:nvSpPr>
          <p:cNvPr id="4" name="Shape 2"/>
          <p:cNvSpPr/>
          <p:nvPr/>
        </p:nvSpPr>
        <p:spPr>
          <a:xfrm>
            <a:off x="548640" y="1645920"/>
            <a:ext cx="5349240" cy="1417320"/>
          </a:xfrm>
          <a:prstGeom prst="roundRect">
            <a:avLst>
              <a:gd name="adj" fmla="val 3871"/>
            </a:avLst>
          </a:prstGeom>
          <a:solidFill>
            <a:srgbClr val="F5F7FC"/>
          </a:solidFill>
          <a:ln w="12700">
            <a:solidFill>
              <a:srgbClr val="E7EAF2"/>
            </a:solidFill>
            <a:prstDash val="solid"/>
          </a:ln>
        </p:spPr>
      </p:sp>
      <p:sp>
        <p:nvSpPr>
          <p:cNvPr id="5" name="Shape 3"/>
          <p:cNvSpPr/>
          <p:nvPr/>
        </p:nvSpPr>
        <p:spPr>
          <a:xfrm>
            <a:off x="713232" y="1965960"/>
            <a:ext cx="640080" cy="640080"/>
          </a:xfrm>
          <a:prstGeom prst="ellipse">
            <a:avLst/>
          </a:prstGeom>
          <a:solidFill>
            <a:srgbClr val="1E2761"/>
          </a:solidFill>
          <a:ln/>
        </p:spPr>
      </p:sp>
      <p:pic>
        <p:nvPicPr>
          <p:cNvPr id="6" name="Image 0" descr="/home/claude/shared_icons/icon_target.png">    </p:cNvPr>
          <p:cNvPicPr>
            <a:picLocks noChangeAspect="1"/>
          </p:cNvPicPr>
          <p:nvPr/>
        </p:nvPicPr>
        <p:blipFill>
          <a:blip r:embed="rId1"/>
          <a:stretch>
            <a:fillRect/>
          </a:stretch>
        </p:blipFill>
        <p:spPr>
          <a:xfrm>
            <a:off x="802843" y="2055571"/>
            <a:ext cx="460858" cy="460858"/>
          </a:xfrm>
          <a:prstGeom prst="rect">
            <a:avLst/>
          </a:prstGeom>
        </p:spPr>
      </p:pic>
      <p:sp>
        <p:nvSpPr>
          <p:cNvPr id="7" name="Text 4"/>
          <p:cNvSpPr txBox="1"/>
          <p:nvPr/>
        </p:nvSpPr>
        <p:spPr>
          <a:xfrm>
            <a:off x="1508760" y="1737360"/>
            <a:ext cx="42519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Penyelesaian Masalah</a:t>
            </a:r>
            <a:endParaRPr lang="en-US" sz="1300" dirty="0"/>
          </a:p>
        </p:txBody>
      </p:sp>
      <p:sp>
        <p:nvSpPr>
          <p:cNvPr id="8" name="Text 5"/>
          <p:cNvSpPr txBox="1"/>
          <p:nvPr/>
        </p:nvSpPr>
        <p:spPr>
          <a:xfrm>
            <a:off x="1508760" y="2103120"/>
            <a:ext cx="4251960" cy="868680"/>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Strategi heuristik (lukis rajah, kenal pola, cuba jaya, kerja ke belakang); pelaksanaan sistematik &amp; penilaian kemunasabahan.</a:t>
            </a:r>
            <a:endParaRPr lang="en-US" sz="1000" dirty="0"/>
          </a:p>
        </p:txBody>
      </p:sp>
      <p:sp>
        <p:nvSpPr>
          <p:cNvPr id="9" name="Shape 6"/>
          <p:cNvSpPr/>
          <p:nvPr/>
        </p:nvSpPr>
        <p:spPr>
          <a:xfrm>
            <a:off x="6172200" y="1645920"/>
            <a:ext cx="5349240" cy="1417320"/>
          </a:xfrm>
          <a:prstGeom prst="roundRect">
            <a:avLst>
              <a:gd name="adj" fmla="val 3871"/>
            </a:avLst>
          </a:prstGeom>
          <a:solidFill>
            <a:srgbClr val="F5F7FC"/>
          </a:solidFill>
          <a:ln w="12700">
            <a:solidFill>
              <a:srgbClr val="E7EAF2"/>
            </a:solidFill>
            <a:prstDash val="solid"/>
          </a:ln>
        </p:spPr>
      </p:sp>
      <p:sp>
        <p:nvSpPr>
          <p:cNvPr id="10" name="Shape 7"/>
          <p:cNvSpPr/>
          <p:nvPr/>
        </p:nvSpPr>
        <p:spPr>
          <a:xfrm>
            <a:off x="6336792" y="1965960"/>
            <a:ext cx="640080" cy="640080"/>
          </a:xfrm>
          <a:prstGeom prst="ellipse">
            <a:avLst/>
          </a:prstGeom>
          <a:solidFill>
            <a:srgbClr val="1E2761"/>
          </a:solidFill>
          <a:ln/>
        </p:spPr>
      </p:sp>
      <p:pic>
        <p:nvPicPr>
          <p:cNvPr id="11" name="Image 1" descr="/home/claude/shared_icons/icon_brain.png">    </p:cNvPr>
          <p:cNvPicPr>
            <a:picLocks noChangeAspect="1"/>
          </p:cNvPicPr>
          <p:nvPr/>
        </p:nvPicPr>
        <p:blipFill>
          <a:blip r:embed="rId2"/>
          <a:stretch>
            <a:fillRect/>
          </a:stretch>
        </p:blipFill>
        <p:spPr>
          <a:xfrm>
            <a:off x="6426403" y="2055571"/>
            <a:ext cx="460858" cy="460858"/>
          </a:xfrm>
          <a:prstGeom prst="rect">
            <a:avLst/>
          </a:prstGeom>
        </p:spPr>
      </p:pic>
      <p:sp>
        <p:nvSpPr>
          <p:cNvPr id="12" name="Text 8"/>
          <p:cNvSpPr txBox="1"/>
          <p:nvPr/>
        </p:nvSpPr>
        <p:spPr>
          <a:xfrm>
            <a:off x="7132320" y="1737360"/>
            <a:ext cx="42519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Penaakulan</a:t>
            </a:r>
            <a:endParaRPr lang="en-US" sz="1300" dirty="0"/>
          </a:p>
        </p:txBody>
      </p:sp>
      <p:sp>
        <p:nvSpPr>
          <p:cNvPr id="13" name="Text 9"/>
          <p:cNvSpPr txBox="1"/>
          <p:nvPr/>
        </p:nvSpPr>
        <p:spPr>
          <a:xfrm>
            <a:off x="7132320" y="2103120"/>
            <a:ext cx="4251960" cy="868680"/>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Analisis struktur, pembuktian logik (induktif/deduktif), justifikasi hujah untuk menyokong/menolak pernyataan matematik.</a:t>
            </a:r>
            <a:endParaRPr lang="en-US" sz="1000" dirty="0"/>
          </a:p>
        </p:txBody>
      </p:sp>
      <p:sp>
        <p:nvSpPr>
          <p:cNvPr id="14" name="Shape 10"/>
          <p:cNvSpPr/>
          <p:nvPr/>
        </p:nvSpPr>
        <p:spPr>
          <a:xfrm>
            <a:off x="548640" y="3218688"/>
            <a:ext cx="5349240" cy="1417320"/>
          </a:xfrm>
          <a:prstGeom prst="roundRect">
            <a:avLst>
              <a:gd name="adj" fmla="val 3871"/>
            </a:avLst>
          </a:prstGeom>
          <a:solidFill>
            <a:srgbClr val="F5F7FC"/>
          </a:solidFill>
          <a:ln w="12700">
            <a:solidFill>
              <a:srgbClr val="E7EAF2"/>
            </a:solidFill>
            <a:prstDash val="solid"/>
          </a:ln>
        </p:spPr>
      </p:sp>
      <p:sp>
        <p:nvSpPr>
          <p:cNvPr id="15" name="Shape 11"/>
          <p:cNvSpPr/>
          <p:nvPr/>
        </p:nvSpPr>
        <p:spPr>
          <a:xfrm>
            <a:off x="713232" y="3538728"/>
            <a:ext cx="640080" cy="640080"/>
          </a:xfrm>
          <a:prstGeom prst="ellipse">
            <a:avLst/>
          </a:prstGeom>
          <a:solidFill>
            <a:srgbClr val="1E2761"/>
          </a:solidFill>
          <a:ln/>
        </p:spPr>
      </p:sp>
      <p:pic>
        <p:nvPicPr>
          <p:cNvPr id="16" name="Image 2" descr="/home/claude/shared_icons/icon_comment.png">    </p:cNvPr>
          <p:cNvPicPr>
            <a:picLocks noChangeAspect="1"/>
          </p:cNvPicPr>
          <p:nvPr/>
        </p:nvPicPr>
        <p:blipFill>
          <a:blip r:embed="rId3"/>
          <a:stretch>
            <a:fillRect/>
          </a:stretch>
        </p:blipFill>
        <p:spPr>
          <a:xfrm>
            <a:off x="802843" y="3628339"/>
            <a:ext cx="460858" cy="460858"/>
          </a:xfrm>
          <a:prstGeom prst="rect">
            <a:avLst/>
          </a:prstGeom>
        </p:spPr>
      </p:pic>
      <p:sp>
        <p:nvSpPr>
          <p:cNvPr id="17" name="Text 12"/>
          <p:cNvSpPr txBox="1"/>
          <p:nvPr/>
        </p:nvSpPr>
        <p:spPr>
          <a:xfrm>
            <a:off x="1508760" y="3310128"/>
            <a:ext cx="42519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Komunikasi Matematik</a:t>
            </a:r>
            <a:endParaRPr lang="en-US" sz="1300" dirty="0"/>
          </a:p>
        </p:txBody>
      </p:sp>
      <p:sp>
        <p:nvSpPr>
          <p:cNvPr id="18" name="Text 13"/>
          <p:cNvSpPr txBox="1"/>
          <p:nvPr/>
        </p:nvSpPr>
        <p:spPr>
          <a:xfrm>
            <a:off x="1508760" y="3675888"/>
            <a:ext cx="4251960" cy="868680"/>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Penyampaian jelas (lisan/visual/bertulis), ketepatan simbol &amp; notasi, penilaian idea secara kritis.</a:t>
            </a:r>
            <a:endParaRPr lang="en-US" sz="1000" dirty="0"/>
          </a:p>
        </p:txBody>
      </p:sp>
      <p:sp>
        <p:nvSpPr>
          <p:cNvPr id="19" name="Shape 14"/>
          <p:cNvSpPr/>
          <p:nvPr/>
        </p:nvSpPr>
        <p:spPr>
          <a:xfrm>
            <a:off x="6172200" y="3218688"/>
            <a:ext cx="5349240" cy="1417320"/>
          </a:xfrm>
          <a:prstGeom prst="roundRect">
            <a:avLst>
              <a:gd name="adj" fmla="val 3871"/>
            </a:avLst>
          </a:prstGeom>
          <a:solidFill>
            <a:srgbClr val="F5F7FC"/>
          </a:solidFill>
          <a:ln w="12700">
            <a:solidFill>
              <a:srgbClr val="E7EAF2"/>
            </a:solidFill>
            <a:prstDash val="solid"/>
          </a:ln>
        </p:spPr>
      </p:sp>
      <p:sp>
        <p:nvSpPr>
          <p:cNvPr id="20" name="Shape 15"/>
          <p:cNvSpPr/>
          <p:nvPr/>
        </p:nvSpPr>
        <p:spPr>
          <a:xfrm>
            <a:off x="6336792" y="3538728"/>
            <a:ext cx="640080" cy="640080"/>
          </a:xfrm>
          <a:prstGeom prst="ellipse">
            <a:avLst/>
          </a:prstGeom>
          <a:solidFill>
            <a:srgbClr val="1E2761"/>
          </a:solidFill>
          <a:ln/>
        </p:spPr>
      </p:sp>
      <p:pic>
        <p:nvPicPr>
          <p:cNvPr id="21" name="Image 3" descr="/home/claude/shared_icons/icon_chart.png">    </p:cNvPr>
          <p:cNvPicPr>
            <a:picLocks noChangeAspect="1"/>
          </p:cNvPicPr>
          <p:nvPr/>
        </p:nvPicPr>
        <p:blipFill>
          <a:blip r:embed="rId4"/>
          <a:stretch>
            <a:fillRect/>
          </a:stretch>
        </p:blipFill>
        <p:spPr>
          <a:xfrm>
            <a:off x="6426403" y="3628339"/>
            <a:ext cx="460858" cy="460858"/>
          </a:xfrm>
          <a:prstGeom prst="rect">
            <a:avLst/>
          </a:prstGeom>
        </p:spPr>
      </p:pic>
      <p:sp>
        <p:nvSpPr>
          <p:cNvPr id="22" name="Text 16"/>
          <p:cNvSpPr txBox="1"/>
          <p:nvPr/>
        </p:nvSpPr>
        <p:spPr>
          <a:xfrm>
            <a:off x="7132320" y="3310128"/>
            <a:ext cx="42519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Perwakilan</a:t>
            </a:r>
            <a:endParaRPr lang="en-US" sz="1300" dirty="0"/>
          </a:p>
        </p:txBody>
      </p:sp>
      <p:sp>
        <p:nvSpPr>
          <p:cNvPr id="23" name="Text 17"/>
          <p:cNvSpPr txBox="1"/>
          <p:nvPr/>
        </p:nvSpPr>
        <p:spPr>
          <a:xfrm>
            <a:off x="7132320" y="3675888"/>
            <a:ext cx="4251960" cy="868680"/>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Memilih perwakilan sesuai (graf/rajah/ungkapan), pemodelan, perkaitan silang antara jenis perwakilan.</a:t>
            </a:r>
            <a:endParaRPr lang="en-US" sz="1000" dirty="0"/>
          </a:p>
        </p:txBody>
      </p:sp>
      <p:sp>
        <p:nvSpPr>
          <p:cNvPr id="24" name="Shape 18"/>
          <p:cNvSpPr/>
          <p:nvPr/>
        </p:nvSpPr>
        <p:spPr>
          <a:xfrm>
            <a:off x="548640" y="4791456"/>
            <a:ext cx="11064240" cy="1417320"/>
          </a:xfrm>
          <a:prstGeom prst="roundRect">
            <a:avLst>
              <a:gd name="adj" fmla="val 3871"/>
            </a:avLst>
          </a:prstGeom>
          <a:solidFill>
            <a:srgbClr val="F5F7FC"/>
          </a:solidFill>
          <a:ln w="12700">
            <a:solidFill>
              <a:srgbClr val="E7EAF2"/>
            </a:solidFill>
            <a:prstDash val="solid"/>
          </a:ln>
        </p:spPr>
      </p:sp>
      <p:sp>
        <p:nvSpPr>
          <p:cNvPr id="25" name="Shape 19"/>
          <p:cNvSpPr/>
          <p:nvPr/>
        </p:nvSpPr>
        <p:spPr>
          <a:xfrm>
            <a:off x="713232" y="5111496"/>
            <a:ext cx="640080" cy="640080"/>
          </a:xfrm>
          <a:prstGeom prst="ellipse">
            <a:avLst/>
          </a:prstGeom>
          <a:solidFill>
            <a:srgbClr val="1E2761"/>
          </a:solidFill>
          <a:ln/>
        </p:spPr>
      </p:sp>
      <p:pic>
        <p:nvPicPr>
          <p:cNvPr id="26" name="Image 4" descr="/home/claude/shared_icons/icon_puzzle.png">    </p:cNvPr>
          <p:cNvPicPr>
            <a:picLocks noChangeAspect="1"/>
          </p:cNvPicPr>
          <p:nvPr/>
        </p:nvPicPr>
        <p:blipFill>
          <a:blip r:embed="rId5"/>
          <a:stretch>
            <a:fillRect/>
          </a:stretch>
        </p:blipFill>
        <p:spPr>
          <a:xfrm>
            <a:off x="802843" y="5201107"/>
            <a:ext cx="460858" cy="460858"/>
          </a:xfrm>
          <a:prstGeom prst="rect">
            <a:avLst/>
          </a:prstGeom>
        </p:spPr>
      </p:pic>
      <p:sp>
        <p:nvSpPr>
          <p:cNvPr id="27" name="Text 20"/>
          <p:cNvSpPr txBox="1"/>
          <p:nvPr/>
        </p:nvSpPr>
        <p:spPr>
          <a:xfrm>
            <a:off x="1508760" y="4882896"/>
            <a:ext cx="99669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Perkaitan</a:t>
            </a:r>
            <a:endParaRPr lang="en-US" sz="1300" dirty="0"/>
          </a:p>
        </p:txBody>
      </p:sp>
      <p:sp>
        <p:nvSpPr>
          <p:cNvPr id="28" name="Text 21"/>
          <p:cNvSpPr txBox="1"/>
          <p:nvPr/>
        </p:nvSpPr>
        <p:spPr>
          <a:xfrm>
            <a:off x="1508760" y="5248656"/>
            <a:ext cx="9966960" cy="868680"/>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Sintesis pengetahuan — mengenal pasti hubungan idea; kesatuan bermakna dalam ekosistem pengetahuan matematik.</a:t>
            </a:r>
            <a:endParaRPr lang="en-US" sz="1000" dirty="0"/>
          </a:p>
        </p:txBody>
      </p:sp>
      <p:sp>
        <p:nvSpPr>
          <p:cNvPr id="29" name="Text 22"/>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19</a:t>
            </a:r>
            <a:endParaRPr lang="en-US" sz="1000" dirty="0"/>
          </a:p>
        </p:txBody>
      </p:sp>
      <p:sp>
        <p:nvSpPr>
          <p:cNvPr id="30" name="Text 23"/>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PENERANGAN TERPERINCI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Nilai Matematik → Karakter Insan Sejahtera</a:t>
            </a:r>
            <a:endParaRPr lang="en-US" sz="2700" dirty="0"/>
          </a:p>
        </p:txBody>
      </p:sp>
      <p:sp>
        <p:nvSpPr>
          <p:cNvPr id="4" name="Text 2"/>
          <p:cNvSpPr txBox="1"/>
          <p:nvPr/>
        </p:nvSpPr>
        <p:spPr>
          <a:xfrm>
            <a:off x="548640" y="1554480"/>
            <a:ext cx="11064240" cy="502920"/>
          </a:xfrm>
          <a:prstGeom prst="rect">
            <a:avLst/>
          </a:prstGeom>
          <a:noFill/>
          <a:ln/>
        </p:spPr>
        <p:txBody>
          <a:bodyPr wrap="square" rtlCol="0" anchor="ctr"/>
          <a:lstStyle/>
          <a:p>
            <a:pPr indent="0" marL="0">
              <a:lnSpc>
                <a:spcPct val="115000"/>
              </a:lnSpc>
              <a:buNone/>
            </a:pPr>
            <a:r>
              <a:rPr lang="en-US" sz="1250" i="1" dirty="0">
                <a:solidFill>
                  <a:srgbClr val="5B6472"/>
                </a:solidFill>
                <a:latin typeface="Calibri" pitchFamily="34" charset="0"/>
                <a:ea typeface="Calibri" pitchFamily="34" charset="-122"/>
                <a:cs typeface="Calibri" pitchFamily="34" charset="-120"/>
              </a:rPr>
              <a:t>Falsafah: Pendidikan Matematik menyepadukan pengetahuan kognitif dengan kualiti afektif untuk membina asas karakter yang kukuh.</a:t>
            </a:r>
            <a:endParaRPr lang="en-US" sz="1250" dirty="0"/>
          </a:p>
        </p:txBody>
      </p:sp>
      <p:sp>
        <p:nvSpPr>
          <p:cNvPr id="5" name="Shape 3"/>
          <p:cNvSpPr/>
          <p:nvPr/>
        </p:nvSpPr>
        <p:spPr>
          <a:xfrm>
            <a:off x="548640" y="2240280"/>
            <a:ext cx="2651760" cy="3108960"/>
          </a:xfrm>
          <a:prstGeom prst="roundRect">
            <a:avLst>
              <a:gd name="adj" fmla="val 2759"/>
            </a:avLst>
          </a:prstGeom>
          <a:solidFill>
            <a:srgbClr val="E0435A"/>
          </a:solidFill>
          <a:ln/>
        </p:spPr>
      </p:sp>
      <p:sp>
        <p:nvSpPr>
          <p:cNvPr id="6" name="Text 4"/>
          <p:cNvSpPr txBox="1"/>
          <p:nvPr/>
        </p:nvSpPr>
        <p:spPr>
          <a:xfrm>
            <a:off x="685800" y="242316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Penyayang</a:t>
            </a:r>
            <a:endParaRPr lang="en-US" sz="1350" dirty="0"/>
          </a:p>
        </p:txBody>
      </p:sp>
      <p:sp>
        <p:nvSpPr>
          <p:cNvPr id="7" name="Text 5"/>
          <p:cNvSpPr txBox="1"/>
          <p:nvPr/>
        </p:nvSpPr>
        <p:spPr>
          <a:xfrm>
            <a:off x="685800" y="2788920"/>
            <a:ext cx="2377440" cy="365760"/>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(Kasih Sayang &amp; Empati)</a:t>
            </a:r>
            <a:endParaRPr lang="en-US" sz="1000" dirty="0"/>
          </a:p>
        </p:txBody>
      </p:sp>
      <p:sp>
        <p:nvSpPr>
          <p:cNvPr id="8" name="Text 6"/>
          <p:cNvSpPr txBox="1"/>
          <p:nvPr/>
        </p:nvSpPr>
        <p:spPr>
          <a:xfrm>
            <a:off x="731520" y="3291840"/>
            <a:ext cx="2286000" cy="1920240"/>
          </a:xfrm>
          <a:prstGeom prst="rect">
            <a:avLst/>
          </a:prstGeom>
          <a:noFill/>
          <a:ln/>
        </p:spPr>
        <p:txBody>
          <a:bodyPr wrap="square" rtlCol="0" anchor="ctr"/>
          <a:lstStyle/>
          <a:p>
            <a:pPr algn="ctr" indent="0" marL="0">
              <a:lnSpc>
                <a:spcPct val="120000"/>
              </a:lnSpc>
              <a:buNone/>
            </a:pPr>
            <a:r>
              <a:rPr lang="en-US" sz="1020" dirty="0">
                <a:solidFill>
                  <a:srgbClr val="FFFFFF"/>
                </a:solidFill>
                <a:latin typeface="Calibri" pitchFamily="34" charset="0"/>
                <a:ea typeface="Calibri" pitchFamily="34" charset="-122"/>
                <a:cs typeface="Calibri" pitchFamily="34" charset="-120"/>
              </a:rPr>
              <a:t>Membudayakan kepedulian dengan membimbing rakan sebaya yang lemah dalam pengiraan secara berkumpulan.</a:t>
            </a:r>
            <a:endParaRPr lang="en-US" sz="1020" dirty="0"/>
          </a:p>
        </p:txBody>
      </p:sp>
      <p:sp>
        <p:nvSpPr>
          <p:cNvPr id="9" name="Shape 7"/>
          <p:cNvSpPr/>
          <p:nvPr/>
        </p:nvSpPr>
        <p:spPr>
          <a:xfrm>
            <a:off x="3429000" y="2240280"/>
            <a:ext cx="2651760" cy="3108960"/>
          </a:xfrm>
          <a:prstGeom prst="roundRect">
            <a:avLst>
              <a:gd name="adj" fmla="val 2759"/>
            </a:avLst>
          </a:prstGeom>
          <a:solidFill>
            <a:srgbClr val="E0A400"/>
          </a:solidFill>
          <a:ln/>
        </p:spPr>
      </p:sp>
      <p:sp>
        <p:nvSpPr>
          <p:cNvPr id="10" name="Text 8"/>
          <p:cNvSpPr txBox="1"/>
          <p:nvPr/>
        </p:nvSpPr>
        <p:spPr>
          <a:xfrm>
            <a:off x="3566160" y="242316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Berupaya Memimpin</a:t>
            </a:r>
            <a:endParaRPr lang="en-US" sz="1350" dirty="0"/>
          </a:p>
        </p:txBody>
      </p:sp>
      <p:sp>
        <p:nvSpPr>
          <p:cNvPr id="11" name="Text 9"/>
          <p:cNvSpPr txBox="1"/>
          <p:nvPr/>
        </p:nvSpPr>
        <p:spPr>
          <a:xfrm>
            <a:off x="3566160" y="2788920"/>
            <a:ext cx="2377440" cy="365760"/>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(Integriti &amp; Rasional)</a:t>
            </a:r>
            <a:endParaRPr lang="en-US" sz="1000" dirty="0"/>
          </a:p>
        </p:txBody>
      </p:sp>
      <p:sp>
        <p:nvSpPr>
          <p:cNvPr id="12" name="Text 10"/>
          <p:cNvSpPr txBox="1"/>
          <p:nvPr/>
        </p:nvSpPr>
        <p:spPr>
          <a:xfrm>
            <a:off x="3611880" y="3291840"/>
            <a:ext cx="2286000" cy="1920240"/>
          </a:xfrm>
          <a:prstGeom prst="rect">
            <a:avLst/>
          </a:prstGeom>
          <a:noFill/>
          <a:ln/>
        </p:spPr>
        <p:txBody>
          <a:bodyPr wrap="square" rtlCol="0" anchor="ctr"/>
          <a:lstStyle/>
          <a:p>
            <a:pPr algn="ctr" indent="0" marL="0">
              <a:lnSpc>
                <a:spcPct val="120000"/>
              </a:lnSpc>
              <a:buNone/>
            </a:pPr>
            <a:r>
              <a:rPr lang="en-US" sz="1020" dirty="0">
                <a:solidFill>
                  <a:srgbClr val="FFFFFF"/>
                </a:solidFill>
                <a:latin typeface="Calibri" pitchFamily="34" charset="0"/>
                <a:ea typeface="Calibri" pitchFamily="34" charset="-122"/>
                <a:cs typeface="Calibri" pitchFamily="34" charset="-120"/>
              </a:rPr>
              <a:t>Mengambil inisiatif memimpin pembentangan penyelesaian matematik dengan berani, jujur, dan berlandaskan logik.</a:t>
            </a:r>
            <a:endParaRPr lang="en-US" sz="1020" dirty="0"/>
          </a:p>
        </p:txBody>
      </p:sp>
      <p:sp>
        <p:nvSpPr>
          <p:cNvPr id="13" name="Shape 11"/>
          <p:cNvSpPr/>
          <p:nvPr/>
        </p:nvSpPr>
        <p:spPr>
          <a:xfrm>
            <a:off x="6309360" y="2240280"/>
            <a:ext cx="2651760" cy="3108960"/>
          </a:xfrm>
          <a:prstGeom prst="roundRect">
            <a:avLst>
              <a:gd name="adj" fmla="val 2759"/>
            </a:avLst>
          </a:prstGeom>
          <a:solidFill>
            <a:srgbClr val="7B4FE0"/>
          </a:solidFill>
          <a:ln/>
        </p:spPr>
      </p:sp>
      <p:sp>
        <p:nvSpPr>
          <p:cNvPr id="14" name="Text 12"/>
          <p:cNvSpPr txBox="1"/>
          <p:nvPr/>
        </p:nvSpPr>
        <p:spPr>
          <a:xfrm>
            <a:off x="6446520" y="242316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Berdaya Tahan</a:t>
            </a:r>
            <a:endParaRPr lang="en-US" sz="1350" dirty="0"/>
          </a:p>
        </p:txBody>
      </p:sp>
      <p:sp>
        <p:nvSpPr>
          <p:cNvPr id="15" name="Text 13"/>
          <p:cNvSpPr txBox="1"/>
          <p:nvPr/>
        </p:nvSpPr>
        <p:spPr>
          <a:xfrm>
            <a:off x="6446520" y="2788920"/>
            <a:ext cx="2377440" cy="365760"/>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(Cekal &amp; Tabah)</a:t>
            </a:r>
            <a:endParaRPr lang="en-US" sz="1000" dirty="0"/>
          </a:p>
        </p:txBody>
      </p:sp>
      <p:sp>
        <p:nvSpPr>
          <p:cNvPr id="16" name="Text 14"/>
          <p:cNvSpPr txBox="1"/>
          <p:nvPr/>
        </p:nvSpPr>
        <p:spPr>
          <a:xfrm>
            <a:off x="6492240" y="3291840"/>
            <a:ext cx="2286000" cy="1920240"/>
          </a:xfrm>
          <a:prstGeom prst="rect">
            <a:avLst/>
          </a:prstGeom>
          <a:noFill/>
          <a:ln/>
        </p:spPr>
        <p:txBody>
          <a:bodyPr wrap="square" rtlCol="0" anchor="ctr"/>
          <a:lstStyle/>
          <a:p>
            <a:pPr algn="ctr" indent="0" marL="0">
              <a:lnSpc>
                <a:spcPct val="120000"/>
              </a:lnSpc>
              <a:buNone/>
            </a:pPr>
            <a:r>
              <a:rPr lang="en-US" sz="1020" dirty="0">
                <a:solidFill>
                  <a:srgbClr val="FFFFFF"/>
                </a:solidFill>
                <a:latin typeface="Calibri" pitchFamily="34" charset="0"/>
                <a:ea typeface="Calibri" pitchFamily="34" charset="-122"/>
                <a:cs typeface="Calibri" pitchFamily="34" charset="-120"/>
              </a:rPr>
              <a:t>Mempamerkan ketekunan dan tidak berputus asa apabila berhadapan masalah matematik kompleks beraras tinggi (KBAT).</a:t>
            </a:r>
            <a:endParaRPr lang="en-US" sz="1020" dirty="0"/>
          </a:p>
        </p:txBody>
      </p:sp>
      <p:sp>
        <p:nvSpPr>
          <p:cNvPr id="17" name="Shape 15"/>
          <p:cNvSpPr/>
          <p:nvPr/>
        </p:nvSpPr>
        <p:spPr>
          <a:xfrm>
            <a:off x="9189720" y="2240280"/>
            <a:ext cx="2651760" cy="3108960"/>
          </a:xfrm>
          <a:prstGeom prst="roundRect">
            <a:avLst>
              <a:gd name="adj" fmla="val 2759"/>
            </a:avLst>
          </a:prstGeom>
          <a:solidFill>
            <a:srgbClr val="1C7293"/>
          </a:solidFill>
          <a:ln/>
        </p:spPr>
      </p:sp>
      <p:sp>
        <p:nvSpPr>
          <p:cNvPr id="18" name="Text 16"/>
          <p:cNvSpPr txBox="1"/>
          <p:nvPr/>
        </p:nvSpPr>
        <p:spPr>
          <a:xfrm>
            <a:off x="9326880" y="242316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Warganegara Aktif</a:t>
            </a:r>
            <a:endParaRPr lang="en-US" sz="1350" dirty="0"/>
          </a:p>
        </p:txBody>
      </p:sp>
      <p:sp>
        <p:nvSpPr>
          <p:cNvPr id="19" name="Text 17"/>
          <p:cNvSpPr txBox="1"/>
          <p:nvPr/>
        </p:nvSpPr>
        <p:spPr>
          <a:xfrm>
            <a:off x="9326880" y="2788920"/>
            <a:ext cx="2377440" cy="365760"/>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(Peka &amp; Prihatin)</a:t>
            </a:r>
            <a:endParaRPr lang="en-US" sz="1000" dirty="0"/>
          </a:p>
        </p:txBody>
      </p:sp>
      <p:sp>
        <p:nvSpPr>
          <p:cNvPr id="20" name="Text 18"/>
          <p:cNvSpPr txBox="1"/>
          <p:nvPr/>
        </p:nvSpPr>
        <p:spPr>
          <a:xfrm>
            <a:off x="9372600" y="3291840"/>
            <a:ext cx="2286000" cy="1920240"/>
          </a:xfrm>
          <a:prstGeom prst="rect">
            <a:avLst/>
          </a:prstGeom>
          <a:noFill/>
          <a:ln/>
        </p:spPr>
        <p:txBody>
          <a:bodyPr wrap="square" rtlCol="0" anchor="ctr"/>
          <a:lstStyle/>
          <a:p>
            <a:pPr algn="ctr" indent="0" marL="0">
              <a:lnSpc>
                <a:spcPct val="120000"/>
              </a:lnSpc>
              <a:buNone/>
            </a:pPr>
            <a:r>
              <a:rPr lang="en-US" sz="1020" dirty="0">
                <a:solidFill>
                  <a:srgbClr val="FFFFFF"/>
                </a:solidFill>
                <a:latin typeface="Calibri" pitchFamily="34" charset="0"/>
                <a:ea typeface="Calibri" pitchFamily="34" charset="-122"/>
                <a:cs typeface="Calibri" pitchFamily="34" charset="-120"/>
              </a:rPr>
              <a:t>Mengaplikasikan model dan logik matematik untuk menyelesaikan isu-isu komuniti dan masalah dunia sebenar.</a:t>
            </a:r>
            <a:endParaRPr lang="en-US" sz="1020" dirty="0"/>
          </a:p>
        </p:txBody>
      </p:sp>
      <p:sp>
        <p:nvSpPr>
          <p:cNvPr id="21" name="Text 19"/>
          <p:cNvSpPr txBox="1"/>
          <p:nvPr/>
        </p:nvSpPr>
        <p:spPr>
          <a:xfrm>
            <a:off x="548640" y="5486400"/>
            <a:ext cx="11064240" cy="45720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Matlamat Akhir: Melahirkan insan yang berketerampilan dari aspek pengetahuan dan kemahiran, di samping memiliki akhlak yang mulia.</a:t>
            </a:r>
            <a:endParaRPr lang="en-US" sz="1200" dirty="0"/>
          </a:p>
        </p:txBody>
      </p:sp>
      <p:sp>
        <p:nvSpPr>
          <p:cNvPr id="22" name="Text 20"/>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20–21</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Organisasi Kandungan Dokumen Kurikulum</a:t>
            </a:r>
            <a:endParaRPr lang="en-US" sz="2700" dirty="0"/>
          </a:p>
        </p:txBody>
      </p:sp>
      <p:sp>
        <p:nvSpPr>
          <p:cNvPr id="4" name="Shape 2"/>
          <p:cNvSpPr/>
          <p:nvPr/>
        </p:nvSpPr>
        <p:spPr>
          <a:xfrm>
            <a:off x="548640" y="1691640"/>
            <a:ext cx="3520440" cy="1920240"/>
          </a:xfrm>
          <a:prstGeom prst="roundRect">
            <a:avLst>
              <a:gd name="adj" fmla="val 3810"/>
            </a:avLst>
          </a:prstGeom>
          <a:solidFill>
            <a:srgbClr val="F5F7FC"/>
          </a:solidFill>
          <a:ln w="12700">
            <a:solidFill>
              <a:srgbClr val="E7EAF2"/>
            </a:solidFill>
            <a:prstDash val="solid"/>
          </a:ln>
        </p:spPr>
      </p:sp>
      <p:sp>
        <p:nvSpPr>
          <p:cNvPr id="5" name="Shape 3"/>
          <p:cNvSpPr/>
          <p:nvPr/>
        </p:nvSpPr>
        <p:spPr>
          <a:xfrm>
            <a:off x="1988820" y="1892808"/>
            <a:ext cx="640080" cy="640080"/>
          </a:xfrm>
          <a:prstGeom prst="ellipse">
            <a:avLst/>
          </a:prstGeom>
          <a:solidFill>
            <a:srgbClr val="1E2761"/>
          </a:solidFill>
          <a:ln/>
        </p:spPr>
      </p:sp>
      <p:pic>
        <p:nvPicPr>
          <p:cNvPr id="6" name="Image 0" descr="/home/claude/shared_icons/icon_bookReader.png">    </p:cNvPr>
          <p:cNvPicPr>
            <a:picLocks noChangeAspect="1"/>
          </p:cNvPicPr>
          <p:nvPr/>
        </p:nvPicPr>
        <p:blipFill>
          <a:blip r:embed="rId1"/>
          <a:stretch>
            <a:fillRect/>
          </a:stretch>
        </p:blipFill>
        <p:spPr>
          <a:xfrm>
            <a:off x="2078431" y="1982419"/>
            <a:ext cx="460858" cy="460858"/>
          </a:xfrm>
          <a:prstGeom prst="rect">
            <a:avLst/>
          </a:prstGeom>
        </p:spPr>
      </p:pic>
      <p:sp>
        <p:nvSpPr>
          <p:cNvPr id="7" name="Text 4"/>
          <p:cNvSpPr txBox="1"/>
          <p:nvPr/>
        </p:nvSpPr>
        <p:spPr>
          <a:xfrm>
            <a:off x="685800" y="2606040"/>
            <a:ext cx="3246120" cy="36576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Kandungan Pembelajaran</a:t>
            </a:r>
            <a:endParaRPr lang="en-US" sz="1250" dirty="0"/>
          </a:p>
        </p:txBody>
      </p:sp>
      <p:sp>
        <p:nvSpPr>
          <p:cNvPr id="8" name="Text 5"/>
          <p:cNvSpPr txBox="1"/>
          <p:nvPr/>
        </p:nvSpPr>
        <p:spPr>
          <a:xfrm>
            <a:off x="731520" y="2971800"/>
            <a:ext cx="3154680" cy="594360"/>
          </a:xfrm>
          <a:prstGeom prst="rect">
            <a:avLst/>
          </a:prstGeom>
          <a:noFill/>
          <a:ln/>
        </p:spPr>
        <p:txBody>
          <a:bodyPr wrap="square" rtlCol="0" anchor="ctr"/>
          <a:lstStyle/>
          <a:p>
            <a:pPr algn="ctr" indent="0" marL="0">
              <a:lnSpc>
                <a:spcPct val="110000"/>
              </a:lnSpc>
              <a:buNone/>
            </a:pPr>
            <a:r>
              <a:rPr lang="en-US" sz="980" dirty="0">
                <a:solidFill>
                  <a:srgbClr val="5B6472"/>
                </a:solidFill>
                <a:latin typeface="Calibri" pitchFamily="34" charset="0"/>
                <a:ea typeface="Calibri" pitchFamily="34" charset="-122"/>
                <a:cs typeface="Calibri" pitchFamily="34" charset="-120"/>
              </a:rPr>
              <a:t>Aspek pengetahuan, kemahiran dan nilai yang perlu dikuasai dan dilakukan murid.</a:t>
            </a:r>
            <a:endParaRPr lang="en-US" sz="980" dirty="0"/>
          </a:p>
        </p:txBody>
      </p:sp>
      <p:sp>
        <p:nvSpPr>
          <p:cNvPr id="9" name="Shape 6"/>
          <p:cNvSpPr/>
          <p:nvPr/>
        </p:nvSpPr>
        <p:spPr>
          <a:xfrm>
            <a:off x="4343400" y="1691640"/>
            <a:ext cx="3520440" cy="1920240"/>
          </a:xfrm>
          <a:prstGeom prst="roundRect">
            <a:avLst>
              <a:gd name="adj" fmla="val 3810"/>
            </a:avLst>
          </a:prstGeom>
          <a:solidFill>
            <a:srgbClr val="F5F7FC"/>
          </a:solidFill>
          <a:ln w="12700">
            <a:solidFill>
              <a:srgbClr val="E7EAF2"/>
            </a:solidFill>
            <a:prstDash val="solid"/>
          </a:ln>
        </p:spPr>
      </p:sp>
      <p:sp>
        <p:nvSpPr>
          <p:cNvPr id="10" name="Shape 7"/>
          <p:cNvSpPr/>
          <p:nvPr/>
        </p:nvSpPr>
        <p:spPr>
          <a:xfrm>
            <a:off x="5783580" y="1892808"/>
            <a:ext cx="640080" cy="640080"/>
          </a:xfrm>
          <a:prstGeom prst="ellipse">
            <a:avLst/>
          </a:prstGeom>
          <a:solidFill>
            <a:srgbClr val="1E2761"/>
          </a:solidFill>
          <a:ln/>
        </p:spPr>
      </p:sp>
      <p:pic>
        <p:nvPicPr>
          <p:cNvPr id="11" name="Image 1" descr="/home/claude/shared_icons/icon_target.png">    </p:cNvPr>
          <p:cNvPicPr>
            <a:picLocks noChangeAspect="1"/>
          </p:cNvPicPr>
          <p:nvPr/>
        </p:nvPicPr>
        <p:blipFill>
          <a:blip r:embed="rId2"/>
          <a:stretch>
            <a:fillRect/>
          </a:stretch>
        </p:blipFill>
        <p:spPr>
          <a:xfrm>
            <a:off x="5873191" y="1982419"/>
            <a:ext cx="460858" cy="460858"/>
          </a:xfrm>
          <a:prstGeom prst="rect">
            <a:avLst/>
          </a:prstGeom>
        </p:spPr>
      </p:pic>
      <p:sp>
        <p:nvSpPr>
          <p:cNvPr id="12" name="Text 8"/>
          <p:cNvSpPr txBox="1"/>
          <p:nvPr/>
        </p:nvSpPr>
        <p:spPr>
          <a:xfrm>
            <a:off x="4480560" y="2606040"/>
            <a:ext cx="3246120" cy="36576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Standard Pembelajaran</a:t>
            </a:r>
            <a:endParaRPr lang="en-US" sz="1250" dirty="0"/>
          </a:p>
        </p:txBody>
      </p:sp>
      <p:sp>
        <p:nvSpPr>
          <p:cNvPr id="13" name="Text 9"/>
          <p:cNvSpPr txBox="1"/>
          <p:nvPr/>
        </p:nvSpPr>
        <p:spPr>
          <a:xfrm>
            <a:off x="4526280" y="2971800"/>
            <a:ext cx="3154680" cy="594360"/>
          </a:xfrm>
          <a:prstGeom prst="rect">
            <a:avLst/>
          </a:prstGeom>
          <a:noFill/>
          <a:ln/>
        </p:spPr>
        <p:txBody>
          <a:bodyPr wrap="square" rtlCol="0" anchor="ctr"/>
          <a:lstStyle/>
          <a:p>
            <a:pPr algn="ctr" indent="0" marL="0">
              <a:lnSpc>
                <a:spcPct val="110000"/>
              </a:lnSpc>
              <a:buNone/>
            </a:pPr>
            <a:r>
              <a:rPr lang="en-US" sz="980" dirty="0">
                <a:solidFill>
                  <a:srgbClr val="5B6472"/>
                </a:solidFill>
                <a:latin typeface="Calibri" pitchFamily="34" charset="0"/>
                <a:ea typeface="Calibri" pitchFamily="34" charset="-122"/>
                <a:cs typeface="Calibri" pitchFamily="34" charset="-120"/>
              </a:rPr>
              <a:t>Indikator kualiti pembelajaran dan pencapaian yang boleh diukur.</a:t>
            </a:r>
            <a:endParaRPr lang="en-US" sz="980" dirty="0"/>
          </a:p>
        </p:txBody>
      </p:sp>
      <p:sp>
        <p:nvSpPr>
          <p:cNvPr id="14" name="Shape 10"/>
          <p:cNvSpPr/>
          <p:nvPr/>
        </p:nvSpPr>
        <p:spPr>
          <a:xfrm>
            <a:off x="8138160" y="1691640"/>
            <a:ext cx="3520440" cy="1920240"/>
          </a:xfrm>
          <a:prstGeom prst="roundRect">
            <a:avLst>
              <a:gd name="adj" fmla="val 3810"/>
            </a:avLst>
          </a:prstGeom>
          <a:solidFill>
            <a:srgbClr val="F5F7FC"/>
          </a:solidFill>
          <a:ln w="12700">
            <a:solidFill>
              <a:srgbClr val="E7EAF2"/>
            </a:solidFill>
            <a:prstDash val="solid"/>
          </a:ln>
        </p:spPr>
      </p:sp>
      <p:sp>
        <p:nvSpPr>
          <p:cNvPr id="15" name="Shape 11"/>
          <p:cNvSpPr/>
          <p:nvPr/>
        </p:nvSpPr>
        <p:spPr>
          <a:xfrm>
            <a:off x="9578340" y="1892808"/>
            <a:ext cx="640080" cy="640080"/>
          </a:xfrm>
          <a:prstGeom prst="ellipse">
            <a:avLst/>
          </a:prstGeom>
          <a:solidFill>
            <a:srgbClr val="1E2761"/>
          </a:solidFill>
          <a:ln/>
        </p:spPr>
      </p:sp>
      <p:pic>
        <p:nvPicPr>
          <p:cNvPr id="16" name="Image 2" descr="/home/claude/shared_icons/icon_cap.png">    </p:cNvPr>
          <p:cNvPicPr>
            <a:picLocks noChangeAspect="1"/>
          </p:cNvPicPr>
          <p:nvPr/>
        </p:nvPicPr>
        <p:blipFill>
          <a:blip r:embed="rId3"/>
          <a:stretch>
            <a:fillRect/>
          </a:stretch>
        </p:blipFill>
        <p:spPr>
          <a:xfrm>
            <a:off x="9667951" y="1982419"/>
            <a:ext cx="460858" cy="460858"/>
          </a:xfrm>
          <a:prstGeom prst="rect">
            <a:avLst/>
          </a:prstGeom>
        </p:spPr>
      </p:pic>
      <p:sp>
        <p:nvSpPr>
          <p:cNvPr id="17" name="Text 12"/>
          <p:cNvSpPr txBox="1"/>
          <p:nvPr/>
        </p:nvSpPr>
        <p:spPr>
          <a:xfrm>
            <a:off x="8275320" y="2606040"/>
            <a:ext cx="3246120" cy="36576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Kompetensi</a:t>
            </a:r>
            <a:endParaRPr lang="en-US" sz="1250" dirty="0"/>
          </a:p>
        </p:txBody>
      </p:sp>
      <p:sp>
        <p:nvSpPr>
          <p:cNvPr id="18" name="Text 13"/>
          <p:cNvSpPr txBox="1"/>
          <p:nvPr/>
        </p:nvSpPr>
        <p:spPr>
          <a:xfrm>
            <a:off x="8321040" y="2971800"/>
            <a:ext cx="3154680" cy="594360"/>
          </a:xfrm>
          <a:prstGeom prst="rect">
            <a:avLst/>
          </a:prstGeom>
          <a:noFill/>
          <a:ln/>
        </p:spPr>
        <p:txBody>
          <a:bodyPr wrap="square" rtlCol="0" anchor="ctr"/>
          <a:lstStyle/>
          <a:p>
            <a:pPr algn="ctr" indent="0" marL="0">
              <a:lnSpc>
                <a:spcPct val="110000"/>
              </a:lnSpc>
              <a:buNone/>
            </a:pPr>
            <a:r>
              <a:rPr lang="en-US" sz="980" dirty="0">
                <a:solidFill>
                  <a:srgbClr val="5B6472"/>
                </a:solidFill>
                <a:latin typeface="Calibri" pitchFamily="34" charset="0"/>
                <a:ea typeface="Calibri" pitchFamily="34" charset="-122"/>
                <a:cs typeface="Calibri" pitchFamily="34" charset="-120"/>
              </a:rPr>
              <a:t>Keupayaan holistik yang diintegrasikan dengan pengetahuan dan adab.</a:t>
            </a:r>
            <a:endParaRPr lang="en-US" sz="980" dirty="0"/>
          </a:p>
        </p:txBody>
      </p:sp>
      <p:sp>
        <p:nvSpPr>
          <p:cNvPr id="19" name="Shape 14"/>
          <p:cNvSpPr/>
          <p:nvPr/>
        </p:nvSpPr>
        <p:spPr>
          <a:xfrm>
            <a:off x="548640" y="3840480"/>
            <a:ext cx="3520440" cy="1920240"/>
          </a:xfrm>
          <a:prstGeom prst="roundRect">
            <a:avLst>
              <a:gd name="adj" fmla="val 3810"/>
            </a:avLst>
          </a:prstGeom>
          <a:solidFill>
            <a:srgbClr val="F5F7FC"/>
          </a:solidFill>
          <a:ln w="12700">
            <a:solidFill>
              <a:srgbClr val="E7EAF2"/>
            </a:solidFill>
            <a:prstDash val="solid"/>
          </a:ln>
        </p:spPr>
      </p:sp>
      <p:sp>
        <p:nvSpPr>
          <p:cNvPr id="20" name="Shape 15"/>
          <p:cNvSpPr/>
          <p:nvPr/>
        </p:nvSpPr>
        <p:spPr>
          <a:xfrm>
            <a:off x="1988820" y="4041648"/>
            <a:ext cx="640080" cy="640080"/>
          </a:xfrm>
          <a:prstGeom prst="ellipse">
            <a:avLst/>
          </a:prstGeom>
          <a:solidFill>
            <a:srgbClr val="1E2761"/>
          </a:solidFill>
          <a:ln/>
        </p:spPr>
      </p:sp>
      <p:pic>
        <p:nvPicPr>
          <p:cNvPr id="21" name="Image 3" descr="/home/claude/shared_icons/icon_balanceScale.png">    </p:cNvPr>
          <p:cNvPicPr>
            <a:picLocks noChangeAspect="1"/>
          </p:cNvPicPr>
          <p:nvPr/>
        </p:nvPicPr>
        <p:blipFill>
          <a:blip r:embed="rId4"/>
          <a:stretch>
            <a:fillRect/>
          </a:stretch>
        </p:blipFill>
        <p:spPr>
          <a:xfrm>
            <a:off x="2078431" y="4131259"/>
            <a:ext cx="460858" cy="460858"/>
          </a:xfrm>
          <a:prstGeom prst="rect">
            <a:avLst/>
          </a:prstGeom>
        </p:spPr>
      </p:pic>
      <p:sp>
        <p:nvSpPr>
          <p:cNvPr id="22" name="Text 16"/>
          <p:cNvSpPr txBox="1"/>
          <p:nvPr/>
        </p:nvSpPr>
        <p:spPr>
          <a:xfrm>
            <a:off x="685800" y="4754880"/>
            <a:ext cx="3246120" cy="36576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Standard Prestasi</a:t>
            </a:r>
            <a:endParaRPr lang="en-US" sz="1250" dirty="0"/>
          </a:p>
        </p:txBody>
      </p:sp>
      <p:sp>
        <p:nvSpPr>
          <p:cNvPr id="23" name="Text 17"/>
          <p:cNvSpPr txBox="1"/>
          <p:nvPr/>
        </p:nvSpPr>
        <p:spPr>
          <a:xfrm>
            <a:off x="731520" y="5120640"/>
            <a:ext cx="3154680" cy="594360"/>
          </a:xfrm>
          <a:prstGeom prst="rect">
            <a:avLst/>
          </a:prstGeom>
          <a:noFill/>
          <a:ln/>
        </p:spPr>
        <p:txBody>
          <a:bodyPr wrap="square" rtlCol="0" anchor="ctr"/>
          <a:lstStyle/>
          <a:p>
            <a:pPr algn="ctr" indent="0" marL="0">
              <a:lnSpc>
                <a:spcPct val="110000"/>
              </a:lnSpc>
              <a:buNone/>
            </a:pPr>
            <a:r>
              <a:rPr lang="en-US" sz="980" dirty="0">
                <a:solidFill>
                  <a:srgbClr val="5B6472"/>
                </a:solidFill>
                <a:latin typeface="Calibri" pitchFamily="34" charset="0"/>
                <a:ea typeface="Calibri" pitchFamily="34" charset="-122"/>
                <a:cs typeface="Calibri" pitchFamily="34" charset="-120"/>
              </a:rPr>
              <a:t>Kriteria umum penentu tahap penguasaan (TP) murid.</a:t>
            </a:r>
            <a:endParaRPr lang="en-US" sz="980" dirty="0"/>
          </a:p>
        </p:txBody>
      </p:sp>
      <p:sp>
        <p:nvSpPr>
          <p:cNvPr id="24" name="Shape 18"/>
          <p:cNvSpPr/>
          <p:nvPr/>
        </p:nvSpPr>
        <p:spPr>
          <a:xfrm>
            <a:off x="4343400" y="3840480"/>
            <a:ext cx="3520440" cy="1920240"/>
          </a:xfrm>
          <a:prstGeom prst="roundRect">
            <a:avLst>
              <a:gd name="adj" fmla="val 3810"/>
            </a:avLst>
          </a:prstGeom>
          <a:solidFill>
            <a:srgbClr val="F5F7FC"/>
          </a:solidFill>
          <a:ln w="12700">
            <a:solidFill>
              <a:srgbClr val="E7EAF2"/>
            </a:solidFill>
            <a:prstDash val="solid"/>
          </a:ln>
        </p:spPr>
      </p:sp>
      <p:sp>
        <p:nvSpPr>
          <p:cNvPr id="25" name="Shape 19"/>
          <p:cNvSpPr/>
          <p:nvPr/>
        </p:nvSpPr>
        <p:spPr>
          <a:xfrm>
            <a:off x="5783580" y="4041648"/>
            <a:ext cx="640080" cy="640080"/>
          </a:xfrm>
          <a:prstGeom prst="ellipse">
            <a:avLst/>
          </a:prstGeom>
          <a:solidFill>
            <a:srgbClr val="1E2761"/>
          </a:solidFill>
          <a:ln/>
        </p:spPr>
      </p:sp>
      <p:pic>
        <p:nvPicPr>
          <p:cNvPr id="26" name="Image 4" descr="/home/claude/shared_icons/icon_comment.png">    </p:cNvPr>
          <p:cNvPicPr>
            <a:picLocks noChangeAspect="1"/>
          </p:cNvPicPr>
          <p:nvPr/>
        </p:nvPicPr>
        <p:blipFill>
          <a:blip r:embed="rId5"/>
          <a:stretch>
            <a:fillRect/>
          </a:stretch>
        </p:blipFill>
        <p:spPr>
          <a:xfrm>
            <a:off x="5873191" y="4131259"/>
            <a:ext cx="460858" cy="460858"/>
          </a:xfrm>
          <a:prstGeom prst="rect">
            <a:avLst/>
          </a:prstGeom>
        </p:spPr>
      </p:pic>
      <p:sp>
        <p:nvSpPr>
          <p:cNvPr id="27" name="Text 20"/>
          <p:cNvSpPr txBox="1"/>
          <p:nvPr/>
        </p:nvSpPr>
        <p:spPr>
          <a:xfrm>
            <a:off x="4480560" y="4754880"/>
            <a:ext cx="3246120" cy="36576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Nota</a:t>
            </a:r>
            <a:endParaRPr lang="en-US" sz="1250" dirty="0"/>
          </a:p>
        </p:txBody>
      </p:sp>
      <p:sp>
        <p:nvSpPr>
          <p:cNvPr id="28" name="Text 21"/>
          <p:cNvSpPr txBox="1"/>
          <p:nvPr/>
        </p:nvSpPr>
        <p:spPr>
          <a:xfrm>
            <a:off x="4526280" y="5120640"/>
            <a:ext cx="3154680" cy="594360"/>
          </a:xfrm>
          <a:prstGeom prst="rect">
            <a:avLst/>
          </a:prstGeom>
          <a:noFill/>
          <a:ln/>
        </p:spPr>
        <p:txBody>
          <a:bodyPr wrap="square" rtlCol="0" anchor="ctr"/>
          <a:lstStyle/>
          <a:p>
            <a:pPr algn="ctr" indent="0" marL="0">
              <a:lnSpc>
                <a:spcPct val="110000"/>
              </a:lnSpc>
              <a:buNone/>
            </a:pPr>
            <a:r>
              <a:rPr lang="en-US" sz="980" dirty="0">
                <a:solidFill>
                  <a:srgbClr val="5B6472"/>
                </a:solidFill>
                <a:latin typeface="Calibri" pitchFamily="34" charset="0"/>
                <a:ea typeface="Calibri" pitchFamily="34" charset="-122"/>
                <a:cs typeface="Calibri" pitchFamily="34" charset="-120"/>
              </a:rPr>
              <a:t>Penjelasan, skop, dan panduan aktiviti bagi Standard Pembelajaran.</a:t>
            </a:r>
            <a:endParaRPr lang="en-US" sz="980" dirty="0"/>
          </a:p>
        </p:txBody>
      </p:sp>
      <p:sp>
        <p:nvSpPr>
          <p:cNvPr id="29" name="Shape 22"/>
          <p:cNvSpPr/>
          <p:nvPr/>
        </p:nvSpPr>
        <p:spPr>
          <a:xfrm>
            <a:off x="8138160" y="3840480"/>
            <a:ext cx="3520440" cy="1920240"/>
          </a:xfrm>
          <a:prstGeom prst="roundRect">
            <a:avLst>
              <a:gd name="adj" fmla="val 3810"/>
            </a:avLst>
          </a:prstGeom>
          <a:solidFill>
            <a:srgbClr val="F5F7FC"/>
          </a:solidFill>
          <a:ln w="12700">
            <a:solidFill>
              <a:srgbClr val="E7EAF2"/>
            </a:solidFill>
            <a:prstDash val="solid"/>
          </a:ln>
        </p:spPr>
      </p:sp>
      <p:sp>
        <p:nvSpPr>
          <p:cNvPr id="30" name="Shape 23"/>
          <p:cNvSpPr/>
          <p:nvPr/>
        </p:nvSpPr>
        <p:spPr>
          <a:xfrm>
            <a:off x="9578340" y="4041648"/>
            <a:ext cx="640080" cy="640080"/>
          </a:xfrm>
          <a:prstGeom prst="ellipse">
            <a:avLst/>
          </a:prstGeom>
          <a:solidFill>
            <a:srgbClr val="1E2761"/>
          </a:solidFill>
          <a:ln/>
        </p:spPr>
      </p:sp>
      <p:pic>
        <p:nvPicPr>
          <p:cNvPr id="31" name="Image 5" descr="/home/claude/shared_icons/icon_sitemap.png">    </p:cNvPr>
          <p:cNvPicPr>
            <a:picLocks noChangeAspect="1"/>
          </p:cNvPicPr>
          <p:nvPr/>
        </p:nvPicPr>
        <p:blipFill>
          <a:blip r:embed="rId6"/>
          <a:stretch>
            <a:fillRect/>
          </a:stretch>
        </p:blipFill>
        <p:spPr>
          <a:xfrm>
            <a:off x="9667951" y="4131259"/>
            <a:ext cx="460858" cy="460858"/>
          </a:xfrm>
          <a:prstGeom prst="rect">
            <a:avLst/>
          </a:prstGeom>
        </p:spPr>
      </p:pic>
      <p:sp>
        <p:nvSpPr>
          <p:cNvPr id="32" name="Text 24"/>
          <p:cNvSpPr txBox="1"/>
          <p:nvPr/>
        </p:nvSpPr>
        <p:spPr>
          <a:xfrm>
            <a:off x="8275320" y="4754880"/>
            <a:ext cx="3246120" cy="36576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Glosari</a:t>
            </a:r>
            <a:endParaRPr lang="en-US" sz="1250" dirty="0"/>
          </a:p>
        </p:txBody>
      </p:sp>
      <p:sp>
        <p:nvSpPr>
          <p:cNvPr id="33" name="Text 25"/>
          <p:cNvSpPr txBox="1"/>
          <p:nvPr/>
        </p:nvSpPr>
        <p:spPr>
          <a:xfrm>
            <a:off x="8321040" y="5120640"/>
            <a:ext cx="3154680" cy="594360"/>
          </a:xfrm>
          <a:prstGeom prst="rect">
            <a:avLst/>
          </a:prstGeom>
          <a:noFill/>
          <a:ln/>
        </p:spPr>
        <p:txBody>
          <a:bodyPr wrap="square" rtlCol="0" anchor="ctr"/>
          <a:lstStyle/>
          <a:p>
            <a:pPr algn="ctr" indent="0" marL="0">
              <a:lnSpc>
                <a:spcPct val="110000"/>
              </a:lnSpc>
              <a:buNone/>
            </a:pPr>
            <a:r>
              <a:rPr lang="en-US" sz="980" dirty="0">
                <a:solidFill>
                  <a:srgbClr val="5B6472"/>
                </a:solidFill>
                <a:latin typeface="Calibri" pitchFamily="34" charset="0"/>
                <a:ea typeface="Calibri" pitchFamily="34" charset="-122"/>
                <a:cs typeface="Calibri" pitchFamily="34" charset="-120"/>
              </a:rPr>
              <a:t>Takrifan istilah bidang pengetahuan yang digunakan dalam dokumen.</a:t>
            </a:r>
            <a:endParaRPr lang="en-US" sz="980" dirty="0"/>
          </a:p>
        </p:txBody>
      </p:sp>
      <p:sp>
        <p:nvSpPr>
          <p:cNvPr id="34" name="Text 26"/>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22</a:t>
            </a:r>
            <a:endParaRPr lang="en-US" sz="1000" dirty="0"/>
          </a:p>
        </p:txBody>
      </p:sp>
      <p:sp>
        <p:nvSpPr>
          <p:cNvPr id="35" name="Text 2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Panduan Organisasi: 4 Peringkat &amp; Simbol Nota</a:t>
            </a:r>
            <a:endParaRPr lang="en-US" sz="2700" dirty="0"/>
          </a:p>
        </p:txBody>
      </p:sp>
      <p:sp>
        <p:nvSpPr>
          <p:cNvPr id="4" name="Shape 2"/>
          <p:cNvSpPr/>
          <p:nvPr/>
        </p:nvSpPr>
        <p:spPr>
          <a:xfrm>
            <a:off x="548640" y="1645920"/>
            <a:ext cx="11064240" cy="841248"/>
          </a:xfrm>
          <a:prstGeom prst="roundRect">
            <a:avLst>
              <a:gd name="adj" fmla="val 6522"/>
            </a:avLst>
          </a:prstGeom>
          <a:solidFill>
            <a:srgbClr val="F5F7FC"/>
          </a:solidFill>
          <a:ln w="12700">
            <a:solidFill>
              <a:srgbClr val="E7EAF2"/>
            </a:solidFill>
            <a:prstDash val="solid"/>
          </a:ln>
        </p:spPr>
      </p:sp>
      <p:sp>
        <p:nvSpPr>
          <p:cNvPr id="5" name="Shape 3"/>
          <p:cNvSpPr/>
          <p:nvPr/>
        </p:nvSpPr>
        <p:spPr>
          <a:xfrm>
            <a:off x="731520" y="1792224"/>
            <a:ext cx="548640" cy="548640"/>
          </a:xfrm>
          <a:prstGeom prst="ellipse">
            <a:avLst/>
          </a:prstGeom>
          <a:solidFill>
            <a:srgbClr val="2E86AB"/>
          </a:solidFill>
          <a:ln/>
        </p:spPr>
      </p:sp>
      <p:sp>
        <p:nvSpPr>
          <p:cNvPr id="6" name="Text 4"/>
          <p:cNvSpPr txBox="1"/>
          <p:nvPr/>
        </p:nvSpPr>
        <p:spPr>
          <a:xfrm>
            <a:off x="731520" y="1792224"/>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463040" y="1719072"/>
            <a:ext cx="3931920" cy="694944"/>
          </a:xfrm>
          <a:prstGeom prst="rect">
            <a:avLst/>
          </a:prstGeom>
          <a:noFill/>
          <a:ln/>
        </p:spPr>
        <p:txBody>
          <a:bodyPr wrap="square" rtlCol="0" anchor="ctr"/>
          <a:lstStyle/>
          <a:p>
            <a:pPr indent="0" marL="0">
              <a:lnSpc>
                <a:spcPct val="110000"/>
              </a:lnSpc>
              <a:buNone/>
            </a:pPr>
            <a:r>
              <a:rPr lang="en-US" sz="1200" b="1" dirty="0">
                <a:solidFill>
                  <a:srgbClr val="1E2761"/>
                </a:solidFill>
                <a:latin typeface="Cambria" pitchFamily="34" charset="0"/>
                <a:ea typeface="Cambria" pitchFamily="34" charset="-122"/>
                <a:cs typeface="Cambria" pitchFamily="34" charset="-120"/>
              </a:rPr>
              <a:t>Kandungan Pembelajaran (Asas Kurikulum)</a:t>
            </a:r>
            <a:endParaRPr lang="en-US" sz="1200" dirty="0"/>
          </a:p>
        </p:txBody>
      </p:sp>
      <p:sp>
        <p:nvSpPr>
          <p:cNvPr id="8" name="Text 6"/>
          <p:cNvSpPr txBox="1"/>
          <p:nvPr/>
        </p:nvSpPr>
        <p:spPr>
          <a:xfrm>
            <a:off x="5486400" y="1719072"/>
            <a:ext cx="5943600" cy="694944"/>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Integrasi holistik 3 aspek: Pengetahuan, Kemahiran, Nilai. Elemen karakter (Penyayang, Berdaya Tahan, Berupaya Memimpin, Warganegara Aktif) diselitkan.</a:t>
            </a:r>
            <a:endParaRPr lang="en-US" sz="1000" dirty="0"/>
          </a:p>
        </p:txBody>
      </p:sp>
      <p:sp>
        <p:nvSpPr>
          <p:cNvPr id="9" name="Shape 7"/>
          <p:cNvSpPr/>
          <p:nvPr/>
        </p:nvSpPr>
        <p:spPr>
          <a:xfrm>
            <a:off x="548640" y="2578608"/>
            <a:ext cx="11064240" cy="841248"/>
          </a:xfrm>
          <a:prstGeom prst="roundRect">
            <a:avLst>
              <a:gd name="adj" fmla="val 6522"/>
            </a:avLst>
          </a:prstGeom>
          <a:solidFill>
            <a:srgbClr val="F5F7FC"/>
          </a:solidFill>
          <a:ln w="12700">
            <a:solidFill>
              <a:srgbClr val="E7EAF2"/>
            </a:solidFill>
            <a:prstDash val="solid"/>
          </a:ln>
        </p:spPr>
      </p:sp>
      <p:sp>
        <p:nvSpPr>
          <p:cNvPr id="10" name="Shape 8"/>
          <p:cNvSpPr/>
          <p:nvPr/>
        </p:nvSpPr>
        <p:spPr>
          <a:xfrm>
            <a:off x="731520" y="2724912"/>
            <a:ext cx="548640" cy="548640"/>
          </a:xfrm>
          <a:prstGeom prst="ellipse">
            <a:avLst/>
          </a:prstGeom>
          <a:solidFill>
            <a:srgbClr val="E67E22"/>
          </a:solidFill>
          <a:ln/>
        </p:spPr>
      </p:sp>
      <p:sp>
        <p:nvSpPr>
          <p:cNvPr id="11" name="Text 9"/>
          <p:cNvSpPr txBox="1"/>
          <p:nvPr/>
        </p:nvSpPr>
        <p:spPr>
          <a:xfrm>
            <a:off x="731520" y="2724912"/>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1463040" y="2651760"/>
            <a:ext cx="3931920" cy="694944"/>
          </a:xfrm>
          <a:prstGeom prst="rect">
            <a:avLst/>
          </a:prstGeom>
          <a:noFill/>
          <a:ln/>
        </p:spPr>
        <p:txBody>
          <a:bodyPr wrap="square" rtlCol="0" anchor="ctr"/>
          <a:lstStyle/>
          <a:p>
            <a:pPr indent="0" marL="0">
              <a:lnSpc>
                <a:spcPct val="110000"/>
              </a:lnSpc>
              <a:buNone/>
            </a:pPr>
            <a:r>
              <a:rPr lang="en-US" sz="1200" b="1" dirty="0">
                <a:solidFill>
                  <a:srgbClr val="1E2761"/>
                </a:solidFill>
                <a:latin typeface="Cambria" pitchFamily="34" charset="0"/>
                <a:ea typeface="Cambria" pitchFamily="34" charset="-122"/>
                <a:cs typeface="Cambria" pitchFamily="34" charset="-120"/>
              </a:rPr>
              <a:t>Standard Pembelajaran (Panduan PdP)</a:t>
            </a:r>
            <a:endParaRPr lang="en-US" sz="1200" dirty="0"/>
          </a:p>
        </p:txBody>
      </p:sp>
      <p:sp>
        <p:nvSpPr>
          <p:cNvPr id="13" name="Text 11"/>
          <p:cNvSpPr txBox="1"/>
          <p:nvPr/>
        </p:nvSpPr>
        <p:spPr>
          <a:xfrm>
            <a:off x="5486400" y="2651760"/>
            <a:ext cx="5943600" cy="694944"/>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Prinsip Ansur Maju: Mudah → Sukar, Konkrit → Abstrak. Disokong Nota Panduan Guru (skop, kedalaman, cadangan aktiviti).</a:t>
            </a:r>
            <a:endParaRPr lang="en-US" sz="1000" dirty="0"/>
          </a:p>
        </p:txBody>
      </p:sp>
      <p:sp>
        <p:nvSpPr>
          <p:cNvPr id="14" name="Shape 12"/>
          <p:cNvSpPr/>
          <p:nvPr/>
        </p:nvSpPr>
        <p:spPr>
          <a:xfrm>
            <a:off x="548640" y="3511296"/>
            <a:ext cx="11064240" cy="841248"/>
          </a:xfrm>
          <a:prstGeom prst="roundRect">
            <a:avLst>
              <a:gd name="adj" fmla="val 6522"/>
            </a:avLst>
          </a:prstGeom>
          <a:solidFill>
            <a:srgbClr val="F5F7FC"/>
          </a:solidFill>
          <a:ln w="12700">
            <a:solidFill>
              <a:srgbClr val="E7EAF2"/>
            </a:solidFill>
            <a:prstDash val="solid"/>
          </a:ln>
        </p:spPr>
      </p:sp>
      <p:sp>
        <p:nvSpPr>
          <p:cNvPr id="15" name="Shape 13"/>
          <p:cNvSpPr/>
          <p:nvPr/>
        </p:nvSpPr>
        <p:spPr>
          <a:xfrm>
            <a:off x="731520" y="3657600"/>
            <a:ext cx="548640" cy="548640"/>
          </a:xfrm>
          <a:prstGeom prst="ellipse">
            <a:avLst/>
          </a:prstGeom>
          <a:solidFill>
            <a:srgbClr val="8E44AD"/>
          </a:solidFill>
          <a:ln/>
        </p:spPr>
      </p:sp>
      <p:sp>
        <p:nvSpPr>
          <p:cNvPr id="16" name="Text 14"/>
          <p:cNvSpPr txBox="1"/>
          <p:nvPr/>
        </p:nvSpPr>
        <p:spPr>
          <a:xfrm>
            <a:off x="731520" y="365760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463040" y="3584448"/>
            <a:ext cx="3931920" cy="694944"/>
          </a:xfrm>
          <a:prstGeom prst="rect">
            <a:avLst/>
          </a:prstGeom>
          <a:noFill/>
          <a:ln/>
        </p:spPr>
        <p:txBody>
          <a:bodyPr wrap="square" rtlCol="0" anchor="ctr"/>
          <a:lstStyle/>
          <a:p>
            <a:pPr indent="0" marL="0">
              <a:lnSpc>
                <a:spcPct val="110000"/>
              </a:lnSpc>
              <a:buNone/>
            </a:pPr>
            <a:r>
              <a:rPr lang="en-US" sz="1200" b="1" dirty="0">
                <a:solidFill>
                  <a:srgbClr val="1E2761"/>
                </a:solidFill>
                <a:latin typeface="Cambria" pitchFamily="34" charset="0"/>
                <a:ea typeface="Cambria" pitchFamily="34" charset="-122"/>
                <a:cs typeface="Cambria" pitchFamily="34" charset="-120"/>
              </a:rPr>
              <a:t>Standard Prestasi (Kriteria Pencapaian)</a:t>
            </a:r>
            <a:endParaRPr lang="en-US" sz="1200" dirty="0"/>
          </a:p>
        </p:txBody>
      </p:sp>
      <p:sp>
        <p:nvSpPr>
          <p:cNvPr id="18" name="Text 16"/>
          <p:cNvSpPr txBox="1"/>
          <p:nvPr/>
        </p:nvSpPr>
        <p:spPr>
          <a:xfrm>
            <a:off x="5486400" y="3584448"/>
            <a:ext cx="5943600" cy="694944"/>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Set indikator tahap prestasi yang perlu dipamerkan murid; guru guna kriteria ini untuk merancang pentaksiran berterusan &amp; intervensi.</a:t>
            </a:r>
            <a:endParaRPr lang="en-US" sz="1000" dirty="0"/>
          </a:p>
        </p:txBody>
      </p:sp>
      <p:sp>
        <p:nvSpPr>
          <p:cNvPr id="19" name="Shape 17"/>
          <p:cNvSpPr/>
          <p:nvPr/>
        </p:nvSpPr>
        <p:spPr>
          <a:xfrm>
            <a:off x="548640" y="4443984"/>
            <a:ext cx="11064240" cy="841248"/>
          </a:xfrm>
          <a:prstGeom prst="roundRect">
            <a:avLst>
              <a:gd name="adj" fmla="val 6522"/>
            </a:avLst>
          </a:prstGeom>
          <a:solidFill>
            <a:srgbClr val="F5F7FC"/>
          </a:solidFill>
          <a:ln w="12700">
            <a:solidFill>
              <a:srgbClr val="E7EAF2"/>
            </a:solidFill>
            <a:prstDash val="solid"/>
          </a:ln>
        </p:spPr>
      </p:sp>
      <p:sp>
        <p:nvSpPr>
          <p:cNvPr id="20" name="Shape 18"/>
          <p:cNvSpPr/>
          <p:nvPr/>
        </p:nvSpPr>
        <p:spPr>
          <a:xfrm>
            <a:off x="731520" y="4590288"/>
            <a:ext cx="548640" cy="548640"/>
          </a:xfrm>
          <a:prstGeom prst="ellipse">
            <a:avLst/>
          </a:prstGeom>
          <a:solidFill>
            <a:srgbClr val="27AE60"/>
          </a:solidFill>
          <a:ln/>
        </p:spPr>
      </p:sp>
      <p:sp>
        <p:nvSpPr>
          <p:cNvPr id="21" name="Text 19"/>
          <p:cNvSpPr txBox="1"/>
          <p:nvPr/>
        </p:nvSpPr>
        <p:spPr>
          <a:xfrm>
            <a:off x="731520" y="4590288"/>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1463040" y="4517136"/>
            <a:ext cx="3931920" cy="694944"/>
          </a:xfrm>
          <a:prstGeom prst="rect">
            <a:avLst/>
          </a:prstGeom>
          <a:noFill/>
          <a:ln/>
        </p:spPr>
        <p:txBody>
          <a:bodyPr wrap="square" rtlCol="0" anchor="ctr"/>
          <a:lstStyle/>
          <a:p>
            <a:pPr indent="0" marL="0">
              <a:lnSpc>
                <a:spcPct val="110000"/>
              </a:lnSpc>
              <a:buNone/>
            </a:pPr>
            <a:r>
              <a:rPr lang="en-US" sz="1200" b="1" dirty="0">
                <a:solidFill>
                  <a:srgbClr val="1E2761"/>
                </a:solidFill>
                <a:latin typeface="Cambria" pitchFamily="34" charset="0"/>
                <a:ea typeface="Cambria" pitchFamily="34" charset="-122"/>
                <a:cs typeface="Cambria" pitchFamily="34" charset="-120"/>
              </a:rPr>
              <a:t>Tahap Penguasaan (Pelaporan Akhir)</a:t>
            </a:r>
            <a:endParaRPr lang="en-US" sz="1200" dirty="0"/>
          </a:p>
        </p:txBody>
      </p:sp>
      <p:sp>
        <p:nvSpPr>
          <p:cNvPr id="23" name="Text 21"/>
          <p:cNvSpPr txBox="1"/>
          <p:nvPr/>
        </p:nvSpPr>
        <p:spPr>
          <a:xfrm>
            <a:off x="5486400" y="4517136"/>
            <a:ext cx="5943600" cy="694944"/>
          </a:xfrm>
          <a:prstGeom prst="rect">
            <a:avLst/>
          </a:prstGeom>
          <a:noFill/>
          <a:ln/>
        </p:spPr>
        <p:txBody>
          <a:bodyPr wrap="square" rtlCol="0" anchor="ctr"/>
          <a:lstStyle/>
          <a:p>
            <a:pPr indent="0" marL="0">
              <a:lnSpc>
                <a:spcPct val="112000"/>
              </a:lnSpc>
              <a:buNone/>
            </a:pPr>
            <a:r>
              <a:rPr lang="en-US" sz="1000" dirty="0">
                <a:solidFill>
                  <a:srgbClr val="5B6472"/>
                </a:solidFill>
                <a:latin typeface="Calibri" pitchFamily="34" charset="0"/>
                <a:ea typeface="Calibri" pitchFamily="34" charset="-122"/>
                <a:cs typeface="Calibri" pitchFamily="34" charset="-120"/>
              </a:rPr>
              <a:t>Penentuan holistik bagi tujuan pelaporan; HANYA dinilai selepas semua standard dalam satu tajuk selesai dipelajari.</a:t>
            </a:r>
            <a:endParaRPr lang="en-US" sz="1000" dirty="0"/>
          </a:p>
        </p:txBody>
      </p:sp>
      <p:sp>
        <p:nvSpPr>
          <p:cNvPr id="24" name="Shape 22"/>
          <p:cNvSpPr/>
          <p:nvPr/>
        </p:nvSpPr>
        <p:spPr>
          <a:xfrm>
            <a:off x="548640" y="5440680"/>
            <a:ext cx="11064240" cy="777240"/>
          </a:xfrm>
          <a:prstGeom prst="roundRect">
            <a:avLst>
              <a:gd name="adj" fmla="val 9412"/>
            </a:avLst>
          </a:prstGeom>
          <a:solidFill>
            <a:srgbClr val="1E2761"/>
          </a:solidFill>
          <a:ln/>
        </p:spPr>
      </p:sp>
      <p:sp>
        <p:nvSpPr>
          <p:cNvPr id="25" name="Text 23"/>
          <p:cNvSpPr txBox="1"/>
          <p:nvPr/>
        </p:nvSpPr>
        <p:spPr>
          <a:xfrm>
            <a:off x="777240" y="5440680"/>
            <a:ext cx="10607040" cy="777240"/>
          </a:xfrm>
          <a:prstGeom prst="rect">
            <a:avLst/>
          </a:prstGeom>
          <a:noFill/>
          <a:ln/>
        </p:spPr>
        <p:txBody>
          <a:bodyPr wrap="square" rtlCol="0" anchor="ctr"/>
          <a:lstStyle/>
          <a:p>
            <a:pPr indent="0" marL="0">
              <a:buNone/>
            </a:pPr>
            <a:r>
              <a:rPr lang="en-US" sz="1200" b="1" dirty="0">
                <a:solidFill>
                  <a:srgbClr val="F2B705"/>
                </a:solidFill>
                <a:latin typeface="Calibri" pitchFamily="34" charset="0"/>
                <a:ea typeface="Calibri" pitchFamily="34" charset="-122"/>
                <a:cs typeface="Calibri" pitchFamily="34" charset="-120"/>
              </a:rPr>
              <a:t>SIMBOL NOTA:  </a:t>
            </a:r>
            <a:pPr indent="0" marL="0">
              <a:buNone/>
            </a:pPr>
            <a:r>
              <a:rPr lang="en-US" sz="1200" dirty="0">
                <a:solidFill>
                  <a:srgbClr val="FFFFFF"/>
                </a:solidFill>
                <a:latin typeface="Calibri" pitchFamily="34" charset="0"/>
                <a:ea typeface="Calibri" pitchFamily="34" charset="-122"/>
                <a:cs typeface="Calibri" pitchFamily="34" charset="-120"/>
              </a:rPr>
              <a:t>Bullet (•) = susunan FLEKSIBEL, guru bebas atur.   |   Roman (i, ii, iii) = Ansur Maju MANDATORI, guru WAJIB ikut turutan.</a:t>
            </a:r>
            <a:endParaRPr lang="en-US" sz="1200" dirty="0"/>
          </a:p>
        </p:txBody>
      </p:sp>
      <p:sp>
        <p:nvSpPr>
          <p:cNvPr id="26" name="Text 24"/>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23  •  [SINTESIS] Analisis SP dan SPi</a:t>
            </a:r>
            <a:endParaRPr lang="en-US" sz="1000" dirty="0"/>
          </a:p>
        </p:txBody>
      </p:sp>
      <p:sp>
        <p:nvSpPr>
          <p:cNvPr id="27" name="Text 2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Contoh Sebenar Halaman DKP: Nombor Nyata</a:t>
            </a:r>
            <a:endParaRPr lang="en-US" sz="2700" dirty="0"/>
          </a:p>
        </p:txBody>
      </p:sp>
      <p:sp>
        <p:nvSpPr>
          <p:cNvPr id="4" name="Shape 2"/>
          <p:cNvSpPr/>
          <p:nvPr/>
        </p:nvSpPr>
        <p:spPr>
          <a:xfrm>
            <a:off x="548640" y="1600200"/>
            <a:ext cx="11064240" cy="4480560"/>
          </a:xfrm>
          <a:prstGeom prst="roundRect">
            <a:avLst>
              <a:gd name="adj" fmla="val 816"/>
            </a:avLst>
          </a:prstGeom>
          <a:solidFill>
            <a:srgbClr val="FFFFFF"/>
          </a:solidFill>
          <a:ln w="19050">
            <a:solidFill>
              <a:srgbClr val="1E2761"/>
            </a:solidFill>
            <a:prstDash val="solid"/>
          </a:ln>
        </p:spPr>
      </p:sp>
      <p:sp>
        <p:nvSpPr>
          <p:cNvPr id="5" name="Shape 3"/>
          <p:cNvSpPr/>
          <p:nvPr/>
        </p:nvSpPr>
        <p:spPr>
          <a:xfrm>
            <a:off x="685800" y="1737360"/>
            <a:ext cx="2651760" cy="640080"/>
          </a:xfrm>
          <a:prstGeom prst="rect">
            <a:avLst/>
          </a:prstGeom>
          <a:solidFill>
            <a:srgbClr val="E7EAF2"/>
          </a:solidFill>
          <a:ln w="6350">
            <a:solidFill>
              <a:srgbClr val="1E2761"/>
            </a:solidFill>
            <a:prstDash val="solid"/>
          </a:ln>
        </p:spPr>
      </p:sp>
      <p:sp>
        <p:nvSpPr>
          <p:cNvPr id="6" name="Text 4"/>
          <p:cNvSpPr txBox="1"/>
          <p:nvPr/>
        </p:nvSpPr>
        <p:spPr>
          <a:xfrm>
            <a:off x="777240" y="1737360"/>
            <a:ext cx="2468880" cy="640080"/>
          </a:xfrm>
          <a:prstGeom prst="rect">
            <a:avLst/>
          </a:prstGeom>
          <a:noFill/>
          <a:ln/>
        </p:spPr>
        <p:txBody>
          <a:bodyPr wrap="square" rtlCol="0" anchor="ctr"/>
          <a:lstStyle/>
          <a:p>
            <a:pPr indent="0" marL="0">
              <a:lnSpc>
                <a:spcPct val="110000"/>
              </a:lnSpc>
              <a:buNone/>
            </a:pPr>
            <a:r>
              <a:rPr lang="en-US" sz="1050" b="1" dirty="0">
                <a:solidFill>
                  <a:srgbClr val="141A45"/>
                </a:solidFill>
                <a:latin typeface="Calibri" pitchFamily="34" charset="0"/>
                <a:ea typeface="Calibri" pitchFamily="34" charset="-122"/>
                <a:cs typeface="Calibri" pitchFamily="34" charset="-120"/>
              </a:rPr>
              <a:t>BIDANG PEMBELAJARAN</a:t>
            </a:r>
            <a:endParaRPr lang="en-US" sz="1050" dirty="0"/>
          </a:p>
          <a:p>
            <a:pPr indent="0" marL="0">
              <a:lnSpc>
                <a:spcPct val="110000"/>
              </a:lnSpc>
              <a:buNone/>
            </a:pPr>
            <a:r>
              <a:rPr lang="en-US" sz="1050" b="1" dirty="0">
                <a:solidFill>
                  <a:srgbClr val="141A45"/>
                </a:solidFill>
                <a:latin typeface="Calibri" pitchFamily="34" charset="0"/>
                <a:ea typeface="Calibri" pitchFamily="34" charset="-122"/>
                <a:cs typeface="Calibri" pitchFamily="34" charset="-120"/>
              </a:rPr>
              <a:t>TAJUK</a:t>
            </a:r>
            <a:endParaRPr lang="en-US" sz="1050" dirty="0"/>
          </a:p>
        </p:txBody>
      </p:sp>
      <p:sp>
        <p:nvSpPr>
          <p:cNvPr id="7" name="Shape 5"/>
          <p:cNvSpPr/>
          <p:nvPr/>
        </p:nvSpPr>
        <p:spPr>
          <a:xfrm>
            <a:off x="3337560" y="1737360"/>
            <a:ext cx="8183880" cy="640080"/>
          </a:xfrm>
          <a:prstGeom prst="rect">
            <a:avLst/>
          </a:prstGeom>
          <a:solidFill>
            <a:srgbClr val="FFFFFF"/>
          </a:solidFill>
          <a:ln w="6350">
            <a:solidFill>
              <a:srgbClr val="1E2761"/>
            </a:solidFill>
            <a:prstDash val="solid"/>
          </a:ln>
        </p:spPr>
      </p:sp>
      <p:sp>
        <p:nvSpPr>
          <p:cNvPr id="8" name="Text 6"/>
          <p:cNvSpPr txBox="1"/>
          <p:nvPr/>
        </p:nvSpPr>
        <p:spPr>
          <a:xfrm>
            <a:off x="3429000" y="1737360"/>
            <a:ext cx="8001000" cy="640080"/>
          </a:xfrm>
          <a:prstGeom prst="rect">
            <a:avLst/>
          </a:prstGeom>
          <a:noFill/>
          <a:ln/>
        </p:spPr>
        <p:txBody>
          <a:bodyPr wrap="square" rtlCol="0" anchor="ctr"/>
          <a:lstStyle/>
          <a:p>
            <a:pPr indent="0" marL="0">
              <a:buNone/>
            </a:pPr>
            <a:r>
              <a:rPr lang="en-US" sz="1050" b="1" dirty="0">
                <a:solidFill>
                  <a:srgbClr val="141A45"/>
                </a:solidFill>
                <a:latin typeface="Calibri" pitchFamily="34" charset="0"/>
                <a:ea typeface="Calibri" pitchFamily="34" charset="-122"/>
                <a:cs typeface="Calibri" pitchFamily="34" charset="-120"/>
              </a:rPr>
              <a:t>NOMBOR DAN OPERASI</a:t>
            </a:r>
            <a:endParaRPr lang="en-US" sz="1050" dirty="0"/>
          </a:p>
          <a:p>
            <a:pPr indent="0" marL="0">
              <a:buNone/>
            </a:pPr>
            <a:r>
              <a:rPr lang="en-US" sz="1050" b="1" dirty="0">
                <a:solidFill>
                  <a:srgbClr val="141A45"/>
                </a:solidFill>
                <a:latin typeface="Calibri" pitchFamily="34" charset="0"/>
                <a:ea typeface="Calibri" pitchFamily="34" charset="-122"/>
                <a:cs typeface="Calibri" pitchFamily="34" charset="-120"/>
              </a:rPr>
              <a:t>1.0 NOMBOR NYATA</a:t>
            </a:r>
            <a:endParaRPr lang="en-US" sz="1050" dirty="0"/>
          </a:p>
        </p:txBody>
      </p:sp>
      <p:sp>
        <p:nvSpPr>
          <p:cNvPr id="9" name="Shape 7"/>
          <p:cNvSpPr/>
          <p:nvPr/>
        </p:nvSpPr>
        <p:spPr>
          <a:xfrm>
            <a:off x="685800" y="2377440"/>
            <a:ext cx="2651760" cy="457200"/>
          </a:xfrm>
          <a:prstGeom prst="rect">
            <a:avLst/>
          </a:prstGeom>
          <a:solidFill>
            <a:srgbClr val="E7EAF2"/>
          </a:solidFill>
          <a:ln w="6350">
            <a:solidFill>
              <a:srgbClr val="1E2761"/>
            </a:solidFill>
            <a:prstDash val="solid"/>
          </a:ln>
        </p:spPr>
      </p:sp>
      <p:sp>
        <p:nvSpPr>
          <p:cNvPr id="10" name="Text 8"/>
          <p:cNvSpPr txBox="1"/>
          <p:nvPr/>
        </p:nvSpPr>
        <p:spPr>
          <a:xfrm>
            <a:off x="777240" y="2377440"/>
            <a:ext cx="2468880" cy="457200"/>
          </a:xfrm>
          <a:prstGeom prst="rect">
            <a:avLst/>
          </a:prstGeom>
          <a:noFill/>
          <a:ln/>
        </p:spPr>
        <p:txBody>
          <a:bodyPr wrap="square" rtlCol="0" anchor="ctr"/>
          <a:lstStyle/>
          <a:p>
            <a:pPr indent="0" marL="0">
              <a:lnSpc>
                <a:spcPct val="110000"/>
              </a:lnSpc>
              <a:buNone/>
            </a:pPr>
            <a:r>
              <a:rPr lang="en-US" sz="1050" b="1" dirty="0">
                <a:solidFill>
                  <a:srgbClr val="141A45"/>
                </a:solidFill>
                <a:latin typeface="Calibri" pitchFamily="34" charset="0"/>
                <a:ea typeface="Calibri" pitchFamily="34" charset="-122"/>
                <a:cs typeface="Calibri" pitchFamily="34" charset="-120"/>
              </a:rPr>
              <a:t>SUBTAJUK</a:t>
            </a:r>
            <a:endParaRPr lang="en-US" sz="1050" dirty="0"/>
          </a:p>
        </p:txBody>
      </p:sp>
      <p:sp>
        <p:nvSpPr>
          <p:cNvPr id="11" name="Shape 9"/>
          <p:cNvSpPr/>
          <p:nvPr/>
        </p:nvSpPr>
        <p:spPr>
          <a:xfrm>
            <a:off x="3337560" y="2377440"/>
            <a:ext cx="8183880" cy="457200"/>
          </a:xfrm>
          <a:prstGeom prst="rect">
            <a:avLst/>
          </a:prstGeom>
          <a:solidFill>
            <a:srgbClr val="FFFFFF"/>
          </a:solidFill>
          <a:ln w="6350">
            <a:solidFill>
              <a:srgbClr val="1E2761"/>
            </a:solidFill>
            <a:prstDash val="solid"/>
          </a:ln>
        </p:spPr>
      </p:sp>
      <p:sp>
        <p:nvSpPr>
          <p:cNvPr id="12" name="Text 10"/>
          <p:cNvSpPr txBox="1"/>
          <p:nvPr/>
        </p:nvSpPr>
        <p:spPr>
          <a:xfrm>
            <a:off x="3429000" y="2377440"/>
            <a:ext cx="8001000" cy="457200"/>
          </a:xfrm>
          <a:prstGeom prst="rect">
            <a:avLst/>
          </a:prstGeom>
          <a:noFill/>
          <a:ln/>
        </p:spPr>
        <p:txBody>
          <a:bodyPr wrap="square" rtlCol="0" anchor="ctr"/>
          <a:lstStyle/>
          <a:p>
            <a:pPr indent="0" marL="0">
              <a:buNone/>
            </a:pPr>
            <a:r>
              <a:rPr lang="en-US" sz="1050" b="1" dirty="0">
                <a:solidFill>
                  <a:srgbClr val="141A45"/>
                </a:solidFill>
                <a:latin typeface="Calibri" pitchFamily="34" charset="0"/>
                <a:ea typeface="Calibri" pitchFamily="34" charset="-122"/>
                <a:cs typeface="Calibri" pitchFamily="34" charset="-120"/>
              </a:rPr>
              <a:t>1.1 NOMBOR NISBAH DAN NOMBOR TAK NISBAH</a:t>
            </a:r>
            <a:endParaRPr lang="en-US" sz="1050" dirty="0"/>
          </a:p>
        </p:txBody>
      </p:sp>
      <p:sp>
        <p:nvSpPr>
          <p:cNvPr id="13" name="Shape 11"/>
          <p:cNvSpPr/>
          <p:nvPr/>
        </p:nvSpPr>
        <p:spPr>
          <a:xfrm>
            <a:off x="685800" y="2834640"/>
            <a:ext cx="2651760" cy="2606040"/>
          </a:xfrm>
          <a:prstGeom prst="rect">
            <a:avLst/>
          </a:prstGeom>
          <a:solidFill>
            <a:srgbClr val="E7EAF2"/>
          </a:solidFill>
          <a:ln w="6350">
            <a:solidFill>
              <a:srgbClr val="1E2761"/>
            </a:solidFill>
            <a:prstDash val="solid"/>
          </a:ln>
        </p:spPr>
      </p:sp>
      <p:sp>
        <p:nvSpPr>
          <p:cNvPr id="14" name="Text 12"/>
          <p:cNvSpPr txBox="1"/>
          <p:nvPr/>
        </p:nvSpPr>
        <p:spPr>
          <a:xfrm>
            <a:off x="777240" y="2834640"/>
            <a:ext cx="2468880" cy="365760"/>
          </a:xfrm>
          <a:prstGeom prst="rect">
            <a:avLst/>
          </a:prstGeom>
          <a:noFill/>
          <a:ln/>
        </p:spPr>
        <p:txBody>
          <a:bodyPr wrap="square" rtlCol="0" anchor="ctr"/>
          <a:lstStyle/>
          <a:p>
            <a:pPr indent="0" marL="0">
              <a:buNone/>
            </a:pPr>
            <a:r>
              <a:rPr lang="en-US" sz="1050" b="1" dirty="0">
                <a:solidFill>
                  <a:srgbClr val="141A45"/>
                </a:solidFill>
                <a:latin typeface="Calibri" pitchFamily="34" charset="0"/>
                <a:ea typeface="Calibri" pitchFamily="34" charset="-122"/>
                <a:cs typeface="Calibri" pitchFamily="34" charset="-120"/>
              </a:rPr>
              <a:t>PENERANGAN</a:t>
            </a:r>
            <a:endParaRPr lang="en-US" sz="1050" dirty="0"/>
          </a:p>
        </p:txBody>
      </p:sp>
      <p:sp>
        <p:nvSpPr>
          <p:cNvPr id="15" name="Shape 13"/>
          <p:cNvSpPr/>
          <p:nvPr/>
        </p:nvSpPr>
        <p:spPr>
          <a:xfrm>
            <a:off x="3337560" y="2834640"/>
            <a:ext cx="8183880" cy="2606040"/>
          </a:xfrm>
          <a:prstGeom prst="rect">
            <a:avLst/>
          </a:prstGeom>
          <a:solidFill>
            <a:srgbClr val="FFFFFF"/>
          </a:solidFill>
          <a:ln w="6350">
            <a:solidFill>
              <a:srgbClr val="1E2761"/>
            </a:solidFill>
            <a:prstDash val="solid"/>
          </a:ln>
        </p:spPr>
      </p:sp>
      <p:sp>
        <p:nvSpPr>
          <p:cNvPr id="16" name="Text 14"/>
          <p:cNvSpPr txBox="1"/>
          <p:nvPr/>
        </p:nvSpPr>
        <p:spPr>
          <a:xfrm>
            <a:off x="3456432" y="2880360"/>
            <a:ext cx="7955280" cy="2514600"/>
          </a:xfrm>
          <a:prstGeom prst="rect">
            <a:avLst/>
          </a:prstGeom>
          <a:noFill/>
          <a:ln/>
        </p:spPr>
        <p:txBody>
          <a:bodyPr wrap="square" rtlCol="0" anchor="t"/>
          <a:lstStyle/>
          <a:p>
            <a:pPr indent="0" marL="0">
              <a:lnSpc>
                <a:spcPct val="115000"/>
              </a:lnSpc>
              <a:buNone/>
            </a:pPr>
            <a:r>
              <a:rPr lang="en-US" sz="1050" b="1" dirty="0">
                <a:solidFill>
                  <a:srgbClr val="141A45"/>
                </a:solidFill>
                <a:latin typeface="Calibri" pitchFamily="34" charset="0"/>
                <a:ea typeface="Calibri" pitchFamily="34" charset="-122"/>
                <a:cs typeface="Calibri" pitchFamily="34" charset="-120"/>
              </a:rPr>
              <a:t>KANDUNGAN PEMBELAJARAN
</a:t>
            </a:r>
            <a:pPr indent="0" marL="0">
              <a:lnSpc>
                <a:spcPct val="115000"/>
              </a:lnSpc>
              <a:buNone/>
            </a:pPr>
            <a:r>
              <a:rPr lang="en-US" sz="980" dirty="0">
                <a:solidFill>
                  <a:srgbClr val="141A45"/>
                </a:solidFill>
                <a:latin typeface="Calibri" pitchFamily="34" charset="0"/>
                <a:ea typeface="Calibri" pitchFamily="34" charset="-122"/>
                <a:cs typeface="Calibri" pitchFamily="34" charset="-120"/>
              </a:rPr>
              <a:t>Subtajuk ini memfokuskan pengenalan nombor nisbah dan nombor tak nisbah sebagai nombor nyata. Perbandingan dan penyusunan nombor nyata mengikut tertib turut dibincangkan. Kemahiran matematik yang diterapkan ialah kemahiran menukar bentuk nombor kepada pecahan, perpuluhan dan peratusan serta membanding nombor dengan menggunakan garis nombor.
</a:t>
            </a:r>
            <a:pPr indent="0" marL="0">
              <a:lnSpc>
                <a:spcPct val="115000"/>
              </a:lnSpc>
              <a:buNone/>
            </a:pPr>
            <a:r>
              <a:rPr lang="en-US" sz="980" b="1" dirty="0">
                <a:solidFill>
                  <a:srgbClr val="141A45"/>
                </a:solidFill>
                <a:latin typeface="Calibri" pitchFamily="34" charset="0"/>
                <a:ea typeface="Calibri" pitchFamily="34" charset="-122"/>
                <a:cs typeface="Calibri" pitchFamily="34" charset="-120"/>
              </a:rPr>
              <a:t>Skop: </a:t>
            </a:r>
            <a:pPr indent="0" marL="0">
              <a:lnSpc>
                <a:spcPct val="115000"/>
              </a:lnSpc>
              <a:buNone/>
            </a:pPr>
            <a:r>
              <a:rPr lang="en-US" sz="980" dirty="0">
                <a:solidFill>
                  <a:srgbClr val="141A45"/>
                </a:solidFill>
                <a:latin typeface="Calibri" pitchFamily="34" charset="0"/>
                <a:ea typeface="Calibri" pitchFamily="34" charset="-122"/>
                <a:cs typeface="Calibri" pitchFamily="34" charset="-120"/>
              </a:rPr>
              <a:t>1. Perbincangan nombor tak nisbah terhad kepada π, surd dan bentuk perpuluhan tak berulang.  2. Nombor kompleks tidak dibincangkan.
</a:t>
            </a:r>
            <a:pPr indent="0" marL="0">
              <a:lnSpc>
                <a:spcPct val="115000"/>
              </a:lnSpc>
              <a:buNone/>
            </a:pPr>
            <a:r>
              <a:rPr lang="en-US" sz="1050" b="1" dirty="0">
                <a:solidFill>
                  <a:srgbClr val="141A45"/>
                </a:solidFill>
                <a:latin typeface="Calibri" pitchFamily="34" charset="0"/>
                <a:ea typeface="Calibri" pitchFamily="34" charset="-122"/>
                <a:cs typeface="Calibri" pitchFamily="34" charset="-120"/>
              </a:rPr>
              <a:t>KOMPETENSI — Kemahiran Berfikir
</a:t>
            </a:r>
            <a:pPr indent="0" marL="0">
              <a:lnSpc>
                <a:spcPct val="115000"/>
              </a:lnSpc>
              <a:buNone/>
            </a:pPr>
            <a:r>
              <a:rPr lang="en-US" sz="980" dirty="0">
                <a:solidFill>
                  <a:srgbClr val="141A45"/>
                </a:solidFill>
                <a:latin typeface="Calibri" pitchFamily="34" charset="0"/>
                <a:ea typeface="Calibri" pitchFamily="34" charset="-122"/>
                <a:cs typeface="Calibri" pitchFamily="34" charset="-120"/>
              </a:rPr>
              <a:t>Murid boleh mengaplikasikan kemahiran berfikir dengan membanding beza dan menyusun set nombor nyata mengikut tertib secara logik dan rasional.</a:t>
            </a:r>
            <a:endParaRPr lang="en-US" sz="1050" dirty="0"/>
          </a:p>
        </p:txBody>
      </p:sp>
      <p:sp>
        <p:nvSpPr>
          <p:cNvPr id="17" name="Text 15"/>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Petikan sebenar Dokumen Kurikulum Matematik T1, dipaparkan di Slaid Sidang 3 m/s 24–25</a:t>
            </a:r>
            <a:endParaRPr lang="en-US" sz="1000" dirty="0"/>
          </a:p>
        </p:txBody>
      </p:sp>
      <p:sp>
        <p:nvSpPr>
          <p:cNvPr id="18" name="Text 1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PENERANGAN TERPERINCI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Standard Pembelajaran: Ansur Maju Pembelajaran</a:t>
            </a:r>
            <a:endParaRPr lang="en-US" sz="2700" dirty="0"/>
          </a:p>
        </p:txBody>
      </p:sp>
      <p:sp>
        <p:nvSpPr>
          <p:cNvPr id="4" name="Text 2"/>
          <p:cNvSpPr txBox="1"/>
          <p:nvPr/>
        </p:nvSpPr>
        <p:spPr>
          <a:xfrm>
            <a:off x="548640" y="1554480"/>
            <a:ext cx="11064240" cy="365760"/>
          </a:xfrm>
          <a:prstGeom prst="rect">
            <a:avLst/>
          </a:prstGeom>
          <a:noFill/>
          <a:ln/>
        </p:spPr>
        <p:txBody>
          <a:bodyPr wrap="square" rtlCol="0" anchor="ctr"/>
          <a:lstStyle/>
          <a:p>
            <a:pPr indent="0" marL="0">
              <a:buNone/>
            </a:pPr>
            <a:r>
              <a:rPr lang="en-US" sz="1300" i="1" dirty="0">
                <a:solidFill>
                  <a:srgbClr val="141A45"/>
                </a:solidFill>
                <a:latin typeface="Calibri" pitchFamily="34" charset="0"/>
                <a:ea typeface="Calibri" pitchFamily="34" charset="-122"/>
                <a:cs typeface="Calibri" pitchFamily="34" charset="-120"/>
              </a:rPr>
              <a:t>Kriteria pencapaian berstruktur dengan sokongan Nota panduan guru.</a:t>
            </a:r>
            <a:endParaRPr lang="en-US" sz="1300" dirty="0"/>
          </a:p>
        </p:txBody>
      </p:sp>
      <p:sp>
        <p:nvSpPr>
          <p:cNvPr id="5" name="Shape 3"/>
          <p:cNvSpPr/>
          <p:nvPr/>
        </p:nvSpPr>
        <p:spPr>
          <a:xfrm>
            <a:off x="822960" y="2194560"/>
            <a:ext cx="3383280" cy="2011680"/>
          </a:xfrm>
          <a:prstGeom prst="roundRect">
            <a:avLst>
              <a:gd name="adj" fmla="val 3636"/>
            </a:avLst>
          </a:prstGeom>
          <a:solidFill>
            <a:srgbClr val="2E86AB"/>
          </a:solidFill>
          <a:ln/>
        </p:spPr>
      </p:sp>
      <p:sp>
        <p:nvSpPr>
          <p:cNvPr id="6" name="Shape 4"/>
          <p:cNvSpPr/>
          <p:nvPr/>
        </p:nvSpPr>
        <p:spPr>
          <a:xfrm>
            <a:off x="2148840" y="2423160"/>
            <a:ext cx="731520" cy="731520"/>
          </a:xfrm>
          <a:prstGeom prst="ellipse">
            <a:avLst/>
          </a:prstGeom>
          <a:solidFill>
            <a:srgbClr val="FFFFFF"/>
          </a:solidFill>
          <a:ln/>
        </p:spPr>
      </p:sp>
      <p:pic>
        <p:nvPicPr>
          <p:cNvPr id="7" name="Image 0" descr="/home/claude/shared_icons/icon_cubes.png">    </p:cNvPr>
          <p:cNvPicPr>
            <a:picLocks noChangeAspect="1"/>
          </p:cNvPicPr>
          <p:nvPr/>
        </p:nvPicPr>
        <p:blipFill>
          <a:blip r:embed="rId1"/>
          <a:stretch>
            <a:fillRect/>
          </a:stretch>
        </p:blipFill>
        <p:spPr>
          <a:xfrm>
            <a:off x="2251253" y="2525573"/>
            <a:ext cx="526694" cy="526694"/>
          </a:xfrm>
          <a:prstGeom prst="rect">
            <a:avLst/>
          </a:prstGeom>
        </p:spPr>
      </p:pic>
      <p:sp>
        <p:nvSpPr>
          <p:cNvPr id="8" name="Text 5"/>
          <p:cNvSpPr txBox="1"/>
          <p:nvPr/>
        </p:nvSpPr>
        <p:spPr>
          <a:xfrm>
            <a:off x="960120" y="3246120"/>
            <a:ext cx="310896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Langkah 1: Konkrit</a:t>
            </a:r>
            <a:endParaRPr lang="en-US" sz="1300" dirty="0"/>
          </a:p>
        </p:txBody>
      </p:sp>
      <p:sp>
        <p:nvSpPr>
          <p:cNvPr id="9" name="Text 6"/>
          <p:cNvSpPr txBox="1"/>
          <p:nvPr/>
        </p:nvSpPr>
        <p:spPr>
          <a:xfrm>
            <a:off x="1005840" y="3657600"/>
            <a:ext cx="301752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Visual &amp; objek fizikal.</a:t>
            </a:r>
            <a:endParaRPr lang="en-US" sz="1100" dirty="0"/>
          </a:p>
        </p:txBody>
      </p:sp>
      <p:sp>
        <p:nvSpPr>
          <p:cNvPr id="10" name="Text 7"/>
          <p:cNvSpPr txBox="1"/>
          <p:nvPr/>
        </p:nvSpPr>
        <p:spPr>
          <a:xfrm>
            <a:off x="4187952" y="306324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1" name="Shape 8"/>
          <p:cNvSpPr/>
          <p:nvPr/>
        </p:nvSpPr>
        <p:spPr>
          <a:xfrm>
            <a:off x="4480560" y="2194560"/>
            <a:ext cx="3383280" cy="2011680"/>
          </a:xfrm>
          <a:prstGeom prst="roundRect">
            <a:avLst>
              <a:gd name="adj" fmla="val 3636"/>
            </a:avLst>
          </a:prstGeom>
          <a:solidFill>
            <a:srgbClr val="E67E22"/>
          </a:solidFill>
          <a:ln/>
        </p:spPr>
      </p:sp>
      <p:sp>
        <p:nvSpPr>
          <p:cNvPr id="12" name="Shape 9"/>
          <p:cNvSpPr/>
          <p:nvPr/>
        </p:nvSpPr>
        <p:spPr>
          <a:xfrm>
            <a:off x="5806440" y="2423160"/>
            <a:ext cx="731520" cy="731520"/>
          </a:xfrm>
          <a:prstGeom prst="ellipse">
            <a:avLst/>
          </a:prstGeom>
          <a:solidFill>
            <a:srgbClr val="FFFFFF"/>
          </a:solidFill>
          <a:ln/>
        </p:spPr>
      </p:sp>
      <p:pic>
        <p:nvPicPr>
          <p:cNvPr id="13" name="Image 1" descr="/home/claude/shared_icons/icon_chart.png">    </p:cNvPr>
          <p:cNvPicPr>
            <a:picLocks noChangeAspect="1"/>
          </p:cNvPicPr>
          <p:nvPr/>
        </p:nvPicPr>
        <p:blipFill>
          <a:blip r:embed="rId2"/>
          <a:stretch>
            <a:fillRect/>
          </a:stretch>
        </p:blipFill>
        <p:spPr>
          <a:xfrm>
            <a:off x="5908853" y="2525573"/>
            <a:ext cx="526694" cy="526694"/>
          </a:xfrm>
          <a:prstGeom prst="rect">
            <a:avLst/>
          </a:prstGeom>
        </p:spPr>
      </p:pic>
      <p:sp>
        <p:nvSpPr>
          <p:cNvPr id="14" name="Text 10"/>
          <p:cNvSpPr txBox="1"/>
          <p:nvPr/>
        </p:nvSpPr>
        <p:spPr>
          <a:xfrm>
            <a:off x="4617720" y="3246120"/>
            <a:ext cx="310896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Langkah 2: Mudah ke Sukar</a:t>
            </a:r>
            <a:endParaRPr lang="en-US" sz="1300" dirty="0"/>
          </a:p>
        </p:txBody>
      </p:sp>
      <p:sp>
        <p:nvSpPr>
          <p:cNvPr id="15" name="Text 11"/>
          <p:cNvSpPr txBox="1"/>
          <p:nvPr/>
        </p:nvSpPr>
        <p:spPr>
          <a:xfrm>
            <a:off x="4663440" y="3657600"/>
            <a:ext cx="301752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Pemeringkatan berstruktur.</a:t>
            </a:r>
            <a:endParaRPr lang="en-US" sz="1100" dirty="0"/>
          </a:p>
        </p:txBody>
      </p:sp>
      <p:sp>
        <p:nvSpPr>
          <p:cNvPr id="16" name="Text 12"/>
          <p:cNvSpPr txBox="1"/>
          <p:nvPr/>
        </p:nvSpPr>
        <p:spPr>
          <a:xfrm>
            <a:off x="7845552" y="306324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7" name="Shape 13"/>
          <p:cNvSpPr/>
          <p:nvPr/>
        </p:nvSpPr>
        <p:spPr>
          <a:xfrm>
            <a:off x="8138160" y="2194560"/>
            <a:ext cx="3383280" cy="2011680"/>
          </a:xfrm>
          <a:prstGeom prst="roundRect">
            <a:avLst>
              <a:gd name="adj" fmla="val 3636"/>
            </a:avLst>
          </a:prstGeom>
          <a:solidFill>
            <a:srgbClr val="8E44AD"/>
          </a:solidFill>
          <a:ln/>
        </p:spPr>
      </p:sp>
      <p:sp>
        <p:nvSpPr>
          <p:cNvPr id="18" name="Shape 14"/>
          <p:cNvSpPr/>
          <p:nvPr/>
        </p:nvSpPr>
        <p:spPr>
          <a:xfrm>
            <a:off x="9464040" y="2423160"/>
            <a:ext cx="731520" cy="731520"/>
          </a:xfrm>
          <a:prstGeom prst="ellipse">
            <a:avLst/>
          </a:prstGeom>
          <a:solidFill>
            <a:srgbClr val="FFFFFF"/>
          </a:solidFill>
          <a:ln/>
        </p:spPr>
      </p:sp>
      <p:pic>
        <p:nvPicPr>
          <p:cNvPr id="19" name="Image 2" descr="/home/claude/shared_icons/icon_brain.png">    </p:cNvPr>
          <p:cNvPicPr>
            <a:picLocks noChangeAspect="1"/>
          </p:cNvPicPr>
          <p:nvPr/>
        </p:nvPicPr>
        <p:blipFill>
          <a:blip r:embed="rId3"/>
          <a:stretch>
            <a:fillRect/>
          </a:stretch>
        </p:blipFill>
        <p:spPr>
          <a:xfrm>
            <a:off x="9566453" y="2525573"/>
            <a:ext cx="526694" cy="526694"/>
          </a:xfrm>
          <a:prstGeom prst="rect">
            <a:avLst/>
          </a:prstGeom>
        </p:spPr>
      </p:pic>
      <p:sp>
        <p:nvSpPr>
          <p:cNvPr id="20" name="Text 15"/>
          <p:cNvSpPr txBox="1"/>
          <p:nvPr/>
        </p:nvSpPr>
        <p:spPr>
          <a:xfrm>
            <a:off x="8275320" y="3246120"/>
            <a:ext cx="310896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Langkah 3: Abstrak</a:t>
            </a:r>
            <a:endParaRPr lang="en-US" sz="1300" dirty="0"/>
          </a:p>
        </p:txBody>
      </p:sp>
      <p:sp>
        <p:nvSpPr>
          <p:cNvPr id="21" name="Text 16"/>
          <p:cNvSpPr txBox="1"/>
          <p:nvPr/>
        </p:nvSpPr>
        <p:spPr>
          <a:xfrm>
            <a:off x="8321040" y="3657600"/>
            <a:ext cx="301752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Penyelesaian masalah &amp; pemikiran kritis.</a:t>
            </a:r>
            <a:endParaRPr lang="en-US" sz="1100" dirty="0"/>
          </a:p>
        </p:txBody>
      </p:sp>
      <p:sp>
        <p:nvSpPr>
          <p:cNvPr id="22" name="Shape 17"/>
          <p:cNvSpPr/>
          <p:nvPr/>
        </p:nvSpPr>
        <p:spPr>
          <a:xfrm>
            <a:off x="822960" y="4526280"/>
            <a:ext cx="10515600" cy="1371600"/>
          </a:xfrm>
          <a:prstGeom prst="roundRect">
            <a:avLst>
              <a:gd name="adj" fmla="val 5333"/>
            </a:avLst>
          </a:prstGeom>
          <a:solidFill>
            <a:srgbClr val="F5F7FC"/>
          </a:solidFill>
          <a:ln w="12700">
            <a:solidFill>
              <a:srgbClr val="E7EAF2"/>
            </a:solidFill>
            <a:prstDash val="solid"/>
          </a:ln>
        </p:spPr>
      </p:sp>
      <p:sp>
        <p:nvSpPr>
          <p:cNvPr id="23" name="Text 18"/>
          <p:cNvSpPr txBox="1"/>
          <p:nvPr/>
        </p:nvSpPr>
        <p:spPr>
          <a:xfrm>
            <a:off x="1051560" y="4663440"/>
            <a:ext cx="5486400" cy="32004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RUANGAN NOTA</a:t>
            </a:r>
            <a:endParaRPr lang="en-US" sz="1300" dirty="0"/>
          </a:p>
        </p:txBody>
      </p:sp>
      <p:sp>
        <p:nvSpPr>
          <p:cNvPr id="24" name="Text 19"/>
          <p:cNvSpPr txBox="1"/>
          <p:nvPr/>
        </p:nvSpPr>
        <p:spPr>
          <a:xfrm>
            <a:off x="1051560" y="5029200"/>
            <a:ext cx="10058400" cy="731520"/>
          </a:xfrm>
          <a:prstGeom prst="rect">
            <a:avLst/>
          </a:prstGeom>
          <a:noFill/>
          <a:ln/>
        </p:spPr>
        <p:txBody>
          <a:bodyPr wrap="square" rtlCol="0" anchor="ctr"/>
          <a:lstStyle/>
          <a:p>
            <a:pPr indent="0" marL="0">
              <a:lnSpc>
                <a:spcPct val="120000"/>
              </a:lnSpc>
              <a:buNone/>
            </a:pPr>
            <a:r>
              <a:rPr lang="en-US" sz="1150" dirty="0">
                <a:solidFill>
                  <a:srgbClr val="5B6472"/>
                </a:solidFill>
                <a:latin typeface="Calibri" pitchFamily="34" charset="0"/>
                <a:ea typeface="Calibri" pitchFamily="34" charset="-122"/>
                <a:cs typeface="Calibri" pitchFamily="34" charset="-120"/>
              </a:rPr>
              <a:t>Perkara yang perlu diberikan penjelasan atau penegasan tentang Standard Pembelajaran — termasuk skop, kedalaman, dan cadangan aktiviti.</a:t>
            </a:r>
            <a:endParaRPr lang="en-US" sz="1150" dirty="0"/>
          </a:p>
        </p:txBody>
      </p:sp>
      <p:sp>
        <p:nvSpPr>
          <p:cNvPr id="25" name="Text 20"/>
          <p:cNvSpPr txBox="1"/>
          <p:nvPr/>
        </p:nvSpPr>
        <p:spPr>
          <a:xfrm>
            <a:off x="548640" y="6035040"/>
            <a:ext cx="11064240" cy="365760"/>
          </a:xfrm>
          <a:prstGeom prst="rect">
            <a:avLst/>
          </a:prstGeom>
          <a:noFill/>
          <a:ln/>
        </p:spPr>
        <p:txBody>
          <a:bodyPr wrap="square" rtlCol="0" anchor="ctr"/>
          <a:lstStyle/>
          <a:p>
            <a:pPr algn="ctr" indent="0" marL="0">
              <a:buNone/>
            </a:pPr>
            <a:r>
              <a:rPr lang="en-US" sz="1100" i="1" dirty="0">
                <a:solidFill>
                  <a:srgbClr val="5B6472"/>
                </a:solidFill>
                <a:latin typeface="Calibri" pitchFamily="34" charset="0"/>
                <a:ea typeface="Calibri" pitchFamily="34" charset="-122"/>
                <a:cs typeface="Calibri" pitchFamily="34" charset="-120"/>
              </a:rPr>
              <a:t>Penyepaduan empat elemen teras karakter diselitkan sepanjang proses PdP.</a:t>
            </a:r>
            <a:endParaRPr lang="en-US" sz="1100" dirty="0"/>
          </a:p>
        </p:txBody>
      </p:sp>
      <p:sp>
        <p:nvSpPr>
          <p:cNvPr id="26" name="Text 21"/>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26</a:t>
            </a:r>
            <a:endParaRPr lang="en-US" sz="1000" dirty="0"/>
          </a:p>
        </p:txBody>
      </p:sp>
      <p:sp>
        <p:nvSpPr>
          <p:cNvPr id="27" name="Text 22"/>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Contoh Sebenar: Nota Bullet vs Roman</a:t>
            </a:r>
            <a:endParaRPr lang="en-US" sz="2700" dirty="0"/>
          </a:p>
        </p:txBody>
      </p:sp>
      <p:sp>
        <p:nvSpPr>
          <p:cNvPr id="4" name="Shape 2"/>
          <p:cNvSpPr/>
          <p:nvPr/>
        </p:nvSpPr>
        <p:spPr>
          <a:xfrm>
            <a:off x="548640" y="1600200"/>
            <a:ext cx="11064240" cy="4480560"/>
          </a:xfrm>
          <a:prstGeom prst="roundRect">
            <a:avLst>
              <a:gd name="adj" fmla="val 816"/>
            </a:avLst>
          </a:prstGeom>
          <a:solidFill>
            <a:srgbClr val="FFFFFF"/>
          </a:solidFill>
          <a:ln w="19050">
            <a:solidFill>
              <a:srgbClr val="1E2761"/>
            </a:solidFill>
            <a:prstDash val="solid"/>
          </a:ln>
        </p:spPr>
      </p:sp>
      <p:sp>
        <p:nvSpPr>
          <p:cNvPr id="5" name="Shape 3"/>
          <p:cNvSpPr/>
          <p:nvPr/>
        </p:nvSpPr>
        <p:spPr>
          <a:xfrm>
            <a:off x="640080" y="1691640"/>
            <a:ext cx="10881360" cy="457200"/>
          </a:xfrm>
          <a:prstGeom prst="rect">
            <a:avLst/>
          </a:prstGeom>
          <a:solidFill>
            <a:srgbClr val="1E2761"/>
          </a:solidFill>
          <a:ln/>
        </p:spPr>
      </p:sp>
      <p:sp>
        <p:nvSpPr>
          <p:cNvPr id="6" name="Text 4"/>
          <p:cNvSpPr txBox="1"/>
          <p:nvPr/>
        </p:nvSpPr>
        <p:spPr>
          <a:xfrm>
            <a:off x="822960" y="1691640"/>
            <a:ext cx="4572000" cy="45720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STANDARD PEMBELAJARAN</a:t>
            </a:r>
            <a:endParaRPr lang="en-US" sz="1250" dirty="0"/>
          </a:p>
        </p:txBody>
      </p:sp>
      <p:sp>
        <p:nvSpPr>
          <p:cNvPr id="7" name="Text 5"/>
          <p:cNvSpPr txBox="1"/>
          <p:nvPr/>
        </p:nvSpPr>
        <p:spPr>
          <a:xfrm>
            <a:off x="6675120" y="1691640"/>
            <a:ext cx="4572000" cy="457200"/>
          </a:xfrm>
          <a:prstGeom prst="rect">
            <a:avLst/>
          </a:prstGeom>
          <a:noFill/>
          <a:ln/>
        </p:spPr>
        <p:txBody>
          <a:bodyPr wrap="square" rtlCol="0" anchor="ctr"/>
          <a:lstStyle/>
          <a:p>
            <a:pPr indent="0" marL="0">
              <a:buNone/>
            </a:pPr>
            <a:r>
              <a:rPr lang="en-US" sz="1250" b="1" dirty="0">
                <a:solidFill>
                  <a:srgbClr val="F2B705"/>
                </a:solidFill>
                <a:latin typeface="Cambria" pitchFamily="34" charset="0"/>
                <a:ea typeface="Cambria" pitchFamily="34" charset="-122"/>
                <a:cs typeface="Cambria" pitchFamily="34" charset="-120"/>
              </a:rPr>
              <a:t>NOTA</a:t>
            </a:r>
            <a:endParaRPr lang="en-US" sz="1250" dirty="0"/>
          </a:p>
        </p:txBody>
      </p:sp>
      <p:sp>
        <p:nvSpPr>
          <p:cNvPr id="8" name="Text 6"/>
          <p:cNvSpPr txBox="1"/>
          <p:nvPr/>
        </p:nvSpPr>
        <p:spPr>
          <a:xfrm>
            <a:off x="822960" y="2377440"/>
            <a:ext cx="5577840" cy="1005840"/>
          </a:xfrm>
          <a:prstGeom prst="rect">
            <a:avLst/>
          </a:prstGeom>
          <a:noFill/>
          <a:ln/>
        </p:spPr>
        <p:txBody>
          <a:bodyPr wrap="square" rtlCol="0" anchor="t"/>
          <a:lstStyle/>
          <a:p>
            <a:pPr indent="0" marL="0">
              <a:lnSpc>
                <a:spcPct val="120000"/>
              </a:lnSpc>
              <a:buNone/>
            </a:pPr>
            <a:r>
              <a:rPr lang="en-US" sz="1150" dirty="0">
                <a:solidFill>
                  <a:srgbClr val="141A45"/>
                </a:solidFill>
                <a:latin typeface="Calibri" pitchFamily="34" charset="0"/>
                <a:ea typeface="Calibri" pitchFamily="34" charset="-122"/>
                <a:cs typeface="Calibri" pitchFamily="34" charset="-120"/>
              </a:rPr>
              <a:t>1.1.1  Mengenal nombor nisbah dan nombor tak nisbah sebagai nombor nyata.</a:t>
            </a:r>
            <a:endParaRPr lang="en-US" sz="1150" dirty="0"/>
          </a:p>
        </p:txBody>
      </p:sp>
      <p:sp>
        <p:nvSpPr>
          <p:cNvPr id="9" name="Text 7"/>
          <p:cNvSpPr txBox="1"/>
          <p:nvPr/>
        </p:nvSpPr>
        <p:spPr>
          <a:xfrm>
            <a:off x="6675120" y="2377440"/>
            <a:ext cx="4663440" cy="1371600"/>
          </a:xfrm>
          <a:prstGeom prst="rect">
            <a:avLst/>
          </a:prstGeom>
          <a:noFill/>
          <a:ln/>
        </p:spPr>
        <p:txBody>
          <a:bodyPr wrap="square" rtlCol="0" anchor="t"/>
          <a:lstStyle/>
          <a:p>
            <a:pPr marL="228600" indent="-228600">
              <a:spcAft>
                <a:spcPts val="600"/>
              </a:spcAft>
              <a:buSzPct val="100000"/>
              <a:buChar char="▪"/>
            </a:pPr>
            <a:r>
              <a:rPr lang="en-US" sz="1050" dirty="0">
                <a:solidFill>
                  <a:srgbClr val="141A45"/>
                </a:solidFill>
                <a:latin typeface="Calibri" pitchFamily="34" charset="0"/>
                <a:ea typeface="Calibri" pitchFamily="34" charset="-122"/>
                <a:cs typeface="Calibri" pitchFamily="34" charset="-120"/>
              </a:rPr>
              <a:t>Libatkan contoh nombor nisbah (bulat, integer, pecahan, perpuluhan berulang/tak berulang).</a:t>
            </a:r>
            <a:endParaRPr lang="en-US" sz="1050" dirty="0"/>
          </a:p>
          <a:p>
            <a:pPr marL="228600" indent="-228600">
              <a:spcAft>
                <a:spcPts val="600"/>
              </a:spcAft>
              <a:buSzPct val="100000"/>
              <a:buChar char="▪"/>
            </a:pPr>
            <a:r>
              <a:rPr lang="en-US" sz="1050" dirty="0">
                <a:solidFill>
                  <a:srgbClr val="141A45"/>
                </a:solidFill>
                <a:latin typeface="Calibri" pitchFamily="34" charset="0"/>
                <a:ea typeface="Calibri" pitchFamily="34" charset="-122"/>
                <a:cs typeface="Calibri" pitchFamily="34" charset="-120"/>
              </a:rPr>
              <a:t>Persembahan visual gambar rajah Venn boleh digunakan untuk hubung kait nombor nisbah &amp; tak nisbah.</a:t>
            </a:r>
            <a:endParaRPr lang="en-US" sz="1050" dirty="0"/>
          </a:p>
        </p:txBody>
      </p:sp>
      <p:sp>
        <p:nvSpPr>
          <p:cNvPr id="10" name="Shape 8"/>
          <p:cNvSpPr/>
          <p:nvPr/>
        </p:nvSpPr>
        <p:spPr>
          <a:xfrm>
            <a:off x="685800" y="3703320"/>
            <a:ext cx="10789920" cy="0"/>
          </a:xfrm>
          <a:prstGeom prst="line">
            <a:avLst/>
          </a:prstGeom>
          <a:noFill/>
          <a:ln w="12700">
            <a:solidFill>
              <a:srgbClr val="E7EAF2"/>
            </a:solidFill>
            <a:prstDash val="solid"/>
          </a:ln>
        </p:spPr>
      </p:sp>
      <p:sp>
        <p:nvSpPr>
          <p:cNvPr id="11" name="Text 9"/>
          <p:cNvSpPr txBox="1"/>
          <p:nvPr/>
        </p:nvSpPr>
        <p:spPr>
          <a:xfrm>
            <a:off x="822960" y="3840480"/>
            <a:ext cx="5577840" cy="640080"/>
          </a:xfrm>
          <a:prstGeom prst="rect">
            <a:avLst/>
          </a:prstGeom>
          <a:noFill/>
          <a:ln/>
        </p:spPr>
        <p:txBody>
          <a:bodyPr wrap="square" rtlCol="0" anchor="t"/>
          <a:lstStyle/>
          <a:p>
            <a:pPr indent="0" marL="0">
              <a:lnSpc>
                <a:spcPct val="120000"/>
              </a:lnSpc>
              <a:buNone/>
            </a:pPr>
            <a:r>
              <a:rPr lang="en-US" sz="1150" dirty="0">
                <a:solidFill>
                  <a:srgbClr val="141A45"/>
                </a:solidFill>
                <a:latin typeface="Calibri" pitchFamily="34" charset="0"/>
                <a:ea typeface="Calibri" pitchFamily="34" charset="-122"/>
                <a:cs typeface="Calibri" pitchFamily="34" charset="-120"/>
              </a:rPr>
              <a:t>1.1.2  Membanding dan menyusun nombor nyata mengikut tertib.</a:t>
            </a:r>
            <a:endParaRPr lang="en-US" sz="1150" dirty="0"/>
          </a:p>
        </p:txBody>
      </p:sp>
      <p:sp>
        <p:nvSpPr>
          <p:cNvPr id="12" name="Text 10"/>
          <p:cNvSpPr txBox="1"/>
          <p:nvPr/>
        </p:nvSpPr>
        <p:spPr>
          <a:xfrm>
            <a:off x="6675120" y="3840480"/>
            <a:ext cx="4663440" cy="1737360"/>
          </a:xfrm>
          <a:prstGeom prst="rect">
            <a:avLst/>
          </a:prstGeom>
          <a:noFill/>
          <a:ln/>
        </p:spPr>
        <p:txBody>
          <a:bodyPr wrap="square" rtlCol="0" anchor="t"/>
          <a:lstStyle/>
          <a:p>
            <a:pPr indent="0" marL="0">
              <a:lnSpc>
                <a:spcPct val="125000"/>
              </a:lnSpc>
              <a:buNone/>
            </a:pPr>
            <a:r>
              <a:rPr lang="en-US" sz="1050" dirty="0">
                <a:solidFill>
                  <a:srgbClr val="141A45"/>
                </a:solidFill>
                <a:latin typeface="Calibri" pitchFamily="34" charset="0"/>
                <a:ea typeface="Calibri" pitchFamily="34" charset="-122"/>
                <a:cs typeface="Calibri" pitchFamily="34" charset="-120"/>
              </a:rPr>
              <a:t>• Gunakan garis nombor bagi mewakili:
</a:t>
            </a:r>
            <a:pPr indent="0" marL="0">
              <a:lnSpc>
                <a:spcPct val="125000"/>
              </a:lnSpc>
              <a:buNone/>
            </a:pPr>
            <a:r>
              <a:rPr lang="en-US" sz="1050" b="1" dirty="0">
                <a:solidFill>
                  <a:srgbClr val="E67E22"/>
                </a:solidFill>
                <a:latin typeface="Calibri" pitchFamily="34" charset="0"/>
                <a:ea typeface="Calibri" pitchFamily="34" charset="-122"/>
                <a:cs typeface="Calibri" pitchFamily="34" charset="-120"/>
              </a:rPr>
              <a:t>     i.  tertib menaik; dan
</a:t>
            </a:r>
            <a:pPr indent="0" marL="0">
              <a:lnSpc>
                <a:spcPct val="125000"/>
              </a:lnSpc>
              <a:buNone/>
            </a:pPr>
            <a:r>
              <a:rPr lang="en-US" sz="1050" b="1" dirty="0">
                <a:solidFill>
                  <a:srgbClr val="E67E22"/>
                </a:solidFill>
                <a:latin typeface="Calibri" pitchFamily="34" charset="0"/>
                <a:ea typeface="Calibri" pitchFamily="34" charset="-122"/>
                <a:cs typeface="Calibri" pitchFamily="34" charset="-120"/>
              </a:rPr>
              <a:t>     ii. tertib menurun.
</a:t>
            </a:r>
            <a:pPr indent="0" marL="0">
              <a:lnSpc>
                <a:spcPct val="125000"/>
              </a:lnSpc>
              <a:buNone/>
            </a:pPr>
            <a:r>
              <a:rPr lang="en-US" sz="1050" dirty="0">
                <a:solidFill>
                  <a:srgbClr val="141A45"/>
                </a:solidFill>
                <a:latin typeface="Calibri" pitchFamily="34" charset="0"/>
                <a:ea typeface="Calibri" pitchFamily="34" charset="-122"/>
                <a:cs typeface="Calibri" pitchFamily="34" charset="-120"/>
              </a:rPr>
              <a:t>• Perkenalkan simbol &lt; dan &gt; untuk membanding nombor.</a:t>
            </a:r>
            <a:endParaRPr lang="en-US" sz="1050" dirty="0"/>
          </a:p>
        </p:txBody>
      </p:sp>
      <p:sp>
        <p:nvSpPr>
          <p:cNvPr id="13" name="Shape 11"/>
          <p:cNvSpPr/>
          <p:nvPr/>
        </p:nvSpPr>
        <p:spPr>
          <a:xfrm>
            <a:off x="6309360" y="5349240"/>
            <a:ext cx="5120640" cy="594360"/>
          </a:xfrm>
          <a:prstGeom prst="roundRect">
            <a:avLst>
              <a:gd name="adj" fmla="val 46154"/>
            </a:avLst>
          </a:prstGeom>
          <a:solidFill>
            <a:srgbClr val="F2B705"/>
          </a:solidFill>
          <a:ln/>
        </p:spPr>
      </p:sp>
      <p:sp>
        <p:nvSpPr>
          <p:cNvPr id="14" name="Text 12"/>
          <p:cNvSpPr txBox="1"/>
          <p:nvPr/>
        </p:nvSpPr>
        <p:spPr>
          <a:xfrm>
            <a:off x="6309360" y="5349240"/>
            <a:ext cx="5120640" cy="5943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 Roman (i, ii) = turutan WAJIB dipatuhi</a:t>
            </a:r>
            <a:endParaRPr lang="en-US" sz="1100" dirty="0"/>
          </a:p>
        </p:txBody>
      </p:sp>
      <p:sp>
        <p:nvSpPr>
          <p:cNvPr id="15" name="Text 13"/>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Petikan sebenar Dokumen Kurikulum, Slaid Sidang 3 m/s 27</a:t>
            </a:r>
            <a:endParaRPr lang="en-US" sz="1000" dirty="0"/>
          </a:p>
        </p:txBody>
      </p:sp>
      <p:sp>
        <p:nvSpPr>
          <p:cNvPr id="16" name="Text 14"/>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Standard Prestasi Umum: 4 Tahap Penguasaan</a:t>
            </a:r>
            <a:endParaRPr lang="en-US" sz="2600" dirty="0"/>
          </a:p>
        </p:txBody>
      </p:sp>
      <p:sp>
        <p:nvSpPr>
          <p:cNvPr id="4" name="Shape 2"/>
          <p:cNvSpPr/>
          <p:nvPr/>
        </p:nvSpPr>
        <p:spPr>
          <a:xfrm>
            <a:off x="548640" y="1600200"/>
            <a:ext cx="11064240" cy="1051560"/>
          </a:xfrm>
          <a:prstGeom prst="roundRect">
            <a:avLst>
              <a:gd name="adj" fmla="val 6957"/>
            </a:avLst>
          </a:prstGeom>
          <a:solidFill>
            <a:srgbClr val="3A4374"/>
          </a:solidFill>
          <a:ln/>
        </p:spPr>
      </p:sp>
      <p:sp>
        <p:nvSpPr>
          <p:cNvPr id="5" name="Text 3"/>
          <p:cNvSpPr txBox="1"/>
          <p:nvPr/>
        </p:nvSpPr>
        <p:spPr>
          <a:xfrm>
            <a:off x="777240" y="1600200"/>
            <a:ext cx="2103120" cy="10515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TP1 (TAHU)</a:t>
            </a:r>
            <a:endParaRPr lang="en-US" sz="1600" dirty="0"/>
          </a:p>
        </p:txBody>
      </p:sp>
      <p:sp>
        <p:nvSpPr>
          <p:cNvPr id="6" name="Text 4"/>
          <p:cNvSpPr txBox="1"/>
          <p:nvPr/>
        </p:nvSpPr>
        <p:spPr>
          <a:xfrm>
            <a:off x="3017520" y="1600200"/>
            <a:ext cx="8412480" cy="105156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Murid boleh menyatakan sesuatu perkara dengan beradab berasaskan pengetahuan dan kemahiran.</a:t>
            </a:r>
            <a:endParaRPr lang="en-US" sz="1200" dirty="0"/>
          </a:p>
        </p:txBody>
      </p:sp>
      <p:sp>
        <p:nvSpPr>
          <p:cNvPr id="7" name="Shape 5"/>
          <p:cNvSpPr/>
          <p:nvPr/>
        </p:nvSpPr>
        <p:spPr>
          <a:xfrm>
            <a:off x="548640" y="2788920"/>
            <a:ext cx="11064240" cy="1051560"/>
          </a:xfrm>
          <a:prstGeom prst="roundRect">
            <a:avLst>
              <a:gd name="adj" fmla="val 6957"/>
            </a:avLst>
          </a:prstGeom>
          <a:solidFill>
            <a:srgbClr val="5C6BAE"/>
          </a:solidFill>
          <a:ln/>
        </p:spPr>
      </p:sp>
      <p:sp>
        <p:nvSpPr>
          <p:cNvPr id="8" name="Text 6"/>
          <p:cNvSpPr txBox="1"/>
          <p:nvPr/>
        </p:nvSpPr>
        <p:spPr>
          <a:xfrm>
            <a:off x="777240" y="2788920"/>
            <a:ext cx="2103120" cy="10515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TP2 (FAHAM)</a:t>
            </a:r>
            <a:endParaRPr lang="en-US" sz="1600" dirty="0"/>
          </a:p>
        </p:txBody>
      </p:sp>
      <p:sp>
        <p:nvSpPr>
          <p:cNvPr id="9" name="Text 7"/>
          <p:cNvSpPr txBox="1"/>
          <p:nvPr/>
        </p:nvSpPr>
        <p:spPr>
          <a:xfrm>
            <a:off x="3017520" y="2788920"/>
            <a:ext cx="8412480" cy="105156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Murid boleh menerangkan (menjelaskan) sesuatu perkara dengan beradab berasaskan pengetahuan dan kemahiran.</a:t>
            </a:r>
            <a:endParaRPr lang="en-US" sz="1200" dirty="0"/>
          </a:p>
        </p:txBody>
      </p:sp>
      <p:sp>
        <p:nvSpPr>
          <p:cNvPr id="10" name="Shape 8"/>
          <p:cNvSpPr/>
          <p:nvPr/>
        </p:nvSpPr>
        <p:spPr>
          <a:xfrm>
            <a:off x="548640" y="3977640"/>
            <a:ext cx="11064240" cy="1051560"/>
          </a:xfrm>
          <a:prstGeom prst="roundRect">
            <a:avLst>
              <a:gd name="adj" fmla="val 6957"/>
            </a:avLst>
          </a:prstGeom>
          <a:solidFill>
            <a:srgbClr val="8593D4"/>
          </a:solidFill>
          <a:ln/>
        </p:spPr>
      </p:sp>
      <p:sp>
        <p:nvSpPr>
          <p:cNvPr id="11" name="Text 9"/>
          <p:cNvSpPr txBox="1"/>
          <p:nvPr/>
        </p:nvSpPr>
        <p:spPr>
          <a:xfrm>
            <a:off x="777240" y="3977640"/>
            <a:ext cx="2103120" cy="10515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TP3 (BUAT)</a:t>
            </a:r>
            <a:endParaRPr lang="en-US" sz="1600" dirty="0"/>
          </a:p>
        </p:txBody>
      </p:sp>
      <p:sp>
        <p:nvSpPr>
          <p:cNvPr id="12" name="Text 10"/>
          <p:cNvSpPr txBox="1"/>
          <p:nvPr/>
        </p:nvSpPr>
        <p:spPr>
          <a:xfrm>
            <a:off x="3017520" y="3977640"/>
            <a:ext cx="8412480" cy="105156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Murid boleh membuat (melaksanakan) sesuatu perkara dengan beradab berasaskan pengetahuan dan kemahiran.</a:t>
            </a:r>
            <a:endParaRPr lang="en-US" sz="1200" dirty="0"/>
          </a:p>
        </p:txBody>
      </p:sp>
      <p:sp>
        <p:nvSpPr>
          <p:cNvPr id="13" name="Shape 11"/>
          <p:cNvSpPr/>
          <p:nvPr/>
        </p:nvSpPr>
        <p:spPr>
          <a:xfrm>
            <a:off x="548640" y="5166360"/>
            <a:ext cx="11064240" cy="1051560"/>
          </a:xfrm>
          <a:prstGeom prst="roundRect">
            <a:avLst>
              <a:gd name="adj" fmla="val 6957"/>
            </a:avLst>
          </a:prstGeom>
          <a:solidFill>
            <a:srgbClr val="F2B705"/>
          </a:solidFill>
          <a:ln/>
        </p:spPr>
      </p:sp>
      <p:sp>
        <p:nvSpPr>
          <p:cNvPr id="14" name="Text 12"/>
          <p:cNvSpPr txBox="1"/>
          <p:nvPr/>
        </p:nvSpPr>
        <p:spPr>
          <a:xfrm>
            <a:off x="777240" y="5166360"/>
            <a:ext cx="2103120" cy="105156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TP4 (AMAL)</a:t>
            </a:r>
            <a:endParaRPr lang="en-US" sz="1600" dirty="0"/>
          </a:p>
        </p:txBody>
      </p:sp>
      <p:sp>
        <p:nvSpPr>
          <p:cNvPr id="15" name="Text 13"/>
          <p:cNvSpPr txBox="1"/>
          <p:nvPr/>
        </p:nvSpPr>
        <p:spPr>
          <a:xfrm>
            <a:off x="3017520" y="5166360"/>
            <a:ext cx="8412480" cy="105156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mengamalkan perlakuan dengan beradab berasaskan pengetahuan dan kemahiran dalam kehidupannya secara kreatif dan inovatif.</a:t>
            </a:r>
            <a:endParaRPr lang="en-US" sz="1200" dirty="0"/>
          </a:p>
        </p:txBody>
      </p:sp>
      <p:sp>
        <p:nvSpPr>
          <p:cNvPr id="16" name="Text 14"/>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dipetik dalam Slaid Sidang 3 m/s 28</a:t>
            </a:r>
            <a:endParaRPr lang="en-US" sz="1000" dirty="0"/>
          </a:p>
        </p:txBody>
      </p:sp>
      <p:sp>
        <p:nvSpPr>
          <p:cNvPr id="17" name="Text 1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APLIKASI DALAM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TP dalam Konteks Matematik: Ungkapan Algebra</a:t>
            </a:r>
            <a:endParaRPr lang="en-US" sz="2700" dirty="0"/>
          </a:p>
        </p:txBody>
      </p:sp>
      <p:sp>
        <p:nvSpPr>
          <p:cNvPr id="4" name="Shape 2"/>
          <p:cNvSpPr/>
          <p:nvPr/>
        </p:nvSpPr>
        <p:spPr>
          <a:xfrm>
            <a:off x="548640" y="1645920"/>
            <a:ext cx="11064240" cy="932688"/>
          </a:xfrm>
          <a:prstGeom prst="roundRect">
            <a:avLst>
              <a:gd name="adj" fmla="val 5882"/>
            </a:avLst>
          </a:prstGeom>
          <a:solidFill>
            <a:srgbClr val="F5F7FC"/>
          </a:solidFill>
          <a:ln w="19050">
            <a:solidFill>
              <a:srgbClr val="3A4374"/>
            </a:solidFill>
            <a:prstDash val="solid"/>
          </a:ln>
        </p:spPr>
      </p:sp>
      <p:sp>
        <p:nvSpPr>
          <p:cNvPr id="5" name="Shape 3"/>
          <p:cNvSpPr/>
          <p:nvPr/>
        </p:nvSpPr>
        <p:spPr>
          <a:xfrm>
            <a:off x="548640" y="1645920"/>
            <a:ext cx="109728" cy="932688"/>
          </a:xfrm>
          <a:prstGeom prst="rect">
            <a:avLst/>
          </a:prstGeom>
          <a:solidFill>
            <a:srgbClr val="3A4374"/>
          </a:solidFill>
          <a:ln/>
        </p:spPr>
      </p:sp>
      <p:sp>
        <p:nvSpPr>
          <p:cNvPr id="6" name="Text 4"/>
          <p:cNvSpPr txBox="1"/>
          <p:nvPr/>
        </p:nvSpPr>
        <p:spPr>
          <a:xfrm>
            <a:off x="822960" y="1645920"/>
            <a:ext cx="1828800" cy="932688"/>
          </a:xfrm>
          <a:prstGeom prst="rect">
            <a:avLst/>
          </a:prstGeom>
          <a:noFill/>
          <a:ln/>
        </p:spPr>
        <p:txBody>
          <a:bodyPr wrap="square" rtlCol="0" anchor="ctr"/>
          <a:lstStyle/>
          <a:p>
            <a:pPr indent="0" marL="0">
              <a:buNone/>
            </a:pPr>
            <a:r>
              <a:rPr lang="en-US" sz="1350" b="1" dirty="0">
                <a:solidFill>
                  <a:srgbClr val="3A4374"/>
                </a:solidFill>
                <a:latin typeface="Cambria" pitchFamily="34" charset="0"/>
                <a:ea typeface="Cambria" pitchFamily="34" charset="-122"/>
                <a:cs typeface="Cambria" pitchFamily="34" charset="-120"/>
              </a:rPr>
              <a:t>TP1 (Tahu)</a:t>
            </a:r>
            <a:endParaRPr lang="en-US" sz="1350" dirty="0"/>
          </a:p>
        </p:txBody>
      </p:sp>
      <p:sp>
        <p:nvSpPr>
          <p:cNvPr id="7" name="Text 5"/>
          <p:cNvSpPr txBox="1"/>
          <p:nvPr/>
        </p:nvSpPr>
        <p:spPr>
          <a:xfrm>
            <a:off x="2743200" y="1645920"/>
            <a:ext cx="8686800" cy="932688"/>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menyatakan perwakilan nilai yang tidak diketahui dengan menggunakan huruf atau simbol yang sesuai dalam ungkapan algebra.</a:t>
            </a:r>
            <a:endParaRPr lang="en-US" sz="1150" dirty="0"/>
          </a:p>
        </p:txBody>
      </p:sp>
      <p:sp>
        <p:nvSpPr>
          <p:cNvPr id="8" name="Shape 6"/>
          <p:cNvSpPr/>
          <p:nvPr/>
        </p:nvSpPr>
        <p:spPr>
          <a:xfrm>
            <a:off x="548640" y="2697480"/>
            <a:ext cx="11064240" cy="932688"/>
          </a:xfrm>
          <a:prstGeom prst="roundRect">
            <a:avLst>
              <a:gd name="adj" fmla="val 5882"/>
            </a:avLst>
          </a:prstGeom>
          <a:solidFill>
            <a:srgbClr val="F5F7FC"/>
          </a:solidFill>
          <a:ln w="19050">
            <a:solidFill>
              <a:srgbClr val="5C6BAE"/>
            </a:solidFill>
            <a:prstDash val="solid"/>
          </a:ln>
        </p:spPr>
      </p:sp>
      <p:sp>
        <p:nvSpPr>
          <p:cNvPr id="9" name="Shape 7"/>
          <p:cNvSpPr/>
          <p:nvPr/>
        </p:nvSpPr>
        <p:spPr>
          <a:xfrm>
            <a:off x="548640" y="2697480"/>
            <a:ext cx="109728" cy="932688"/>
          </a:xfrm>
          <a:prstGeom prst="rect">
            <a:avLst/>
          </a:prstGeom>
          <a:solidFill>
            <a:srgbClr val="5C6BAE"/>
          </a:solidFill>
          <a:ln/>
        </p:spPr>
      </p:sp>
      <p:sp>
        <p:nvSpPr>
          <p:cNvPr id="10" name="Text 8"/>
          <p:cNvSpPr txBox="1"/>
          <p:nvPr/>
        </p:nvSpPr>
        <p:spPr>
          <a:xfrm>
            <a:off x="822960" y="2697480"/>
            <a:ext cx="1828800" cy="932688"/>
          </a:xfrm>
          <a:prstGeom prst="rect">
            <a:avLst/>
          </a:prstGeom>
          <a:noFill/>
          <a:ln/>
        </p:spPr>
        <p:txBody>
          <a:bodyPr wrap="square" rtlCol="0" anchor="ctr"/>
          <a:lstStyle/>
          <a:p>
            <a:pPr indent="0" marL="0">
              <a:buNone/>
            </a:pPr>
            <a:r>
              <a:rPr lang="en-US" sz="1350" b="1" dirty="0">
                <a:solidFill>
                  <a:srgbClr val="5C6BAE"/>
                </a:solidFill>
                <a:latin typeface="Cambria" pitchFamily="34" charset="0"/>
                <a:ea typeface="Cambria" pitchFamily="34" charset="-122"/>
                <a:cs typeface="Cambria" pitchFamily="34" charset="-120"/>
              </a:rPr>
              <a:t>TP2 (Faham)</a:t>
            </a:r>
            <a:endParaRPr lang="en-US" sz="1350" dirty="0"/>
          </a:p>
        </p:txBody>
      </p:sp>
      <p:sp>
        <p:nvSpPr>
          <p:cNvPr id="11" name="Text 9"/>
          <p:cNvSpPr txBox="1"/>
          <p:nvPr/>
        </p:nvSpPr>
        <p:spPr>
          <a:xfrm>
            <a:off x="2743200" y="2697480"/>
            <a:ext cx="8686800" cy="932688"/>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menjelaskan pembentukan ungkapan algebra berdasarkan suatu pernyataan atau situasi, dan sebaliknya.</a:t>
            </a:r>
            <a:endParaRPr lang="en-US" sz="1150" dirty="0"/>
          </a:p>
        </p:txBody>
      </p:sp>
      <p:sp>
        <p:nvSpPr>
          <p:cNvPr id="12" name="Shape 10"/>
          <p:cNvSpPr/>
          <p:nvPr/>
        </p:nvSpPr>
        <p:spPr>
          <a:xfrm>
            <a:off x="548640" y="3749040"/>
            <a:ext cx="11064240" cy="932688"/>
          </a:xfrm>
          <a:prstGeom prst="roundRect">
            <a:avLst>
              <a:gd name="adj" fmla="val 5882"/>
            </a:avLst>
          </a:prstGeom>
          <a:solidFill>
            <a:srgbClr val="F5F7FC"/>
          </a:solidFill>
          <a:ln w="19050">
            <a:solidFill>
              <a:srgbClr val="8593D4"/>
            </a:solidFill>
            <a:prstDash val="solid"/>
          </a:ln>
        </p:spPr>
      </p:sp>
      <p:sp>
        <p:nvSpPr>
          <p:cNvPr id="13" name="Shape 11"/>
          <p:cNvSpPr/>
          <p:nvPr/>
        </p:nvSpPr>
        <p:spPr>
          <a:xfrm>
            <a:off x="548640" y="3749040"/>
            <a:ext cx="109728" cy="932688"/>
          </a:xfrm>
          <a:prstGeom prst="rect">
            <a:avLst/>
          </a:prstGeom>
          <a:solidFill>
            <a:srgbClr val="8593D4"/>
          </a:solidFill>
          <a:ln/>
        </p:spPr>
      </p:sp>
      <p:sp>
        <p:nvSpPr>
          <p:cNvPr id="14" name="Text 12"/>
          <p:cNvSpPr txBox="1"/>
          <p:nvPr/>
        </p:nvSpPr>
        <p:spPr>
          <a:xfrm>
            <a:off x="822960" y="3749040"/>
            <a:ext cx="1828800" cy="932688"/>
          </a:xfrm>
          <a:prstGeom prst="rect">
            <a:avLst/>
          </a:prstGeom>
          <a:noFill/>
          <a:ln/>
        </p:spPr>
        <p:txBody>
          <a:bodyPr wrap="square" rtlCol="0" anchor="ctr"/>
          <a:lstStyle/>
          <a:p>
            <a:pPr indent="0" marL="0">
              <a:buNone/>
            </a:pPr>
            <a:r>
              <a:rPr lang="en-US" sz="1350" b="1" dirty="0">
                <a:solidFill>
                  <a:srgbClr val="8593D4"/>
                </a:solidFill>
                <a:latin typeface="Cambria" pitchFamily="34" charset="0"/>
                <a:ea typeface="Cambria" pitchFamily="34" charset="-122"/>
                <a:cs typeface="Cambria" pitchFamily="34" charset="-120"/>
              </a:rPr>
              <a:t>TP3 (Buat)</a:t>
            </a:r>
            <a:endParaRPr lang="en-US" sz="1350" dirty="0"/>
          </a:p>
        </p:txBody>
      </p:sp>
      <p:sp>
        <p:nvSpPr>
          <p:cNvPr id="15" name="Text 13"/>
          <p:cNvSpPr txBox="1"/>
          <p:nvPr/>
        </p:nvSpPr>
        <p:spPr>
          <a:xfrm>
            <a:off x="2743200" y="3749040"/>
            <a:ext cx="8686800" cy="932688"/>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menyelesaikan operasi asas aritmetik berkaitan ungkapan algebra.</a:t>
            </a:r>
            <a:endParaRPr lang="en-US" sz="1150" dirty="0"/>
          </a:p>
        </p:txBody>
      </p:sp>
      <p:sp>
        <p:nvSpPr>
          <p:cNvPr id="16" name="Shape 14"/>
          <p:cNvSpPr/>
          <p:nvPr/>
        </p:nvSpPr>
        <p:spPr>
          <a:xfrm>
            <a:off x="548640" y="4800600"/>
            <a:ext cx="11064240" cy="932688"/>
          </a:xfrm>
          <a:prstGeom prst="roundRect">
            <a:avLst>
              <a:gd name="adj" fmla="val 5882"/>
            </a:avLst>
          </a:prstGeom>
          <a:solidFill>
            <a:srgbClr val="F5F7FC"/>
          </a:solidFill>
          <a:ln w="19050">
            <a:solidFill>
              <a:srgbClr val="F2B705"/>
            </a:solidFill>
            <a:prstDash val="solid"/>
          </a:ln>
        </p:spPr>
      </p:sp>
      <p:sp>
        <p:nvSpPr>
          <p:cNvPr id="17" name="Shape 15"/>
          <p:cNvSpPr/>
          <p:nvPr/>
        </p:nvSpPr>
        <p:spPr>
          <a:xfrm>
            <a:off x="548640" y="4800600"/>
            <a:ext cx="109728" cy="932688"/>
          </a:xfrm>
          <a:prstGeom prst="rect">
            <a:avLst/>
          </a:prstGeom>
          <a:solidFill>
            <a:srgbClr val="F2B705"/>
          </a:solidFill>
          <a:ln/>
        </p:spPr>
      </p:sp>
      <p:sp>
        <p:nvSpPr>
          <p:cNvPr id="18" name="Text 16"/>
          <p:cNvSpPr txBox="1"/>
          <p:nvPr/>
        </p:nvSpPr>
        <p:spPr>
          <a:xfrm>
            <a:off x="822960" y="4800600"/>
            <a:ext cx="1828800" cy="932688"/>
          </a:xfrm>
          <a:prstGeom prst="rect">
            <a:avLst/>
          </a:prstGeom>
          <a:noFill/>
          <a:ln/>
        </p:spPr>
        <p:txBody>
          <a:bodyPr wrap="square" rtlCol="0" anchor="ctr"/>
          <a:lstStyle/>
          <a:p>
            <a:pPr indent="0" marL="0">
              <a:buNone/>
            </a:pPr>
            <a:r>
              <a:rPr lang="en-US" sz="1350" b="1" dirty="0">
                <a:solidFill>
                  <a:srgbClr val="B08600"/>
                </a:solidFill>
                <a:latin typeface="Cambria" pitchFamily="34" charset="0"/>
                <a:ea typeface="Cambria" pitchFamily="34" charset="-122"/>
                <a:cs typeface="Cambria" pitchFamily="34" charset="-120"/>
              </a:rPr>
              <a:t>TP4 (Amal)</a:t>
            </a:r>
            <a:endParaRPr lang="en-US" sz="1350" dirty="0"/>
          </a:p>
        </p:txBody>
      </p:sp>
      <p:sp>
        <p:nvSpPr>
          <p:cNvPr id="19" name="Text 17"/>
          <p:cNvSpPr txBox="1"/>
          <p:nvPr/>
        </p:nvSpPr>
        <p:spPr>
          <a:xfrm>
            <a:off x="2743200" y="4800600"/>
            <a:ext cx="8686800" cy="932688"/>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menyelesaikan masalah berkaitan ungkapan algebra dalam kehidupan harian.</a:t>
            </a:r>
            <a:endParaRPr lang="en-US" sz="1150" dirty="0"/>
          </a:p>
        </p:txBody>
      </p:sp>
      <p:sp>
        <p:nvSpPr>
          <p:cNvPr id="20" name="Text 18"/>
          <p:cNvSpPr txBox="1"/>
          <p:nvPr/>
        </p:nvSpPr>
        <p:spPr>
          <a:xfrm>
            <a:off x="548640" y="5715000"/>
            <a:ext cx="11064240" cy="548640"/>
          </a:xfrm>
          <a:prstGeom prst="rect">
            <a:avLst/>
          </a:prstGeom>
          <a:noFill/>
          <a:ln/>
        </p:spPr>
        <p:txBody>
          <a:bodyPr wrap="square" rtlCol="0" anchor="ctr"/>
          <a:lstStyle/>
          <a:p>
            <a:pPr algn="ctr" indent="0" marL="0">
              <a:lnSpc>
                <a:spcPct val="120000"/>
              </a:lnSpc>
              <a:buNone/>
            </a:pPr>
            <a:r>
              <a:rPr lang="en-US" sz="1150" i="1" dirty="0">
                <a:solidFill>
                  <a:srgbClr val="5B6472"/>
                </a:solidFill>
                <a:latin typeface="Calibri" pitchFamily="34" charset="0"/>
                <a:ea typeface="Calibri" pitchFamily="34" charset="-122"/>
                <a:cs typeface="Calibri" pitchFamily="34" charset="-120"/>
              </a:rPr>
              <a:t>Peralihan pentaksiran: daripada hafalan konsep &amp; kemahiran prosedural kepada penguasaan konsep dan penyelesaian masalah secara kontekstual dan autentik.</a:t>
            </a:r>
            <a:endParaRPr lang="en-US" sz="1150" dirty="0"/>
          </a:p>
        </p:txBody>
      </p:sp>
      <p:sp>
        <p:nvSpPr>
          <p:cNvPr id="21" name="Text 19"/>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29–30</a:t>
            </a:r>
            <a:endParaRPr lang="en-US" sz="1000" dirty="0"/>
          </a:p>
        </p:txBody>
      </p:sp>
      <p:sp>
        <p:nvSpPr>
          <p:cNvPr id="22"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KONSEP UTAMA</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9 Dimensi Pedagogi Matematik KPM</a:t>
            </a:r>
            <a:endParaRPr lang="en-US" sz="2700" dirty="0"/>
          </a:p>
        </p:txBody>
      </p:sp>
      <p:sp>
        <p:nvSpPr>
          <p:cNvPr id="4" name="Shape 2"/>
          <p:cNvSpPr/>
          <p:nvPr/>
        </p:nvSpPr>
        <p:spPr>
          <a:xfrm>
            <a:off x="548640" y="1691640"/>
            <a:ext cx="3520440" cy="4023360"/>
          </a:xfrm>
          <a:prstGeom prst="roundRect">
            <a:avLst>
              <a:gd name="adj" fmla="val 2078"/>
            </a:avLst>
          </a:prstGeom>
          <a:solidFill>
            <a:srgbClr val="2E86AB"/>
          </a:solidFill>
          <a:ln/>
        </p:spPr>
      </p:sp>
      <p:sp>
        <p:nvSpPr>
          <p:cNvPr id="5" name="Text 3"/>
          <p:cNvSpPr txBox="1"/>
          <p:nvPr/>
        </p:nvSpPr>
        <p:spPr>
          <a:xfrm>
            <a:off x="685800" y="1920240"/>
            <a:ext cx="324612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Penyelesaian &amp; Analitikal</a:t>
            </a:r>
            <a:endParaRPr lang="en-US" sz="1400" dirty="0"/>
          </a:p>
        </p:txBody>
      </p:sp>
      <p:sp>
        <p:nvSpPr>
          <p:cNvPr id="6" name="Shape 4"/>
          <p:cNvSpPr/>
          <p:nvPr/>
        </p:nvSpPr>
        <p:spPr>
          <a:xfrm>
            <a:off x="777240" y="2697480"/>
            <a:ext cx="3063240" cy="777240"/>
          </a:xfrm>
          <a:prstGeom prst="roundRect">
            <a:avLst>
              <a:gd name="adj" fmla="val 7059"/>
            </a:avLst>
          </a:prstGeom>
          <a:solidFill>
            <a:srgbClr val="FFFFFF"/>
          </a:solidFill>
          <a:ln/>
        </p:spPr>
      </p:sp>
      <p:sp>
        <p:nvSpPr>
          <p:cNvPr id="7" name="Text 5"/>
          <p:cNvSpPr txBox="1"/>
          <p:nvPr/>
        </p:nvSpPr>
        <p:spPr>
          <a:xfrm>
            <a:off x="868680" y="2697480"/>
            <a:ext cx="2880360" cy="777240"/>
          </a:xfrm>
          <a:prstGeom prst="rect">
            <a:avLst/>
          </a:prstGeom>
          <a:noFill/>
          <a:ln/>
        </p:spPr>
        <p:txBody>
          <a:bodyPr wrap="square" rtlCol="0" anchor="ctr"/>
          <a:lstStyle/>
          <a:p>
            <a:pPr algn="ctr" indent="0" marL="0">
              <a:lnSpc>
                <a:spcPct val="110000"/>
              </a:lnSpc>
              <a:buNone/>
            </a:pPr>
            <a:r>
              <a:rPr lang="en-US" sz="1150" b="1" dirty="0">
                <a:solidFill>
                  <a:srgbClr val="2E86AB"/>
                </a:solidFill>
                <a:latin typeface="Calibri" pitchFamily="34" charset="0"/>
                <a:ea typeface="Calibri" pitchFamily="34" charset="-122"/>
                <a:cs typeface="Calibri" pitchFamily="34" charset="-120"/>
              </a:rPr>
              <a:t>Pendekatan STEM</a:t>
            </a:r>
            <a:endParaRPr lang="en-US" sz="1150" dirty="0"/>
          </a:p>
        </p:txBody>
      </p:sp>
      <p:sp>
        <p:nvSpPr>
          <p:cNvPr id="8" name="Shape 6"/>
          <p:cNvSpPr/>
          <p:nvPr/>
        </p:nvSpPr>
        <p:spPr>
          <a:xfrm>
            <a:off x="777240" y="3657600"/>
            <a:ext cx="3063240" cy="777240"/>
          </a:xfrm>
          <a:prstGeom prst="roundRect">
            <a:avLst>
              <a:gd name="adj" fmla="val 7059"/>
            </a:avLst>
          </a:prstGeom>
          <a:solidFill>
            <a:srgbClr val="FFFFFF"/>
          </a:solidFill>
          <a:ln/>
        </p:spPr>
      </p:sp>
      <p:sp>
        <p:nvSpPr>
          <p:cNvPr id="9" name="Text 7"/>
          <p:cNvSpPr txBox="1"/>
          <p:nvPr/>
        </p:nvSpPr>
        <p:spPr>
          <a:xfrm>
            <a:off x="868680" y="3657600"/>
            <a:ext cx="2880360" cy="777240"/>
          </a:xfrm>
          <a:prstGeom prst="rect">
            <a:avLst/>
          </a:prstGeom>
          <a:noFill/>
          <a:ln/>
        </p:spPr>
        <p:txBody>
          <a:bodyPr wrap="square" rtlCol="0" anchor="ctr"/>
          <a:lstStyle/>
          <a:p>
            <a:pPr algn="ctr" indent="0" marL="0">
              <a:lnSpc>
                <a:spcPct val="110000"/>
              </a:lnSpc>
              <a:buNone/>
            </a:pPr>
            <a:r>
              <a:rPr lang="en-US" sz="1150" b="1" dirty="0">
                <a:solidFill>
                  <a:srgbClr val="2E86AB"/>
                </a:solidFill>
                <a:latin typeface="Calibri" pitchFamily="34" charset="0"/>
                <a:ea typeface="Calibri" pitchFamily="34" charset="-122"/>
                <a:cs typeface="Calibri" pitchFamily="34" charset="-120"/>
              </a:rPr>
              <a:t>Pemodelan Matematik</a:t>
            </a:r>
            <a:endParaRPr lang="en-US" sz="1150" dirty="0"/>
          </a:p>
        </p:txBody>
      </p:sp>
      <p:sp>
        <p:nvSpPr>
          <p:cNvPr id="10" name="Shape 8"/>
          <p:cNvSpPr/>
          <p:nvPr/>
        </p:nvSpPr>
        <p:spPr>
          <a:xfrm>
            <a:off x="777240" y="4617720"/>
            <a:ext cx="3063240" cy="777240"/>
          </a:xfrm>
          <a:prstGeom prst="roundRect">
            <a:avLst>
              <a:gd name="adj" fmla="val 7059"/>
            </a:avLst>
          </a:prstGeom>
          <a:solidFill>
            <a:srgbClr val="FFFFFF"/>
          </a:solidFill>
          <a:ln/>
        </p:spPr>
      </p:sp>
      <p:sp>
        <p:nvSpPr>
          <p:cNvPr id="11" name="Text 9"/>
          <p:cNvSpPr txBox="1"/>
          <p:nvPr/>
        </p:nvSpPr>
        <p:spPr>
          <a:xfrm>
            <a:off x="868680" y="4617720"/>
            <a:ext cx="2880360" cy="777240"/>
          </a:xfrm>
          <a:prstGeom prst="rect">
            <a:avLst/>
          </a:prstGeom>
          <a:noFill/>
          <a:ln/>
        </p:spPr>
        <p:txBody>
          <a:bodyPr wrap="square" rtlCol="0" anchor="ctr"/>
          <a:lstStyle/>
          <a:p>
            <a:pPr algn="ctr" indent="0" marL="0">
              <a:lnSpc>
                <a:spcPct val="110000"/>
              </a:lnSpc>
              <a:buNone/>
            </a:pPr>
            <a:r>
              <a:rPr lang="en-US" sz="1150" b="1" dirty="0">
                <a:solidFill>
                  <a:srgbClr val="2E86AB"/>
                </a:solidFill>
                <a:latin typeface="Calibri" pitchFamily="34" charset="0"/>
                <a:ea typeface="Calibri" pitchFamily="34" charset="-122"/>
                <a:cs typeface="Calibri" pitchFamily="34" charset="-120"/>
              </a:rPr>
              <a:t>Pendekatan Heuristik</a:t>
            </a:r>
            <a:endParaRPr lang="en-US" sz="1150" dirty="0"/>
          </a:p>
        </p:txBody>
      </p:sp>
      <p:sp>
        <p:nvSpPr>
          <p:cNvPr id="12" name="Shape 10"/>
          <p:cNvSpPr/>
          <p:nvPr/>
        </p:nvSpPr>
        <p:spPr>
          <a:xfrm>
            <a:off x="4343400" y="1691640"/>
            <a:ext cx="3520440" cy="4023360"/>
          </a:xfrm>
          <a:prstGeom prst="roundRect">
            <a:avLst>
              <a:gd name="adj" fmla="val 2078"/>
            </a:avLst>
          </a:prstGeom>
          <a:solidFill>
            <a:srgbClr val="E67E22"/>
          </a:solidFill>
          <a:ln/>
        </p:spPr>
      </p:sp>
      <p:sp>
        <p:nvSpPr>
          <p:cNvPr id="13" name="Text 11"/>
          <p:cNvSpPr txBox="1"/>
          <p:nvPr/>
        </p:nvSpPr>
        <p:spPr>
          <a:xfrm>
            <a:off x="4480560" y="1920240"/>
            <a:ext cx="324612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Interaktif &amp; Penglibatan</a:t>
            </a:r>
            <a:endParaRPr lang="en-US" sz="1400" dirty="0"/>
          </a:p>
        </p:txBody>
      </p:sp>
      <p:sp>
        <p:nvSpPr>
          <p:cNvPr id="14" name="Shape 12"/>
          <p:cNvSpPr/>
          <p:nvPr/>
        </p:nvSpPr>
        <p:spPr>
          <a:xfrm>
            <a:off x="4572000" y="2697480"/>
            <a:ext cx="3063240" cy="777240"/>
          </a:xfrm>
          <a:prstGeom prst="roundRect">
            <a:avLst>
              <a:gd name="adj" fmla="val 7059"/>
            </a:avLst>
          </a:prstGeom>
          <a:solidFill>
            <a:srgbClr val="FFFFFF"/>
          </a:solidFill>
          <a:ln/>
        </p:spPr>
      </p:sp>
      <p:sp>
        <p:nvSpPr>
          <p:cNvPr id="15" name="Text 13"/>
          <p:cNvSpPr txBox="1"/>
          <p:nvPr/>
        </p:nvSpPr>
        <p:spPr>
          <a:xfrm>
            <a:off x="4663440" y="2697480"/>
            <a:ext cx="2880360" cy="777240"/>
          </a:xfrm>
          <a:prstGeom prst="rect">
            <a:avLst/>
          </a:prstGeom>
          <a:noFill/>
          <a:ln/>
        </p:spPr>
        <p:txBody>
          <a:bodyPr wrap="square" rtlCol="0" anchor="ctr"/>
          <a:lstStyle/>
          <a:p>
            <a:pPr algn="ctr" indent="0" marL="0">
              <a:lnSpc>
                <a:spcPct val="110000"/>
              </a:lnSpc>
              <a:buNone/>
            </a:pPr>
            <a:r>
              <a:rPr lang="en-US" sz="1150" b="1" dirty="0">
                <a:solidFill>
                  <a:srgbClr val="E67E22"/>
                </a:solidFill>
                <a:latin typeface="Calibri" pitchFamily="34" charset="0"/>
                <a:ea typeface="Calibri" pitchFamily="34" charset="-122"/>
                <a:cs typeface="Calibri" pitchFamily="34" charset="-120"/>
              </a:rPr>
              <a:t>Konstruktivisme</a:t>
            </a:r>
            <a:endParaRPr lang="en-US" sz="1150" dirty="0"/>
          </a:p>
        </p:txBody>
      </p:sp>
      <p:sp>
        <p:nvSpPr>
          <p:cNvPr id="16" name="Shape 14"/>
          <p:cNvSpPr/>
          <p:nvPr/>
        </p:nvSpPr>
        <p:spPr>
          <a:xfrm>
            <a:off x="4572000" y="3657600"/>
            <a:ext cx="3063240" cy="777240"/>
          </a:xfrm>
          <a:prstGeom prst="roundRect">
            <a:avLst>
              <a:gd name="adj" fmla="val 7059"/>
            </a:avLst>
          </a:prstGeom>
          <a:solidFill>
            <a:srgbClr val="FFFFFF"/>
          </a:solidFill>
          <a:ln/>
        </p:spPr>
      </p:sp>
      <p:sp>
        <p:nvSpPr>
          <p:cNvPr id="17" name="Text 15"/>
          <p:cNvSpPr txBox="1"/>
          <p:nvPr/>
        </p:nvSpPr>
        <p:spPr>
          <a:xfrm>
            <a:off x="4663440" y="3657600"/>
            <a:ext cx="2880360" cy="777240"/>
          </a:xfrm>
          <a:prstGeom prst="rect">
            <a:avLst/>
          </a:prstGeom>
          <a:noFill/>
          <a:ln/>
        </p:spPr>
        <p:txBody>
          <a:bodyPr wrap="square" rtlCol="0" anchor="ctr"/>
          <a:lstStyle/>
          <a:p>
            <a:pPr algn="ctr" indent="0" marL="0">
              <a:lnSpc>
                <a:spcPct val="110000"/>
              </a:lnSpc>
              <a:buNone/>
            </a:pPr>
            <a:r>
              <a:rPr lang="en-US" sz="1150" b="1" dirty="0">
                <a:solidFill>
                  <a:srgbClr val="E67E22"/>
                </a:solidFill>
                <a:latin typeface="Calibri" pitchFamily="34" charset="0"/>
                <a:ea typeface="Calibri" pitchFamily="34" charset="-122"/>
                <a:cs typeface="Calibri" pitchFamily="34" charset="-120"/>
              </a:rPr>
              <a:t>Gamifikasi</a:t>
            </a:r>
            <a:endParaRPr lang="en-US" sz="1150" dirty="0"/>
          </a:p>
        </p:txBody>
      </p:sp>
      <p:sp>
        <p:nvSpPr>
          <p:cNvPr id="18" name="Shape 16"/>
          <p:cNvSpPr/>
          <p:nvPr/>
        </p:nvSpPr>
        <p:spPr>
          <a:xfrm>
            <a:off x="4572000" y="4617720"/>
            <a:ext cx="3063240" cy="777240"/>
          </a:xfrm>
          <a:prstGeom prst="roundRect">
            <a:avLst>
              <a:gd name="adj" fmla="val 7059"/>
            </a:avLst>
          </a:prstGeom>
          <a:solidFill>
            <a:srgbClr val="FFFFFF"/>
          </a:solidFill>
          <a:ln/>
        </p:spPr>
      </p:sp>
      <p:sp>
        <p:nvSpPr>
          <p:cNvPr id="19" name="Text 17"/>
          <p:cNvSpPr txBox="1"/>
          <p:nvPr/>
        </p:nvSpPr>
        <p:spPr>
          <a:xfrm>
            <a:off x="4663440" y="4617720"/>
            <a:ext cx="2880360" cy="777240"/>
          </a:xfrm>
          <a:prstGeom prst="rect">
            <a:avLst/>
          </a:prstGeom>
          <a:noFill/>
          <a:ln/>
        </p:spPr>
        <p:txBody>
          <a:bodyPr wrap="square" rtlCol="0" anchor="ctr"/>
          <a:lstStyle/>
          <a:p>
            <a:pPr algn="ctr" indent="0" marL="0">
              <a:lnSpc>
                <a:spcPct val="110000"/>
              </a:lnSpc>
              <a:buNone/>
            </a:pPr>
            <a:r>
              <a:rPr lang="en-US" sz="1150" b="1" dirty="0">
                <a:solidFill>
                  <a:srgbClr val="E67E22"/>
                </a:solidFill>
                <a:latin typeface="Calibri" pitchFamily="34" charset="0"/>
                <a:ea typeface="Calibri" pitchFamily="34" charset="-122"/>
                <a:cs typeface="Calibri" pitchFamily="34" charset="-120"/>
              </a:rPr>
              <a:t>Pembelajaran Koperatif</a:t>
            </a:r>
            <a:endParaRPr lang="en-US" sz="1150" dirty="0"/>
          </a:p>
        </p:txBody>
      </p:sp>
      <p:sp>
        <p:nvSpPr>
          <p:cNvPr id="20" name="Shape 18"/>
          <p:cNvSpPr/>
          <p:nvPr/>
        </p:nvSpPr>
        <p:spPr>
          <a:xfrm>
            <a:off x="8138160" y="1691640"/>
            <a:ext cx="3520440" cy="4023360"/>
          </a:xfrm>
          <a:prstGeom prst="roundRect">
            <a:avLst>
              <a:gd name="adj" fmla="val 2078"/>
            </a:avLst>
          </a:prstGeom>
          <a:solidFill>
            <a:srgbClr val="8E44AD"/>
          </a:solidFill>
          <a:ln/>
        </p:spPr>
      </p:sp>
      <p:sp>
        <p:nvSpPr>
          <p:cNvPr id="21" name="Text 19"/>
          <p:cNvSpPr txBox="1"/>
          <p:nvPr/>
        </p:nvSpPr>
        <p:spPr>
          <a:xfrm>
            <a:off x="8275320" y="1920240"/>
            <a:ext cx="324612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Struktur &amp; Persekitaran</a:t>
            </a:r>
            <a:endParaRPr lang="en-US" sz="1400" dirty="0"/>
          </a:p>
        </p:txBody>
      </p:sp>
      <p:sp>
        <p:nvSpPr>
          <p:cNvPr id="22" name="Shape 20"/>
          <p:cNvSpPr/>
          <p:nvPr/>
        </p:nvSpPr>
        <p:spPr>
          <a:xfrm>
            <a:off x="8366760" y="2697480"/>
            <a:ext cx="3063240" cy="777240"/>
          </a:xfrm>
          <a:prstGeom prst="roundRect">
            <a:avLst>
              <a:gd name="adj" fmla="val 7059"/>
            </a:avLst>
          </a:prstGeom>
          <a:solidFill>
            <a:srgbClr val="FFFFFF"/>
          </a:solidFill>
          <a:ln/>
        </p:spPr>
      </p:sp>
      <p:sp>
        <p:nvSpPr>
          <p:cNvPr id="23" name="Text 21"/>
          <p:cNvSpPr txBox="1"/>
          <p:nvPr/>
        </p:nvSpPr>
        <p:spPr>
          <a:xfrm>
            <a:off x="8458200" y="2697480"/>
            <a:ext cx="2880360" cy="777240"/>
          </a:xfrm>
          <a:prstGeom prst="rect">
            <a:avLst/>
          </a:prstGeom>
          <a:noFill/>
          <a:ln/>
        </p:spPr>
        <p:txBody>
          <a:bodyPr wrap="square" rtlCol="0" anchor="ctr"/>
          <a:lstStyle/>
          <a:p>
            <a:pPr algn="ctr" indent="0" marL="0">
              <a:lnSpc>
                <a:spcPct val="110000"/>
              </a:lnSpc>
              <a:buNone/>
            </a:pPr>
            <a:r>
              <a:rPr lang="en-US" sz="1150" b="1" dirty="0">
                <a:solidFill>
                  <a:srgbClr val="8E44AD"/>
                </a:solidFill>
                <a:latin typeface="Calibri" pitchFamily="34" charset="0"/>
                <a:ea typeface="Calibri" pitchFamily="34" charset="-122"/>
                <a:cs typeface="Calibri" pitchFamily="34" charset="-120"/>
              </a:rPr>
              <a:t>Pendekatan Modular</a:t>
            </a:r>
            <a:endParaRPr lang="en-US" sz="1150" dirty="0"/>
          </a:p>
        </p:txBody>
      </p:sp>
      <p:sp>
        <p:nvSpPr>
          <p:cNvPr id="24" name="Shape 22"/>
          <p:cNvSpPr/>
          <p:nvPr/>
        </p:nvSpPr>
        <p:spPr>
          <a:xfrm>
            <a:off x="8366760" y="3657600"/>
            <a:ext cx="3063240" cy="777240"/>
          </a:xfrm>
          <a:prstGeom prst="roundRect">
            <a:avLst>
              <a:gd name="adj" fmla="val 7059"/>
            </a:avLst>
          </a:prstGeom>
          <a:solidFill>
            <a:srgbClr val="FFFFFF"/>
          </a:solidFill>
          <a:ln/>
        </p:spPr>
      </p:sp>
      <p:sp>
        <p:nvSpPr>
          <p:cNvPr id="25" name="Text 23"/>
          <p:cNvSpPr txBox="1"/>
          <p:nvPr/>
        </p:nvSpPr>
        <p:spPr>
          <a:xfrm>
            <a:off x="8458200" y="3657600"/>
            <a:ext cx="2880360" cy="777240"/>
          </a:xfrm>
          <a:prstGeom prst="rect">
            <a:avLst/>
          </a:prstGeom>
          <a:noFill/>
          <a:ln/>
        </p:spPr>
        <p:txBody>
          <a:bodyPr wrap="square" rtlCol="0" anchor="ctr"/>
          <a:lstStyle/>
          <a:p>
            <a:pPr algn="ctr" indent="0" marL="0">
              <a:lnSpc>
                <a:spcPct val="110000"/>
              </a:lnSpc>
              <a:buNone/>
            </a:pPr>
            <a:r>
              <a:rPr lang="en-US" sz="1150" b="1" dirty="0">
                <a:solidFill>
                  <a:srgbClr val="8E44AD"/>
                </a:solidFill>
                <a:latin typeface="Calibri" pitchFamily="34" charset="0"/>
                <a:ea typeface="Calibri" pitchFamily="34" charset="-122"/>
                <a:cs typeface="Calibri" pitchFamily="34" charset="-120"/>
              </a:rPr>
              <a:t>Pengiraan Secara Mental</a:t>
            </a:r>
            <a:endParaRPr lang="en-US" sz="1150" dirty="0"/>
          </a:p>
        </p:txBody>
      </p:sp>
      <p:sp>
        <p:nvSpPr>
          <p:cNvPr id="26" name="Shape 24"/>
          <p:cNvSpPr/>
          <p:nvPr/>
        </p:nvSpPr>
        <p:spPr>
          <a:xfrm>
            <a:off x="8366760" y="4617720"/>
            <a:ext cx="3063240" cy="777240"/>
          </a:xfrm>
          <a:prstGeom prst="roundRect">
            <a:avLst>
              <a:gd name="adj" fmla="val 7059"/>
            </a:avLst>
          </a:prstGeom>
          <a:solidFill>
            <a:srgbClr val="FFFFFF"/>
          </a:solidFill>
          <a:ln/>
        </p:spPr>
      </p:sp>
      <p:sp>
        <p:nvSpPr>
          <p:cNvPr id="27" name="Text 25"/>
          <p:cNvSpPr txBox="1"/>
          <p:nvPr/>
        </p:nvSpPr>
        <p:spPr>
          <a:xfrm>
            <a:off x="8458200" y="4617720"/>
            <a:ext cx="2880360" cy="777240"/>
          </a:xfrm>
          <a:prstGeom prst="rect">
            <a:avLst/>
          </a:prstGeom>
          <a:noFill/>
          <a:ln/>
        </p:spPr>
        <p:txBody>
          <a:bodyPr wrap="square" rtlCol="0" anchor="ctr"/>
          <a:lstStyle/>
          <a:p>
            <a:pPr algn="ctr" indent="0" marL="0">
              <a:lnSpc>
                <a:spcPct val="110000"/>
              </a:lnSpc>
              <a:buNone/>
            </a:pPr>
            <a:r>
              <a:rPr lang="en-US" sz="1150" b="1" dirty="0">
                <a:solidFill>
                  <a:srgbClr val="8E44AD"/>
                </a:solidFill>
                <a:latin typeface="Calibri" pitchFamily="34" charset="0"/>
                <a:ea typeface="Calibri" pitchFamily="34" charset="-122"/>
                <a:cs typeface="Calibri" pitchFamily="34" charset="-120"/>
              </a:rPr>
              <a:t>Luar Bilik Darjah</a:t>
            </a:r>
            <a:endParaRPr lang="en-US" sz="1150" dirty="0"/>
          </a:p>
        </p:txBody>
      </p:sp>
      <p:sp>
        <p:nvSpPr>
          <p:cNvPr id="28" name="Text 26"/>
          <p:cNvSpPr txBox="1"/>
          <p:nvPr/>
        </p:nvSpPr>
        <p:spPr>
          <a:xfrm>
            <a:off x="548640" y="5897880"/>
            <a:ext cx="11064240" cy="365760"/>
          </a:xfrm>
          <a:prstGeom prst="rect">
            <a:avLst/>
          </a:prstGeom>
          <a:noFill/>
          <a:ln/>
        </p:spPr>
        <p:txBody>
          <a:bodyPr wrap="square" rtlCol="0" anchor="ctr"/>
          <a:lstStyle/>
          <a:p>
            <a:pPr algn="ctr" indent="0" marL="0">
              <a:buNone/>
            </a:pPr>
            <a:r>
              <a:rPr lang="en-US" sz="1100" i="1" dirty="0">
                <a:solidFill>
                  <a:srgbClr val="5B6472"/>
                </a:solidFill>
                <a:latin typeface="Calibri" pitchFamily="34" charset="0"/>
                <a:ea typeface="Calibri" pitchFamily="34" charset="-122"/>
                <a:cs typeface="Calibri" pitchFamily="34" charset="-120"/>
              </a:rPr>
              <a:t>Mengadaptasi elemen reka bentuk dan strategi berfikir untuk membina kemahiran berfikir kritis, kolaborasi, dan penyelesaian masalah dunia sebenar.</a:t>
            </a:r>
            <a:endParaRPr lang="en-US" sz="1100" dirty="0"/>
          </a:p>
        </p:txBody>
      </p:sp>
      <p:sp>
        <p:nvSpPr>
          <p:cNvPr id="29" name="Text 27"/>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32</a:t>
            </a:r>
            <a:endParaRPr lang="en-US" sz="1000" dirty="0"/>
          </a:p>
        </p:txBody>
      </p:sp>
      <p:sp>
        <p:nvSpPr>
          <p:cNvPr id="30" name="Text 2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APLIKASI DALAM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Sorotan Pedagogi — Konteks Tingkatan 1</a:t>
            </a:r>
            <a:endParaRPr lang="en-US" sz="2700" dirty="0"/>
          </a:p>
        </p:txBody>
      </p:sp>
      <p:sp>
        <p:nvSpPr>
          <p:cNvPr id="4" name="Shape 2"/>
          <p:cNvSpPr/>
          <p:nvPr/>
        </p:nvSpPr>
        <p:spPr>
          <a:xfrm>
            <a:off x="548640" y="1691640"/>
            <a:ext cx="3520440" cy="4206240"/>
          </a:xfrm>
          <a:prstGeom prst="roundRect">
            <a:avLst>
              <a:gd name="adj" fmla="val 2078"/>
            </a:avLst>
          </a:prstGeom>
          <a:solidFill>
            <a:srgbClr val="F5F7FC"/>
          </a:solidFill>
          <a:ln w="19050">
            <a:solidFill>
              <a:srgbClr val="2E86AB"/>
            </a:solidFill>
            <a:prstDash val="solid"/>
          </a:ln>
        </p:spPr>
      </p:sp>
      <p:sp>
        <p:nvSpPr>
          <p:cNvPr id="5" name="Shape 3"/>
          <p:cNvSpPr/>
          <p:nvPr/>
        </p:nvSpPr>
        <p:spPr>
          <a:xfrm>
            <a:off x="548640" y="1691640"/>
            <a:ext cx="3520440" cy="502920"/>
          </a:xfrm>
          <a:prstGeom prst="rect">
            <a:avLst/>
          </a:prstGeom>
          <a:solidFill>
            <a:srgbClr val="2E86AB"/>
          </a:solidFill>
          <a:ln/>
        </p:spPr>
      </p:sp>
      <p:sp>
        <p:nvSpPr>
          <p:cNvPr id="6" name="Text 4"/>
          <p:cNvSpPr txBox="1"/>
          <p:nvPr/>
        </p:nvSpPr>
        <p:spPr>
          <a:xfrm>
            <a:off x="640080" y="1691640"/>
            <a:ext cx="333756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Pemodelan Matematik</a:t>
            </a:r>
            <a:endParaRPr lang="en-US" sz="1250" dirty="0"/>
          </a:p>
        </p:txBody>
      </p:sp>
      <p:sp>
        <p:nvSpPr>
          <p:cNvPr id="7" name="Text 5"/>
          <p:cNvSpPr txBox="1"/>
          <p:nvPr/>
        </p:nvSpPr>
        <p:spPr>
          <a:xfrm>
            <a:off x="731520" y="2331720"/>
            <a:ext cx="3154680" cy="365760"/>
          </a:xfrm>
          <a:prstGeom prst="rect">
            <a:avLst/>
          </a:prstGeom>
          <a:noFill/>
          <a:ln/>
        </p:spPr>
        <p:txBody>
          <a:bodyPr wrap="square" rtlCol="0" anchor="ctr"/>
          <a:lstStyle/>
          <a:p>
            <a:pPr indent="0" marL="0">
              <a:buNone/>
            </a:pPr>
            <a:r>
              <a:rPr lang="en-US" sz="1100" b="1" i="1" dirty="0">
                <a:solidFill>
                  <a:srgbClr val="2E86AB"/>
                </a:solidFill>
                <a:latin typeface="Calibri" pitchFamily="34" charset="0"/>
                <a:ea typeface="Calibri" pitchFamily="34" charset="-122"/>
                <a:cs typeface="Calibri" pitchFamily="34" charset="-120"/>
              </a:rPr>
              <a:t>Konteks: Persamaan Linear</a:t>
            </a:r>
            <a:endParaRPr lang="en-US" sz="1100" dirty="0"/>
          </a:p>
        </p:txBody>
      </p:sp>
      <p:sp>
        <p:nvSpPr>
          <p:cNvPr id="8" name="Text 6"/>
          <p:cNvSpPr txBox="1"/>
          <p:nvPr/>
        </p:nvSpPr>
        <p:spPr>
          <a:xfrm>
            <a:off x="731520" y="2788920"/>
            <a:ext cx="3154680" cy="2926080"/>
          </a:xfrm>
          <a:prstGeom prst="rect">
            <a:avLst/>
          </a:prstGeom>
          <a:noFill/>
          <a:ln/>
        </p:spPr>
        <p:txBody>
          <a:bodyPr wrap="square" rtlCol="0" anchor="t"/>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Menilai 2 pelan telekomunikasi (caj tetap vs caj/minit). Murid buat andaian, bina 2 persamaan linear, tentukan pelan paling menjimatkan.</a:t>
            </a:r>
            <a:endParaRPr lang="en-US" sz="1100" dirty="0"/>
          </a:p>
        </p:txBody>
      </p:sp>
      <p:sp>
        <p:nvSpPr>
          <p:cNvPr id="9" name="Shape 7"/>
          <p:cNvSpPr/>
          <p:nvPr/>
        </p:nvSpPr>
        <p:spPr>
          <a:xfrm>
            <a:off x="4343400" y="1691640"/>
            <a:ext cx="3520440" cy="4206240"/>
          </a:xfrm>
          <a:prstGeom prst="roundRect">
            <a:avLst>
              <a:gd name="adj" fmla="val 2078"/>
            </a:avLst>
          </a:prstGeom>
          <a:solidFill>
            <a:srgbClr val="F5F7FC"/>
          </a:solidFill>
          <a:ln w="19050">
            <a:solidFill>
              <a:srgbClr val="E67E22"/>
            </a:solidFill>
            <a:prstDash val="solid"/>
          </a:ln>
        </p:spPr>
      </p:sp>
      <p:sp>
        <p:nvSpPr>
          <p:cNvPr id="10" name="Shape 8"/>
          <p:cNvSpPr/>
          <p:nvPr/>
        </p:nvSpPr>
        <p:spPr>
          <a:xfrm>
            <a:off x="4343400" y="1691640"/>
            <a:ext cx="3520440" cy="502920"/>
          </a:xfrm>
          <a:prstGeom prst="rect">
            <a:avLst/>
          </a:prstGeom>
          <a:solidFill>
            <a:srgbClr val="E67E22"/>
          </a:solidFill>
          <a:ln/>
        </p:spPr>
      </p:sp>
      <p:sp>
        <p:nvSpPr>
          <p:cNvPr id="11" name="Text 9"/>
          <p:cNvSpPr txBox="1"/>
          <p:nvPr/>
        </p:nvSpPr>
        <p:spPr>
          <a:xfrm>
            <a:off x="4434840" y="1691640"/>
            <a:ext cx="333756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Pendekatan Modular</a:t>
            </a:r>
            <a:endParaRPr lang="en-US" sz="1250" dirty="0"/>
          </a:p>
        </p:txBody>
      </p:sp>
      <p:sp>
        <p:nvSpPr>
          <p:cNvPr id="12" name="Text 10"/>
          <p:cNvSpPr txBox="1"/>
          <p:nvPr/>
        </p:nvSpPr>
        <p:spPr>
          <a:xfrm>
            <a:off x="4526280" y="2331720"/>
            <a:ext cx="3154680" cy="365760"/>
          </a:xfrm>
          <a:prstGeom prst="rect">
            <a:avLst/>
          </a:prstGeom>
          <a:noFill/>
          <a:ln/>
        </p:spPr>
        <p:txBody>
          <a:bodyPr wrap="square" rtlCol="0" anchor="ctr"/>
          <a:lstStyle/>
          <a:p>
            <a:pPr indent="0" marL="0">
              <a:buNone/>
            </a:pPr>
            <a:r>
              <a:rPr lang="en-US" sz="1100" b="1" i="1" dirty="0">
                <a:solidFill>
                  <a:srgbClr val="E67E22"/>
                </a:solidFill>
                <a:latin typeface="Calibri" pitchFamily="34" charset="0"/>
                <a:ea typeface="Calibri" pitchFamily="34" charset="-122"/>
                <a:cs typeface="Calibri" pitchFamily="34" charset="-120"/>
              </a:rPr>
              <a:t>Konteks: Pengendalian Data + Nisbah</a:t>
            </a:r>
            <a:endParaRPr lang="en-US" sz="1100" dirty="0"/>
          </a:p>
        </p:txBody>
      </p:sp>
      <p:sp>
        <p:nvSpPr>
          <p:cNvPr id="13" name="Text 11"/>
          <p:cNvSpPr txBox="1"/>
          <p:nvPr/>
        </p:nvSpPr>
        <p:spPr>
          <a:xfrm>
            <a:off x="4526280" y="2788920"/>
            <a:ext cx="3154680" cy="2926080"/>
          </a:xfrm>
          <a:prstGeom prst="rect">
            <a:avLst/>
          </a:prstGeom>
          <a:noFill/>
          <a:ln/>
        </p:spPr>
        <p:txBody>
          <a:bodyPr wrap="square" rtlCol="0" anchor="t"/>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Murid kumpul data → tukar kepada peratusan/perkadaran → lukis carta pai. Dua tajuk diajar serentak &amp; bermakna.</a:t>
            </a:r>
            <a:endParaRPr lang="en-US" sz="1100" dirty="0"/>
          </a:p>
        </p:txBody>
      </p:sp>
      <p:sp>
        <p:nvSpPr>
          <p:cNvPr id="14" name="Shape 12"/>
          <p:cNvSpPr/>
          <p:nvPr/>
        </p:nvSpPr>
        <p:spPr>
          <a:xfrm>
            <a:off x="8138160" y="1691640"/>
            <a:ext cx="3520440" cy="4206240"/>
          </a:xfrm>
          <a:prstGeom prst="roundRect">
            <a:avLst>
              <a:gd name="adj" fmla="val 2078"/>
            </a:avLst>
          </a:prstGeom>
          <a:solidFill>
            <a:srgbClr val="F5F7FC"/>
          </a:solidFill>
          <a:ln w="19050">
            <a:solidFill>
              <a:srgbClr val="8E44AD"/>
            </a:solidFill>
            <a:prstDash val="solid"/>
          </a:ln>
        </p:spPr>
      </p:sp>
      <p:sp>
        <p:nvSpPr>
          <p:cNvPr id="15" name="Shape 13"/>
          <p:cNvSpPr/>
          <p:nvPr/>
        </p:nvSpPr>
        <p:spPr>
          <a:xfrm>
            <a:off x="8138160" y="1691640"/>
            <a:ext cx="3520440" cy="502920"/>
          </a:xfrm>
          <a:prstGeom prst="rect">
            <a:avLst/>
          </a:prstGeom>
          <a:solidFill>
            <a:srgbClr val="8E44AD"/>
          </a:solidFill>
          <a:ln/>
        </p:spPr>
      </p:sp>
      <p:sp>
        <p:nvSpPr>
          <p:cNvPr id="16" name="Text 14"/>
          <p:cNvSpPr txBox="1"/>
          <p:nvPr/>
        </p:nvSpPr>
        <p:spPr>
          <a:xfrm>
            <a:off x="8229600" y="1691640"/>
            <a:ext cx="333756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Pengiraan Secara Mental</a:t>
            </a:r>
            <a:endParaRPr lang="en-US" sz="1250" dirty="0"/>
          </a:p>
        </p:txBody>
      </p:sp>
      <p:sp>
        <p:nvSpPr>
          <p:cNvPr id="17" name="Text 15"/>
          <p:cNvSpPr txBox="1"/>
          <p:nvPr/>
        </p:nvSpPr>
        <p:spPr>
          <a:xfrm>
            <a:off x="8321040" y="2331720"/>
            <a:ext cx="3154680" cy="365760"/>
          </a:xfrm>
          <a:prstGeom prst="rect">
            <a:avLst/>
          </a:prstGeom>
          <a:noFill/>
          <a:ln/>
        </p:spPr>
        <p:txBody>
          <a:bodyPr wrap="square" rtlCol="0" anchor="ctr"/>
          <a:lstStyle/>
          <a:p>
            <a:pPr indent="0" marL="0">
              <a:buNone/>
            </a:pPr>
            <a:r>
              <a:rPr lang="en-US" sz="1100" b="1" i="1" dirty="0">
                <a:solidFill>
                  <a:srgbClr val="8E44AD"/>
                </a:solidFill>
                <a:latin typeface="Calibri" pitchFamily="34" charset="0"/>
                <a:ea typeface="Calibri" pitchFamily="34" charset="-122"/>
                <a:cs typeface="Calibri" pitchFamily="34" charset="-120"/>
              </a:rPr>
              <a:t>Konteks: Nombor Nisbah</a:t>
            </a:r>
            <a:endParaRPr lang="en-US" sz="1100" dirty="0"/>
          </a:p>
        </p:txBody>
      </p:sp>
      <p:sp>
        <p:nvSpPr>
          <p:cNvPr id="18" name="Text 16"/>
          <p:cNvSpPr txBox="1"/>
          <p:nvPr/>
        </p:nvSpPr>
        <p:spPr>
          <a:xfrm>
            <a:off x="8321040" y="2788920"/>
            <a:ext cx="3154680" cy="2926080"/>
          </a:xfrm>
          <a:prstGeom prst="rect">
            <a:avLst/>
          </a:prstGeom>
          <a:noFill/>
          <a:ln/>
        </p:spPr>
        <p:txBody>
          <a:bodyPr wrap="square" rtlCol="0" anchor="t"/>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Kira diskaun 15% bagi barang RM80: cerakinkan kepada 10% (RM8) + 5% (RM4) = RM12, tanpa kalkulator.</a:t>
            </a:r>
            <a:endParaRPr lang="en-US" sz="1100" dirty="0"/>
          </a:p>
        </p:txBody>
      </p:sp>
      <p:sp>
        <p:nvSpPr>
          <p:cNvPr id="19" name="Text 17"/>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35, 37–38</a:t>
            </a:r>
            <a:endParaRPr lang="en-US" sz="1000" dirty="0"/>
          </a:p>
        </p:txBody>
      </p:sp>
      <p:sp>
        <p:nvSpPr>
          <p:cNvPr id="20" name="Text 1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Langkah Ke Hadapan: Pentaksiran Tanpa Kalkulator</a:t>
            </a:r>
            <a:endParaRPr lang="en-US" sz="2700" dirty="0"/>
          </a:p>
        </p:txBody>
      </p:sp>
      <p:sp>
        <p:nvSpPr>
          <p:cNvPr id="4" name="Text 2"/>
          <p:cNvSpPr txBox="1"/>
          <p:nvPr/>
        </p:nvSpPr>
        <p:spPr>
          <a:xfrm>
            <a:off x="548640" y="1554480"/>
            <a:ext cx="11064240" cy="777240"/>
          </a:xfrm>
          <a:prstGeom prst="rect">
            <a:avLst/>
          </a:prstGeom>
          <a:noFill/>
          <a:ln/>
        </p:spPr>
        <p:txBody>
          <a:bodyPr wrap="square" rtlCol="0" anchor="ctr"/>
          <a:lstStyle/>
          <a:p>
            <a:pPr indent="0" marL="0">
              <a:lnSpc>
                <a:spcPct val="120000"/>
              </a:lnSpc>
              <a:buNone/>
            </a:pPr>
            <a:r>
              <a:rPr lang="en-US" sz="1300" dirty="0">
                <a:solidFill>
                  <a:srgbClr val="141A45"/>
                </a:solidFill>
                <a:latin typeface="Calibri" pitchFamily="34" charset="0"/>
                <a:ea typeface="Calibri" pitchFamily="34" charset="-122"/>
                <a:cs typeface="Calibri" pitchFamily="34" charset="-120"/>
              </a:rPr>
              <a:t>Pengenalan ‘Pentaksiran Tanpa Kalkulator’ secara berperingkat bermula 2027 — objektif teras: melahirkan murid yang fasih digital namun kekal kompeten dalam strategi pengiraan dan anggaran.</a:t>
            </a:r>
            <a:endParaRPr lang="en-US" sz="1300" dirty="0"/>
          </a:p>
        </p:txBody>
      </p:sp>
      <p:sp>
        <p:nvSpPr>
          <p:cNvPr id="5" name="Shape 3"/>
          <p:cNvSpPr/>
          <p:nvPr/>
        </p:nvSpPr>
        <p:spPr>
          <a:xfrm>
            <a:off x="548640" y="2468880"/>
            <a:ext cx="11064240" cy="1188720"/>
          </a:xfrm>
          <a:prstGeom prst="roundRect">
            <a:avLst>
              <a:gd name="adj" fmla="val 6154"/>
            </a:avLst>
          </a:prstGeom>
          <a:solidFill>
            <a:srgbClr val="1E2761"/>
          </a:solidFill>
          <a:ln/>
        </p:spPr>
      </p:sp>
      <p:sp>
        <p:nvSpPr>
          <p:cNvPr id="6" name="Text 4"/>
          <p:cNvSpPr txBox="1"/>
          <p:nvPr/>
        </p:nvSpPr>
        <p:spPr>
          <a:xfrm>
            <a:off x="914400" y="2606040"/>
            <a:ext cx="2743200" cy="365760"/>
          </a:xfrm>
          <a:prstGeom prst="rect">
            <a:avLst/>
          </a:prstGeom>
          <a:noFill/>
          <a:ln/>
        </p:spPr>
        <p:txBody>
          <a:bodyPr wrap="square" rtlCol="0" anchor="ctr"/>
          <a:lstStyle/>
          <a:p>
            <a:pPr indent="0" marL="0">
              <a:buNone/>
            </a:pPr>
            <a:r>
              <a:rPr lang="en-US" sz="1400" b="1" dirty="0">
                <a:solidFill>
                  <a:srgbClr val="F2B705"/>
                </a:solidFill>
                <a:latin typeface="Cambria" pitchFamily="34" charset="0"/>
                <a:ea typeface="Cambria" pitchFamily="34" charset="-122"/>
                <a:cs typeface="Cambria" pitchFamily="34" charset="-120"/>
              </a:rPr>
              <a:t>MULAI 2027</a:t>
            </a:r>
            <a:endParaRPr lang="en-US" sz="1400" dirty="0"/>
          </a:p>
        </p:txBody>
      </p:sp>
      <p:sp>
        <p:nvSpPr>
          <p:cNvPr id="7" name="Text 5"/>
          <p:cNvSpPr txBox="1"/>
          <p:nvPr/>
        </p:nvSpPr>
        <p:spPr>
          <a:xfrm>
            <a:off x="914400" y="2971800"/>
            <a:ext cx="411480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Pelaksanaan berperingkat bermula murid Tingkatan 1.</a:t>
            </a:r>
            <a:endParaRPr lang="en-US" sz="1100" dirty="0"/>
          </a:p>
        </p:txBody>
      </p:sp>
      <p:sp>
        <p:nvSpPr>
          <p:cNvPr id="8" name="Text 6"/>
          <p:cNvSpPr txBox="1"/>
          <p:nvPr/>
        </p:nvSpPr>
        <p:spPr>
          <a:xfrm>
            <a:off x="5760720" y="2651760"/>
            <a:ext cx="548640" cy="914400"/>
          </a:xfrm>
          <a:prstGeom prst="rect">
            <a:avLst/>
          </a:prstGeom>
          <a:noFill/>
          <a:ln/>
        </p:spPr>
        <p:txBody>
          <a:bodyPr wrap="square" rtlCol="0" anchor="ctr"/>
          <a:lstStyle/>
          <a:p>
            <a:pPr algn="ctr" indent="0" marL="0">
              <a:buNone/>
            </a:pPr>
            <a:r>
              <a:rPr lang="en-US" sz="3000" b="1" dirty="0">
                <a:solidFill>
                  <a:srgbClr val="F2B705"/>
                </a:solidFill>
                <a:latin typeface="Cambria" pitchFamily="34" charset="0"/>
                <a:ea typeface="Cambria" pitchFamily="34" charset="-122"/>
                <a:cs typeface="Cambria" pitchFamily="34" charset="-120"/>
              </a:rPr>
              <a:t>›</a:t>
            </a:r>
            <a:endParaRPr lang="en-US" sz="3000" dirty="0"/>
          </a:p>
        </p:txBody>
      </p:sp>
      <p:sp>
        <p:nvSpPr>
          <p:cNvPr id="9" name="Text 7"/>
          <p:cNvSpPr txBox="1"/>
          <p:nvPr/>
        </p:nvSpPr>
        <p:spPr>
          <a:xfrm>
            <a:off x="7772400" y="2606040"/>
            <a:ext cx="2743200" cy="365760"/>
          </a:xfrm>
          <a:prstGeom prst="rect">
            <a:avLst/>
          </a:prstGeom>
          <a:noFill/>
          <a:ln/>
        </p:spPr>
        <p:txBody>
          <a:bodyPr wrap="square" rtlCol="0" anchor="ctr"/>
          <a:lstStyle/>
          <a:p>
            <a:pPr indent="0" marL="0">
              <a:buNone/>
            </a:pPr>
            <a:r>
              <a:rPr lang="en-US" sz="1400" b="1" dirty="0">
                <a:solidFill>
                  <a:srgbClr val="F2B705"/>
                </a:solidFill>
                <a:latin typeface="Cambria" pitchFamily="34" charset="0"/>
                <a:ea typeface="Cambria" pitchFamily="34" charset="-122"/>
                <a:cs typeface="Cambria" pitchFamily="34" charset="-120"/>
              </a:rPr>
              <a:t>SPM 2031</a:t>
            </a:r>
            <a:endParaRPr lang="en-US" sz="1400" dirty="0"/>
          </a:p>
        </p:txBody>
      </p:sp>
      <p:sp>
        <p:nvSpPr>
          <p:cNvPr id="10" name="Text 8"/>
          <p:cNvSpPr txBox="1"/>
          <p:nvPr/>
        </p:nvSpPr>
        <p:spPr>
          <a:xfrm>
            <a:off x="7772400" y="2971800"/>
            <a:ext cx="356616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Kohort pertama KP2027 menduduki SPM sepenuhnya di bawah sistem baharu.</a:t>
            </a:r>
            <a:endParaRPr lang="en-US" sz="1100" dirty="0"/>
          </a:p>
        </p:txBody>
      </p:sp>
      <p:sp>
        <p:nvSpPr>
          <p:cNvPr id="11" name="Text 9"/>
          <p:cNvSpPr txBox="1"/>
          <p:nvPr/>
        </p:nvSpPr>
        <p:spPr>
          <a:xfrm>
            <a:off x="548640" y="3886200"/>
            <a:ext cx="73152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4 Fokus Komponen Literasi Numerasi</a:t>
            </a:r>
            <a:endParaRPr lang="en-US" sz="1500" dirty="0"/>
          </a:p>
        </p:txBody>
      </p:sp>
      <p:sp>
        <p:nvSpPr>
          <p:cNvPr id="12" name="Shape 10"/>
          <p:cNvSpPr/>
          <p:nvPr/>
        </p:nvSpPr>
        <p:spPr>
          <a:xfrm>
            <a:off x="548640" y="4343400"/>
            <a:ext cx="2651760" cy="1051560"/>
          </a:xfrm>
          <a:prstGeom prst="roundRect">
            <a:avLst>
              <a:gd name="adj" fmla="val 5217"/>
            </a:avLst>
          </a:prstGeom>
          <a:solidFill>
            <a:srgbClr val="F5F7FC"/>
          </a:solidFill>
          <a:ln w="12700">
            <a:solidFill>
              <a:srgbClr val="E7EAF2"/>
            </a:solidFill>
            <a:prstDash val="solid"/>
          </a:ln>
        </p:spPr>
      </p:sp>
      <p:sp>
        <p:nvSpPr>
          <p:cNvPr id="13" name="Text 11"/>
          <p:cNvSpPr txBox="1"/>
          <p:nvPr/>
        </p:nvSpPr>
        <p:spPr>
          <a:xfrm>
            <a:off x="685800" y="4343400"/>
            <a:ext cx="2377440" cy="1051560"/>
          </a:xfrm>
          <a:prstGeom prst="rect">
            <a:avLst/>
          </a:prstGeom>
          <a:noFill/>
          <a:ln/>
        </p:spPr>
        <p:txBody>
          <a:bodyPr wrap="square" rtlCol="0" anchor="ctr"/>
          <a:lstStyle/>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1. Operasi Nombor</a:t>
            </a:r>
            <a:endParaRPr lang="en-US" sz="1050" dirty="0"/>
          </a:p>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(Asas kukuh realiti semasa)</a:t>
            </a:r>
            <a:endParaRPr lang="en-US" sz="1050" dirty="0"/>
          </a:p>
        </p:txBody>
      </p:sp>
      <p:sp>
        <p:nvSpPr>
          <p:cNvPr id="14" name="Shape 12"/>
          <p:cNvSpPr/>
          <p:nvPr/>
        </p:nvSpPr>
        <p:spPr>
          <a:xfrm>
            <a:off x="3383280" y="4343400"/>
            <a:ext cx="2651760" cy="1051560"/>
          </a:xfrm>
          <a:prstGeom prst="roundRect">
            <a:avLst>
              <a:gd name="adj" fmla="val 5217"/>
            </a:avLst>
          </a:prstGeom>
          <a:solidFill>
            <a:srgbClr val="F5F7FC"/>
          </a:solidFill>
          <a:ln w="12700">
            <a:solidFill>
              <a:srgbClr val="E7EAF2"/>
            </a:solidFill>
            <a:prstDash val="solid"/>
          </a:ln>
        </p:spPr>
      </p:sp>
      <p:sp>
        <p:nvSpPr>
          <p:cNvPr id="15" name="Text 13"/>
          <p:cNvSpPr txBox="1"/>
          <p:nvPr/>
        </p:nvSpPr>
        <p:spPr>
          <a:xfrm>
            <a:off x="3520440" y="4343400"/>
            <a:ext cx="2377440" cy="1051560"/>
          </a:xfrm>
          <a:prstGeom prst="rect">
            <a:avLst/>
          </a:prstGeom>
          <a:noFill/>
          <a:ln/>
        </p:spPr>
        <p:txBody>
          <a:bodyPr wrap="square" rtlCol="0" anchor="ctr"/>
          <a:lstStyle/>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2. Pecahan &amp; Peratus</a:t>
            </a:r>
            <a:endParaRPr lang="en-US" sz="1050" dirty="0"/>
          </a:p>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(Manipulasi nilai tanpa digital)</a:t>
            </a:r>
            <a:endParaRPr lang="en-US" sz="1050" dirty="0"/>
          </a:p>
        </p:txBody>
      </p:sp>
      <p:sp>
        <p:nvSpPr>
          <p:cNvPr id="16" name="Shape 14"/>
          <p:cNvSpPr/>
          <p:nvPr/>
        </p:nvSpPr>
        <p:spPr>
          <a:xfrm>
            <a:off x="6217920" y="4343400"/>
            <a:ext cx="2651760" cy="1051560"/>
          </a:xfrm>
          <a:prstGeom prst="roundRect">
            <a:avLst>
              <a:gd name="adj" fmla="val 5217"/>
            </a:avLst>
          </a:prstGeom>
          <a:solidFill>
            <a:srgbClr val="F5F7FC"/>
          </a:solidFill>
          <a:ln w="12700">
            <a:solidFill>
              <a:srgbClr val="E7EAF2"/>
            </a:solidFill>
            <a:prstDash val="solid"/>
          </a:ln>
        </p:spPr>
      </p:sp>
      <p:sp>
        <p:nvSpPr>
          <p:cNvPr id="17" name="Text 15"/>
          <p:cNvSpPr txBox="1"/>
          <p:nvPr/>
        </p:nvSpPr>
        <p:spPr>
          <a:xfrm>
            <a:off x="6355080" y="4343400"/>
            <a:ext cx="2377440" cy="1051560"/>
          </a:xfrm>
          <a:prstGeom prst="rect">
            <a:avLst/>
          </a:prstGeom>
          <a:noFill/>
          <a:ln/>
        </p:spPr>
        <p:txBody>
          <a:bodyPr wrap="square" rtlCol="0" anchor="ctr"/>
          <a:lstStyle/>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3. Nisbah &amp; Sukatan</a:t>
            </a:r>
            <a:endParaRPr lang="en-US" sz="1050" dirty="0"/>
          </a:p>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(Kefahaman ruang &amp; kuantiti)</a:t>
            </a:r>
            <a:endParaRPr lang="en-US" sz="1050" dirty="0"/>
          </a:p>
        </p:txBody>
      </p:sp>
      <p:sp>
        <p:nvSpPr>
          <p:cNvPr id="18" name="Shape 16"/>
          <p:cNvSpPr/>
          <p:nvPr/>
        </p:nvSpPr>
        <p:spPr>
          <a:xfrm>
            <a:off x="9052560" y="4343400"/>
            <a:ext cx="2651760" cy="1051560"/>
          </a:xfrm>
          <a:prstGeom prst="roundRect">
            <a:avLst>
              <a:gd name="adj" fmla="val 5217"/>
            </a:avLst>
          </a:prstGeom>
          <a:solidFill>
            <a:srgbClr val="F5F7FC"/>
          </a:solidFill>
          <a:ln w="12700">
            <a:solidFill>
              <a:srgbClr val="E7EAF2"/>
            </a:solidFill>
            <a:prstDash val="solid"/>
          </a:ln>
        </p:spPr>
      </p:sp>
      <p:sp>
        <p:nvSpPr>
          <p:cNvPr id="19" name="Text 17"/>
          <p:cNvSpPr txBox="1"/>
          <p:nvPr/>
        </p:nvSpPr>
        <p:spPr>
          <a:xfrm>
            <a:off x="9189720" y="4343400"/>
            <a:ext cx="2377440" cy="1051560"/>
          </a:xfrm>
          <a:prstGeom prst="rect">
            <a:avLst/>
          </a:prstGeom>
          <a:noFill/>
          <a:ln/>
        </p:spPr>
        <p:txBody>
          <a:bodyPr wrap="square" rtlCol="0" anchor="ctr"/>
          <a:lstStyle/>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4. Algebra Asas</a:t>
            </a:r>
            <a:endParaRPr lang="en-US" sz="1050" dirty="0"/>
          </a:p>
          <a:p>
            <a:pPr algn="ctr" indent="0" marL="0">
              <a:lnSpc>
                <a:spcPct val="115000"/>
              </a:lnSpc>
              <a:buNone/>
            </a:pPr>
            <a:r>
              <a:rPr lang="en-US" sz="1050" dirty="0">
                <a:solidFill>
                  <a:srgbClr val="141A45"/>
                </a:solidFill>
                <a:latin typeface="Calibri" pitchFamily="34" charset="0"/>
                <a:ea typeface="Calibri" pitchFamily="34" charset="-122"/>
                <a:cs typeface="Calibri" pitchFamily="34" charset="-120"/>
              </a:rPr>
              <a:t>(Pembolehubah logik)</a:t>
            </a:r>
            <a:endParaRPr lang="en-US" sz="1050" dirty="0"/>
          </a:p>
        </p:txBody>
      </p:sp>
      <p:sp>
        <p:nvSpPr>
          <p:cNvPr id="20" name="Text 18"/>
          <p:cNvSpPr txBox="1"/>
          <p:nvPr/>
        </p:nvSpPr>
        <p:spPr>
          <a:xfrm>
            <a:off x="548640" y="5623560"/>
            <a:ext cx="11064240" cy="548640"/>
          </a:xfrm>
          <a:prstGeom prst="rect">
            <a:avLst/>
          </a:prstGeom>
          <a:noFill/>
          <a:ln/>
        </p:spPr>
        <p:txBody>
          <a:bodyPr wrap="square" rtlCol="0" anchor="ctr"/>
          <a:lstStyle/>
          <a:p>
            <a:pPr algn="ctr" indent="0" marL="0">
              <a:lnSpc>
                <a:spcPct val="115000"/>
              </a:lnSpc>
              <a:buNone/>
            </a:pPr>
            <a:r>
              <a:rPr lang="en-US" sz="1100" i="1" dirty="0">
                <a:solidFill>
                  <a:srgbClr val="5B6472"/>
                </a:solidFill>
                <a:latin typeface="Calibri" pitchFamily="34" charset="0"/>
                <a:ea typeface="Calibri" pitchFamily="34" charset="-122"/>
                <a:cs typeface="Calibri" pitchFamily="34" charset="-120"/>
              </a:rPr>
              <a:t>Impak Pentaksiran: Membantu guru menilai proses pemahaman murid secara mendalam, bukan sekadar jawapan akhir — meningkatkan KBAT dan keyakinan diri.</a:t>
            </a:r>
            <a:endParaRPr lang="en-US" sz="1100" dirty="0"/>
          </a:p>
        </p:txBody>
      </p:sp>
      <p:sp>
        <p:nvSpPr>
          <p:cNvPr id="21" name="Text 19"/>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3, m/s 39–40</a:t>
            </a:r>
            <a:endParaRPr lang="en-US" sz="1000" dirty="0"/>
          </a:p>
        </p:txBody>
      </p:sp>
      <p:sp>
        <p:nvSpPr>
          <p:cNvPr id="22"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PERKARA PENTING</a:t>
            </a:r>
            <a:endParaRPr lang="en-US" sz="1300" dirty="0"/>
          </a:p>
        </p:txBody>
      </p:sp>
      <p:sp>
        <p:nvSpPr>
          <p:cNvPr id="3" name="Text 1"/>
          <p:cNvSpPr txBox="1"/>
          <p:nvPr/>
        </p:nvSpPr>
        <p:spPr>
          <a:xfrm>
            <a:off x="548640" y="658368"/>
            <a:ext cx="1097280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Perkara yang Guru WAJIB Faham</a:t>
            </a:r>
            <a:endParaRPr lang="en-US" sz="2700" dirty="0"/>
          </a:p>
        </p:txBody>
      </p:sp>
      <p:sp>
        <p:nvSpPr>
          <p:cNvPr id="4" name="Shape 2"/>
          <p:cNvSpPr/>
          <p:nvPr/>
        </p:nvSpPr>
        <p:spPr>
          <a:xfrm>
            <a:off x="548640" y="1600200"/>
            <a:ext cx="5349240" cy="1051560"/>
          </a:xfrm>
          <a:prstGeom prst="roundRect">
            <a:avLst>
              <a:gd name="adj" fmla="val 6957"/>
            </a:avLst>
          </a:prstGeom>
          <a:solidFill>
            <a:srgbClr val="141A45"/>
          </a:solidFill>
          <a:ln/>
        </p:spPr>
      </p:sp>
      <p:sp>
        <p:nvSpPr>
          <p:cNvPr id="5" name="Shape 3"/>
          <p:cNvSpPr/>
          <p:nvPr/>
        </p:nvSpPr>
        <p:spPr>
          <a:xfrm>
            <a:off x="713232" y="1801368"/>
            <a:ext cx="457200" cy="457200"/>
          </a:xfrm>
          <a:prstGeom prst="ellipse">
            <a:avLst/>
          </a:prstGeom>
          <a:solidFill>
            <a:srgbClr val="F2B705"/>
          </a:solidFill>
          <a:ln/>
        </p:spPr>
      </p:sp>
      <p:pic>
        <p:nvPicPr>
          <p:cNvPr id="6" name="Image 0" descr="/home/claude/shared_icons/icon_check.png">    </p:cNvPr>
          <p:cNvPicPr>
            <a:picLocks noChangeAspect="1"/>
          </p:cNvPicPr>
          <p:nvPr/>
        </p:nvPicPr>
        <p:blipFill>
          <a:blip r:embed="rId1"/>
          <a:stretch>
            <a:fillRect/>
          </a:stretch>
        </p:blipFill>
        <p:spPr>
          <a:xfrm>
            <a:off x="777240" y="1865376"/>
            <a:ext cx="329184" cy="329184"/>
          </a:xfrm>
          <a:prstGeom prst="rect">
            <a:avLst/>
          </a:prstGeom>
        </p:spPr>
      </p:pic>
      <p:sp>
        <p:nvSpPr>
          <p:cNvPr id="7" name="Text 4"/>
          <p:cNvSpPr txBox="1"/>
          <p:nvPr/>
        </p:nvSpPr>
        <p:spPr>
          <a:xfrm>
            <a:off x="1298448" y="1673352"/>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TP dikurangkan daripada 6 kepada 4 (Tahu, Faham, Buat, Amal) berasaskan Model Miller.</a:t>
            </a:r>
            <a:endParaRPr lang="en-US" sz="1050" dirty="0"/>
          </a:p>
        </p:txBody>
      </p:sp>
      <p:sp>
        <p:nvSpPr>
          <p:cNvPr id="8" name="Shape 5"/>
          <p:cNvSpPr/>
          <p:nvPr/>
        </p:nvSpPr>
        <p:spPr>
          <a:xfrm>
            <a:off x="6263640" y="1600200"/>
            <a:ext cx="5349240" cy="1051560"/>
          </a:xfrm>
          <a:prstGeom prst="roundRect">
            <a:avLst>
              <a:gd name="adj" fmla="val 6957"/>
            </a:avLst>
          </a:prstGeom>
          <a:solidFill>
            <a:srgbClr val="141A45"/>
          </a:solidFill>
          <a:ln/>
        </p:spPr>
      </p:sp>
      <p:sp>
        <p:nvSpPr>
          <p:cNvPr id="9" name="Shape 6"/>
          <p:cNvSpPr/>
          <p:nvPr/>
        </p:nvSpPr>
        <p:spPr>
          <a:xfrm>
            <a:off x="6428232" y="1801368"/>
            <a:ext cx="457200" cy="457200"/>
          </a:xfrm>
          <a:prstGeom prst="ellipse">
            <a:avLst/>
          </a:prstGeom>
          <a:solidFill>
            <a:srgbClr val="F2B705"/>
          </a:solidFill>
          <a:ln/>
        </p:spPr>
      </p:sp>
      <p:pic>
        <p:nvPicPr>
          <p:cNvPr id="10" name="Image 1" descr="/home/claude/shared_icons/icon_check.png">    </p:cNvPr>
          <p:cNvPicPr>
            <a:picLocks noChangeAspect="1"/>
          </p:cNvPicPr>
          <p:nvPr/>
        </p:nvPicPr>
        <p:blipFill>
          <a:blip r:embed="rId2"/>
          <a:stretch>
            <a:fillRect/>
          </a:stretch>
        </p:blipFill>
        <p:spPr>
          <a:xfrm>
            <a:off x="6492240" y="1865376"/>
            <a:ext cx="329184" cy="329184"/>
          </a:xfrm>
          <a:prstGeom prst="rect">
            <a:avLst/>
          </a:prstGeom>
        </p:spPr>
      </p:pic>
      <p:sp>
        <p:nvSpPr>
          <p:cNvPr id="11" name="Text 7"/>
          <p:cNvSpPr txBox="1"/>
          <p:nvPr/>
        </p:nvSpPr>
        <p:spPr>
          <a:xfrm>
            <a:off x="7013448" y="1673352"/>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TP HANYA dilaporkan selepas selesai KESELURUHAN SP dalam satu tajuk — bukan setiap hari/SP.</a:t>
            </a:r>
            <a:endParaRPr lang="en-US" sz="1050" dirty="0"/>
          </a:p>
        </p:txBody>
      </p:sp>
      <p:sp>
        <p:nvSpPr>
          <p:cNvPr id="12" name="Shape 8"/>
          <p:cNvSpPr/>
          <p:nvPr/>
        </p:nvSpPr>
        <p:spPr>
          <a:xfrm>
            <a:off x="548640" y="2807208"/>
            <a:ext cx="5349240" cy="1051560"/>
          </a:xfrm>
          <a:prstGeom prst="roundRect">
            <a:avLst>
              <a:gd name="adj" fmla="val 6957"/>
            </a:avLst>
          </a:prstGeom>
          <a:solidFill>
            <a:srgbClr val="141A45"/>
          </a:solidFill>
          <a:ln/>
        </p:spPr>
      </p:sp>
      <p:sp>
        <p:nvSpPr>
          <p:cNvPr id="13" name="Shape 9"/>
          <p:cNvSpPr/>
          <p:nvPr/>
        </p:nvSpPr>
        <p:spPr>
          <a:xfrm>
            <a:off x="713232" y="3008376"/>
            <a:ext cx="457200" cy="457200"/>
          </a:xfrm>
          <a:prstGeom prst="ellipse">
            <a:avLst/>
          </a:prstGeom>
          <a:solidFill>
            <a:srgbClr val="F2B705"/>
          </a:solidFill>
          <a:ln/>
        </p:spPr>
      </p:sp>
      <p:pic>
        <p:nvPicPr>
          <p:cNvPr id="14" name="Image 2" descr="/home/claude/shared_icons/icon_check.png">    </p:cNvPr>
          <p:cNvPicPr>
            <a:picLocks noChangeAspect="1"/>
          </p:cNvPicPr>
          <p:nvPr/>
        </p:nvPicPr>
        <p:blipFill>
          <a:blip r:embed="rId3"/>
          <a:stretch>
            <a:fillRect/>
          </a:stretch>
        </p:blipFill>
        <p:spPr>
          <a:xfrm>
            <a:off x="777240" y="3072384"/>
            <a:ext cx="329184" cy="329184"/>
          </a:xfrm>
          <a:prstGeom prst="rect">
            <a:avLst/>
          </a:prstGeom>
        </p:spPr>
      </p:pic>
      <p:sp>
        <p:nvSpPr>
          <p:cNvPr id="15" name="Text 10"/>
          <p:cNvSpPr txBox="1"/>
          <p:nvPr/>
        </p:nvSpPr>
        <p:spPr>
          <a:xfrm>
            <a:off x="1298448" y="2880360"/>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Peruntukan wajib: 6 waktu seminggu bagi Matematik Tingkatan 1 (tambah waktu jika sekolah hanya ada 5).</a:t>
            </a:r>
            <a:endParaRPr lang="en-US" sz="1050" dirty="0"/>
          </a:p>
        </p:txBody>
      </p:sp>
      <p:sp>
        <p:nvSpPr>
          <p:cNvPr id="16" name="Shape 11"/>
          <p:cNvSpPr/>
          <p:nvPr/>
        </p:nvSpPr>
        <p:spPr>
          <a:xfrm>
            <a:off x="6263640" y="2807208"/>
            <a:ext cx="5349240" cy="1051560"/>
          </a:xfrm>
          <a:prstGeom prst="roundRect">
            <a:avLst>
              <a:gd name="adj" fmla="val 6957"/>
            </a:avLst>
          </a:prstGeom>
          <a:solidFill>
            <a:srgbClr val="141A45"/>
          </a:solidFill>
          <a:ln/>
        </p:spPr>
      </p:sp>
      <p:sp>
        <p:nvSpPr>
          <p:cNvPr id="17" name="Shape 12"/>
          <p:cNvSpPr/>
          <p:nvPr/>
        </p:nvSpPr>
        <p:spPr>
          <a:xfrm>
            <a:off x="6428232" y="3008376"/>
            <a:ext cx="457200" cy="457200"/>
          </a:xfrm>
          <a:prstGeom prst="ellipse">
            <a:avLst/>
          </a:prstGeom>
          <a:solidFill>
            <a:srgbClr val="F2B705"/>
          </a:solidFill>
          <a:ln/>
        </p:spPr>
      </p:sp>
      <p:pic>
        <p:nvPicPr>
          <p:cNvPr id="18" name="Image 3" descr="/home/claude/shared_icons/icon_check.png">    </p:cNvPr>
          <p:cNvPicPr>
            <a:picLocks noChangeAspect="1"/>
          </p:cNvPicPr>
          <p:nvPr/>
        </p:nvPicPr>
        <p:blipFill>
          <a:blip r:embed="rId4"/>
          <a:stretch>
            <a:fillRect/>
          </a:stretch>
        </p:blipFill>
        <p:spPr>
          <a:xfrm>
            <a:off x="6492240" y="3072384"/>
            <a:ext cx="329184" cy="329184"/>
          </a:xfrm>
          <a:prstGeom prst="rect">
            <a:avLst/>
          </a:prstGeom>
        </p:spPr>
      </p:pic>
      <p:sp>
        <p:nvSpPr>
          <p:cNvPr id="19" name="Text 13"/>
          <p:cNvSpPr txBox="1"/>
          <p:nvPr/>
        </p:nvSpPr>
        <p:spPr>
          <a:xfrm>
            <a:off x="7013448" y="2880360"/>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Nota kolum kanan WAJIB dilaksanakan (kedalaman SP), kecuali dilabel “Skop” (had pengajaran).</a:t>
            </a:r>
            <a:endParaRPr lang="en-US" sz="1050" dirty="0"/>
          </a:p>
        </p:txBody>
      </p:sp>
      <p:sp>
        <p:nvSpPr>
          <p:cNvPr id="20" name="Shape 14"/>
          <p:cNvSpPr/>
          <p:nvPr/>
        </p:nvSpPr>
        <p:spPr>
          <a:xfrm>
            <a:off x="548640" y="4014216"/>
            <a:ext cx="5349240" cy="1051560"/>
          </a:xfrm>
          <a:prstGeom prst="roundRect">
            <a:avLst>
              <a:gd name="adj" fmla="val 6957"/>
            </a:avLst>
          </a:prstGeom>
          <a:solidFill>
            <a:srgbClr val="141A45"/>
          </a:solidFill>
          <a:ln/>
        </p:spPr>
      </p:sp>
      <p:sp>
        <p:nvSpPr>
          <p:cNvPr id="21" name="Shape 15"/>
          <p:cNvSpPr/>
          <p:nvPr/>
        </p:nvSpPr>
        <p:spPr>
          <a:xfrm>
            <a:off x="713232" y="4215384"/>
            <a:ext cx="457200" cy="457200"/>
          </a:xfrm>
          <a:prstGeom prst="ellipse">
            <a:avLst/>
          </a:prstGeom>
          <a:solidFill>
            <a:srgbClr val="F2B705"/>
          </a:solidFill>
          <a:ln/>
        </p:spPr>
      </p:sp>
      <p:pic>
        <p:nvPicPr>
          <p:cNvPr id="22" name="Image 4" descr="/home/claude/shared_icons/icon_check.png">    </p:cNvPr>
          <p:cNvPicPr>
            <a:picLocks noChangeAspect="1"/>
          </p:cNvPicPr>
          <p:nvPr/>
        </p:nvPicPr>
        <p:blipFill>
          <a:blip r:embed="rId5"/>
          <a:stretch>
            <a:fillRect/>
          </a:stretch>
        </p:blipFill>
        <p:spPr>
          <a:xfrm>
            <a:off x="777240" y="4279392"/>
            <a:ext cx="329184" cy="329184"/>
          </a:xfrm>
          <a:prstGeom prst="rect">
            <a:avLst/>
          </a:prstGeom>
        </p:spPr>
      </p:pic>
      <p:sp>
        <p:nvSpPr>
          <p:cNvPr id="23" name="Text 16"/>
          <p:cNvSpPr txBox="1"/>
          <p:nvPr/>
        </p:nvSpPr>
        <p:spPr>
          <a:xfrm>
            <a:off x="1298448" y="4087368"/>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Simbol Nota: Bullet (•) = bebas susun; Roman (i, ii, iii) = wajib ikut turutan.</a:t>
            </a:r>
            <a:endParaRPr lang="en-US" sz="1050" dirty="0"/>
          </a:p>
        </p:txBody>
      </p:sp>
      <p:sp>
        <p:nvSpPr>
          <p:cNvPr id="24" name="Shape 17"/>
          <p:cNvSpPr/>
          <p:nvPr/>
        </p:nvSpPr>
        <p:spPr>
          <a:xfrm>
            <a:off x="6263640" y="4014216"/>
            <a:ext cx="5349240" cy="1051560"/>
          </a:xfrm>
          <a:prstGeom prst="roundRect">
            <a:avLst>
              <a:gd name="adj" fmla="val 6957"/>
            </a:avLst>
          </a:prstGeom>
          <a:solidFill>
            <a:srgbClr val="141A45"/>
          </a:solidFill>
          <a:ln/>
        </p:spPr>
      </p:sp>
      <p:sp>
        <p:nvSpPr>
          <p:cNvPr id="25" name="Shape 18"/>
          <p:cNvSpPr/>
          <p:nvPr/>
        </p:nvSpPr>
        <p:spPr>
          <a:xfrm>
            <a:off x="6428232" y="4215384"/>
            <a:ext cx="457200" cy="457200"/>
          </a:xfrm>
          <a:prstGeom prst="ellipse">
            <a:avLst/>
          </a:prstGeom>
          <a:solidFill>
            <a:srgbClr val="F2B705"/>
          </a:solidFill>
          <a:ln/>
        </p:spPr>
      </p:sp>
      <p:pic>
        <p:nvPicPr>
          <p:cNvPr id="26" name="Image 5" descr="/home/claude/shared_icons/icon_check.png">    </p:cNvPr>
          <p:cNvPicPr>
            <a:picLocks noChangeAspect="1"/>
          </p:cNvPicPr>
          <p:nvPr/>
        </p:nvPicPr>
        <p:blipFill>
          <a:blip r:embed="rId6"/>
          <a:stretch>
            <a:fillRect/>
          </a:stretch>
        </p:blipFill>
        <p:spPr>
          <a:xfrm>
            <a:off x="6492240" y="4279392"/>
            <a:ext cx="329184" cy="329184"/>
          </a:xfrm>
          <a:prstGeom prst="rect">
            <a:avLst/>
          </a:prstGeom>
        </p:spPr>
      </p:pic>
      <p:sp>
        <p:nvSpPr>
          <p:cNvPr id="27" name="Text 19"/>
          <p:cNvSpPr txBox="1"/>
          <p:nvPr/>
        </p:nvSpPr>
        <p:spPr>
          <a:xfrm>
            <a:off x="7013448" y="4087368"/>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Sisihan tajuk: Perimeter &amp; Luas dikeluarkan (dikuasai di SR); Set dikekalkan hanya secara visual Venn dalam Bab Nombor Nyata.</a:t>
            </a:r>
            <a:endParaRPr lang="en-US" sz="1050" dirty="0"/>
          </a:p>
        </p:txBody>
      </p:sp>
      <p:sp>
        <p:nvSpPr>
          <p:cNvPr id="28" name="Shape 20"/>
          <p:cNvSpPr/>
          <p:nvPr/>
        </p:nvSpPr>
        <p:spPr>
          <a:xfrm>
            <a:off x="548640" y="5221224"/>
            <a:ext cx="5349240" cy="1051560"/>
          </a:xfrm>
          <a:prstGeom prst="roundRect">
            <a:avLst>
              <a:gd name="adj" fmla="val 6957"/>
            </a:avLst>
          </a:prstGeom>
          <a:solidFill>
            <a:srgbClr val="141A45"/>
          </a:solidFill>
          <a:ln/>
        </p:spPr>
      </p:sp>
      <p:sp>
        <p:nvSpPr>
          <p:cNvPr id="29" name="Shape 21"/>
          <p:cNvSpPr/>
          <p:nvPr/>
        </p:nvSpPr>
        <p:spPr>
          <a:xfrm>
            <a:off x="713232" y="5422392"/>
            <a:ext cx="457200" cy="457200"/>
          </a:xfrm>
          <a:prstGeom prst="ellipse">
            <a:avLst/>
          </a:prstGeom>
          <a:solidFill>
            <a:srgbClr val="F2B705"/>
          </a:solidFill>
          <a:ln/>
        </p:spPr>
      </p:sp>
      <p:pic>
        <p:nvPicPr>
          <p:cNvPr id="30" name="Image 6" descr="/home/claude/shared_icons/icon_check.png">    </p:cNvPr>
          <p:cNvPicPr>
            <a:picLocks noChangeAspect="1"/>
          </p:cNvPicPr>
          <p:nvPr/>
        </p:nvPicPr>
        <p:blipFill>
          <a:blip r:embed="rId7"/>
          <a:stretch>
            <a:fillRect/>
          </a:stretch>
        </p:blipFill>
        <p:spPr>
          <a:xfrm>
            <a:off x="777240" y="5486400"/>
            <a:ext cx="329184" cy="329184"/>
          </a:xfrm>
          <a:prstGeom prst="rect">
            <a:avLst/>
          </a:prstGeom>
        </p:spPr>
      </p:pic>
      <p:sp>
        <p:nvSpPr>
          <p:cNvPr id="31" name="Text 22"/>
          <p:cNvSpPr txBox="1"/>
          <p:nvPr/>
        </p:nvSpPr>
        <p:spPr>
          <a:xfrm>
            <a:off x="1298448" y="5294376"/>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56 SP sahaja bagi Matematik Tingkatan 1 — kandungan lebih ringkas, fokus kedalaman (depth over breadth).</a:t>
            </a:r>
            <a:endParaRPr lang="en-US" sz="1050" dirty="0"/>
          </a:p>
        </p:txBody>
      </p:sp>
      <p:sp>
        <p:nvSpPr>
          <p:cNvPr id="32" name="Shape 23"/>
          <p:cNvSpPr/>
          <p:nvPr/>
        </p:nvSpPr>
        <p:spPr>
          <a:xfrm>
            <a:off x="6263640" y="5221224"/>
            <a:ext cx="5349240" cy="1051560"/>
          </a:xfrm>
          <a:prstGeom prst="roundRect">
            <a:avLst>
              <a:gd name="adj" fmla="val 6957"/>
            </a:avLst>
          </a:prstGeom>
          <a:solidFill>
            <a:srgbClr val="141A45"/>
          </a:solidFill>
          <a:ln/>
        </p:spPr>
      </p:sp>
      <p:sp>
        <p:nvSpPr>
          <p:cNvPr id="33" name="Shape 24"/>
          <p:cNvSpPr/>
          <p:nvPr/>
        </p:nvSpPr>
        <p:spPr>
          <a:xfrm>
            <a:off x="6428232" y="5422392"/>
            <a:ext cx="457200" cy="457200"/>
          </a:xfrm>
          <a:prstGeom prst="ellipse">
            <a:avLst/>
          </a:prstGeom>
          <a:solidFill>
            <a:srgbClr val="F2B705"/>
          </a:solidFill>
          <a:ln/>
        </p:spPr>
      </p:sp>
      <p:pic>
        <p:nvPicPr>
          <p:cNvPr id="34" name="Image 7" descr="/home/claude/shared_icons/icon_check.png">    </p:cNvPr>
          <p:cNvPicPr>
            <a:picLocks noChangeAspect="1"/>
          </p:cNvPicPr>
          <p:nvPr/>
        </p:nvPicPr>
        <p:blipFill>
          <a:blip r:embed="rId8"/>
          <a:stretch>
            <a:fillRect/>
          </a:stretch>
        </p:blipFill>
        <p:spPr>
          <a:xfrm>
            <a:off x="6492240" y="5486400"/>
            <a:ext cx="329184" cy="329184"/>
          </a:xfrm>
          <a:prstGeom prst="rect">
            <a:avLst/>
          </a:prstGeom>
        </p:spPr>
      </p:pic>
      <p:sp>
        <p:nvSpPr>
          <p:cNvPr id="35" name="Text 25"/>
          <p:cNvSpPr txBox="1"/>
          <p:nvPr/>
        </p:nvSpPr>
        <p:spPr>
          <a:xfrm>
            <a:off x="7013448" y="5294376"/>
            <a:ext cx="4434840" cy="91440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3 Elemen EMK wajib ditulis eksplisit dalam RPH: Pendidikan Kewangan, PKJR, Kelestarian Global/Sivik.</a:t>
            </a:r>
            <a:endParaRPr lang="en-US" sz="1050" dirty="0"/>
          </a:p>
        </p:txBody>
      </p:sp>
      <p:sp>
        <p:nvSpPr>
          <p:cNvPr id="36" name="Text 26"/>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Rakaman SP dan SPi</a:t>
            </a:r>
            <a:endParaRPr lang="en-US" sz="1000" dirty="0"/>
          </a:p>
        </p:txBody>
      </p:sp>
      <p:sp>
        <p:nvSpPr>
          <p:cNvPr id="37" name="Text 2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KESILAPAN PERLU DIELAKKAN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Salah Faham Lazim dalam Pelaksanaan</a:t>
            </a:r>
            <a:endParaRPr lang="en-US" sz="2700" dirty="0"/>
          </a:p>
        </p:txBody>
      </p:sp>
      <p:sp>
        <p:nvSpPr>
          <p:cNvPr id="4" name="Shape 2"/>
          <p:cNvSpPr/>
          <p:nvPr/>
        </p:nvSpPr>
        <p:spPr>
          <a:xfrm>
            <a:off x="548640" y="1536192"/>
            <a:ext cx="11064240" cy="676656"/>
          </a:xfrm>
          <a:prstGeom prst="roundRect">
            <a:avLst>
              <a:gd name="adj" fmla="val 8108"/>
            </a:avLst>
          </a:prstGeom>
          <a:solidFill>
            <a:srgbClr val="F5F7FC"/>
          </a:solidFill>
          <a:ln w="12700">
            <a:solidFill>
              <a:srgbClr val="E7EAF2"/>
            </a:solidFill>
            <a:prstDash val="solid"/>
          </a:ln>
        </p:spPr>
      </p:sp>
      <p:sp>
        <p:nvSpPr>
          <p:cNvPr id="5" name="Shape 3"/>
          <p:cNvSpPr/>
          <p:nvPr/>
        </p:nvSpPr>
        <p:spPr>
          <a:xfrm>
            <a:off x="694944" y="1636776"/>
            <a:ext cx="457200" cy="457200"/>
          </a:xfrm>
          <a:prstGeom prst="ellipse">
            <a:avLst/>
          </a:prstGeom>
          <a:solidFill>
            <a:srgbClr val="E0435A"/>
          </a:solidFill>
          <a:ln/>
        </p:spPr>
      </p:sp>
      <p:pic>
        <p:nvPicPr>
          <p:cNvPr id="6" name="Image 0" descr="/home/claude/shared_icons/icon_warning.png">    </p:cNvPr>
          <p:cNvPicPr>
            <a:picLocks noChangeAspect="1"/>
          </p:cNvPicPr>
          <p:nvPr/>
        </p:nvPicPr>
        <p:blipFill>
          <a:blip r:embed="rId1"/>
          <a:stretch>
            <a:fillRect/>
          </a:stretch>
        </p:blipFill>
        <p:spPr>
          <a:xfrm>
            <a:off x="758952" y="1700784"/>
            <a:ext cx="329184" cy="329184"/>
          </a:xfrm>
          <a:prstGeom prst="rect">
            <a:avLst/>
          </a:prstGeom>
        </p:spPr>
      </p:pic>
      <p:sp>
        <p:nvSpPr>
          <p:cNvPr id="7" name="Text 4"/>
          <p:cNvSpPr txBox="1"/>
          <p:nvPr/>
        </p:nvSpPr>
        <p:spPr>
          <a:xfrm>
            <a:off x="1325880" y="1572768"/>
            <a:ext cx="10012680" cy="292608"/>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  Melompat terus ke SP/SK tanpa membaca pengenalan dokumen</a:t>
            </a:r>
            <a:endParaRPr lang="en-US" sz="1100" dirty="0"/>
          </a:p>
        </p:txBody>
      </p:sp>
      <p:sp>
        <p:nvSpPr>
          <p:cNvPr id="8" name="Text 5"/>
          <p:cNvSpPr txBox="1"/>
          <p:nvPr/>
        </p:nvSpPr>
        <p:spPr>
          <a:xfrm>
            <a:off x="1325880" y="1874520"/>
            <a:ext cx="10012680" cy="310896"/>
          </a:xfrm>
          <a:prstGeom prst="rect">
            <a:avLst/>
          </a:prstGeom>
          <a:noFill/>
          <a:ln/>
        </p:spPr>
        <p:txBody>
          <a:bodyPr wrap="square" rtlCol="0" anchor="ctr"/>
          <a:lstStyle/>
          <a:p>
            <a:pPr indent="0" marL="0">
              <a:lnSpc>
                <a:spcPct val="105000"/>
              </a:lnSpc>
              <a:buNone/>
            </a:pPr>
            <a:r>
              <a:rPr lang="en-US" sz="930" dirty="0">
                <a:solidFill>
                  <a:srgbClr val="5B6472"/>
                </a:solidFill>
                <a:latin typeface="Calibri" pitchFamily="34" charset="0"/>
                <a:ea typeface="Calibri" pitchFamily="34" charset="-122"/>
                <a:cs typeface="Calibri" pitchFamily="34" charset="-120"/>
              </a:rPr>
              <a:t>Guru wajib baca dari muka hadapan untuk fahami kerangka kompetensi &amp; standard proses dahulu.</a:t>
            </a:r>
            <a:endParaRPr lang="en-US" sz="930" dirty="0"/>
          </a:p>
        </p:txBody>
      </p:sp>
      <p:sp>
        <p:nvSpPr>
          <p:cNvPr id="9" name="Shape 6"/>
          <p:cNvSpPr/>
          <p:nvPr/>
        </p:nvSpPr>
        <p:spPr>
          <a:xfrm>
            <a:off x="548640" y="2295144"/>
            <a:ext cx="11064240" cy="676656"/>
          </a:xfrm>
          <a:prstGeom prst="roundRect">
            <a:avLst>
              <a:gd name="adj" fmla="val 8108"/>
            </a:avLst>
          </a:prstGeom>
          <a:solidFill>
            <a:srgbClr val="F5F7FC"/>
          </a:solidFill>
          <a:ln w="12700">
            <a:solidFill>
              <a:srgbClr val="E7EAF2"/>
            </a:solidFill>
            <a:prstDash val="solid"/>
          </a:ln>
        </p:spPr>
      </p:sp>
      <p:sp>
        <p:nvSpPr>
          <p:cNvPr id="10" name="Shape 7"/>
          <p:cNvSpPr/>
          <p:nvPr/>
        </p:nvSpPr>
        <p:spPr>
          <a:xfrm>
            <a:off x="694944" y="2395728"/>
            <a:ext cx="457200" cy="457200"/>
          </a:xfrm>
          <a:prstGeom prst="ellipse">
            <a:avLst/>
          </a:prstGeom>
          <a:solidFill>
            <a:srgbClr val="E0435A"/>
          </a:solidFill>
          <a:ln/>
        </p:spPr>
      </p:sp>
      <p:pic>
        <p:nvPicPr>
          <p:cNvPr id="11" name="Image 1" descr="/home/claude/shared_icons/icon_warning.png">    </p:cNvPr>
          <p:cNvPicPr>
            <a:picLocks noChangeAspect="1"/>
          </p:cNvPicPr>
          <p:nvPr/>
        </p:nvPicPr>
        <p:blipFill>
          <a:blip r:embed="rId2"/>
          <a:stretch>
            <a:fillRect/>
          </a:stretch>
        </p:blipFill>
        <p:spPr>
          <a:xfrm>
            <a:off x="758952" y="2459736"/>
            <a:ext cx="329184" cy="329184"/>
          </a:xfrm>
          <a:prstGeom prst="rect">
            <a:avLst/>
          </a:prstGeom>
        </p:spPr>
      </p:pic>
      <p:sp>
        <p:nvSpPr>
          <p:cNvPr id="12" name="Text 8"/>
          <p:cNvSpPr txBox="1"/>
          <p:nvPr/>
        </p:nvSpPr>
        <p:spPr>
          <a:xfrm>
            <a:off x="1325880" y="2331720"/>
            <a:ext cx="10012680" cy="292608"/>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  Merekod/memberi TP setiap hari atau selepas setiap SP</a:t>
            </a:r>
            <a:endParaRPr lang="en-US" sz="1100" dirty="0"/>
          </a:p>
        </p:txBody>
      </p:sp>
      <p:sp>
        <p:nvSpPr>
          <p:cNvPr id="13" name="Text 9"/>
          <p:cNvSpPr txBox="1"/>
          <p:nvPr/>
        </p:nvSpPr>
        <p:spPr>
          <a:xfrm>
            <a:off x="1325880" y="2633472"/>
            <a:ext cx="10012680" cy="310896"/>
          </a:xfrm>
          <a:prstGeom prst="rect">
            <a:avLst/>
          </a:prstGeom>
          <a:noFill/>
          <a:ln/>
        </p:spPr>
        <p:txBody>
          <a:bodyPr wrap="square" rtlCol="0" anchor="ctr"/>
          <a:lstStyle/>
          <a:p>
            <a:pPr indent="0" marL="0">
              <a:lnSpc>
                <a:spcPct val="105000"/>
              </a:lnSpc>
              <a:buNone/>
            </a:pPr>
            <a:r>
              <a:rPr lang="en-US" sz="930" dirty="0">
                <a:solidFill>
                  <a:srgbClr val="5B6472"/>
                </a:solidFill>
                <a:latin typeface="Calibri" pitchFamily="34" charset="0"/>
                <a:ea typeface="Calibri" pitchFamily="34" charset="-122"/>
                <a:cs typeface="Calibri" pitchFamily="34" charset="-120"/>
              </a:rPr>
              <a:t>Melanggar prinsip pentaksiran tajuk KP2027 dan membebankan guru — pentaksiran harian hanya formatif.</a:t>
            </a:r>
            <a:endParaRPr lang="en-US" sz="930" dirty="0"/>
          </a:p>
        </p:txBody>
      </p:sp>
      <p:sp>
        <p:nvSpPr>
          <p:cNvPr id="14" name="Shape 10"/>
          <p:cNvSpPr/>
          <p:nvPr/>
        </p:nvSpPr>
        <p:spPr>
          <a:xfrm>
            <a:off x="548640" y="3054096"/>
            <a:ext cx="11064240" cy="676656"/>
          </a:xfrm>
          <a:prstGeom prst="roundRect">
            <a:avLst>
              <a:gd name="adj" fmla="val 8108"/>
            </a:avLst>
          </a:prstGeom>
          <a:solidFill>
            <a:srgbClr val="F5F7FC"/>
          </a:solidFill>
          <a:ln w="12700">
            <a:solidFill>
              <a:srgbClr val="E7EAF2"/>
            </a:solidFill>
            <a:prstDash val="solid"/>
          </a:ln>
        </p:spPr>
      </p:sp>
      <p:sp>
        <p:nvSpPr>
          <p:cNvPr id="15" name="Shape 11"/>
          <p:cNvSpPr/>
          <p:nvPr/>
        </p:nvSpPr>
        <p:spPr>
          <a:xfrm>
            <a:off x="694944" y="3154680"/>
            <a:ext cx="457200" cy="457200"/>
          </a:xfrm>
          <a:prstGeom prst="ellipse">
            <a:avLst/>
          </a:prstGeom>
          <a:solidFill>
            <a:srgbClr val="E0435A"/>
          </a:solidFill>
          <a:ln/>
        </p:spPr>
      </p:sp>
      <p:pic>
        <p:nvPicPr>
          <p:cNvPr id="16" name="Image 2" descr="/home/claude/shared_icons/icon_warning.png">    </p:cNvPr>
          <p:cNvPicPr>
            <a:picLocks noChangeAspect="1"/>
          </p:cNvPicPr>
          <p:nvPr/>
        </p:nvPicPr>
        <p:blipFill>
          <a:blip r:embed="rId3"/>
          <a:stretch>
            <a:fillRect/>
          </a:stretch>
        </p:blipFill>
        <p:spPr>
          <a:xfrm>
            <a:off x="758952" y="3218688"/>
            <a:ext cx="329184" cy="329184"/>
          </a:xfrm>
          <a:prstGeom prst="rect">
            <a:avLst/>
          </a:prstGeom>
        </p:spPr>
      </p:pic>
      <p:sp>
        <p:nvSpPr>
          <p:cNvPr id="17" name="Text 12"/>
          <p:cNvSpPr txBox="1"/>
          <p:nvPr/>
        </p:nvSpPr>
        <p:spPr>
          <a:xfrm>
            <a:off x="1325880" y="3090672"/>
            <a:ext cx="10012680" cy="292608"/>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  Menganggap ruangan Nota sebagai cadangan tidak wajib</a:t>
            </a:r>
            <a:endParaRPr lang="en-US" sz="1100" dirty="0"/>
          </a:p>
        </p:txBody>
      </p:sp>
      <p:sp>
        <p:nvSpPr>
          <p:cNvPr id="18" name="Text 13"/>
          <p:cNvSpPr txBox="1"/>
          <p:nvPr/>
        </p:nvSpPr>
        <p:spPr>
          <a:xfrm>
            <a:off x="1325880" y="3392424"/>
            <a:ext cx="10012680" cy="310896"/>
          </a:xfrm>
          <a:prstGeom prst="rect">
            <a:avLst/>
          </a:prstGeom>
          <a:noFill/>
          <a:ln/>
        </p:spPr>
        <p:txBody>
          <a:bodyPr wrap="square" rtlCol="0" anchor="ctr"/>
          <a:lstStyle/>
          <a:p>
            <a:pPr indent="0" marL="0">
              <a:lnSpc>
                <a:spcPct val="105000"/>
              </a:lnSpc>
              <a:buNone/>
            </a:pPr>
            <a:r>
              <a:rPr lang="en-US" sz="930" dirty="0">
                <a:solidFill>
                  <a:srgbClr val="5B6472"/>
                </a:solidFill>
                <a:latin typeface="Calibri" pitchFamily="34" charset="0"/>
                <a:ea typeface="Calibri" pitchFamily="34" charset="-122"/>
                <a:cs typeface="Calibri" pitchFamily="34" charset="-120"/>
              </a:rPr>
              <a:t>~80% kandungan Nota adalah komponen WAJIB yang membentuk kedalaman SP, kecuali label “Skop”.</a:t>
            </a:r>
            <a:endParaRPr lang="en-US" sz="930" dirty="0"/>
          </a:p>
        </p:txBody>
      </p:sp>
      <p:sp>
        <p:nvSpPr>
          <p:cNvPr id="19" name="Shape 14"/>
          <p:cNvSpPr/>
          <p:nvPr/>
        </p:nvSpPr>
        <p:spPr>
          <a:xfrm>
            <a:off x="548640" y="3813048"/>
            <a:ext cx="11064240" cy="676656"/>
          </a:xfrm>
          <a:prstGeom prst="roundRect">
            <a:avLst>
              <a:gd name="adj" fmla="val 8108"/>
            </a:avLst>
          </a:prstGeom>
          <a:solidFill>
            <a:srgbClr val="F5F7FC"/>
          </a:solidFill>
          <a:ln w="12700">
            <a:solidFill>
              <a:srgbClr val="E7EAF2"/>
            </a:solidFill>
            <a:prstDash val="solid"/>
          </a:ln>
        </p:spPr>
      </p:sp>
      <p:sp>
        <p:nvSpPr>
          <p:cNvPr id="20" name="Shape 15"/>
          <p:cNvSpPr/>
          <p:nvPr/>
        </p:nvSpPr>
        <p:spPr>
          <a:xfrm>
            <a:off x="694944" y="3913632"/>
            <a:ext cx="457200" cy="457200"/>
          </a:xfrm>
          <a:prstGeom prst="ellipse">
            <a:avLst/>
          </a:prstGeom>
          <a:solidFill>
            <a:srgbClr val="E0435A"/>
          </a:solidFill>
          <a:ln/>
        </p:spPr>
      </p:sp>
      <p:pic>
        <p:nvPicPr>
          <p:cNvPr id="21" name="Image 3" descr="/home/claude/shared_icons/icon_warning.png">    </p:cNvPr>
          <p:cNvPicPr>
            <a:picLocks noChangeAspect="1"/>
          </p:cNvPicPr>
          <p:nvPr/>
        </p:nvPicPr>
        <p:blipFill>
          <a:blip r:embed="rId4"/>
          <a:stretch>
            <a:fillRect/>
          </a:stretch>
        </p:blipFill>
        <p:spPr>
          <a:xfrm>
            <a:off x="758952" y="3977640"/>
            <a:ext cx="329184" cy="329184"/>
          </a:xfrm>
          <a:prstGeom prst="rect">
            <a:avLst/>
          </a:prstGeom>
        </p:spPr>
      </p:pic>
      <p:sp>
        <p:nvSpPr>
          <p:cNvPr id="22" name="Text 16"/>
          <p:cNvSpPr txBox="1"/>
          <p:nvPr/>
        </p:nvSpPr>
        <p:spPr>
          <a:xfrm>
            <a:off x="1325880" y="3849624"/>
            <a:ext cx="10012680" cy="292608"/>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  Menggantungkan AI/GPT sepenuhnya tanpa semakan</a:t>
            </a:r>
            <a:endParaRPr lang="en-US" sz="1100" dirty="0"/>
          </a:p>
        </p:txBody>
      </p:sp>
      <p:sp>
        <p:nvSpPr>
          <p:cNvPr id="23" name="Text 17"/>
          <p:cNvSpPr txBox="1"/>
          <p:nvPr/>
        </p:nvSpPr>
        <p:spPr>
          <a:xfrm>
            <a:off x="1325880" y="4151376"/>
            <a:ext cx="10012680" cy="310896"/>
          </a:xfrm>
          <a:prstGeom prst="rect">
            <a:avLst/>
          </a:prstGeom>
          <a:noFill/>
          <a:ln/>
        </p:spPr>
        <p:txBody>
          <a:bodyPr wrap="square" rtlCol="0" anchor="ctr"/>
          <a:lstStyle/>
          <a:p>
            <a:pPr indent="0" marL="0">
              <a:lnSpc>
                <a:spcPct val="105000"/>
              </a:lnSpc>
              <a:buNone/>
            </a:pPr>
            <a:r>
              <a:rPr lang="en-US" sz="930" dirty="0">
                <a:solidFill>
                  <a:srgbClr val="5B6472"/>
                </a:solidFill>
                <a:latin typeface="Calibri" pitchFamily="34" charset="0"/>
                <a:ea typeface="Calibri" pitchFamily="34" charset="-122"/>
                <a:cs typeface="Calibri" pitchFamily="34" charset="-120"/>
              </a:rPr>
              <a:t>AI boleh berhalusinasi &amp; memberi sumber tidak sahih — guru tetap pakar utama penentu kesahihan.</a:t>
            </a:r>
            <a:endParaRPr lang="en-US" sz="930" dirty="0"/>
          </a:p>
        </p:txBody>
      </p:sp>
      <p:sp>
        <p:nvSpPr>
          <p:cNvPr id="24" name="Shape 18"/>
          <p:cNvSpPr/>
          <p:nvPr/>
        </p:nvSpPr>
        <p:spPr>
          <a:xfrm>
            <a:off x="548640" y="4572000"/>
            <a:ext cx="11064240" cy="676656"/>
          </a:xfrm>
          <a:prstGeom prst="roundRect">
            <a:avLst>
              <a:gd name="adj" fmla="val 8108"/>
            </a:avLst>
          </a:prstGeom>
          <a:solidFill>
            <a:srgbClr val="F5F7FC"/>
          </a:solidFill>
          <a:ln w="12700">
            <a:solidFill>
              <a:srgbClr val="E7EAF2"/>
            </a:solidFill>
            <a:prstDash val="solid"/>
          </a:ln>
        </p:spPr>
      </p:sp>
      <p:sp>
        <p:nvSpPr>
          <p:cNvPr id="25" name="Shape 19"/>
          <p:cNvSpPr/>
          <p:nvPr/>
        </p:nvSpPr>
        <p:spPr>
          <a:xfrm>
            <a:off x="694944" y="4672584"/>
            <a:ext cx="457200" cy="457200"/>
          </a:xfrm>
          <a:prstGeom prst="ellipse">
            <a:avLst/>
          </a:prstGeom>
          <a:solidFill>
            <a:srgbClr val="E0435A"/>
          </a:solidFill>
          <a:ln/>
        </p:spPr>
      </p:sp>
      <p:pic>
        <p:nvPicPr>
          <p:cNvPr id="26" name="Image 4" descr="/home/claude/shared_icons/icon_warning.png">    </p:cNvPr>
          <p:cNvPicPr>
            <a:picLocks noChangeAspect="1"/>
          </p:cNvPicPr>
          <p:nvPr/>
        </p:nvPicPr>
        <p:blipFill>
          <a:blip r:embed="rId5"/>
          <a:stretch>
            <a:fillRect/>
          </a:stretch>
        </p:blipFill>
        <p:spPr>
          <a:xfrm>
            <a:off x="758952" y="4736592"/>
            <a:ext cx="329184" cy="329184"/>
          </a:xfrm>
          <a:prstGeom prst="rect">
            <a:avLst/>
          </a:prstGeom>
        </p:spPr>
      </p:pic>
      <p:sp>
        <p:nvSpPr>
          <p:cNvPr id="27" name="Text 20"/>
          <p:cNvSpPr txBox="1"/>
          <p:nvPr/>
        </p:nvSpPr>
        <p:spPr>
          <a:xfrm>
            <a:off x="1325880" y="4608576"/>
            <a:ext cx="10012680" cy="292608"/>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  Memaksa murid memadam kesilapan sepenuhnya</a:t>
            </a:r>
            <a:endParaRPr lang="en-US" sz="1100" dirty="0"/>
          </a:p>
        </p:txBody>
      </p:sp>
      <p:sp>
        <p:nvSpPr>
          <p:cNvPr id="28" name="Text 21"/>
          <p:cNvSpPr txBox="1"/>
          <p:nvPr/>
        </p:nvSpPr>
        <p:spPr>
          <a:xfrm>
            <a:off x="1325880" y="4910328"/>
            <a:ext cx="10012680" cy="310896"/>
          </a:xfrm>
          <a:prstGeom prst="rect">
            <a:avLst/>
          </a:prstGeom>
          <a:noFill/>
          <a:ln/>
        </p:spPr>
        <p:txBody>
          <a:bodyPr wrap="square" rtlCol="0" anchor="ctr"/>
          <a:lstStyle/>
          <a:p>
            <a:pPr indent="0" marL="0">
              <a:lnSpc>
                <a:spcPct val="105000"/>
              </a:lnSpc>
              <a:buNone/>
            </a:pPr>
            <a:r>
              <a:rPr lang="en-US" sz="930" dirty="0">
                <a:solidFill>
                  <a:srgbClr val="5B6472"/>
                </a:solidFill>
                <a:latin typeface="Calibri" pitchFamily="34" charset="0"/>
                <a:ea typeface="Calibri" pitchFamily="34" charset="-122"/>
                <a:cs typeface="Calibri" pitchFamily="34" charset="-120"/>
              </a:rPr>
              <a:t>Guna pen, potong (bukan padam) supaya kesilapan boleh dianalisis &amp; dijadikan bahan pembelajaran.</a:t>
            </a:r>
            <a:endParaRPr lang="en-US" sz="930" dirty="0"/>
          </a:p>
        </p:txBody>
      </p:sp>
      <p:sp>
        <p:nvSpPr>
          <p:cNvPr id="29" name="Shape 22"/>
          <p:cNvSpPr/>
          <p:nvPr/>
        </p:nvSpPr>
        <p:spPr>
          <a:xfrm>
            <a:off x="548640" y="5330952"/>
            <a:ext cx="11064240" cy="676656"/>
          </a:xfrm>
          <a:prstGeom prst="roundRect">
            <a:avLst>
              <a:gd name="adj" fmla="val 8108"/>
            </a:avLst>
          </a:prstGeom>
          <a:solidFill>
            <a:srgbClr val="F5F7FC"/>
          </a:solidFill>
          <a:ln w="12700">
            <a:solidFill>
              <a:srgbClr val="E7EAF2"/>
            </a:solidFill>
            <a:prstDash val="solid"/>
          </a:ln>
        </p:spPr>
      </p:sp>
      <p:sp>
        <p:nvSpPr>
          <p:cNvPr id="30" name="Shape 23"/>
          <p:cNvSpPr/>
          <p:nvPr/>
        </p:nvSpPr>
        <p:spPr>
          <a:xfrm>
            <a:off x="694944" y="5431536"/>
            <a:ext cx="457200" cy="457200"/>
          </a:xfrm>
          <a:prstGeom prst="ellipse">
            <a:avLst/>
          </a:prstGeom>
          <a:solidFill>
            <a:srgbClr val="E0435A"/>
          </a:solidFill>
          <a:ln/>
        </p:spPr>
      </p:sp>
      <p:pic>
        <p:nvPicPr>
          <p:cNvPr id="31" name="Image 5" descr="/home/claude/shared_icons/icon_warning.png">    </p:cNvPr>
          <p:cNvPicPr>
            <a:picLocks noChangeAspect="1"/>
          </p:cNvPicPr>
          <p:nvPr/>
        </p:nvPicPr>
        <p:blipFill>
          <a:blip r:embed="rId6"/>
          <a:stretch>
            <a:fillRect/>
          </a:stretch>
        </p:blipFill>
        <p:spPr>
          <a:xfrm>
            <a:off x="758952" y="5495544"/>
            <a:ext cx="329184" cy="329184"/>
          </a:xfrm>
          <a:prstGeom prst="rect">
            <a:avLst/>
          </a:prstGeom>
        </p:spPr>
      </p:pic>
      <p:sp>
        <p:nvSpPr>
          <p:cNvPr id="32" name="Text 24"/>
          <p:cNvSpPr txBox="1"/>
          <p:nvPr/>
        </p:nvSpPr>
        <p:spPr>
          <a:xfrm>
            <a:off x="1325880" y="5367528"/>
            <a:ext cx="10012680" cy="292608"/>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  Memberi tugasan rutin sahaja kepada kelas belakang</a:t>
            </a:r>
            <a:endParaRPr lang="en-US" sz="1100" dirty="0"/>
          </a:p>
        </p:txBody>
      </p:sp>
      <p:sp>
        <p:nvSpPr>
          <p:cNvPr id="33" name="Text 25"/>
          <p:cNvSpPr txBox="1"/>
          <p:nvPr/>
        </p:nvSpPr>
        <p:spPr>
          <a:xfrm>
            <a:off x="1325880" y="5669280"/>
            <a:ext cx="10012680" cy="310896"/>
          </a:xfrm>
          <a:prstGeom prst="rect">
            <a:avLst/>
          </a:prstGeom>
          <a:noFill/>
          <a:ln/>
        </p:spPr>
        <p:txBody>
          <a:bodyPr wrap="square" rtlCol="0" anchor="ctr"/>
          <a:lstStyle/>
          <a:p>
            <a:pPr indent="0" marL="0">
              <a:lnSpc>
                <a:spcPct val="105000"/>
              </a:lnSpc>
              <a:buNone/>
            </a:pPr>
            <a:r>
              <a:rPr lang="en-US" sz="930" dirty="0">
                <a:solidFill>
                  <a:srgbClr val="5B6472"/>
                </a:solidFill>
                <a:latin typeface="Calibri" pitchFamily="34" charset="0"/>
                <a:ea typeface="Calibri" pitchFamily="34" charset="-122"/>
                <a:cs typeface="Calibri" pitchFamily="34" charset="-120"/>
              </a:rPr>
              <a:t>Semua murid wajib diberi peluang sama mencuba soalan bukan rutin untuk capai TP4.</a:t>
            </a:r>
            <a:endParaRPr lang="en-US" sz="930" dirty="0"/>
          </a:p>
        </p:txBody>
      </p:sp>
      <p:sp>
        <p:nvSpPr>
          <p:cNvPr id="34" name="Text 26"/>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Rakaman SP dan SPi, Bhg. 8</a:t>
            </a:r>
            <a:endParaRPr lang="en-US" sz="1000" dirty="0"/>
          </a:p>
        </p:txBody>
      </p:sp>
      <p:sp>
        <p:nvSpPr>
          <p:cNvPr id="35" name="Text 2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IMPLIKASI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Implikasi kepada Guru dan Murid</a:t>
            </a:r>
            <a:endParaRPr lang="en-US" sz="2700" dirty="0"/>
          </a:p>
        </p:txBody>
      </p:sp>
      <p:sp>
        <p:nvSpPr>
          <p:cNvPr id="4" name="Shape 2"/>
          <p:cNvSpPr/>
          <p:nvPr/>
        </p:nvSpPr>
        <p:spPr>
          <a:xfrm>
            <a:off x="548640" y="1645920"/>
            <a:ext cx="5394960" cy="4389120"/>
          </a:xfrm>
          <a:prstGeom prst="roundRect">
            <a:avLst>
              <a:gd name="adj" fmla="val 1667"/>
            </a:avLst>
          </a:prstGeom>
          <a:solidFill>
            <a:srgbClr val="1E2761"/>
          </a:solidFill>
          <a:ln/>
        </p:spPr>
      </p:sp>
      <p:sp>
        <p:nvSpPr>
          <p:cNvPr id="5" name="Shape 3"/>
          <p:cNvSpPr/>
          <p:nvPr/>
        </p:nvSpPr>
        <p:spPr>
          <a:xfrm>
            <a:off x="777240" y="1828800"/>
            <a:ext cx="640080" cy="640080"/>
          </a:xfrm>
          <a:prstGeom prst="ellipse">
            <a:avLst/>
          </a:prstGeom>
          <a:solidFill>
            <a:srgbClr val="F2B705"/>
          </a:solidFill>
          <a:ln/>
        </p:spPr>
      </p:sp>
      <p:pic>
        <p:nvPicPr>
          <p:cNvPr id="6" name="Image 0" descr="/home/claude/shared_icons/icon_bookReader.png">    </p:cNvPr>
          <p:cNvPicPr>
            <a:picLocks noChangeAspect="1"/>
          </p:cNvPicPr>
          <p:nvPr/>
        </p:nvPicPr>
        <p:blipFill>
          <a:blip r:embed="rId1"/>
          <a:stretch>
            <a:fillRect/>
          </a:stretch>
        </p:blipFill>
        <p:spPr>
          <a:xfrm>
            <a:off x="866851" y="1918411"/>
            <a:ext cx="460858" cy="460858"/>
          </a:xfrm>
          <a:prstGeom prst="rect">
            <a:avLst/>
          </a:prstGeom>
        </p:spPr>
      </p:pic>
      <p:sp>
        <p:nvSpPr>
          <p:cNvPr id="7" name="Text 4"/>
          <p:cNvSpPr txBox="1"/>
          <p:nvPr/>
        </p:nvSpPr>
        <p:spPr>
          <a:xfrm>
            <a:off x="1554480" y="1965960"/>
            <a:ext cx="4206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KEPADA GURU</a:t>
            </a:r>
            <a:endParaRPr lang="en-US" sz="1500" dirty="0"/>
          </a:p>
        </p:txBody>
      </p:sp>
      <p:sp>
        <p:nvSpPr>
          <p:cNvPr id="8" name="Text 5"/>
          <p:cNvSpPr txBox="1"/>
          <p:nvPr/>
        </p:nvSpPr>
        <p:spPr>
          <a:xfrm>
            <a:off x="822960" y="2468880"/>
            <a:ext cx="4892040" cy="3429000"/>
          </a:xfrm>
          <a:prstGeom prst="rect">
            <a:avLst/>
          </a:prstGeom>
          <a:noFill/>
          <a:ln/>
        </p:spPr>
        <p:txBody>
          <a:bodyPr wrap="square" rtlCol="0" anchor="t"/>
          <a:lstStyle/>
          <a:p>
            <a:pPr marL="228600" indent="-2286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Perlu membaca dokumen kurikulum secara holistik dari muka hadapan sebelum mengajar.</a:t>
            </a:r>
            <a:endParaRPr lang="en-US" sz="1100" dirty="0"/>
          </a:p>
          <a:p>
            <a:pPr marL="228600" indent="-2286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Perlu menambah 1 waktu jika jadual sekolah hanya peruntuk 5 waktu seminggu.</a:t>
            </a:r>
            <a:endParaRPr lang="en-US" sz="1100" dirty="0"/>
          </a:p>
          <a:p>
            <a:pPr marL="228600" indent="-2286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Perlu patuhi turutan Roman dalam Nota; bebas susun jika simbol Bullet.</a:t>
            </a:r>
            <a:endParaRPr lang="en-US" sz="1100" dirty="0"/>
          </a:p>
          <a:p>
            <a:pPr marL="228600" indent="-2286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Perlu ubah amalan pentaksiran — tiada TP harian, hanya selepas satu tajuk penuh.</a:t>
            </a:r>
            <a:endParaRPr lang="en-US" sz="1100" dirty="0"/>
          </a:p>
          <a:p>
            <a:pPr marL="228600" indent="-2286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Perlu tulis EMK (Kewangan, PKJR, Kelestarian) secara eksplisit dalam RPH.</a:t>
            </a:r>
            <a:endParaRPr lang="en-US" sz="1100" dirty="0"/>
          </a:p>
          <a:p>
            <a:pPr marL="228600" indent="-2286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Perlu bimbing murid lepasan KSSR yang belum terdedah kepada KP2027 sepenuhnya.</a:t>
            </a:r>
            <a:endParaRPr lang="en-US" sz="1100" dirty="0"/>
          </a:p>
        </p:txBody>
      </p:sp>
      <p:sp>
        <p:nvSpPr>
          <p:cNvPr id="9" name="Shape 6"/>
          <p:cNvSpPr/>
          <p:nvPr/>
        </p:nvSpPr>
        <p:spPr>
          <a:xfrm>
            <a:off x="6217920" y="1645920"/>
            <a:ext cx="5394960" cy="4389120"/>
          </a:xfrm>
          <a:prstGeom prst="roundRect">
            <a:avLst>
              <a:gd name="adj" fmla="val 1667"/>
            </a:avLst>
          </a:prstGeom>
          <a:solidFill>
            <a:srgbClr val="F5F7FC"/>
          </a:solidFill>
          <a:ln w="12700">
            <a:solidFill>
              <a:srgbClr val="E7EAF2"/>
            </a:solidFill>
            <a:prstDash val="solid"/>
          </a:ln>
        </p:spPr>
      </p:sp>
      <p:sp>
        <p:nvSpPr>
          <p:cNvPr id="10" name="Shape 7"/>
          <p:cNvSpPr/>
          <p:nvPr/>
        </p:nvSpPr>
        <p:spPr>
          <a:xfrm>
            <a:off x="6446520" y="1828800"/>
            <a:ext cx="640080" cy="640080"/>
          </a:xfrm>
          <a:prstGeom prst="ellipse">
            <a:avLst/>
          </a:prstGeom>
          <a:solidFill>
            <a:srgbClr val="8E44AD"/>
          </a:solidFill>
          <a:ln/>
        </p:spPr>
      </p:sp>
      <p:pic>
        <p:nvPicPr>
          <p:cNvPr id="11" name="Image 1" descr="/home/claude/shared_icons/icon_users.png">    </p:cNvPr>
          <p:cNvPicPr>
            <a:picLocks noChangeAspect="1"/>
          </p:cNvPicPr>
          <p:nvPr/>
        </p:nvPicPr>
        <p:blipFill>
          <a:blip r:embed="rId2"/>
          <a:stretch>
            <a:fillRect/>
          </a:stretch>
        </p:blipFill>
        <p:spPr>
          <a:xfrm>
            <a:off x="6536131" y="1918411"/>
            <a:ext cx="460858" cy="460858"/>
          </a:xfrm>
          <a:prstGeom prst="rect">
            <a:avLst/>
          </a:prstGeom>
        </p:spPr>
      </p:pic>
      <p:sp>
        <p:nvSpPr>
          <p:cNvPr id="12" name="Text 8"/>
          <p:cNvSpPr txBox="1"/>
          <p:nvPr/>
        </p:nvSpPr>
        <p:spPr>
          <a:xfrm>
            <a:off x="7223760" y="1965960"/>
            <a:ext cx="420624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KEPADA MURID</a:t>
            </a:r>
            <a:endParaRPr lang="en-US" sz="1500" dirty="0"/>
          </a:p>
        </p:txBody>
      </p:sp>
      <p:sp>
        <p:nvSpPr>
          <p:cNvPr id="13" name="Text 9"/>
          <p:cNvSpPr txBox="1"/>
          <p:nvPr/>
        </p:nvSpPr>
        <p:spPr>
          <a:xfrm>
            <a:off x="6446520" y="2468880"/>
            <a:ext cx="4892040" cy="3429000"/>
          </a:xfrm>
          <a:prstGeom prst="rect">
            <a:avLst/>
          </a:prstGeom>
          <a:noFill/>
          <a:ln/>
        </p:spPr>
        <p:txBody>
          <a:bodyPr wrap="square" rtlCol="0" anchor="t"/>
          <a:lstStyle/>
          <a:p>
            <a:pPr marL="228600" indent="-228600">
              <a:spcAft>
                <a:spcPts val="800"/>
              </a:spcAft>
              <a:buSzPct val="100000"/>
              <a:buChar char="▪"/>
            </a:pPr>
            <a:r>
              <a:rPr lang="en-US" sz="1100" dirty="0">
                <a:solidFill>
                  <a:srgbClr val="141A45"/>
                </a:solidFill>
                <a:latin typeface="Calibri" pitchFamily="34" charset="0"/>
                <a:ea typeface="Calibri" pitchFamily="34" charset="-122"/>
                <a:cs typeface="Calibri" pitchFamily="34" charset="-120"/>
              </a:rPr>
              <a:t>Dinilai secara holistik selepas satu tajuk penuh — bukan tergesa-gesa setiap hari.</a:t>
            </a:r>
            <a:endParaRPr lang="en-US" sz="1100" dirty="0"/>
          </a:p>
          <a:p>
            <a:pPr marL="228600" indent="-228600">
              <a:spcAft>
                <a:spcPts val="800"/>
              </a:spcAft>
              <a:buSzPct val="100000"/>
              <a:buChar char="▪"/>
            </a:pPr>
            <a:r>
              <a:rPr lang="en-US" sz="1100" dirty="0">
                <a:solidFill>
                  <a:srgbClr val="141A45"/>
                </a:solidFill>
                <a:latin typeface="Calibri" pitchFamily="34" charset="0"/>
                <a:ea typeface="Calibri" pitchFamily="34" charset="-122"/>
                <a:cs typeface="Calibri" pitchFamily="34" charset="-120"/>
              </a:rPr>
              <a:t>Peluang sama untuk semua murid mencuba soalan bukan rutin (TP4), tanpa mengira kelas.</a:t>
            </a:r>
            <a:endParaRPr lang="en-US" sz="1100" dirty="0"/>
          </a:p>
          <a:p>
            <a:pPr marL="228600" indent="-228600">
              <a:spcAft>
                <a:spcPts val="800"/>
              </a:spcAft>
              <a:buSzPct val="100000"/>
              <a:buChar char="▪"/>
            </a:pPr>
            <a:r>
              <a:rPr lang="en-US" sz="1100" dirty="0">
                <a:solidFill>
                  <a:srgbClr val="141A45"/>
                </a:solidFill>
                <a:latin typeface="Calibri" pitchFamily="34" charset="0"/>
                <a:ea typeface="Calibri" pitchFamily="34" charset="-122"/>
                <a:cs typeface="Calibri" pitchFamily="34" charset="-120"/>
              </a:rPr>
              <a:t>Dibimbing membina kepekaan nombor melalui pengiraan mental — kurang bergantung kalkulator.</a:t>
            </a:r>
            <a:endParaRPr lang="en-US" sz="1100" dirty="0"/>
          </a:p>
          <a:p>
            <a:pPr marL="228600" indent="-228600">
              <a:spcAft>
                <a:spcPts val="800"/>
              </a:spcAft>
              <a:buSzPct val="100000"/>
              <a:buChar char="▪"/>
            </a:pPr>
            <a:r>
              <a:rPr lang="en-US" sz="1100" dirty="0">
                <a:solidFill>
                  <a:srgbClr val="141A45"/>
                </a:solidFill>
                <a:latin typeface="Calibri" pitchFamily="34" charset="0"/>
                <a:ea typeface="Calibri" pitchFamily="34" charset="-122"/>
                <a:cs typeface="Calibri" pitchFamily="34" charset="-120"/>
              </a:rPr>
              <a:t>Kesilapan dijadikan bahan pembelajaran (potong, bukan padam) — mengurangkan rasa takut silap.</a:t>
            </a:r>
            <a:endParaRPr lang="en-US" sz="1100" dirty="0"/>
          </a:p>
          <a:p>
            <a:pPr marL="228600" indent="-228600">
              <a:spcAft>
                <a:spcPts val="800"/>
              </a:spcAft>
              <a:buSzPct val="100000"/>
              <a:buChar char="▪"/>
            </a:pPr>
            <a:r>
              <a:rPr lang="en-US" sz="1100" dirty="0">
                <a:solidFill>
                  <a:srgbClr val="141A45"/>
                </a:solidFill>
                <a:latin typeface="Calibri" pitchFamily="34" charset="0"/>
                <a:ea typeface="Calibri" pitchFamily="34" charset="-122"/>
                <a:cs typeface="Calibri" pitchFamily="34" charset="-120"/>
              </a:rPr>
              <a:t>Murid Tingkatan 1 (2027) mendapat bimbingan transisi khas kerana lepasan KSSR.</a:t>
            </a:r>
            <a:endParaRPr lang="en-US" sz="1100" dirty="0"/>
          </a:p>
        </p:txBody>
      </p:sp>
      <p:sp>
        <p:nvSpPr>
          <p:cNvPr id="14" name="Text 10"/>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 Analisis Bengkel</a:t>
            </a:r>
            <a:endParaRPr lang="en-US" sz="1000" dirty="0"/>
          </a:p>
        </p:txBody>
      </p:sp>
      <p:sp>
        <p:nvSpPr>
          <p:cNvPr id="15"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CADANGAN AMALAN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Keutamaan Pelaksanaan di Sekolah</a:t>
            </a:r>
            <a:endParaRPr lang="en-US" sz="2700" dirty="0"/>
          </a:p>
        </p:txBody>
      </p:sp>
      <p:sp>
        <p:nvSpPr>
          <p:cNvPr id="4" name="Shape 2"/>
          <p:cNvSpPr/>
          <p:nvPr/>
        </p:nvSpPr>
        <p:spPr>
          <a:xfrm>
            <a:off x="548640" y="1691640"/>
            <a:ext cx="11064240" cy="1371600"/>
          </a:xfrm>
          <a:prstGeom prst="roundRect">
            <a:avLst>
              <a:gd name="adj" fmla="val 5333"/>
            </a:avLst>
          </a:prstGeom>
          <a:solidFill>
            <a:srgbClr val="F5F7FC"/>
          </a:solidFill>
          <a:ln w="12700">
            <a:solidFill>
              <a:srgbClr val="E7EAF2"/>
            </a:solidFill>
            <a:prstDash val="solid"/>
          </a:ln>
        </p:spPr>
      </p:sp>
      <p:sp>
        <p:nvSpPr>
          <p:cNvPr id="5" name="Shape 3"/>
          <p:cNvSpPr/>
          <p:nvPr/>
        </p:nvSpPr>
        <p:spPr>
          <a:xfrm>
            <a:off x="777240" y="1920240"/>
            <a:ext cx="914400" cy="914400"/>
          </a:xfrm>
          <a:prstGeom prst="ellipse">
            <a:avLst/>
          </a:prstGeom>
          <a:solidFill>
            <a:srgbClr val="E0435A"/>
          </a:solidFill>
          <a:ln/>
        </p:spPr>
      </p:sp>
      <p:sp>
        <p:nvSpPr>
          <p:cNvPr id="6" name="Text 4"/>
          <p:cNvSpPr txBox="1"/>
          <p:nvPr/>
        </p:nvSpPr>
        <p:spPr>
          <a:xfrm>
            <a:off x="777240" y="192024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1920240" y="1856232"/>
            <a:ext cx="2743200" cy="274320"/>
          </a:xfrm>
          <a:prstGeom prst="rect">
            <a:avLst/>
          </a:prstGeom>
          <a:noFill/>
          <a:ln/>
        </p:spPr>
        <p:txBody>
          <a:bodyPr wrap="square" rtlCol="0" anchor="ctr"/>
          <a:lstStyle/>
          <a:p>
            <a:pPr indent="0" marL="0">
              <a:buNone/>
            </a:pPr>
            <a:r>
              <a:rPr lang="en-US" sz="1000" b="1" spc="100" kern="0" dirty="0">
                <a:solidFill>
                  <a:srgbClr val="E0435A"/>
                </a:solidFill>
                <a:latin typeface="Calibri" pitchFamily="34" charset="0"/>
                <a:ea typeface="Calibri" pitchFamily="34" charset="-122"/>
                <a:cs typeface="Calibri" pitchFamily="34" charset="-120"/>
              </a:rPr>
              <a:t>PALING PENTING</a:t>
            </a:r>
            <a:endParaRPr lang="en-US" sz="1000" dirty="0"/>
          </a:p>
        </p:txBody>
      </p:sp>
      <p:sp>
        <p:nvSpPr>
          <p:cNvPr id="8" name="Text 6"/>
          <p:cNvSpPr txBox="1"/>
          <p:nvPr/>
        </p:nvSpPr>
        <p:spPr>
          <a:xfrm>
            <a:off x="1920240" y="2103120"/>
            <a:ext cx="85953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Pengurangan TP kepada 4 &amp; Pelaporan Berasaskan Tajuk</a:t>
            </a:r>
            <a:endParaRPr lang="en-US" sz="1400" dirty="0"/>
          </a:p>
        </p:txBody>
      </p:sp>
      <p:sp>
        <p:nvSpPr>
          <p:cNvPr id="9" name="Text 7"/>
          <p:cNvSpPr txBox="1"/>
          <p:nvPr/>
        </p:nvSpPr>
        <p:spPr>
          <a:xfrm>
            <a:off x="1920240" y="2468880"/>
            <a:ext cx="859536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Perubahan paling radikal yang dinantikan guru — mengurangkan beban pengkeranian dan memfokus kualiti PdP.</a:t>
            </a:r>
            <a:endParaRPr lang="en-US" sz="1100" dirty="0"/>
          </a:p>
        </p:txBody>
      </p:sp>
      <p:sp>
        <p:nvSpPr>
          <p:cNvPr id="10" name="Shape 8"/>
          <p:cNvSpPr/>
          <p:nvPr/>
        </p:nvSpPr>
        <p:spPr>
          <a:xfrm>
            <a:off x="548640" y="3200400"/>
            <a:ext cx="11064240" cy="1371600"/>
          </a:xfrm>
          <a:prstGeom prst="roundRect">
            <a:avLst>
              <a:gd name="adj" fmla="val 5333"/>
            </a:avLst>
          </a:prstGeom>
          <a:solidFill>
            <a:srgbClr val="F5F7FC"/>
          </a:solidFill>
          <a:ln w="12700">
            <a:solidFill>
              <a:srgbClr val="E7EAF2"/>
            </a:solidFill>
            <a:prstDash val="solid"/>
          </a:ln>
        </p:spPr>
      </p:sp>
      <p:sp>
        <p:nvSpPr>
          <p:cNvPr id="11" name="Shape 9"/>
          <p:cNvSpPr/>
          <p:nvPr/>
        </p:nvSpPr>
        <p:spPr>
          <a:xfrm>
            <a:off x="777240" y="3429000"/>
            <a:ext cx="914400" cy="914400"/>
          </a:xfrm>
          <a:prstGeom prst="ellipse">
            <a:avLst/>
          </a:prstGeom>
          <a:solidFill>
            <a:srgbClr val="F2B705"/>
          </a:solidFill>
          <a:ln/>
        </p:spPr>
      </p:sp>
      <p:sp>
        <p:nvSpPr>
          <p:cNvPr id="12" name="Text 10"/>
          <p:cNvSpPr txBox="1"/>
          <p:nvPr/>
        </p:nvSpPr>
        <p:spPr>
          <a:xfrm>
            <a:off x="777240" y="3429000"/>
            <a:ext cx="914400" cy="914400"/>
          </a:xfrm>
          <a:prstGeom prst="rect">
            <a:avLst/>
          </a:prstGeom>
          <a:noFill/>
          <a:ln/>
        </p:spPr>
        <p:txBody>
          <a:bodyPr wrap="square"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1920240" y="3364992"/>
            <a:ext cx="2743200" cy="274320"/>
          </a:xfrm>
          <a:prstGeom prst="rect">
            <a:avLst/>
          </a:prstGeom>
          <a:noFill/>
          <a:ln/>
        </p:spPr>
        <p:txBody>
          <a:bodyPr wrap="square" rtlCol="0" anchor="ctr"/>
          <a:lstStyle/>
          <a:p>
            <a:pPr indent="0" marL="0">
              <a:buNone/>
            </a:pPr>
            <a:r>
              <a:rPr lang="en-US" sz="1000" b="1" spc="100" kern="0" dirty="0">
                <a:solidFill>
                  <a:srgbClr val="B08600"/>
                </a:solidFill>
                <a:latin typeface="Calibri" pitchFamily="34" charset="0"/>
                <a:ea typeface="Calibri" pitchFamily="34" charset="-122"/>
                <a:cs typeface="Calibri" pitchFamily="34" charset="-120"/>
              </a:rPr>
              <a:t>PENTING</a:t>
            </a:r>
            <a:endParaRPr lang="en-US" sz="1000" dirty="0"/>
          </a:p>
        </p:txBody>
      </p:sp>
      <p:sp>
        <p:nvSpPr>
          <p:cNvPr id="14" name="Text 12"/>
          <p:cNvSpPr txBox="1"/>
          <p:nvPr/>
        </p:nvSpPr>
        <p:spPr>
          <a:xfrm>
            <a:off x="1920240" y="3611880"/>
            <a:ext cx="85953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Mental Calculation &amp; Pematuhan Nota (Bullet vs Roman)</a:t>
            </a:r>
            <a:endParaRPr lang="en-US" sz="1400" dirty="0"/>
          </a:p>
        </p:txBody>
      </p:sp>
      <p:sp>
        <p:nvSpPr>
          <p:cNvPr id="15" name="Text 13"/>
          <p:cNvSpPr txBox="1"/>
          <p:nvPr/>
        </p:nvSpPr>
        <p:spPr>
          <a:xfrm>
            <a:off x="1920240" y="3977640"/>
            <a:ext cx="859536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Melatih number sense murid dan memastikan PdP menepati kelebaran/kedalaman kurikulum yang betul.</a:t>
            </a:r>
            <a:endParaRPr lang="en-US" sz="1100" dirty="0"/>
          </a:p>
        </p:txBody>
      </p:sp>
      <p:sp>
        <p:nvSpPr>
          <p:cNvPr id="16" name="Shape 14"/>
          <p:cNvSpPr/>
          <p:nvPr/>
        </p:nvSpPr>
        <p:spPr>
          <a:xfrm>
            <a:off x="548640" y="4709160"/>
            <a:ext cx="11064240" cy="1371600"/>
          </a:xfrm>
          <a:prstGeom prst="roundRect">
            <a:avLst>
              <a:gd name="adj" fmla="val 5333"/>
            </a:avLst>
          </a:prstGeom>
          <a:solidFill>
            <a:srgbClr val="F5F7FC"/>
          </a:solidFill>
          <a:ln w="12700">
            <a:solidFill>
              <a:srgbClr val="E7EAF2"/>
            </a:solidFill>
            <a:prstDash val="solid"/>
          </a:ln>
        </p:spPr>
      </p:sp>
      <p:sp>
        <p:nvSpPr>
          <p:cNvPr id="17" name="Shape 15"/>
          <p:cNvSpPr/>
          <p:nvPr/>
        </p:nvSpPr>
        <p:spPr>
          <a:xfrm>
            <a:off x="777240" y="4937760"/>
            <a:ext cx="914400" cy="914400"/>
          </a:xfrm>
          <a:prstGeom prst="ellipse">
            <a:avLst/>
          </a:prstGeom>
          <a:solidFill>
            <a:srgbClr val="27AE60"/>
          </a:solidFill>
          <a:ln/>
        </p:spPr>
      </p:sp>
      <p:sp>
        <p:nvSpPr>
          <p:cNvPr id="18" name="Text 16"/>
          <p:cNvSpPr txBox="1"/>
          <p:nvPr/>
        </p:nvSpPr>
        <p:spPr>
          <a:xfrm>
            <a:off x="777240" y="493776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920240" y="4873752"/>
            <a:ext cx="2743200" cy="274320"/>
          </a:xfrm>
          <a:prstGeom prst="rect">
            <a:avLst/>
          </a:prstGeom>
          <a:noFill/>
          <a:ln/>
        </p:spPr>
        <p:txBody>
          <a:bodyPr wrap="square" rtlCol="0" anchor="ctr"/>
          <a:lstStyle/>
          <a:p>
            <a:pPr indent="0" marL="0">
              <a:buNone/>
            </a:pPr>
            <a:r>
              <a:rPr lang="en-US" sz="1000" b="1" spc="100" kern="0" dirty="0">
                <a:solidFill>
                  <a:srgbClr val="27AE60"/>
                </a:solidFill>
                <a:latin typeface="Calibri" pitchFamily="34" charset="0"/>
                <a:ea typeface="Calibri" pitchFamily="34" charset="-122"/>
                <a:cs typeface="Calibri" pitchFamily="34" charset="-120"/>
              </a:rPr>
              <a:t>SOKONGAN</a:t>
            </a:r>
            <a:endParaRPr lang="en-US" sz="1000" dirty="0"/>
          </a:p>
        </p:txBody>
      </p:sp>
      <p:sp>
        <p:nvSpPr>
          <p:cNvPr id="20" name="Text 18"/>
          <p:cNvSpPr txBox="1"/>
          <p:nvPr/>
        </p:nvSpPr>
        <p:spPr>
          <a:xfrm>
            <a:off x="1920240" y="5120640"/>
            <a:ext cx="85953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Panduan Penggunaan AI Secara Beretika dalam PdP</a:t>
            </a:r>
            <a:endParaRPr lang="en-US" sz="1400" dirty="0"/>
          </a:p>
        </p:txBody>
      </p:sp>
      <p:sp>
        <p:nvSpPr>
          <p:cNvPr id="21" name="Text 19"/>
          <p:cNvSpPr txBox="1"/>
          <p:nvPr/>
        </p:nvSpPr>
        <p:spPr>
          <a:xfrm>
            <a:off x="1920240" y="5486400"/>
            <a:ext cx="859536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Mempercepat penyediaan bahan PdP interaktif dengan pemantauan kesahihan oleh guru.</a:t>
            </a:r>
            <a:endParaRPr lang="en-US" sz="1100" dirty="0"/>
          </a:p>
        </p:txBody>
      </p:sp>
      <p:sp>
        <p:nvSpPr>
          <p:cNvPr id="22" name="Text 20"/>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Rakaman SP dan SPi, Bhg. 9</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PERBINCANGAN GURU</a:t>
            </a:r>
            <a:endParaRPr lang="en-US" sz="1300" dirty="0"/>
          </a:p>
        </p:txBody>
      </p:sp>
      <p:sp>
        <p:nvSpPr>
          <p:cNvPr id="3" name="Text 1"/>
          <p:cNvSpPr txBox="1"/>
          <p:nvPr/>
        </p:nvSpPr>
        <p:spPr>
          <a:xfrm>
            <a:off x="548640" y="658368"/>
            <a:ext cx="11155680" cy="68580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Aktiviti Refleksi: Mahkamah Keadilan Pentaksiran</a:t>
            </a:r>
            <a:endParaRPr lang="en-US" sz="2500" dirty="0"/>
          </a:p>
        </p:txBody>
      </p:sp>
      <p:sp>
        <p:nvSpPr>
          <p:cNvPr id="4" name="Shape 2"/>
          <p:cNvSpPr/>
          <p:nvPr/>
        </p:nvSpPr>
        <p:spPr>
          <a:xfrm>
            <a:off x="548640" y="1554480"/>
            <a:ext cx="5349240" cy="4297680"/>
          </a:xfrm>
          <a:prstGeom prst="roundRect">
            <a:avLst>
              <a:gd name="adj" fmla="val 1702"/>
            </a:avLst>
          </a:prstGeom>
          <a:solidFill>
            <a:srgbClr val="141A45"/>
          </a:solidFill>
          <a:ln w="12700">
            <a:solidFill>
              <a:srgbClr val="F2B705"/>
            </a:solidFill>
            <a:prstDash val="solid"/>
          </a:ln>
        </p:spPr>
      </p:sp>
      <p:sp>
        <p:nvSpPr>
          <p:cNvPr id="5" name="Shape 3"/>
          <p:cNvSpPr/>
          <p:nvPr/>
        </p:nvSpPr>
        <p:spPr>
          <a:xfrm>
            <a:off x="777240" y="1737360"/>
            <a:ext cx="594360" cy="594360"/>
          </a:xfrm>
          <a:prstGeom prst="ellipse">
            <a:avLst/>
          </a:prstGeom>
          <a:solidFill>
            <a:srgbClr val="F2B705"/>
          </a:solidFill>
          <a:ln/>
        </p:spPr>
      </p:sp>
      <p:pic>
        <p:nvPicPr>
          <p:cNvPr id="6" name="Image 0" descr="/home/claude/shared_icons/icon_gavel.png">    </p:cNvPr>
          <p:cNvPicPr>
            <a:picLocks noChangeAspect="1"/>
          </p:cNvPicPr>
          <p:nvPr/>
        </p:nvPicPr>
        <p:blipFill>
          <a:blip r:embed="rId1"/>
          <a:stretch>
            <a:fillRect/>
          </a:stretch>
        </p:blipFill>
        <p:spPr>
          <a:xfrm>
            <a:off x="860450" y="1820570"/>
            <a:ext cx="427939" cy="427939"/>
          </a:xfrm>
          <a:prstGeom prst="rect">
            <a:avLst/>
          </a:prstGeom>
        </p:spPr>
      </p:pic>
      <p:sp>
        <p:nvSpPr>
          <p:cNvPr id="7" name="Text 4"/>
          <p:cNvSpPr txBox="1"/>
          <p:nvPr/>
        </p:nvSpPr>
        <p:spPr>
          <a:xfrm>
            <a:off x="1508760" y="1828800"/>
            <a:ext cx="4206240" cy="36576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PAPAN BUKTI</a:t>
            </a:r>
            <a:endParaRPr lang="en-US" sz="1400" dirty="0"/>
          </a:p>
        </p:txBody>
      </p:sp>
      <p:sp>
        <p:nvSpPr>
          <p:cNvPr id="8" name="Text 5"/>
          <p:cNvSpPr txBox="1"/>
          <p:nvPr/>
        </p:nvSpPr>
        <p:spPr>
          <a:xfrm>
            <a:off x="777240" y="2468880"/>
            <a:ext cx="2468880" cy="274320"/>
          </a:xfrm>
          <a:prstGeom prst="rect">
            <a:avLst/>
          </a:prstGeom>
          <a:noFill/>
          <a:ln/>
        </p:spPr>
        <p:txBody>
          <a:bodyPr wrap="square" rtlCol="0" anchor="ctr"/>
          <a:lstStyle/>
          <a:p>
            <a:pPr indent="0" marL="0">
              <a:buNone/>
            </a:pPr>
            <a:r>
              <a:rPr lang="en-US" sz="1150" b="1" dirty="0">
                <a:solidFill>
                  <a:srgbClr val="F2B705"/>
                </a:solidFill>
                <a:latin typeface="Calibri" pitchFamily="34" charset="0"/>
                <a:ea typeface="Calibri" pitchFamily="34" charset="-122"/>
                <a:cs typeface="Calibri" pitchFamily="34" charset="-120"/>
              </a:rPr>
              <a:t>Murid A</a:t>
            </a:r>
            <a:endParaRPr lang="en-US" sz="1150" dirty="0"/>
          </a:p>
        </p:txBody>
      </p:sp>
      <p:sp>
        <p:nvSpPr>
          <p:cNvPr id="9" name="Text 6"/>
          <p:cNvSpPr txBox="1"/>
          <p:nvPr/>
        </p:nvSpPr>
        <p:spPr>
          <a:xfrm>
            <a:off x="777240" y="2743200"/>
            <a:ext cx="2423160" cy="1188720"/>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Jalan kerja algoritma tepat 100% (hafal prosedur/formula), mendapat jawapan akhir yang betul.</a:t>
            </a:r>
            <a:endParaRPr lang="en-US" sz="1050" dirty="0"/>
          </a:p>
        </p:txBody>
      </p:sp>
      <p:sp>
        <p:nvSpPr>
          <p:cNvPr id="10" name="Text 7"/>
          <p:cNvSpPr txBox="1"/>
          <p:nvPr/>
        </p:nvSpPr>
        <p:spPr>
          <a:xfrm>
            <a:off x="3383280" y="2468880"/>
            <a:ext cx="2377440" cy="274320"/>
          </a:xfrm>
          <a:prstGeom prst="rect">
            <a:avLst/>
          </a:prstGeom>
          <a:noFill/>
          <a:ln/>
        </p:spPr>
        <p:txBody>
          <a:bodyPr wrap="square" rtlCol="0" anchor="ctr"/>
          <a:lstStyle/>
          <a:p>
            <a:pPr indent="0" marL="0">
              <a:buNone/>
            </a:pPr>
            <a:r>
              <a:rPr lang="en-US" sz="1150" b="1" dirty="0">
                <a:solidFill>
                  <a:srgbClr val="F2B705"/>
                </a:solidFill>
                <a:latin typeface="Calibri" pitchFamily="34" charset="0"/>
                <a:ea typeface="Calibri" pitchFamily="34" charset="-122"/>
                <a:cs typeface="Calibri" pitchFamily="34" charset="-120"/>
              </a:rPr>
              <a:t>Murid B</a:t>
            </a:r>
            <a:endParaRPr lang="en-US" sz="1150" dirty="0"/>
          </a:p>
        </p:txBody>
      </p:sp>
      <p:sp>
        <p:nvSpPr>
          <p:cNvPr id="11" name="Text 8"/>
          <p:cNvSpPr txBox="1"/>
          <p:nvPr/>
        </p:nvSpPr>
        <p:spPr>
          <a:xfrm>
            <a:off x="3383280" y="2743200"/>
            <a:ext cx="2377440" cy="1188720"/>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Lakaran gambar rajah logik &amp; kontekstual, tetapi tersalah kira di baris terakhir (jawapan akhir salah).</a:t>
            </a:r>
            <a:endParaRPr lang="en-US" sz="1050" dirty="0"/>
          </a:p>
        </p:txBody>
      </p:sp>
      <p:sp>
        <p:nvSpPr>
          <p:cNvPr id="12" name="Text 9"/>
          <p:cNvSpPr txBox="1"/>
          <p:nvPr/>
        </p:nvSpPr>
        <p:spPr>
          <a:xfrm>
            <a:off x="777240" y="4114800"/>
            <a:ext cx="484632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Soalan Perbincangan:</a:t>
            </a:r>
            <a:endParaRPr lang="en-US" sz="1200" dirty="0"/>
          </a:p>
        </p:txBody>
      </p:sp>
      <p:sp>
        <p:nvSpPr>
          <p:cNvPr id="13" name="Text 10"/>
          <p:cNvSpPr txBox="1"/>
          <p:nvPr/>
        </p:nvSpPr>
        <p:spPr>
          <a:xfrm>
            <a:off x="777240" y="4480560"/>
            <a:ext cx="4846320" cy="1280160"/>
          </a:xfrm>
          <a:prstGeom prst="rect">
            <a:avLst/>
          </a:prstGeom>
          <a:noFill/>
          <a:ln/>
        </p:spPr>
        <p:txBody>
          <a:bodyPr wrap="square" rtlCol="0" anchor="ctr"/>
          <a:lstStyle/>
          <a:p>
            <a:pPr indent="0" marL="0">
              <a:lnSpc>
                <a:spcPct val="120000"/>
              </a:lnSpc>
              <a:buNone/>
            </a:pPr>
            <a:r>
              <a:rPr lang="en-US" sz="1080" dirty="0">
                <a:solidFill>
                  <a:srgbClr val="CADCFC"/>
                </a:solidFill>
                <a:latin typeface="Calibri" pitchFamily="34" charset="0"/>
                <a:ea typeface="Calibri" pitchFamily="34" charset="-122"/>
                <a:cs typeface="Calibri" pitchFamily="34" charset="-120"/>
              </a:rPr>
              <a:t>Sebagai pentaksir, tetapkan Tahap Penguasaan (TP1–TP4) untuk kedua-dua murid. Adakah Murid B layak mendapat TP lebih tinggi berbanding Murid A? Justifikasikan mengapa kurikulum baharu menegaskan peralihan daripada hafalan kepada penaakulan.</a:t>
            </a:r>
            <a:endParaRPr lang="en-US" sz="1080" dirty="0"/>
          </a:p>
        </p:txBody>
      </p:sp>
      <p:sp>
        <p:nvSpPr>
          <p:cNvPr id="14" name="Shape 11"/>
          <p:cNvSpPr/>
          <p:nvPr/>
        </p:nvSpPr>
        <p:spPr>
          <a:xfrm>
            <a:off x="6263640" y="1554480"/>
            <a:ext cx="5349240" cy="4297680"/>
          </a:xfrm>
          <a:prstGeom prst="roundRect">
            <a:avLst>
              <a:gd name="adj" fmla="val 1702"/>
            </a:avLst>
          </a:prstGeom>
          <a:solidFill>
            <a:srgbClr val="141A45"/>
          </a:solidFill>
          <a:ln w="12700">
            <a:solidFill>
              <a:srgbClr val="F2B705"/>
            </a:solidFill>
            <a:prstDash val="solid"/>
          </a:ln>
        </p:spPr>
      </p:sp>
      <p:sp>
        <p:nvSpPr>
          <p:cNvPr id="15" name="Shape 12"/>
          <p:cNvSpPr/>
          <p:nvPr/>
        </p:nvSpPr>
        <p:spPr>
          <a:xfrm>
            <a:off x="6492240" y="1737360"/>
            <a:ext cx="594360" cy="594360"/>
          </a:xfrm>
          <a:prstGeom prst="ellipse">
            <a:avLst/>
          </a:prstGeom>
          <a:solidFill>
            <a:srgbClr val="27AE60"/>
          </a:solidFill>
          <a:ln/>
        </p:spPr>
      </p:sp>
      <p:pic>
        <p:nvPicPr>
          <p:cNvPr id="16" name="Image 1" descr="/home/claude/shared_icons/icon_cubes.png">    </p:cNvPr>
          <p:cNvPicPr>
            <a:picLocks noChangeAspect="1"/>
          </p:cNvPicPr>
          <p:nvPr/>
        </p:nvPicPr>
        <p:blipFill>
          <a:blip r:embed="rId2"/>
          <a:stretch>
            <a:fillRect/>
          </a:stretch>
        </p:blipFill>
        <p:spPr>
          <a:xfrm>
            <a:off x="6575450" y="1820570"/>
            <a:ext cx="427939" cy="427939"/>
          </a:xfrm>
          <a:prstGeom prst="rect">
            <a:avLst/>
          </a:prstGeom>
        </p:spPr>
      </p:pic>
      <p:sp>
        <p:nvSpPr>
          <p:cNvPr id="17" name="Text 13"/>
          <p:cNvSpPr txBox="1"/>
          <p:nvPr/>
        </p:nvSpPr>
        <p:spPr>
          <a:xfrm>
            <a:off x="7223760" y="1828800"/>
            <a:ext cx="420624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CABARAN “BICARA NOMBOR”</a:t>
            </a:r>
            <a:endParaRPr lang="en-US" sz="1300" dirty="0"/>
          </a:p>
        </p:txBody>
      </p:sp>
      <p:sp>
        <p:nvSpPr>
          <p:cNvPr id="18" name="Text 14"/>
          <p:cNvSpPr txBox="1"/>
          <p:nvPr/>
        </p:nvSpPr>
        <p:spPr>
          <a:xfrm>
            <a:off x="6492240" y="2468880"/>
            <a:ext cx="4937760" cy="594360"/>
          </a:xfrm>
          <a:prstGeom prst="rect">
            <a:avLst/>
          </a:prstGeom>
          <a:noFill/>
          <a:ln/>
        </p:spPr>
        <p:txBody>
          <a:bodyPr wrap="square"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Senario: Anda ingin membeli kasut berharga RM80 dengan diskaun 15%.</a:t>
            </a:r>
            <a:endParaRPr lang="en-US" sz="1100" dirty="0"/>
          </a:p>
        </p:txBody>
      </p:sp>
      <p:sp>
        <p:nvSpPr>
          <p:cNvPr id="19" name="Text 15"/>
          <p:cNvSpPr txBox="1"/>
          <p:nvPr/>
        </p:nvSpPr>
        <p:spPr>
          <a:xfrm>
            <a:off x="6492240" y="3108960"/>
            <a:ext cx="4937760" cy="548640"/>
          </a:xfrm>
          <a:prstGeom prst="rect">
            <a:avLst/>
          </a:prstGeom>
          <a:noFill/>
          <a:ln/>
        </p:spPr>
        <p:txBody>
          <a:bodyPr wrap="square"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Syarat Ketat: Tiada kalkulator, tiada kertas, dilarang menyebut formula lazim.</a:t>
            </a:r>
            <a:endParaRPr lang="en-US" sz="1100" dirty="0"/>
          </a:p>
        </p:txBody>
      </p:sp>
      <p:sp>
        <p:nvSpPr>
          <p:cNvPr id="20" name="Text 16"/>
          <p:cNvSpPr txBox="1"/>
          <p:nvPr/>
        </p:nvSpPr>
        <p:spPr>
          <a:xfrm>
            <a:off x="6492240" y="3749040"/>
            <a:ext cx="4937760" cy="868680"/>
          </a:xfrm>
          <a:prstGeom prst="rect">
            <a:avLst/>
          </a:prstGeom>
          <a:noFill/>
          <a:ln/>
        </p:spPr>
        <p:txBody>
          <a:bodyPr wrap="square" rtlCol="0" anchor="ctr"/>
          <a:lstStyle/>
          <a:p>
            <a:pPr indent="0" marL="0">
              <a:lnSpc>
                <a:spcPct val="120000"/>
              </a:lnSpc>
              <a:buNone/>
            </a:pPr>
            <a:r>
              <a:rPr lang="en-US" sz="1080" dirty="0">
                <a:solidFill>
                  <a:srgbClr val="CADCFC"/>
                </a:solidFill>
                <a:latin typeface="Calibri" pitchFamily="34" charset="0"/>
                <a:ea typeface="Calibri" pitchFamily="34" charset="-122"/>
                <a:cs typeface="Calibri" pitchFamily="34" charset="-120"/>
              </a:rPr>
              <a:t>Tugasan: Cerakinkan nombor dalam minda menggunakan Kepekaan Nombor (Number Sense); jelaskan proses kognitif secara lisan kepada rakan.</a:t>
            </a:r>
            <a:endParaRPr lang="en-US" sz="1080" dirty="0"/>
          </a:p>
        </p:txBody>
      </p:sp>
      <p:sp>
        <p:nvSpPr>
          <p:cNvPr id="21" name="Text 17"/>
          <p:cNvSpPr txBox="1"/>
          <p:nvPr/>
        </p:nvSpPr>
        <p:spPr>
          <a:xfrm>
            <a:off x="6492240" y="4709160"/>
            <a:ext cx="4937760" cy="1005840"/>
          </a:xfrm>
          <a:prstGeom prst="rect">
            <a:avLst/>
          </a:prstGeom>
          <a:noFill/>
          <a:ln/>
        </p:spPr>
        <p:txBody>
          <a:bodyPr wrap="square" rtlCol="0" anchor="ctr"/>
          <a:lstStyle/>
          <a:p>
            <a:pPr indent="0" marL="0">
              <a:lnSpc>
                <a:spcPct val="120000"/>
              </a:lnSpc>
              <a:buNone/>
            </a:pPr>
            <a:r>
              <a:rPr lang="en-US" sz="1080" dirty="0">
                <a:solidFill>
                  <a:srgbClr val="CADCFC"/>
                </a:solidFill>
                <a:latin typeface="Calibri" pitchFamily="34" charset="0"/>
                <a:ea typeface="Calibri" pitchFamily="34" charset="-122"/>
                <a:cs typeface="Calibri" pitchFamily="34" charset="-120"/>
              </a:rPr>
              <a:t>Persoalan: Mengapakah ‘Kebergantungan Sifar’ kepada peranti luaran kritikal sebelum murid dibenarkan memegang kalkulator di sekolah menengah atas?</a:t>
            </a:r>
            <a:endParaRPr lang="en-US" sz="1080" dirty="0"/>
          </a:p>
        </p:txBody>
      </p:sp>
      <p:sp>
        <p:nvSpPr>
          <p:cNvPr id="22" name="Text 18"/>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Aktiviti Bengkel Sidang 3, m/s 5, 9–10</a:t>
            </a:r>
            <a:endParaRPr lang="en-US" sz="1000" dirty="0"/>
          </a:p>
        </p:txBody>
      </p:sp>
      <p:sp>
        <p:nvSpPr>
          <p:cNvPr id="23"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FAQ RINGKAS</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Soalan Lazim Guru</a:t>
            </a:r>
            <a:endParaRPr lang="en-US" sz="2700" dirty="0"/>
          </a:p>
        </p:txBody>
      </p:sp>
      <p:sp>
        <p:nvSpPr>
          <p:cNvPr id="4" name="Shape 2"/>
          <p:cNvSpPr/>
          <p:nvPr/>
        </p:nvSpPr>
        <p:spPr>
          <a:xfrm>
            <a:off x="548640" y="1691640"/>
            <a:ext cx="11064240" cy="1051560"/>
          </a:xfrm>
          <a:prstGeom prst="roundRect">
            <a:avLst>
              <a:gd name="adj" fmla="val 6957"/>
            </a:avLst>
          </a:prstGeom>
          <a:solidFill>
            <a:srgbClr val="F5F7FC"/>
          </a:solidFill>
          <a:ln w="12700">
            <a:solidFill>
              <a:srgbClr val="E7EAF2"/>
            </a:solidFill>
            <a:prstDash val="solid"/>
          </a:ln>
        </p:spPr>
      </p:sp>
      <p:sp>
        <p:nvSpPr>
          <p:cNvPr id="5" name="Shape 3"/>
          <p:cNvSpPr/>
          <p:nvPr/>
        </p:nvSpPr>
        <p:spPr>
          <a:xfrm>
            <a:off x="731520" y="1920240"/>
            <a:ext cx="594360" cy="594360"/>
          </a:xfrm>
          <a:prstGeom prst="ellipse">
            <a:avLst/>
          </a:prstGeom>
          <a:solidFill>
            <a:srgbClr val="1E2761"/>
          </a:solidFill>
          <a:ln/>
        </p:spPr>
      </p:sp>
      <p:pic>
        <p:nvPicPr>
          <p:cNvPr id="6" name="Image 0" descr="/home/claude/shared_icons/icon_question.png">    </p:cNvPr>
          <p:cNvPicPr>
            <a:picLocks noChangeAspect="1"/>
          </p:cNvPicPr>
          <p:nvPr/>
        </p:nvPicPr>
        <p:blipFill>
          <a:blip r:embed="rId1"/>
          <a:stretch>
            <a:fillRect/>
          </a:stretch>
        </p:blipFill>
        <p:spPr>
          <a:xfrm>
            <a:off x="814730" y="2003450"/>
            <a:ext cx="427939" cy="427939"/>
          </a:xfrm>
          <a:prstGeom prst="rect">
            <a:avLst/>
          </a:prstGeom>
        </p:spPr>
      </p:pic>
      <p:sp>
        <p:nvSpPr>
          <p:cNvPr id="7" name="Text 4"/>
          <p:cNvSpPr txBox="1"/>
          <p:nvPr/>
        </p:nvSpPr>
        <p:spPr>
          <a:xfrm>
            <a:off x="1508760" y="1783080"/>
            <a:ext cx="9875520" cy="36576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 Adakah kita masih guna 6 TP untuk semua tingkatan?</a:t>
            </a:r>
            <a:endParaRPr lang="en-US" sz="1250" dirty="0"/>
          </a:p>
        </p:txBody>
      </p:sp>
      <p:sp>
        <p:nvSpPr>
          <p:cNvPr id="8" name="Text 5"/>
          <p:cNvSpPr txBox="1"/>
          <p:nvPr/>
        </p:nvSpPr>
        <p:spPr>
          <a:xfrm>
            <a:off x="1508760" y="2194560"/>
            <a:ext cx="9875520" cy="502920"/>
          </a:xfrm>
          <a:prstGeom prst="rect">
            <a:avLst/>
          </a:prstGeom>
          <a:noFill/>
          <a:ln/>
        </p:spPr>
        <p:txBody>
          <a:bodyPr wrap="square"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J: Tidak. Tingkatan 1 (KP2027) guna 4 TP. Tingkatan 2 &amp; ke atas kekal 6 TP (KSSM) buat masa ini.</a:t>
            </a:r>
            <a:endParaRPr lang="en-US" sz="1150" dirty="0"/>
          </a:p>
        </p:txBody>
      </p:sp>
      <p:sp>
        <p:nvSpPr>
          <p:cNvPr id="9" name="Shape 6"/>
          <p:cNvSpPr/>
          <p:nvPr/>
        </p:nvSpPr>
        <p:spPr>
          <a:xfrm>
            <a:off x="548640" y="2862072"/>
            <a:ext cx="11064240" cy="1051560"/>
          </a:xfrm>
          <a:prstGeom prst="roundRect">
            <a:avLst>
              <a:gd name="adj" fmla="val 6957"/>
            </a:avLst>
          </a:prstGeom>
          <a:solidFill>
            <a:srgbClr val="F5F7FC"/>
          </a:solidFill>
          <a:ln w="12700">
            <a:solidFill>
              <a:srgbClr val="E7EAF2"/>
            </a:solidFill>
            <a:prstDash val="solid"/>
          </a:ln>
        </p:spPr>
      </p:sp>
      <p:sp>
        <p:nvSpPr>
          <p:cNvPr id="10" name="Shape 7"/>
          <p:cNvSpPr/>
          <p:nvPr/>
        </p:nvSpPr>
        <p:spPr>
          <a:xfrm>
            <a:off x="731520" y="3090672"/>
            <a:ext cx="594360" cy="594360"/>
          </a:xfrm>
          <a:prstGeom prst="ellipse">
            <a:avLst/>
          </a:prstGeom>
          <a:solidFill>
            <a:srgbClr val="1E2761"/>
          </a:solidFill>
          <a:ln/>
        </p:spPr>
      </p:sp>
      <p:pic>
        <p:nvPicPr>
          <p:cNvPr id="11" name="Image 1" descr="/home/claude/shared_icons/icon_question.png">    </p:cNvPr>
          <p:cNvPicPr>
            <a:picLocks noChangeAspect="1"/>
          </p:cNvPicPr>
          <p:nvPr/>
        </p:nvPicPr>
        <p:blipFill>
          <a:blip r:embed="rId2"/>
          <a:stretch>
            <a:fillRect/>
          </a:stretch>
        </p:blipFill>
        <p:spPr>
          <a:xfrm>
            <a:off x="814730" y="3173882"/>
            <a:ext cx="427939" cy="427939"/>
          </a:xfrm>
          <a:prstGeom prst="rect">
            <a:avLst/>
          </a:prstGeom>
        </p:spPr>
      </p:pic>
      <p:sp>
        <p:nvSpPr>
          <p:cNvPr id="12" name="Text 8"/>
          <p:cNvSpPr txBox="1"/>
          <p:nvPr/>
        </p:nvSpPr>
        <p:spPr>
          <a:xfrm>
            <a:off x="1508760" y="2953512"/>
            <a:ext cx="9875520" cy="36576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 Perlukah TP direkod bagi setiap SP yang diajar setiap hari?</a:t>
            </a:r>
            <a:endParaRPr lang="en-US" sz="1250" dirty="0"/>
          </a:p>
        </p:txBody>
      </p:sp>
      <p:sp>
        <p:nvSpPr>
          <p:cNvPr id="13" name="Text 9"/>
          <p:cNvSpPr txBox="1"/>
          <p:nvPr/>
        </p:nvSpPr>
        <p:spPr>
          <a:xfrm>
            <a:off x="1508760" y="3364992"/>
            <a:ext cx="9875520" cy="502920"/>
          </a:xfrm>
          <a:prstGeom prst="rect">
            <a:avLst/>
          </a:prstGeom>
          <a:noFill/>
          <a:ln/>
        </p:spPr>
        <p:txBody>
          <a:bodyPr wrap="square"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J: Tidak boleh. TP hanya ditentukan selepas selesai KESELURUHAN SP bagi satu tajuk/bab.</a:t>
            </a:r>
            <a:endParaRPr lang="en-US" sz="1150" dirty="0"/>
          </a:p>
        </p:txBody>
      </p:sp>
      <p:sp>
        <p:nvSpPr>
          <p:cNvPr id="14" name="Shape 10"/>
          <p:cNvSpPr/>
          <p:nvPr/>
        </p:nvSpPr>
        <p:spPr>
          <a:xfrm>
            <a:off x="548640" y="4032504"/>
            <a:ext cx="11064240" cy="1051560"/>
          </a:xfrm>
          <a:prstGeom prst="roundRect">
            <a:avLst>
              <a:gd name="adj" fmla="val 6957"/>
            </a:avLst>
          </a:prstGeom>
          <a:solidFill>
            <a:srgbClr val="F5F7FC"/>
          </a:solidFill>
          <a:ln w="12700">
            <a:solidFill>
              <a:srgbClr val="E7EAF2"/>
            </a:solidFill>
            <a:prstDash val="solid"/>
          </a:ln>
        </p:spPr>
      </p:sp>
      <p:sp>
        <p:nvSpPr>
          <p:cNvPr id="15" name="Shape 11"/>
          <p:cNvSpPr/>
          <p:nvPr/>
        </p:nvSpPr>
        <p:spPr>
          <a:xfrm>
            <a:off x="731520" y="4261104"/>
            <a:ext cx="594360" cy="594360"/>
          </a:xfrm>
          <a:prstGeom prst="ellipse">
            <a:avLst/>
          </a:prstGeom>
          <a:solidFill>
            <a:srgbClr val="1E2761"/>
          </a:solidFill>
          <a:ln/>
        </p:spPr>
      </p:sp>
      <p:pic>
        <p:nvPicPr>
          <p:cNvPr id="16" name="Image 2" descr="/home/claude/shared_icons/icon_question.png">    </p:cNvPr>
          <p:cNvPicPr>
            <a:picLocks noChangeAspect="1"/>
          </p:cNvPicPr>
          <p:nvPr/>
        </p:nvPicPr>
        <p:blipFill>
          <a:blip r:embed="rId3"/>
          <a:stretch>
            <a:fillRect/>
          </a:stretch>
        </p:blipFill>
        <p:spPr>
          <a:xfrm>
            <a:off x="814730" y="4344314"/>
            <a:ext cx="427939" cy="427939"/>
          </a:xfrm>
          <a:prstGeom prst="rect">
            <a:avLst/>
          </a:prstGeom>
        </p:spPr>
      </p:pic>
      <p:sp>
        <p:nvSpPr>
          <p:cNvPr id="17" name="Text 12"/>
          <p:cNvSpPr txBox="1"/>
          <p:nvPr/>
        </p:nvSpPr>
        <p:spPr>
          <a:xfrm>
            <a:off x="1508760" y="4123944"/>
            <a:ext cx="9875520" cy="36576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 Adakah 5 waktu seminggu mencukupi bagi Matematik T1?</a:t>
            </a:r>
            <a:endParaRPr lang="en-US" sz="1250" dirty="0"/>
          </a:p>
        </p:txBody>
      </p:sp>
      <p:sp>
        <p:nvSpPr>
          <p:cNvPr id="18" name="Text 13"/>
          <p:cNvSpPr txBox="1"/>
          <p:nvPr/>
        </p:nvSpPr>
        <p:spPr>
          <a:xfrm>
            <a:off x="1508760" y="4535424"/>
            <a:ext cx="9875520" cy="502920"/>
          </a:xfrm>
          <a:prstGeom prst="rect">
            <a:avLst/>
          </a:prstGeom>
          <a:noFill/>
          <a:ln/>
        </p:spPr>
        <p:txBody>
          <a:bodyPr wrap="square"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J: Tidak mencukupi. Peruntukan rasmi ialah 6 waktu seminggu — sekolah perlu selaraskan jadual.</a:t>
            </a:r>
            <a:endParaRPr lang="en-US" sz="1150" dirty="0"/>
          </a:p>
        </p:txBody>
      </p:sp>
      <p:sp>
        <p:nvSpPr>
          <p:cNvPr id="19" name="Shape 14"/>
          <p:cNvSpPr/>
          <p:nvPr/>
        </p:nvSpPr>
        <p:spPr>
          <a:xfrm>
            <a:off x="548640" y="5202936"/>
            <a:ext cx="11064240" cy="1051560"/>
          </a:xfrm>
          <a:prstGeom prst="roundRect">
            <a:avLst>
              <a:gd name="adj" fmla="val 6957"/>
            </a:avLst>
          </a:prstGeom>
          <a:solidFill>
            <a:srgbClr val="F5F7FC"/>
          </a:solidFill>
          <a:ln w="12700">
            <a:solidFill>
              <a:srgbClr val="E7EAF2"/>
            </a:solidFill>
            <a:prstDash val="solid"/>
          </a:ln>
        </p:spPr>
      </p:sp>
      <p:sp>
        <p:nvSpPr>
          <p:cNvPr id="20" name="Shape 15"/>
          <p:cNvSpPr/>
          <p:nvPr/>
        </p:nvSpPr>
        <p:spPr>
          <a:xfrm>
            <a:off x="731520" y="5431536"/>
            <a:ext cx="594360" cy="594360"/>
          </a:xfrm>
          <a:prstGeom prst="ellipse">
            <a:avLst/>
          </a:prstGeom>
          <a:solidFill>
            <a:srgbClr val="1E2761"/>
          </a:solidFill>
          <a:ln/>
        </p:spPr>
      </p:sp>
      <p:pic>
        <p:nvPicPr>
          <p:cNvPr id="21" name="Image 3" descr="/home/claude/shared_icons/icon_question.png">    </p:cNvPr>
          <p:cNvPicPr>
            <a:picLocks noChangeAspect="1"/>
          </p:cNvPicPr>
          <p:nvPr/>
        </p:nvPicPr>
        <p:blipFill>
          <a:blip r:embed="rId4"/>
          <a:stretch>
            <a:fillRect/>
          </a:stretch>
        </p:blipFill>
        <p:spPr>
          <a:xfrm>
            <a:off x="814730" y="5514746"/>
            <a:ext cx="427939" cy="427939"/>
          </a:xfrm>
          <a:prstGeom prst="rect">
            <a:avLst/>
          </a:prstGeom>
        </p:spPr>
      </p:pic>
      <p:sp>
        <p:nvSpPr>
          <p:cNvPr id="22" name="Text 16"/>
          <p:cNvSpPr txBox="1"/>
          <p:nvPr/>
        </p:nvSpPr>
        <p:spPr>
          <a:xfrm>
            <a:off x="1508760" y="5294376"/>
            <a:ext cx="9875520" cy="36576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 Adakah Nota di kolum kanan hanya cadangan pilihan?</a:t>
            </a:r>
            <a:endParaRPr lang="en-US" sz="1250" dirty="0"/>
          </a:p>
        </p:txBody>
      </p:sp>
      <p:sp>
        <p:nvSpPr>
          <p:cNvPr id="23" name="Text 17"/>
          <p:cNvSpPr txBox="1"/>
          <p:nvPr/>
        </p:nvSpPr>
        <p:spPr>
          <a:xfrm>
            <a:off x="1508760" y="5705856"/>
            <a:ext cx="9875520" cy="502920"/>
          </a:xfrm>
          <a:prstGeom prst="rect">
            <a:avLst/>
          </a:prstGeom>
          <a:noFill/>
          <a:ln/>
        </p:spPr>
        <p:txBody>
          <a:bodyPr wrap="square"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J: Tidak. Nota WAJIB dilaksanakan kecuali dilabel “Skop” (had batasan pengajaran).</a:t>
            </a:r>
            <a:endParaRPr lang="en-US" sz="1150" dirty="0"/>
          </a:p>
        </p:txBody>
      </p:sp>
      <p:sp>
        <p:nvSpPr>
          <p:cNvPr id="24" name="Text 18"/>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Ramalan Q&amp;A, Analisis SP dan SPi</a:t>
            </a:r>
            <a:endParaRPr lang="en-US" sz="1000" dirty="0"/>
          </a:p>
        </p:txBody>
      </p:sp>
      <p:sp>
        <p:nvSpPr>
          <p:cNvPr id="25"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RUMUSAN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Rumusan Sidang 3</a:t>
            </a:r>
            <a:endParaRPr lang="en-US" sz="2700" dirty="0"/>
          </a:p>
        </p:txBody>
      </p:sp>
      <p:sp>
        <p:nvSpPr>
          <p:cNvPr id="4" name="Shape 2"/>
          <p:cNvSpPr/>
          <p:nvPr/>
        </p:nvSpPr>
        <p:spPr>
          <a:xfrm>
            <a:off x="548640" y="1737360"/>
            <a:ext cx="2651760" cy="3566160"/>
          </a:xfrm>
          <a:prstGeom prst="roundRect">
            <a:avLst>
              <a:gd name="adj" fmla="val 2759"/>
            </a:avLst>
          </a:prstGeom>
          <a:solidFill>
            <a:srgbClr val="1E2761"/>
          </a:solidFill>
          <a:ln/>
        </p:spPr>
      </p:sp>
      <p:sp>
        <p:nvSpPr>
          <p:cNvPr id="5" name="Shape 3"/>
          <p:cNvSpPr/>
          <p:nvPr/>
        </p:nvSpPr>
        <p:spPr>
          <a:xfrm>
            <a:off x="1508760" y="2057400"/>
            <a:ext cx="731520" cy="731520"/>
          </a:xfrm>
          <a:prstGeom prst="ellipse">
            <a:avLst/>
          </a:prstGeom>
          <a:solidFill>
            <a:srgbClr val="F2B705"/>
          </a:solidFill>
          <a:ln/>
        </p:spPr>
      </p:sp>
      <p:pic>
        <p:nvPicPr>
          <p:cNvPr id="6" name="Image 0" descr="/home/claude/shared_icons/icon_sitemap.png">    </p:cNvPr>
          <p:cNvPicPr>
            <a:picLocks noChangeAspect="1"/>
          </p:cNvPicPr>
          <p:nvPr/>
        </p:nvPicPr>
        <p:blipFill>
          <a:blip r:embed="rId1"/>
          <a:stretch>
            <a:fillRect/>
          </a:stretch>
        </p:blipFill>
        <p:spPr>
          <a:xfrm>
            <a:off x="1611173" y="2159813"/>
            <a:ext cx="526694" cy="526694"/>
          </a:xfrm>
          <a:prstGeom prst="rect">
            <a:avLst/>
          </a:prstGeom>
        </p:spPr>
      </p:pic>
      <p:sp>
        <p:nvSpPr>
          <p:cNvPr id="7" name="Text 4"/>
          <p:cNvSpPr txBox="1"/>
          <p:nvPr/>
        </p:nvSpPr>
        <p:spPr>
          <a:xfrm>
            <a:off x="685800" y="2971800"/>
            <a:ext cx="237744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Struktur</a:t>
            </a:r>
            <a:endParaRPr lang="en-US" sz="1400" dirty="0"/>
          </a:p>
        </p:txBody>
      </p:sp>
      <p:sp>
        <p:nvSpPr>
          <p:cNvPr id="8" name="Text 5"/>
          <p:cNvSpPr txBox="1"/>
          <p:nvPr/>
        </p:nvSpPr>
        <p:spPr>
          <a:xfrm>
            <a:off x="731520" y="3429000"/>
            <a:ext cx="2286000" cy="1737360"/>
          </a:xfrm>
          <a:prstGeom prst="rect">
            <a:avLst/>
          </a:prstGeom>
          <a:noFill/>
          <a:ln/>
        </p:spPr>
        <p:txBody>
          <a:bodyPr wrap="square" rtlCol="0" anchor="t"/>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6 waktu/minggu, 4 bidang pembelajaran, 56 SP untuk Matematik Tingkatan 1.</a:t>
            </a:r>
            <a:endParaRPr lang="en-US" sz="1080" dirty="0"/>
          </a:p>
        </p:txBody>
      </p:sp>
      <p:sp>
        <p:nvSpPr>
          <p:cNvPr id="9" name="Shape 6"/>
          <p:cNvSpPr/>
          <p:nvPr/>
        </p:nvSpPr>
        <p:spPr>
          <a:xfrm>
            <a:off x="3429000" y="1737360"/>
            <a:ext cx="2651760" cy="3566160"/>
          </a:xfrm>
          <a:prstGeom prst="roundRect">
            <a:avLst>
              <a:gd name="adj" fmla="val 2759"/>
            </a:avLst>
          </a:prstGeom>
          <a:solidFill>
            <a:srgbClr val="1E2761"/>
          </a:solidFill>
          <a:ln/>
        </p:spPr>
      </p:sp>
      <p:sp>
        <p:nvSpPr>
          <p:cNvPr id="10" name="Shape 7"/>
          <p:cNvSpPr/>
          <p:nvPr/>
        </p:nvSpPr>
        <p:spPr>
          <a:xfrm>
            <a:off x="4389120" y="2057400"/>
            <a:ext cx="731520" cy="731520"/>
          </a:xfrm>
          <a:prstGeom prst="ellipse">
            <a:avLst/>
          </a:prstGeom>
          <a:solidFill>
            <a:srgbClr val="F2B705"/>
          </a:solidFill>
          <a:ln/>
        </p:spPr>
      </p:sp>
      <p:pic>
        <p:nvPicPr>
          <p:cNvPr id="11" name="Image 1" descr="/home/claude/shared_icons/icon_bookReader.png">    </p:cNvPr>
          <p:cNvPicPr>
            <a:picLocks noChangeAspect="1"/>
          </p:cNvPicPr>
          <p:nvPr/>
        </p:nvPicPr>
        <p:blipFill>
          <a:blip r:embed="rId2"/>
          <a:stretch>
            <a:fillRect/>
          </a:stretch>
        </p:blipFill>
        <p:spPr>
          <a:xfrm>
            <a:off x="4491533" y="2159813"/>
            <a:ext cx="526694" cy="526694"/>
          </a:xfrm>
          <a:prstGeom prst="rect">
            <a:avLst/>
          </a:prstGeom>
        </p:spPr>
      </p:pic>
      <p:sp>
        <p:nvSpPr>
          <p:cNvPr id="12" name="Text 8"/>
          <p:cNvSpPr txBox="1"/>
          <p:nvPr/>
        </p:nvSpPr>
        <p:spPr>
          <a:xfrm>
            <a:off x="3566160" y="2971800"/>
            <a:ext cx="237744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Kandungan</a:t>
            </a:r>
            <a:endParaRPr lang="en-US" sz="1400" dirty="0"/>
          </a:p>
        </p:txBody>
      </p:sp>
      <p:sp>
        <p:nvSpPr>
          <p:cNvPr id="13" name="Text 9"/>
          <p:cNvSpPr txBox="1"/>
          <p:nvPr/>
        </p:nvSpPr>
        <p:spPr>
          <a:xfrm>
            <a:off x="3611880" y="3429000"/>
            <a:ext cx="2286000" cy="1737360"/>
          </a:xfrm>
          <a:prstGeom prst="rect">
            <a:avLst/>
          </a:prstGeom>
          <a:noFill/>
          <a:ln/>
        </p:spPr>
        <p:txBody>
          <a:bodyPr wrap="square" rtlCol="0" anchor="t"/>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Kandungan Pembelajaran → Standard Pembelajaran → Standard Prestasi → Tahap Penguasaan.</a:t>
            </a:r>
            <a:endParaRPr lang="en-US" sz="1080" dirty="0"/>
          </a:p>
        </p:txBody>
      </p:sp>
      <p:sp>
        <p:nvSpPr>
          <p:cNvPr id="14" name="Shape 10"/>
          <p:cNvSpPr/>
          <p:nvPr/>
        </p:nvSpPr>
        <p:spPr>
          <a:xfrm>
            <a:off x="6309360" y="1737360"/>
            <a:ext cx="2651760" cy="3566160"/>
          </a:xfrm>
          <a:prstGeom prst="roundRect">
            <a:avLst>
              <a:gd name="adj" fmla="val 2759"/>
            </a:avLst>
          </a:prstGeom>
          <a:solidFill>
            <a:srgbClr val="1E2761"/>
          </a:solidFill>
          <a:ln/>
        </p:spPr>
      </p:sp>
      <p:sp>
        <p:nvSpPr>
          <p:cNvPr id="15" name="Shape 11"/>
          <p:cNvSpPr/>
          <p:nvPr/>
        </p:nvSpPr>
        <p:spPr>
          <a:xfrm>
            <a:off x="7269480" y="2057400"/>
            <a:ext cx="731520" cy="731520"/>
          </a:xfrm>
          <a:prstGeom prst="ellipse">
            <a:avLst/>
          </a:prstGeom>
          <a:solidFill>
            <a:srgbClr val="F2B705"/>
          </a:solidFill>
          <a:ln/>
        </p:spPr>
      </p:sp>
      <p:pic>
        <p:nvPicPr>
          <p:cNvPr id="16" name="Image 2" descr="/home/claude/shared_icons/icon_balanceScale.png">    </p:cNvPr>
          <p:cNvPicPr>
            <a:picLocks noChangeAspect="1"/>
          </p:cNvPicPr>
          <p:nvPr/>
        </p:nvPicPr>
        <p:blipFill>
          <a:blip r:embed="rId3"/>
          <a:stretch>
            <a:fillRect/>
          </a:stretch>
        </p:blipFill>
        <p:spPr>
          <a:xfrm>
            <a:off x="7371893" y="2159813"/>
            <a:ext cx="526694" cy="526694"/>
          </a:xfrm>
          <a:prstGeom prst="rect">
            <a:avLst/>
          </a:prstGeom>
        </p:spPr>
      </p:pic>
      <p:sp>
        <p:nvSpPr>
          <p:cNvPr id="17" name="Text 12"/>
          <p:cNvSpPr txBox="1"/>
          <p:nvPr/>
        </p:nvSpPr>
        <p:spPr>
          <a:xfrm>
            <a:off x="6446520" y="2971800"/>
            <a:ext cx="237744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Pentaksiran</a:t>
            </a:r>
            <a:endParaRPr lang="en-US" sz="1400" dirty="0"/>
          </a:p>
        </p:txBody>
      </p:sp>
      <p:sp>
        <p:nvSpPr>
          <p:cNvPr id="18" name="Text 13"/>
          <p:cNvSpPr txBox="1"/>
          <p:nvPr/>
        </p:nvSpPr>
        <p:spPr>
          <a:xfrm>
            <a:off x="6492240" y="3429000"/>
            <a:ext cx="2286000" cy="1737360"/>
          </a:xfrm>
          <a:prstGeom prst="rect">
            <a:avLst/>
          </a:prstGeom>
          <a:noFill/>
          <a:ln/>
        </p:spPr>
        <p:txBody>
          <a:bodyPr wrap="square" rtlCol="0" anchor="t"/>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4 TP (Tahu/Faham/Buat/Amal), dilaporkan selepas satu tajuk penuh selesai.</a:t>
            </a:r>
            <a:endParaRPr lang="en-US" sz="1080" dirty="0"/>
          </a:p>
        </p:txBody>
      </p:sp>
      <p:sp>
        <p:nvSpPr>
          <p:cNvPr id="19" name="Shape 14"/>
          <p:cNvSpPr/>
          <p:nvPr/>
        </p:nvSpPr>
        <p:spPr>
          <a:xfrm>
            <a:off x="9189720" y="1737360"/>
            <a:ext cx="2651760" cy="3566160"/>
          </a:xfrm>
          <a:prstGeom prst="roundRect">
            <a:avLst>
              <a:gd name="adj" fmla="val 2759"/>
            </a:avLst>
          </a:prstGeom>
          <a:solidFill>
            <a:srgbClr val="1E2761"/>
          </a:solidFill>
          <a:ln/>
        </p:spPr>
      </p:sp>
      <p:sp>
        <p:nvSpPr>
          <p:cNvPr id="20" name="Shape 15"/>
          <p:cNvSpPr/>
          <p:nvPr/>
        </p:nvSpPr>
        <p:spPr>
          <a:xfrm>
            <a:off x="10149840" y="2057400"/>
            <a:ext cx="731520" cy="731520"/>
          </a:xfrm>
          <a:prstGeom prst="ellipse">
            <a:avLst/>
          </a:prstGeom>
          <a:solidFill>
            <a:srgbClr val="F2B705"/>
          </a:solidFill>
          <a:ln/>
        </p:spPr>
      </p:sp>
      <p:pic>
        <p:nvPicPr>
          <p:cNvPr id="21" name="Image 3" descr="/home/claude/shared_icons/icon_chalkboard.png">    </p:cNvPr>
          <p:cNvPicPr>
            <a:picLocks noChangeAspect="1"/>
          </p:cNvPicPr>
          <p:nvPr/>
        </p:nvPicPr>
        <p:blipFill>
          <a:blip r:embed="rId4"/>
          <a:stretch>
            <a:fillRect/>
          </a:stretch>
        </p:blipFill>
        <p:spPr>
          <a:xfrm>
            <a:off x="10252253" y="2159813"/>
            <a:ext cx="526694" cy="526694"/>
          </a:xfrm>
          <a:prstGeom prst="rect">
            <a:avLst/>
          </a:prstGeom>
        </p:spPr>
      </p:pic>
      <p:sp>
        <p:nvSpPr>
          <p:cNvPr id="22" name="Text 16"/>
          <p:cNvSpPr txBox="1"/>
          <p:nvPr/>
        </p:nvSpPr>
        <p:spPr>
          <a:xfrm>
            <a:off x="9326880" y="2971800"/>
            <a:ext cx="237744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Pedagogi</a:t>
            </a:r>
            <a:endParaRPr lang="en-US" sz="1400" dirty="0"/>
          </a:p>
        </p:txBody>
      </p:sp>
      <p:sp>
        <p:nvSpPr>
          <p:cNvPr id="23" name="Text 17"/>
          <p:cNvSpPr txBox="1"/>
          <p:nvPr/>
        </p:nvSpPr>
        <p:spPr>
          <a:xfrm>
            <a:off x="9372600" y="3429000"/>
            <a:ext cx="2286000" cy="1737360"/>
          </a:xfrm>
          <a:prstGeom prst="rect">
            <a:avLst/>
          </a:prstGeom>
          <a:noFill/>
          <a:ln/>
        </p:spPr>
        <p:txBody>
          <a:bodyPr wrap="square" rtlCol="0" anchor="t"/>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9 Dimensi Pedagogi KPM — STEM, Modular, Pengiraan Mental &amp; lain-lain.</a:t>
            </a:r>
            <a:endParaRPr lang="en-US" sz="1080" dirty="0"/>
          </a:p>
        </p:txBody>
      </p:sp>
      <p:sp>
        <p:nvSpPr>
          <p:cNvPr id="24" name="Text 18"/>
          <p:cNvSpPr txBox="1"/>
          <p:nvPr/>
        </p:nvSpPr>
        <p:spPr>
          <a:xfrm>
            <a:off x="548640" y="5486400"/>
            <a:ext cx="11064240" cy="457200"/>
          </a:xfrm>
          <a:prstGeom prst="rect">
            <a:avLst/>
          </a:prstGeom>
          <a:noFill/>
          <a:ln/>
        </p:spPr>
        <p:txBody>
          <a:bodyPr wrap="square"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Guna panduan ini sebagai kerangka asas dalam sesi PLC Panitia untuk merancang intervensi tepat dan strategi PdP berimpak tinggi.</a:t>
            </a:r>
            <a:endParaRPr lang="en-US" sz="1200" dirty="0"/>
          </a:p>
        </p:txBody>
      </p:sp>
      <p:sp>
        <p:nvSpPr>
          <p:cNvPr id="25" name="Text 19"/>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 Analisis Bengkel</a:t>
            </a:r>
            <a:endParaRPr lang="en-US" sz="1000" dirty="0"/>
          </a:p>
        </p:txBody>
      </p:sp>
      <p:sp>
        <p:nvSpPr>
          <p:cNvPr id="26"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TINDAKAN GURU</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Apa Perlu Dibuat Selepas Sidang Ini?</a:t>
            </a:r>
            <a:endParaRPr lang="en-US" sz="2700" dirty="0"/>
          </a:p>
        </p:txBody>
      </p:sp>
      <p:sp>
        <p:nvSpPr>
          <p:cNvPr id="4" name="Shape 2"/>
          <p:cNvSpPr/>
          <p:nvPr/>
        </p:nvSpPr>
        <p:spPr>
          <a:xfrm>
            <a:off x="548640" y="1691640"/>
            <a:ext cx="11064240" cy="658368"/>
          </a:xfrm>
          <a:prstGeom prst="roundRect">
            <a:avLst>
              <a:gd name="adj" fmla="val 8333"/>
            </a:avLst>
          </a:prstGeom>
          <a:solidFill>
            <a:srgbClr val="F5F7FC"/>
          </a:solidFill>
          <a:ln w="12700">
            <a:solidFill>
              <a:srgbClr val="E7EAF2"/>
            </a:solidFill>
            <a:prstDash val="solid"/>
          </a:ln>
        </p:spPr>
      </p:sp>
      <p:sp>
        <p:nvSpPr>
          <p:cNvPr id="5" name="Shape 3"/>
          <p:cNvSpPr/>
          <p:nvPr/>
        </p:nvSpPr>
        <p:spPr>
          <a:xfrm>
            <a:off x="777240" y="1883664"/>
            <a:ext cx="274320" cy="274320"/>
          </a:xfrm>
          <a:prstGeom prst="rect">
            <a:avLst/>
          </a:prstGeom>
          <a:solidFill>
            <a:srgbClr val="FFFFFF"/>
          </a:solidFill>
          <a:ln w="19050">
            <a:solidFill>
              <a:srgbClr val="1E2761"/>
            </a:solidFill>
            <a:prstDash val="solid"/>
          </a:ln>
        </p:spPr>
      </p:sp>
      <p:sp>
        <p:nvSpPr>
          <p:cNvPr id="6" name="Text 4"/>
          <p:cNvSpPr txBox="1"/>
          <p:nvPr/>
        </p:nvSpPr>
        <p:spPr>
          <a:xfrm>
            <a:off x="1234440" y="1691640"/>
            <a:ext cx="10195560" cy="658368"/>
          </a:xfrm>
          <a:prstGeom prst="rect">
            <a:avLst/>
          </a:prstGeom>
          <a:noFill/>
          <a:ln/>
        </p:spPr>
        <p:txBody>
          <a:bodyPr wrap="square" rtlCol="0" anchor="ctr"/>
          <a:lstStyle/>
          <a:p>
            <a:pPr indent="0" marL="0">
              <a:buNone/>
            </a:pPr>
            <a:r>
              <a:rPr lang="en-US" sz="1200" dirty="0">
                <a:solidFill>
                  <a:srgbClr val="141A45"/>
                </a:solidFill>
                <a:latin typeface="Calibri" pitchFamily="34" charset="0"/>
                <a:ea typeface="Calibri" pitchFamily="34" charset="-122"/>
                <a:cs typeface="Calibri" pitchFamily="34" charset="-120"/>
              </a:rPr>
              <a:t>Baca dokumen kurikulum Matematik T1 secara holistik dari muka hadapan (bukan lompat terus ke SP).</a:t>
            </a:r>
            <a:endParaRPr lang="en-US" sz="1200" dirty="0"/>
          </a:p>
        </p:txBody>
      </p:sp>
      <p:sp>
        <p:nvSpPr>
          <p:cNvPr id="7" name="Shape 5"/>
          <p:cNvSpPr/>
          <p:nvPr/>
        </p:nvSpPr>
        <p:spPr>
          <a:xfrm>
            <a:off x="548640" y="2441448"/>
            <a:ext cx="11064240" cy="658368"/>
          </a:xfrm>
          <a:prstGeom prst="roundRect">
            <a:avLst>
              <a:gd name="adj" fmla="val 8333"/>
            </a:avLst>
          </a:prstGeom>
          <a:solidFill>
            <a:srgbClr val="F5F7FC"/>
          </a:solidFill>
          <a:ln w="12700">
            <a:solidFill>
              <a:srgbClr val="E7EAF2"/>
            </a:solidFill>
            <a:prstDash val="solid"/>
          </a:ln>
        </p:spPr>
      </p:sp>
      <p:sp>
        <p:nvSpPr>
          <p:cNvPr id="8" name="Shape 6"/>
          <p:cNvSpPr/>
          <p:nvPr/>
        </p:nvSpPr>
        <p:spPr>
          <a:xfrm>
            <a:off x="777240" y="2633472"/>
            <a:ext cx="274320" cy="274320"/>
          </a:xfrm>
          <a:prstGeom prst="rect">
            <a:avLst/>
          </a:prstGeom>
          <a:solidFill>
            <a:srgbClr val="FFFFFF"/>
          </a:solidFill>
          <a:ln w="19050">
            <a:solidFill>
              <a:srgbClr val="1E2761"/>
            </a:solidFill>
            <a:prstDash val="solid"/>
          </a:ln>
        </p:spPr>
      </p:sp>
      <p:sp>
        <p:nvSpPr>
          <p:cNvPr id="9" name="Text 7"/>
          <p:cNvSpPr txBox="1"/>
          <p:nvPr/>
        </p:nvSpPr>
        <p:spPr>
          <a:xfrm>
            <a:off x="1234440" y="2441448"/>
            <a:ext cx="10195560" cy="658368"/>
          </a:xfrm>
          <a:prstGeom prst="rect">
            <a:avLst/>
          </a:prstGeom>
          <a:noFill/>
          <a:ln/>
        </p:spPr>
        <p:txBody>
          <a:bodyPr wrap="square" rtlCol="0" anchor="ctr"/>
          <a:lstStyle/>
          <a:p>
            <a:pPr indent="0" marL="0">
              <a:buNone/>
            </a:pPr>
            <a:r>
              <a:rPr lang="en-US" sz="1200" dirty="0">
                <a:solidFill>
                  <a:srgbClr val="141A45"/>
                </a:solidFill>
                <a:latin typeface="Calibri" pitchFamily="34" charset="0"/>
                <a:ea typeface="Calibri" pitchFamily="34" charset="-122"/>
                <a:cs typeface="Calibri" pitchFamily="34" charset="-120"/>
              </a:rPr>
              <a:t>Semak jadual waktu sekolah — pastikan 6 waktu seminggu diperuntukkan bagi Matematik Tingkatan 1.</a:t>
            </a:r>
            <a:endParaRPr lang="en-US" sz="1200" dirty="0"/>
          </a:p>
        </p:txBody>
      </p:sp>
      <p:sp>
        <p:nvSpPr>
          <p:cNvPr id="10" name="Shape 8"/>
          <p:cNvSpPr/>
          <p:nvPr/>
        </p:nvSpPr>
        <p:spPr>
          <a:xfrm>
            <a:off x="548640" y="3191256"/>
            <a:ext cx="11064240" cy="658368"/>
          </a:xfrm>
          <a:prstGeom prst="roundRect">
            <a:avLst>
              <a:gd name="adj" fmla="val 8333"/>
            </a:avLst>
          </a:prstGeom>
          <a:solidFill>
            <a:srgbClr val="F5F7FC"/>
          </a:solidFill>
          <a:ln w="12700">
            <a:solidFill>
              <a:srgbClr val="E7EAF2"/>
            </a:solidFill>
            <a:prstDash val="solid"/>
          </a:ln>
        </p:spPr>
      </p:sp>
      <p:sp>
        <p:nvSpPr>
          <p:cNvPr id="11" name="Shape 9"/>
          <p:cNvSpPr/>
          <p:nvPr/>
        </p:nvSpPr>
        <p:spPr>
          <a:xfrm>
            <a:off x="777240" y="3383280"/>
            <a:ext cx="274320" cy="274320"/>
          </a:xfrm>
          <a:prstGeom prst="rect">
            <a:avLst/>
          </a:prstGeom>
          <a:solidFill>
            <a:srgbClr val="FFFFFF"/>
          </a:solidFill>
          <a:ln w="19050">
            <a:solidFill>
              <a:srgbClr val="1E2761"/>
            </a:solidFill>
            <a:prstDash val="solid"/>
          </a:ln>
        </p:spPr>
      </p:sp>
      <p:sp>
        <p:nvSpPr>
          <p:cNvPr id="12" name="Text 10"/>
          <p:cNvSpPr txBox="1"/>
          <p:nvPr/>
        </p:nvSpPr>
        <p:spPr>
          <a:xfrm>
            <a:off x="1234440" y="3191256"/>
            <a:ext cx="10195560" cy="658368"/>
          </a:xfrm>
          <a:prstGeom prst="rect">
            <a:avLst/>
          </a:prstGeom>
          <a:noFill/>
          <a:ln/>
        </p:spPr>
        <p:txBody>
          <a:bodyPr wrap="square" rtlCol="0" anchor="ctr"/>
          <a:lstStyle/>
          <a:p>
            <a:pPr indent="0" marL="0">
              <a:buNone/>
            </a:pPr>
            <a:r>
              <a:rPr lang="en-US" sz="1200" dirty="0">
                <a:solidFill>
                  <a:srgbClr val="141A45"/>
                </a:solidFill>
                <a:latin typeface="Calibri" pitchFamily="34" charset="0"/>
                <a:ea typeface="Calibri" pitchFamily="34" charset="-122"/>
                <a:cs typeface="Calibri" pitchFamily="34" charset="-120"/>
              </a:rPr>
              <a:t>Kenal pasti simbol Nota (Bullet/Roman) bagi setiap SP sebelum merancang turutan RPH.</a:t>
            </a:r>
            <a:endParaRPr lang="en-US" sz="1200" dirty="0"/>
          </a:p>
        </p:txBody>
      </p:sp>
      <p:sp>
        <p:nvSpPr>
          <p:cNvPr id="13" name="Shape 11"/>
          <p:cNvSpPr/>
          <p:nvPr/>
        </p:nvSpPr>
        <p:spPr>
          <a:xfrm>
            <a:off x="548640" y="3941064"/>
            <a:ext cx="11064240" cy="658368"/>
          </a:xfrm>
          <a:prstGeom prst="roundRect">
            <a:avLst>
              <a:gd name="adj" fmla="val 8333"/>
            </a:avLst>
          </a:prstGeom>
          <a:solidFill>
            <a:srgbClr val="F5F7FC"/>
          </a:solidFill>
          <a:ln w="12700">
            <a:solidFill>
              <a:srgbClr val="E7EAF2"/>
            </a:solidFill>
            <a:prstDash val="solid"/>
          </a:ln>
        </p:spPr>
      </p:sp>
      <p:sp>
        <p:nvSpPr>
          <p:cNvPr id="14" name="Shape 12"/>
          <p:cNvSpPr/>
          <p:nvPr/>
        </p:nvSpPr>
        <p:spPr>
          <a:xfrm>
            <a:off x="777240" y="4133088"/>
            <a:ext cx="274320" cy="274320"/>
          </a:xfrm>
          <a:prstGeom prst="rect">
            <a:avLst/>
          </a:prstGeom>
          <a:solidFill>
            <a:srgbClr val="FFFFFF"/>
          </a:solidFill>
          <a:ln w="19050">
            <a:solidFill>
              <a:srgbClr val="1E2761"/>
            </a:solidFill>
            <a:prstDash val="solid"/>
          </a:ln>
        </p:spPr>
      </p:sp>
      <p:sp>
        <p:nvSpPr>
          <p:cNvPr id="15" name="Text 13"/>
          <p:cNvSpPr txBox="1"/>
          <p:nvPr/>
        </p:nvSpPr>
        <p:spPr>
          <a:xfrm>
            <a:off x="1234440" y="3941064"/>
            <a:ext cx="10195560" cy="658368"/>
          </a:xfrm>
          <a:prstGeom prst="rect">
            <a:avLst/>
          </a:prstGeom>
          <a:noFill/>
          <a:ln/>
        </p:spPr>
        <p:txBody>
          <a:bodyPr wrap="square" rtlCol="0" anchor="ctr"/>
          <a:lstStyle/>
          <a:p>
            <a:pPr indent="0" marL="0">
              <a:buNone/>
            </a:pPr>
            <a:r>
              <a:rPr lang="en-US" sz="1200" dirty="0">
                <a:solidFill>
                  <a:srgbClr val="141A45"/>
                </a:solidFill>
                <a:latin typeface="Calibri" pitchFamily="34" charset="0"/>
                <a:ea typeface="Calibri" pitchFamily="34" charset="-122"/>
                <a:cs typeface="Calibri" pitchFamily="34" charset="-120"/>
              </a:rPr>
              <a:t>Rancang strategi pentaksiran baharu — hentikan amalan pemberian TP harian.</a:t>
            </a:r>
            <a:endParaRPr lang="en-US" sz="1200" dirty="0"/>
          </a:p>
        </p:txBody>
      </p:sp>
      <p:sp>
        <p:nvSpPr>
          <p:cNvPr id="16" name="Shape 14"/>
          <p:cNvSpPr/>
          <p:nvPr/>
        </p:nvSpPr>
        <p:spPr>
          <a:xfrm>
            <a:off x="548640" y="4690872"/>
            <a:ext cx="11064240" cy="658368"/>
          </a:xfrm>
          <a:prstGeom prst="roundRect">
            <a:avLst>
              <a:gd name="adj" fmla="val 8333"/>
            </a:avLst>
          </a:prstGeom>
          <a:solidFill>
            <a:srgbClr val="F5F7FC"/>
          </a:solidFill>
          <a:ln w="12700">
            <a:solidFill>
              <a:srgbClr val="E7EAF2"/>
            </a:solidFill>
            <a:prstDash val="solid"/>
          </a:ln>
        </p:spPr>
      </p:sp>
      <p:sp>
        <p:nvSpPr>
          <p:cNvPr id="17" name="Shape 15"/>
          <p:cNvSpPr/>
          <p:nvPr/>
        </p:nvSpPr>
        <p:spPr>
          <a:xfrm>
            <a:off x="777240" y="4882896"/>
            <a:ext cx="274320" cy="274320"/>
          </a:xfrm>
          <a:prstGeom prst="rect">
            <a:avLst/>
          </a:prstGeom>
          <a:solidFill>
            <a:srgbClr val="FFFFFF"/>
          </a:solidFill>
          <a:ln w="19050">
            <a:solidFill>
              <a:srgbClr val="1E2761"/>
            </a:solidFill>
            <a:prstDash val="solid"/>
          </a:ln>
        </p:spPr>
      </p:sp>
      <p:sp>
        <p:nvSpPr>
          <p:cNvPr id="18" name="Text 16"/>
          <p:cNvSpPr txBox="1"/>
          <p:nvPr/>
        </p:nvSpPr>
        <p:spPr>
          <a:xfrm>
            <a:off x="1234440" y="4690872"/>
            <a:ext cx="10195560" cy="658368"/>
          </a:xfrm>
          <a:prstGeom prst="rect">
            <a:avLst/>
          </a:prstGeom>
          <a:noFill/>
          <a:ln/>
        </p:spPr>
        <p:txBody>
          <a:bodyPr wrap="square" rtlCol="0" anchor="ctr"/>
          <a:lstStyle/>
          <a:p>
            <a:pPr indent="0" marL="0">
              <a:buNone/>
            </a:pPr>
            <a:r>
              <a:rPr lang="en-US" sz="1200" dirty="0">
                <a:solidFill>
                  <a:srgbClr val="141A45"/>
                </a:solidFill>
                <a:latin typeface="Calibri" pitchFamily="34" charset="0"/>
                <a:ea typeface="Calibri" pitchFamily="34" charset="-122"/>
                <a:cs typeface="Calibri" pitchFamily="34" charset="-120"/>
              </a:rPr>
              <a:t>Sertakan 3 elemen EMK (Kewangan, PKJR, Kelestarian) secara eksplisit dalam RPH.</a:t>
            </a:r>
            <a:endParaRPr lang="en-US" sz="1200" dirty="0"/>
          </a:p>
        </p:txBody>
      </p:sp>
      <p:sp>
        <p:nvSpPr>
          <p:cNvPr id="19" name="Shape 17"/>
          <p:cNvSpPr/>
          <p:nvPr/>
        </p:nvSpPr>
        <p:spPr>
          <a:xfrm>
            <a:off x="548640" y="5440680"/>
            <a:ext cx="11064240" cy="658368"/>
          </a:xfrm>
          <a:prstGeom prst="roundRect">
            <a:avLst>
              <a:gd name="adj" fmla="val 8333"/>
            </a:avLst>
          </a:prstGeom>
          <a:solidFill>
            <a:srgbClr val="F5F7FC"/>
          </a:solidFill>
          <a:ln w="12700">
            <a:solidFill>
              <a:srgbClr val="E7EAF2"/>
            </a:solidFill>
            <a:prstDash val="solid"/>
          </a:ln>
        </p:spPr>
      </p:sp>
      <p:sp>
        <p:nvSpPr>
          <p:cNvPr id="20" name="Shape 18"/>
          <p:cNvSpPr/>
          <p:nvPr/>
        </p:nvSpPr>
        <p:spPr>
          <a:xfrm>
            <a:off x="777240" y="5632704"/>
            <a:ext cx="274320" cy="274320"/>
          </a:xfrm>
          <a:prstGeom prst="rect">
            <a:avLst/>
          </a:prstGeom>
          <a:solidFill>
            <a:srgbClr val="FFFFFF"/>
          </a:solidFill>
          <a:ln w="19050">
            <a:solidFill>
              <a:srgbClr val="1E2761"/>
            </a:solidFill>
            <a:prstDash val="solid"/>
          </a:ln>
        </p:spPr>
      </p:sp>
      <p:sp>
        <p:nvSpPr>
          <p:cNvPr id="21" name="Text 19"/>
          <p:cNvSpPr txBox="1"/>
          <p:nvPr/>
        </p:nvSpPr>
        <p:spPr>
          <a:xfrm>
            <a:off x="1234440" y="5440680"/>
            <a:ext cx="10195560" cy="658368"/>
          </a:xfrm>
          <a:prstGeom prst="rect">
            <a:avLst/>
          </a:prstGeom>
          <a:noFill/>
          <a:ln/>
        </p:spPr>
        <p:txBody>
          <a:bodyPr wrap="square" rtlCol="0" anchor="ctr"/>
          <a:lstStyle/>
          <a:p>
            <a:pPr indent="0" marL="0">
              <a:buNone/>
            </a:pPr>
            <a:r>
              <a:rPr lang="en-US" sz="1200" dirty="0">
                <a:solidFill>
                  <a:srgbClr val="141A45"/>
                </a:solidFill>
                <a:latin typeface="Calibri" pitchFamily="34" charset="0"/>
                <a:ea typeface="Calibri" pitchFamily="34" charset="-122"/>
                <a:cs typeface="Calibri" pitchFamily="34" charset="-120"/>
              </a:rPr>
              <a:t>Kongsikan bahan ini kepada rakan sekolah yang tidak dapat hadir sidang asal.</a:t>
            </a:r>
            <a:endParaRPr lang="en-US" sz="1200" dirty="0"/>
          </a:p>
        </p:txBody>
      </p:sp>
      <p:sp>
        <p:nvSpPr>
          <p:cNvPr id="22" name="Text 20"/>
          <p:cNvSpPr txBox="1"/>
          <p:nvPr/>
        </p:nvSpPr>
        <p:spPr>
          <a:xfrm>
            <a:off x="457200" y="6473952"/>
            <a:ext cx="91440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[CADANGAN PEMBANGUN MODUL] Senarai semak tindakan susulan</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3  |  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640080"/>
            <a:ext cx="9144000" cy="365760"/>
          </a:xfrm>
          <a:prstGeom prst="rect">
            <a:avLst/>
          </a:prstGeom>
          <a:noFill/>
          <a:ln/>
        </p:spPr>
        <p:txBody>
          <a:bodyPr wrap="square" rtlCol="0" anchor="ctr"/>
          <a:lstStyle/>
          <a:p>
            <a:pPr indent="0" marL="0">
              <a:buNone/>
            </a:pPr>
            <a:r>
              <a:rPr lang="en-US" sz="1400" b="1" spc="300" kern="0" dirty="0">
                <a:solidFill>
                  <a:srgbClr val="F2B705"/>
                </a:solidFill>
                <a:latin typeface="Calibri" pitchFamily="34" charset="0"/>
                <a:ea typeface="Calibri" pitchFamily="34" charset="-122"/>
                <a:cs typeface="Calibri" pitchFamily="34" charset="-120"/>
              </a:rPr>
              <a:t>TAKEAWAY</a:t>
            </a:r>
            <a:endParaRPr lang="en-US" sz="1400" dirty="0"/>
          </a:p>
        </p:txBody>
      </p:sp>
      <p:sp>
        <p:nvSpPr>
          <p:cNvPr id="5" name="Text 3"/>
          <p:cNvSpPr txBox="1"/>
          <p:nvPr/>
        </p:nvSpPr>
        <p:spPr>
          <a:xfrm>
            <a:off x="822960" y="1005840"/>
            <a:ext cx="100584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Perkara Wajib Dibawa Pulang</a:t>
            </a:r>
            <a:endParaRPr lang="en-US" sz="3200" dirty="0"/>
          </a:p>
        </p:txBody>
      </p:sp>
      <p:sp>
        <p:nvSpPr>
          <p:cNvPr id="6" name="Shape 4"/>
          <p:cNvSpPr/>
          <p:nvPr/>
        </p:nvSpPr>
        <p:spPr>
          <a:xfrm>
            <a:off x="822960" y="1965960"/>
            <a:ext cx="457200" cy="457200"/>
          </a:xfrm>
          <a:prstGeom prst="ellipse">
            <a:avLst/>
          </a:prstGeom>
          <a:solidFill>
            <a:srgbClr val="F2B705"/>
          </a:solidFill>
          <a:ln/>
        </p:spPr>
      </p:sp>
      <p:pic>
        <p:nvPicPr>
          <p:cNvPr id="7" name="Image 0" descr="/home/claude/shared_icons/icon_check.png">    </p:cNvPr>
          <p:cNvPicPr>
            <a:picLocks noChangeAspect="1"/>
          </p:cNvPicPr>
          <p:nvPr/>
        </p:nvPicPr>
        <p:blipFill>
          <a:blip r:embed="rId1"/>
          <a:stretch>
            <a:fillRect/>
          </a:stretch>
        </p:blipFill>
        <p:spPr>
          <a:xfrm>
            <a:off x="886968" y="2029968"/>
            <a:ext cx="329184" cy="329184"/>
          </a:xfrm>
          <a:prstGeom prst="rect">
            <a:avLst/>
          </a:prstGeom>
        </p:spPr>
      </p:pic>
      <p:sp>
        <p:nvSpPr>
          <p:cNvPr id="8" name="Text 5"/>
          <p:cNvSpPr txBox="1"/>
          <p:nvPr/>
        </p:nvSpPr>
        <p:spPr>
          <a:xfrm>
            <a:off x="1463040" y="1984248"/>
            <a:ext cx="987552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6 waktu seminggu, 4 bidang pembelajaran, 56 SP bagi Matematik Tingkatan 1.</a:t>
            </a:r>
            <a:endParaRPr lang="en-US" sz="1450" dirty="0"/>
          </a:p>
        </p:txBody>
      </p:sp>
      <p:sp>
        <p:nvSpPr>
          <p:cNvPr id="9" name="Shape 6"/>
          <p:cNvSpPr/>
          <p:nvPr/>
        </p:nvSpPr>
        <p:spPr>
          <a:xfrm>
            <a:off x="822960" y="2624328"/>
            <a:ext cx="457200" cy="457200"/>
          </a:xfrm>
          <a:prstGeom prst="ellipse">
            <a:avLst/>
          </a:prstGeom>
          <a:solidFill>
            <a:srgbClr val="F2B705"/>
          </a:solidFill>
          <a:ln/>
        </p:spPr>
      </p:sp>
      <p:pic>
        <p:nvPicPr>
          <p:cNvPr id="10" name="Image 1" descr="/home/claude/shared_icons/icon_check.png">    </p:cNvPr>
          <p:cNvPicPr>
            <a:picLocks noChangeAspect="1"/>
          </p:cNvPicPr>
          <p:nvPr/>
        </p:nvPicPr>
        <p:blipFill>
          <a:blip r:embed="rId2"/>
          <a:stretch>
            <a:fillRect/>
          </a:stretch>
        </p:blipFill>
        <p:spPr>
          <a:xfrm>
            <a:off x="886968" y="2688336"/>
            <a:ext cx="329184" cy="329184"/>
          </a:xfrm>
          <a:prstGeom prst="rect">
            <a:avLst/>
          </a:prstGeom>
        </p:spPr>
      </p:pic>
      <p:sp>
        <p:nvSpPr>
          <p:cNvPr id="11" name="Text 7"/>
          <p:cNvSpPr txBox="1"/>
          <p:nvPr/>
        </p:nvSpPr>
        <p:spPr>
          <a:xfrm>
            <a:off x="1463040" y="2642616"/>
            <a:ext cx="987552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4 TP (Tahu, Faham, Buat, Amal) — dilaporkan selepas satu tajuk penuh, bukan harian.</a:t>
            </a:r>
            <a:endParaRPr lang="en-US" sz="1450" dirty="0"/>
          </a:p>
        </p:txBody>
      </p:sp>
      <p:sp>
        <p:nvSpPr>
          <p:cNvPr id="12" name="Shape 8"/>
          <p:cNvSpPr/>
          <p:nvPr/>
        </p:nvSpPr>
        <p:spPr>
          <a:xfrm>
            <a:off x="822960" y="3282696"/>
            <a:ext cx="457200" cy="457200"/>
          </a:xfrm>
          <a:prstGeom prst="ellipse">
            <a:avLst/>
          </a:prstGeom>
          <a:solidFill>
            <a:srgbClr val="F2B705"/>
          </a:solidFill>
          <a:ln/>
        </p:spPr>
      </p:sp>
      <p:pic>
        <p:nvPicPr>
          <p:cNvPr id="13" name="Image 2" descr="/home/claude/shared_icons/icon_check.png">    </p:cNvPr>
          <p:cNvPicPr>
            <a:picLocks noChangeAspect="1"/>
          </p:cNvPicPr>
          <p:nvPr/>
        </p:nvPicPr>
        <p:blipFill>
          <a:blip r:embed="rId3"/>
          <a:stretch>
            <a:fillRect/>
          </a:stretch>
        </p:blipFill>
        <p:spPr>
          <a:xfrm>
            <a:off x="886968" y="3346704"/>
            <a:ext cx="329184" cy="329184"/>
          </a:xfrm>
          <a:prstGeom prst="rect">
            <a:avLst/>
          </a:prstGeom>
        </p:spPr>
      </p:pic>
      <p:sp>
        <p:nvSpPr>
          <p:cNvPr id="14" name="Text 9"/>
          <p:cNvSpPr txBox="1"/>
          <p:nvPr/>
        </p:nvSpPr>
        <p:spPr>
          <a:xfrm>
            <a:off x="1463040" y="3300984"/>
            <a:ext cx="987552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Nota: Bullet (•) bebas susun; Roman (i, ii, iii) wajib ikut turutan.</a:t>
            </a:r>
            <a:endParaRPr lang="en-US" sz="1450" dirty="0"/>
          </a:p>
        </p:txBody>
      </p:sp>
      <p:sp>
        <p:nvSpPr>
          <p:cNvPr id="15" name="Shape 10"/>
          <p:cNvSpPr/>
          <p:nvPr/>
        </p:nvSpPr>
        <p:spPr>
          <a:xfrm>
            <a:off x="822960" y="3941064"/>
            <a:ext cx="457200" cy="457200"/>
          </a:xfrm>
          <a:prstGeom prst="ellipse">
            <a:avLst/>
          </a:prstGeom>
          <a:solidFill>
            <a:srgbClr val="F2B705"/>
          </a:solidFill>
          <a:ln/>
        </p:spPr>
      </p:sp>
      <p:pic>
        <p:nvPicPr>
          <p:cNvPr id="16" name="Image 3" descr="/home/claude/shared_icons/icon_check.png">    </p:cNvPr>
          <p:cNvPicPr>
            <a:picLocks noChangeAspect="1"/>
          </p:cNvPicPr>
          <p:nvPr/>
        </p:nvPicPr>
        <p:blipFill>
          <a:blip r:embed="rId4"/>
          <a:stretch>
            <a:fillRect/>
          </a:stretch>
        </p:blipFill>
        <p:spPr>
          <a:xfrm>
            <a:off x="886968" y="4005072"/>
            <a:ext cx="329184" cy="329184"/>
          </a:xfrm>
          <a:prstGeom prst="rect">
            <a:avLst/>
          </a:prstGeom>
        </p:spPr>
      </p:pic>
      <p:sp>
        <p:nvSpPr>
          <p:cNvPr id="17" name="Text 11"/>
          <p:cNvSpPr txBox="1"/>
          <p:nvPr/>
        </p:nvSpPr>
        <p:spPr>
          <a:xfrm>
            <a:off x="1463040" y="3959352"/>
            <a:ext cx="987552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Perimeter &amp; Luas disisihkan; Set kekal secara visual dalam Bab Nombor Nyata.</a:t>
            </a:r>
            <a:endParaRPr lang="en-US" sz="1450" dirty="0"/>
          </a:p>
        </p:txBody>
      </p:sp>
      <p:sp>
        <p:nvSpPr>
          <p:cNvPr id="18" name="Shape 12"/>
          <p:cNvSpPr/>
          <p:nvPr/>
        </p:nvSpPr>
        <p:spPr>
          <a:xfrm>
            <a:off x="822960" y="4599432"/>
            <a:ext cx="457200" cy="457200"/>
          </a:xfrm>
          <a:prstGeom prst="ellipse">
            <a:avLst/>
          </a:prstGeom>
          <a:solidFill>
            <a:srgbClr val="F2B705"/>
          </a:solidFill>
          <a:ln/>
        </p:spPr>
      </p:sp>
      <p:pic>
        <p:nvPicPr>
          <p:cNvPr id="19" name="Image 4" descr="/home/claude/shared_icons/icon_check.png">    </p:cNvPr>
          <p:cNvPicPr>
            <a:picLocks noChangeAspect="1"/>
          </p:cNvPicPr>
          <p:nvPr/>
        </p:nvPicPr>
        <p:blipFill>
          <a:blip r:embed="rId5"/>
          <a:stretch>
            <a:fillRect/>
          </a:stretch>
        </p:blipFill>
        <p:spPr>
          <a:xfrm>
            <a:off x="886968" y="4663440"/>
            <a:ext cx="329184" cy="329184"/>
          </a:xfrm>
          <a:prstGeom prst="rect">
            <a:avLst/>
          </a:prstGeom>
        </p:spPr>
      </p:pic>
      <p:sp>
        <p:nvSpPr>
          <p:cNvPr id="20" name="Text 13"/>
          <p:cNvSpPr txBox="1"/>
          <p:nvPr/>
        </p:nvSpPr>
        <p:spPr>
          <a:xfrm>
            <a:off x="1463040" y="4617720"/>
            <a:ext cx="987552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9 Dimensi Pedagogi KPM tersedia untuk PdP bermakna — pilih ikut konteks tajuk.</a:t>
            </a:r>
            <a:endParaRPr lang="en-US" sz="1450" dirty="0"/>
          </a:p>
        </p:txBody>
      </p:sp>
      <p:sp>
        <p:nvSpPr>
          <p:cNvPr id="21" name="Shape 14"/>
          <p:cNvSpPr/>
          <p:nvPr/>
        </p:nvSpPr>
        <p:spPr>
          <a:xfrm>
            <a:off x="822960" y="5806440"/>
            <a:ext cx="10515600" cy="0"/>
          </a:xfrm>
          <a:prstGeom prst="line">
            <a:avLst/>
          </a:prstGeom>
          <a:noFill/>
          <a:ln w="19050">
            <a:solidFill>
              <a:srgbClr val="141A45"/>
            </a:solidFill>
            <a:prstDash val="solid"/>
          </a:ln>
        </p:spPr>
      </p:sp>
      <p:sp>
        <p:nvSpPr>
          <p:cNvPr id="22" name="Text 15"/>
          <p:cNvSpPr txBox="1"/>
          <p:nvPr/>
        </p:nvSpPr>
        <p:spPr>
          <a:xfrm>
            <a:off x="822960" y="5943600"/>
            <a:ext cx="1051560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Bahagian Pembangunan Kurikulum (BPK)  |  bpk.moe.gov.my  |  #kurikulumkita</a:t>
            </a:r>
            <a:endParaRPr lang="en-US" sz="1100" dirty="0"/>
          </a:p>
        </p:txBody>
      </p:sp>
      <p:sp>
        <p:nvSpPr>
          <p:cNvPr id="23" name="Text 16"/>
          <p:cNvSpPr txBox="1"/>
          <p:nvPr/>
        </p:nvSpPr>
        <p:spPr>
          <a:xfrm>
            <a:off x="822960" y="6263640"/>
            <a:ext cx="10515600"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Calibri" pitchFamily="34" charset="0"/>
                <a:ea typeface="Calibri" pitchFamily="34" charset="-122"/>
                <a:cs typeface="Calibri" pitchFamily="34" charset="-120"/>
              </a:rPr>
              <a:t>Bahan disintesis daripada Slaid Rasmi BPK Sidang 3, Analisis Rakaman Bengkel &amp; Dokumen Kurikulum Matematik. Perkara bertanda [CADANGAN PEMBANGUN MODUL] ialah cadangan penyampai, bukan arahan rasmi KPM.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2026-09-10T23:07:42Z</dcterms:created>
  <dcterms:modified xsi:type="dcterms:W3CDTF">2026-09-10T23:07:42Z</dcterms:modified>
</cp:coreProperties>
</file>