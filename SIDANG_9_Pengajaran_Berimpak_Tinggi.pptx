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PENATARAN KURIKULUM PERSEKOLAHAN 2027  •  SIDANG 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Pengajaran Berimpak Tinggi: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Rangka ke Realiti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3429000"/>
            <a:ext cx="2194560" cy="0"/>
          </a:xfrm>
          <a:prstGeom prst="line">
            <a:avLst/>
          </a:prstGeom>
          <a:noFill/>
          <a:ln w="38100">
            <a:solidFill>
              <a:srgbClr val="F2B7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5844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“Menterjemah Standard kepada Praktik Berkualiti”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Kritikan Video Pengajaran Mikro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0" name="Image 0" descr="/home/claude/shared_icons/icon_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4871009"/>
            <a:ext cx="362102" cy="3621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4864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Rakan Sebaya &amp; Fasilitator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Perkongsian Peringkat Sekolah  |  Disintesis daripada Slaid Rasmi BPK &amp; Analisis Rakaman Bengkel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PEMBELAJARAN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Pada Akhir Sidang Ini, Guru Dapat...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hared_icon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594" y="2309774"/>
            <a:ext cx="592531" cy="5925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Pasti Kekuatan &amp; Kelemahan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pasti kekuatan dan kelemahan dalam penyampaian melalui maklum balas rakan sebaya dan fasilitator.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9214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hared_icons/icon_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354" y="230977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Mengintegrasi Cadangan Penambahbaikan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cadangan penambahbaikan ke dalam rancangan pengajaran.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869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hared_icons/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114" y="230977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Refleksi Bermakna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refleksi pengalaman pengajaran mikro untuk menambah baik amalan PdP sebenar.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9, m/s 2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KESELURUHAN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Rangka ke Realiti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menyatukan pembelajaran Sidang 3 hingga Sidang 8 — rakaman video pengajaran mikro yang dihasilkan dikritik secara membina oleh rakan sebaya dan fasilitator menggunakan rubrik piawai, sebelum diintegrasikan semula ke dalam rancangan pengajaran sebenar.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926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sc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30156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Rangka (Sidang 3–7)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Kandungan, SP &amp; SPi dikuasai secara mendalam bagi setiap bidang pembelajaran.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3182112" y="40233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29000" y="26517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926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3" name="Image 1" descr="/home/claude/shared_icons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301569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Realiti (Sidang 8)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diterjemah kepada pengajaran mikro 5–10 minit &amp; dirakam sebagai video.</a:t>
            </a:r>
            <a:endParaRPr lang="en-US" sz="980" dirty="0"/>
          </a:p>
        </p:txBody>
      </p:sp>
      <p:sp>
        <p:nvSpPr>
          <p:cNvPr id="16" name="Text 12"/>
          <p:cNvSpPr txBox="1"/>
          <p:nvPr/>
        </p:nvSpPr>
        <p:spPr>
          <a:xfrm>
            <a:off x="6062472" y="40233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309360" y="26517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0" y="2926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2" descr="/home/claude/shared_icons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11" y="301569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4652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Kritikan (Sidang 9)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dinilai menggunakan rubrik; kekuatan &amp; penambahbaikan dikenal pasti bersama.</a:t>
            </a:r>
            <a:endParaRPr lang="en-US" sz="980" dirty="0"/>
          </a:p>
        </p:txBody>
      </p:sp>
      <p:sp>
        <p:nvSpPr>
          <p:cNvPr id="22" name="Text 17"/>
          <p:cNvSpPr txBox="1"/>
          <p:nvPr/>
        </p:nvSpPr>
        <p:spPr>
          <a:xfrm>
            <a:off x="8942832" y="40233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9189720" y="26517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4" name="Shape 19"/>
          <p:cNvSpPr/>
          <p:nvPr/>
        </p:nvSpPr>
        <p:spPr>
          <a:xfrm>
            <a:off x="10195560" y="2926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5" name="Image 3" descr="/home/claude/shared_icons/icon_chalk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3015691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2688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Praktik Berkualiti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37260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diintegrasikan semula ke dalam rancangan pengajaran untuk PdP sebenar.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Sidang 9, m/s 1–2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Rubrik Penilaian Pengajaran Mikro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92224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869034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19072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Kualiti Pengajaran dan Kandungan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0665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Ketepatan konsep matematik, kejelasan penyampaian &amp; kesahihan fakta.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34056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2" y="281086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660904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PdP Matematik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00837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Kesesuaian pendekatan (induktif, heuristik, model bar, dsb.) dengan SP yang diajar.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48640" y="352958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675888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375269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602736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 Utama dalam Pengajaran Mikro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95020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 yang berjaya — penglibatan murid, kejelasan arahan, pengurusan masa.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447141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61772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1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2" y="469453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54456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Penambahbaikan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463040" y="48920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peningkatan yang membina — bukan kritikan menghukum.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548640" y="541324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5559552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6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2" y="5636362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5486400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 Kaedah Pengajaran yang Menarik Perhatian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463040" y="58338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kreatif/inovatif yang boleh dikongsi sebagai amalan terbaik.</a:t>
            </a:r>
            <a:endParaRPr lang="en-US" sz="103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9, m/s 3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KES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Pembentangan: Ketaksamaan Linear &amp; Integrasi PKJR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Melaksanakan SP membanding nilai nombor, memerihalkan ketaksamaan, dan membentuk ketaksamaan algebra menggunakan kaedah inkuiri penemuan berpusatkan murid, dengan simbol jalan raya PKJR sebagai langkah induksi.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60604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26956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Induksi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3192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tunjuk papan tanda PKJR; murid berbincang kefahaman secara berpasangan.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2331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260604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2" name="Image 1" descr="/home/claude/shared_icons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26956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Eksplorasi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93192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dipanggil berpasangan ke hadapan untuk menampal kad nombor pada papan putih.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2331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0" y="260604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7" name="Image 2" descr="/home/claude/shared_icons/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11" y="269565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Penaakulan Visual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93192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bertanya mengapa sesuatu nombor ditampal di sebelah kanan.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89720" y="2331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195560" y="260604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2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269565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2688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Kesimpulan Simbol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372600" y="393192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dibimbing membaca ketaksamaan untuk memahami simbol &gt;, &lt;, ≥, ≤.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ISI 1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APLIKASI RUBRIK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Kritikan Membina: Studi Kes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7FC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6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8726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KELEBIHAN UTAMA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realistik (PKJR) menjadikan induksi bermakna &amp; relevan kepada kehidupan murid.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Kaedah fizikal (menampal kad nombor) membina kefahaman konkrit sebelum simbol abstrak diperkenalkan.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Soalan “mengapa” pada Langkah 3 menggalakkan penaakulan — bukan sekadar menghafal simbol.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7FC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/home/claude/shared_icons/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51" y="187269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920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CADANGAN PENAMBAHBAIKAN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46888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Elakkan menghukum cepat jawapan murid seperti “lebih kecil” vs “kurang daripada” — beri ruang penerokaan istilah dahulu.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SEMUA murid (bukan hanya pasangan yang dipanggil) terlibat aktif sepanjang aktiviti tampal kad.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Sambungkan kesimpulan simbol kepada Nota rasmi SP 5.2.1 (tatatanda PKJR) untuk pengukuhan.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ISI 1, Bhg.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KES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Pembentangan: Statistik &amp; Pentafsiran Pelbagai Data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kemahiran murid mentafsir pelbagai bentuk perwakilan data (SP 8.1.4) secara holistik — bukan sekadar tertumpu kepada satu jenis carta sahaja.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41A45"/>
          </a:solidFill>
          <a:ln w="19050">
            <a:solidFill>
              <a:srgbClr val="E043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4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DIKRITIK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Kumpulan hanya membentangkan CARTA PAI sahaja, sedangkan DSKP mewajibkan murid menguasai pelbagai perwakilan termasuk carta palang berkelompok, plot titik, plot batang-dan-daun, serta graf garis.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mikro perlu mencerminkan SKOP PENUH SP, bukan hanya satu contoh mudah.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41A4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PENGESAHAN (VERIFICATION)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97480"/>
            <a:ext cx="4892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Pengesahan Peratusan: murid menambah semua peratusan carta pai untuk pastikan jumlahnya 100%.</a:t>
            </a:r>
            <a:endParaRPr lang="en-US" sz="108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Pengesahan Sudut Sektor: murid guna jangka sudut fizikal untuk sahkan sudut bersamaan 360°.</a:t>
            </a:r>
            <a:endParaRPr lang="en-US" sz="108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Justifikasi Data: soalan seperti “Adakah kaedah bermotosikal lebih berisiko?” membina kemahiran mentafsir.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ISI 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TAHU: MENGAPA INI PENTING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Kemahiran Verifikasi — Jurang Kritikal Murid Malaysia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rasmi menunjukkan murid Malaysia amat lemah dalam kemahiran mentafsir &amp; mengesahkan data — sebab utama teknik verifikasi perlu diperkasa dalam SETIAP pengajaran statistik, bukan hanya carta pai.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88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Malaysia menjawab BETUL bagi soalan pentafsiran graf biasa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514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788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7947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Malaysia menjawab BETUL bagi soalan pentafsiran perbandingan graf bar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Laporan Analisis Item Matematik TIMSS 2023 (rujuk juga Sidang 7).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2B70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Justeru, teknik verifikasi (sahkan peratusan 100%, sahkan sudut 360°, minta justifikasi bertulis) perlu menjadi amalan PdP standard — bukan hanya semasa pengajaran mikro dinilai.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PENTING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 Kritikan Membina: Jangan Sekat Penerokaan Murid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Semasa mengkritik video pengajaran mikro rakan, ingat bahawa prinsip yang sama turut terpakai kepada guru semasa mengajar murid sebenar.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6771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Situasi: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menjawab “lebih kecil” untuk menggambarkan hubungan ketaksamaan, walaupun jawapan “formal” yang dijangka ialah “kurang daripada”. Guru tidak boleh cepat menghukum/menolak jawapan tersebut.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0435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shared_icon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30" y="4100170"/>
            <a:ext cx="395021" cy="39502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399592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Elakkan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6634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Menghukum/menolak jawapan tidak formal secara terus tanpa penjelasan.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37947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27AE60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4100170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78040" y="399592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Amalkan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46634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idea murid, bimbing ke arah istilah formal secara beransur (scaffolding bahasa).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8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PERKARA PENTING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yang Guru WAJIB Faham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3794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019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916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penilaian merangkumi 5 kriteria: kualiti kandungan, strategi PdP, kelebihan utama, cadangan penambahbaikan, dan aspek menarik.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28232" y="183794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0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0195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13448" y="16916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Kritikan bertujuan MEMBINA (formatif) — fokus kepada kekuatan &amp; penambahbaikan, bukan menghukum.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39242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4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5643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324612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mikro perlu mencerminkan SKOP PENUH sesuatu SP, bukan hanya satu contoh termudah (rujuk kes Carta Pai sahaja).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6263640" y="315468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28232" y="339242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8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45643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3448" y="324612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verifikasi (sahkan peratusan, sahkan sudut, minta justifikasi) wajib diserap dalam PdP statistik kerana murid Malaysia amat lemah dalam kemahiran ini (TIMSS).</a:t>
            </a:r>
            <a:endParaRPr lang="en-US" sz="102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" y="494690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2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1091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98448" y="48006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Berhati-hati menggunakan AI (ChatGPT/Notebook) untuk menyediakan bahan kritikan/refleksi — tapis laras bahasa Indonesia yang mungkin terselit.</a:t>
            </a:r>
            <a:endParaRPr lang="en-US" sz="1020" dirty="0"/>
          </a:p>
        </p:txBody>
      </p:sp>
      <p:sp>
        <p:nvSpPr>
          <p:cNvPr id="24" name="Shape 17"/>
          <p:cNvSpPr/>
          <p:nvPr/>
        </p:nvSpPr>
        <p:spPr>
          <a:xfrm>
            <a:off x="6263640" y="470916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28232" y="494690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6" name="Image 5" descr="/home/claude/shared_icons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010912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13448" y="48006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Sidang 3 hingga Sidang 8 (kesemua bidang + pengajaran mikro) perlu dihantar melalui saluran yang ditetapkan (cth. Google Classroom).</a:t>
            </a:r>
            <a:endParaRPr lang="en-US" sz="102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[BPK/BENGKEL] Slaid &amp; Analisis Sidang 9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KESILAPAN PERLU DIELAKKAN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Salah Faham Lazim dalam Sesi Kritikan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37944"/>
            <a:ext cx="457200" cy="45720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6" name="Image 0" descr="/home/claude/shared_icon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019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9164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kritikan yang hanya menyenaraikan kelemahan tanpa mengiktiraf kelebihan (tidak seimbang).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41A45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837944"/>
            <a:ext cx="457200" cy="45720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0" name="Image 1" descr="/home/claude/shared_icons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0195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13448" y="169164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Membentangkan hanya SATU contoh/kaedah termudah untuk mewakili keseluruhan SP yang lebih luas.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41A45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3300984"/>
            <a:ext cx="457200" cy="45720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4" name="Image 2" descr="/home/claude/shared_icons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6499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315468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Menghukum/menolak jawapan tidak formal murid dengan segera tanpa memberi ruang penerokaan.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6263640" y="306324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41A45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8232" y="3300984"/>
            <a:ext cx="457200" cy="45720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8" name="Image 3" descr="/home/claude/shared_icons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36499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3448" y="315468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Menyalin bulat-bulat cadangan penambahbaikan daripada AI tanpa menyemak laras bahasa Melayu asli.</a:t>
            </a:r>
            <a:endParaRPr lang="en-US" sz="102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41A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4764024"/>
            <a:ext cx="457200" cy="45720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22" name="Image 4" descr="/home/claude/shared_icons/icon_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2803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98448" y="461772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Menjadikan sesi kritikan sebagai penilaian berisiko tinggi/formal — bukannya refleksi profesional yang selamat.</a:t>
            </a:r>
            <a:endParaRPr lang="en-US" sz="1020" dirty="0"/>
          </a:p>
        </p:txBody>
      </p:sp>
      <p:sp>
        <p:nvSpPr>
          <p:cNvPr id="24" name="Shape 17"/>
          <p:cNvSpPr/>
          <p:nvPr/>
        </p:nvSpPr>
        <p:spPr>
          <a:xfrm>
            <a:off x="6263640" y="45262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41A45"/>
          </a:solidFill>
          <a:ln/>
        </p:spPr>
      </p:sp>
      <p:sp>
        <p:nvSpPr>
          <p:cNvPr id="25" name="Shape 18"/>
          <p:cNvSpPr/>
          <p:nvPr/>
        </p:nvSpPr>
        <p:spPr>
          <a:xfrm>
            <a:off x="6428232" y="4764024"/>
            <a:ext cx="457200" cy="45720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26" name="Image 5" descr="/home/claude/shared_icons/icon_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828032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13448" y="461772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mengintegrasikan cadangan penambahbaikan yang diterima ke dalam rancangan pengajaran seterusnya.</a:t>
            </a:r>
            <a:endParaRPr lang="en-US" sz="102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8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Implikasi kepada Guru dan Murid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bookR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KEPADA GURU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berlatih memberi maklum balas berimbang (kekuatan + penambahbaikan) menggunakan rubrik piawai.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semak semula pengajaran mikro sendiri terhadap SKOP PENUH SP, bukan contoh termudah sahaja.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sematkan teknik verifikasi dalam PdP statistik seterusnya.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terbuka menerima kritikan sebagai peluang pertumbuhan profesional, bukan ancaman.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1" name="Image 1" descr="/home/claude/shared_icons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131" y="19184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KEPADA MURID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46888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PdP yang lebih menyeluruh selepas guru memperbaiki liputan SP.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Dibimbing membina kemahiran verifikasi/justifikasi — bukan sekadar menghafal jawapan.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jawapan tidak formal murid dihargai sebagai titik permulaan penerokaan, bukan kesilapan.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 manfaat daripada guru yang terus meningkatkan amalan PdP secara berterusan.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BPK + Analisis Bengkel Sidang 9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AMALAN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Keutamaan Pelaksanaan di Sekolah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914400" cy="914400"/>
          </a:xfrm>
          <a:prstGeom prst="ellipse">
            <a:avLst/>
          </a:prstGeom>
          <a:solidFill>
            <a:srgbClr val="E043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PENTING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03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Jadikan Rubrik 5-Kriteria Amalan Kritikan Tetap Panitia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468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rubrik yang sama untuk sesi pengajaran mikro PLC — pastikan maklum balas sentiasa berimbang &amp; membina.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29000"/>
            <a:ext cx="914400" cy="9144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611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Serapkan Teknik Verifikasi dalam Semua PdP Statistik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977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Sahkan peratusan 100%, sudut 360°, dan minta justifikasi bertulis — bukan hanya semasa dinilai.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9377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873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SOKONGAN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5120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 Budaya Terima Jawapan Tidak Formal Murid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5486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semua guru panitia mengelak menghukum cepat jawapan kreatif/tidak formal murid.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9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PERBINCANGAN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Aktiviti: Kritik Video Pengajaran Mikro Anda Sendiri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47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82880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Tonton semula video/rakaman pengajaran mikro anda (rujuk Sidang 8) secara individu atau berpasangan.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8775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 Rubrik Penilaian 5-Kriteria di Slaid 4 sebagai panduan.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5643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56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33756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 pasti SEKURANG-KURANGNYA 2 kelebihan dan 2 cadangan penambahbaikan.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409651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cadangan bersifat membina &amp; spesifik (bukan umum).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6519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8463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Bincang dengan rakan panitia bagaimana cadangan tersebut boleh diintegrasikan ke dalam RPH seterusnya.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60527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 Studi Kes 1 &amp; 2 (Slaid 5–7) sebagai contoh perbincangan.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Aktiviti berdasarkan struktur Slaid Sidang 9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RINGKAS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Soalan Lazim Guru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hared_icons/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0034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Adakah kritikan video bertujuan untuk menilai prestasi guru secara formal?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94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Tidak. Tujuan utama ialah refleksi &amp; penambahbaikan profesional — bukan penilaian berisiko tinggi.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090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hared_icons/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" y="317388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9535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Bolehkah kumpulan hanya tunjuk SATU contoh/kaedah untuk satu SP yang luas?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364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Elakkan. Pengajaran perlu cuba mencerminkan skop penuh SP (rujuk kes Carta Pai sahaja, Studi Kes 2).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26110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hared_icons/icon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" y="4344314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1239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Bagaimana jika murid beri jawapan tidak formal semasa video?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5354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Jangan hukum cepat — ini peluang membimbing murid ke istilah formal secara beransur (scaffolding).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52029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543153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hared_icons/icon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" y="5514746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2943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Bolehkah guna ChatGPT/AI untuk menulis cadangan penambahbaikan?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70585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Boleh, tetapi wajib disemak &amp; ditapis — elakkan laras bahasa Indonesia yang tidak sesuai.</a:t>
            </a:r>
            <a:endParaRPr lang="en-US" sz="108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12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Sidang 9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173" y="2159813"/>
            <a:ext cx="526694" cy="526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Rubrik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kriteria: kandungan, strategi, kelebihan, cadangan, aspek menarik.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/home/claude/shared_icons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33" y="215981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Kes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Ketaksamaan/PKJR (Kumpulan 18) &amp; Statistik/Data (Kumpulan 19).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2" descr="/home/claude/shared_icons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93" y="215981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Verifikasi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Sahkan peratusan 100%, sudut 360°, justifikasi bertulis — kritikal (TIMSS).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4984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1" name="Image 3" descr="/home/claude/shared_icons/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253" y="215981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Kritikan membina, bukan menghukum; jangan sekat penerokaan murid.</a:t>
            </a:r>
            <a:endParaRPr lang="en-US" sz="103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berimpak tinggi lahir daripada kitaran berterusan: rancang, laksana, refleksi, tambah baik.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BPK + Analisis Bengkel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Perlu Dibuat Selepas Sidang Ini?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69164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Tonton semula video pengajaran mikro sendiri (Sidang 8) menggunakan Rubrik 5-Kriteria.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3347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441448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Senaraikan sekurang-kurangnya 2 kelebihan dan 2 cadangan penambahbaikan yang spesifik.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832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91256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 sama ada pengajaran mikro anda mencerminkan skop PENUH SP yang dipilih.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3308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941064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SATU sesi PdP susulan yang menyerapkan teknik verifikasi (peratusan/sudut/justifikasi).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828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690872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Cadangkan kepada Ketua Panitia agar rubrik ini digunakan dalam sesi PLC bulanan akan datang.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63270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544068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Kongsikan bahan ini kepada rakan sekolah yang tidak dapat hadir sidang asal.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Senarai semak tindakan susulan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9  |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Wajib Dibawa Pulang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5-Kriteria: kandungan, strategi, kelebihan, cadangan, aspek menarik.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624328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883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6426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Kritikan mesti membina &amp; berimbang — bukan sekadar menyenaraikan kelemahan.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3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467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30098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mikro perlu cerminkan skop PENUH SP, bukan satu contoh termudah sahaja.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0050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959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verifikasi (peratusan/sudut/justifikasi) kritikal kerana murid Malaysia lemah dalam mentafsir data.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22960" y="459943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66344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sekat penerokaan murid — terima jawapan tidak formal sebagai titik permulaan pembelajaran.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9050">
            <a:solidFill>
              <a:srgbClr val="141A4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Bahagian Pembangunan Kurikulum (BPK)  |  bpk.moe.gov.my  |  #kurikulumkita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disintesis daripada Slaid Rasmi BPK Sidang 9 &amp; Analisis Rakaman Bengkel. Perkara bertanda [CADANGAN PEMBANGUN MODUL] ialah cadangan penyampai, bukan arahan rasmi KPM.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2026-09-15T10:08:33Z</dcterms:created>
  <dcterms:modified xsi:type="dcterms:W3CDTF">2026-09-15T10:08:33Z</dcterms:modified>
</cp:coreProperties>
</file>