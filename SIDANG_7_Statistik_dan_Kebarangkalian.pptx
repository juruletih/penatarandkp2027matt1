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image" Target="../media/image-13-1.png"/><Relationship Id="rId4" Type="http://schemas.openxmlformats.org/officeDocument/2006/relationships/image" Target="../media/image-13-1.png"/><Relationship Id="rId5" Type="http://schemas.openxmlformats.org/officeDocument/2006/relationships/image" Target="../media/image-13-1.png"/><Relationship Id="rId6" Type="http://schemas.openxmlformats.org/officeDocument/2006/relationships/image" Target="../media/image-13-1.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1.png"/><Relationship Id="rId3" Type="http://schemas.openxmlformats.org/officeDocument/2006/relationships/image" Target="../media/image-14-1.png"/><Relationship Id="rId4" Type="http://schemas.openxmlformats.org/officeDocument/2006/relationships/image" Target="../media/image-14-1.png"/><Relationship Id="rId5" Type="http://schemas.openxmlformats.org/officeDocument/2006/relationships/image" Target="../media/image-14-1.png"/><Relationship Id="rId6" Type="http://schemas.openxmlformats.org/officeDocument/2006/relationships/image" Target="../media/image-14-1.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1.png"/><Relationship Id="rId3" Type="http://schemas.openxmlformats.org/officeDocument/2006/relationships/image" Target="../media/image-18-1.png"/><Relationship Id="rId4" Type="http://schemas.openxmlformats.org/officeDocument/2006/relationships/image" Target="../media/image-18-1.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image" Target="../media/image-21-1.png"/><Relationship Id="rId4" Type="http://schemas.openxmlformats.org/officeDocument/2006/relationships/image" Target="../media/image-21-1.png"/><Relationship Id="rId5" Type="http://schemas.openxmlformats.org/officeDocument/2006/relationships/image" Target="../media/image-21-1.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141A45"/>
          </a:solidFill>
          <a:ln/>
        </p:spPr>
      </p:sp>
      <p:sp>
        <p:nvSpPr>
          <p:cNvPr id="3" name="Shape 1"/>
          <p:cNvSpPr/>
          <p:nvPr/>
        </p:nvSpPr>
        <p:spPr>
          <a:xfrm>
            <a:off x="-1645920" y="4754880"/>
            <a:ext cx="4023360" cy="4023360"/>
          </a:xfrm>
          <a:prstGeom prst="ellipse">
            <a:avLst/>
          </a:prstGeom>
          <a:solidFill>
            <a:srgbClr val="141A45"/>
          </a:solidFill>
          <a:ln/>
        </p:spPr>
      </p:sp>
      <p:sp>
        <p:nvSpPr>
          <p:cNvPr id="4" name="Text 2"/>
          <p:cNvSpPr txBox="1"/>
          <p:nvPr/>
        </p:nvSpPr>
        <p:spPr>
          <a:xfrm>
            <a:off x="822960" y="1280160"/>
            <a:ext cx="10515600" cy="365760"/>
          </a:xfrm>
          <a:prstGeom prst="rect">
            <a:avLst/>
          </a:prstGeom>
          <a:noFill/>
          <a:ln/>
        </p:spPr>
        <p:txBody>
          <a:bodyPr wrap="square" rtlCol="0" anchor="ctr"/>
          <a:lstStyle/>
          <a:p>
            <a:pPr indent="0" marL="0">
              <a:buNone/>
            </a:pPr>
            <a:r>
              <a:rPr lang="en-US" sz="1400" b="1" spc="200" kern="0" dirty="0">
                <a:solidFill>
                  <a:srgbClr val="F2B705"/>
                </a:solidFill>
                <a:latin typeface="Calibri" pitchFamily="34" charset="0"/>
                <a:ea typeface="Calibri" pitchFamily="34" charset="-122"/>
                <a:cs typeface="Calibri" pitchFamily="34" charset="-120"/>
              </a:rPr>
              <a:t>PENATARAN KURIKULUM PERSEKOLAHAN 2027  •  SIDANG 7</a:t>
            </a:r>
            <a:endParaRPr lang="en-US" sz="1400" dirty="0"/>
          </a:p>
        </p:txBody>
      </p:sp>
      <p:sp>
        <p:nvSpPr>
          <p:cNvPr id="5" name="Text 3"/>
          <p:cNvSpPr txBox="1"/>
          <p:nvPr/>
        </p:nvSpPr>
        <p:spPr>
          <a:xfrm>
            <a:off x="822960" y="1737360"/>
            <a:ext cx="10424160" cy="1737360"/>
          </a:xfrm>
          <a:prstGeom prst="rect">
            <a:avLst/>
          </a:prstGeom>
          <a:noFill/>
          <a:ln/>
        </p:spPr>
        <p:txBody>
          <a:bodyPr wrap="square" rtlCol="0" anchor="ctr"/>
          <a:lstStyle/>
          <a:p>
            <a:pPr indent="0" marL="0">
              <a:lnSpc>
                <a:spcPct val="112000"/>
              </a:lnSpc>
              <a:buNone/>
            </a:pPr>
            <a:r>
              <a:rPr lang="en-US" sz="3000" b="1" dirty="0">
                <a:solidFill>
                  <a:srgbClr val="FFFFFF"/>
                </a:solidFill>
                <a:latin typeface="Cambria" pitchFamily="34" charset="0"/>
                <a:ea typeface="Cambria" pitchFamily="34" charset="-122"/>
                <a:cs typeface="Cambria" pitchFamily="34" charset="-120"/>
              </a:rPr>
              <a:t>Selam Intelektual: Menguasai SP &amp; SPi</a:t>
            </a:r>
            <a:endParaRPr lang="en-US" sz="3000" dirty="0"/>
          </a:p>
          <a:p>
            <a:pPr indent="0" marL="0">
              <a:lnSpc>
                <a:spcPct val="112000"/>
              </a:lnSpc>
              <a:buNone/>
            </a:pPr>
            <a:r>
              <a:rPr lang="en-US" sz="3000" b="1" dirty="0">
                <a:solidFill>
                  <a:srgbClr val="FFFFFF"/>
                </a:solidFill>
                <a:latin typeface="Cambria" pitchFamily="34" charset="0"/>
                <a:ea typeface="Cambria" pitchFamily="34" charset="-122"/>
                <a:cs typeface="Cambria" pitchFamily="34" charset="-120"/>
              </a:rPr>
              <a:t>Secara Mendalam — Statistik dan Kebarangkalian</a:t>
            </a:r>
            <a:endParaRPr lang="en-US" sz="3000" dirty="0"/>
          </a:p>
        </p:txBody>
      </p:sp>
      <p:sp>
        <p:nvSpPr>
          <p:cNvPr id="6" name="Shape 4"/>
          <p:cNvSpPr/>
          <p:nvPr/>
        </p:nvSpPr>
        <p:spPr>
          <a:xfrm>
            <a:off x="868680" y="3611880"/>
            <a:ext cx="2194560" cy="0"/>
          </a:xfrm>
          <a:prstGeom prst="line">
            <a:avLst/>
          </a:prstGeom>
          <a:noFill/>
          <a:ln w="38100">
            <a:solidFill>
              <a:srgbClr val="F2B705"/>
            </a:solidFill>
            <a:prstDash val="solid"/>
          </a:ln>
        </p:spPr>
      </p:sp>
      <p:sp>
        <p:nvSpPr>
          <p:cNvPr id="7" name="Text 5"/>
          <p:cNvSpPr txBox="1"/>
          <p:nvPr/>
        </p:nvSpPr>
        <p:spPr>
          <a:xfrm>
            <a:off x="822960" y="3767328"/>
            <a:ext cx="9144000" cy="457200"/>
          </a:xfrm>
          <a:prstGeom prst="rect">
            <a:avLst/>
          </a:prstGeom>
          <a:noFill/>
          <a:ln/>
        </p:spPr>
        <p:txBody>
          <a:bodyPr wrap="square"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“Daripada Standard kepada Kefahaman Bermakna”</a:t>
            </a:r>
            <a:endParaRPr lang="en-US" sz="1500" dirty="0"/>
          </a:p>
        </p:txBody>
      </p:sp>
      <p:sp>
        <p:nvSpPr>
          <p:cNvPr id="8" name="Text 6"/>
          <p:cNvSpPr txBox="1"/>
          <p:nvPr/>
        </p:nvSpPr>
        <p:spPr>
          <a:xfrm>
            <a:off x="822960" y="4434840"/>
            <a:ext cx="9144000" cy="365760"/>
          </a:xfrm>
          <a:prstGeom prst="rect">
            <a:avLst/>
          </a:prstGeom>
          <a:noFill/>
          <a:ln/>
        </p:spPr>
        <p:txBody>
          <a:bodyPr wrap="square" rtlCol="0" anchor="ctr"/>
          <a:lstStyle/>
          <a:p>
            <a:pPr indent="0" marL="0">
              <a:buNone/>
            </a:pPr>
            <a:r>
              <a:rPr lang="en-US" sz="1400" b="1" dirty="0">
                <a:solidFill>
                  <a:srgbClr val="F2B705"/>
                </a:solidFill>
                <a:latin typeface="Calibri" pitchFamily="34" charset="0"/>
                <a:ea typeface="Calibri" pitchFamily="34" charset="-122"/>
                <a:cs typeface="Calibri" pitchFamily="34" charset="-120"/>
              </a:rPr>
              <a:t>Bidang Pembelajaran: Statistik dan Kebarangkalian</a:t>
            </a:r>
            <a:endParaRPr lang="en-US" sz="1400" dirty="0"/>
          </a:p>
        </p:txBody>
      </p:sp>
      <p:sp>
        <p:nvSpPr>
          <p:cNvPr id="9" name="Shape 7"/>
          <p:cNvSpPr/>
          <p:nvPr/>
        </p:nvSpPr>
        <p:spPr>
          <a:xfrm>
            <a:off x="822960" y="4892040"/>
            <a:ext cx="502920" cy="502920"/>
          </a:xfrm>
          <a:prstGeom prst="ellipse">
            <a:avLst/>
          </a:prstGeom>
          <a:solidFill>
            <a:srgbClr val="E0435A"/>
          </a:solidFill>
          <a:ln/>
        </p:spPr>
      </p:sp>
      <p:pic>
        <p:nvPicPr>
          <p:cNvPr id="10" name="Image 0" descr="/home/claude/shared_icons/icon_chart.png">    </p:cNvPr>
          <p:cNvPicPr>
            <a:picLocks noChangeAspect="1"/>
          </p:cNvPicPr>
          <p:nvPr/>
        </p:nvPicPr>
        <p:blipFill>
          <a:blip r:embed="rId1"/>
          <a:stretch>
            <a:fillRect/>
          </a:stretch>
        </p:blipFill>
        <p:spPr>
          <a:xfrm>
            <a:off x="893369" y="4962449"/>
            <a:ext cx="362102" cy="362102"/>
          </a:xfrm>
          <a:prstGeom prst="rect">
            <a:avLst/>
          </a:prstGeom>
        </p:spPr>
      </p:pic>
      <p:sp>
        <p:nvSpPr>
          <p:cNvPr id="11" name="Text 8"/>
          <p:cNvSpPr txBox="1"/>
          <p:nvPr/>
        </p:nvSpPr>
        <p:spPr>
          <a:xfrm>
            <a:off x="1417320" y="4956048"/>
            <a:ext cx="36576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8.0 Pengendalian Data</a:t>
            </a:r>
            <a:endParaRPr lang="en-US" sz="1300" dirty="0"/>
          </a:p>
        </p:txBody>
      </p:sp>
      <p:sp>
        <p:nvSpPr>
          <p:cNvPr id="12" name="Text 9"/>
          <p:cNvSpPr txBox="1"/>
          <p:nvPr/>
        </p:nvSpPr>
        <p:spPr>
          <a:xfrm>
            <a:off x="822960" y="6400800"/>
            <a:ext cx="10515600" cy="27432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Bahan Perkongsian Peringkat Sekolah  |  Disintesis daripada Slaid Rasmi BPK, Analisis Rakaman Bengkel &amp; Dokumen Kurikulum Matematik 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HASIL PEMBELAJARAN</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Selepas Sidang Ini, Guru Dapat...</a:t>
            </a:r>
            <a:endParaRPr lang="en-US" sz="2600" dirty="0"/>
          </a:p>
        </p:txBody>
      </p:sp>
      <p:sp>
        <p:nvSpPr>
          <p:cNvPr id="4" name="Text 2"/>
          <p:cNvSpPr txBox="1"/>
          <p:nvPr/>
        </p:nvSpPr>
        <p:spPr>
          <a:xfrm>
            <a:off x="1371600" y="3246120"/>
            <a:ext cx="9418320" cy="1097280"/>
          </a:xfrm>
          <a:prstGeom prst="rect">
            <a:avLst/>
          </a:prstGeom>
          <a:noFill/>
          <a:ln/>
        </p:spPr>
        <p:txBody>
          <a:bodyPr wrap="square" rtlCol="0" anchor="ctr"/>
          <a:lstStyle/>
          <a:p>
            <a:pPr algn="ctr" indent="0" marL="0">
              <a:lnSpc>
                <a:spcPct val="130000"/>
              </a:lnSpc>
              <a:buNone/>
            </a:pPr>
            <a:r>
              <a:rPr lang="en-US" sz="1600" dirty="0">
                <a:solidFill>
                  <a:srgbClr val="141A45"/>
                </a:solidFill>
                <a:latin typeface="Calibri" pitchFamily="34" charset="0"/>
                <a:ea typeface="Calibri" pitchFamily="34" charset="-122"/>
                <a:cs typeface="Calibri" pitchFamily="34" charset="-120"/>
              </a:rPr>
              <a:t>Mendalami Kandungan Dokumen Kurikulum Matematik Tingkatan 1 2027 — terutama Standard Kandungan, Standard Pembelajaran dan Standard Prestasi bagi tajuk Pengendalian Data.</a:t>
            </a:r>
            <a:endParaRPr lang="en-US" sz="1600" dirty="0"/>
          </a:p>
        </p:txBody>
      </p:sp>
      <p:sp>
        <p:nvSpPr>
          <p:cNvPr id="5" name="Shape 3"/>
          <p:cNvSpPr/>
          <p:nvPr/>
        </p:nvSpPr>
        <p:spPr>
          <a:xfrm>
            <a:off x="5367528" y="1737360"/>
            <a:ext cx="1463040" cy="1463040"/>
          </a:xfrm>
          <a:prstGeom prst="ellipse">
            <a:avLst/>
          </a:prstGeom>
          <a:solidFill>
            <a:srgbClr val="1E2761"/>
          </a:solidFill>
          <a:ln/>
        </p:spPr>
      </p:sp>
      <p:pic>
        <p:nvPicPr>
          <p:cNvPr id="6" name="Image 0" descr="/home/claude/shared_icons/icon_chart.png">    </p:cNvPr>
          <p:cNvPicPr>
            <a:picLocks noChangeAspect="1"/>
          </p:cNvPicPr>
          <p:nvPr/>
        </p:nvPicPr>
        <p:blipFill>
          <a:blip r:embed="rId1"/>
          <a:stretch>
            <a:fillRect/>
          </a:stretch>
        </p:blipFill>
        <p:spPr>
          <a:xfrm>
            <a:off x="5572354" y="1942186"/>
            <a:ext cx="1053389" cy="1053389"/>
          </a:xfrm>
          <a:prstGeom prst="rect">
            <a:avLst/>
          </a:prstGeom>
        </p:spPr>
      </p:pic>
      <p:sp>
        <p:nvSpPr>
          <p:cNvPr id="7" name="Shape 4"/>
          <p:cNvSpPr/>
          <p:nvPr/>
        </p:nvSpPr>
        <p:spPr>
          <a:xfrm>
            <a:off x="914400" y="3063240"/>
            <a:ext cx="10332720" cy="1463040"/>
          </a:xfrm>
          <a:prstGeom prst="roundRect">
            <a:avLst>
              <a:gd name="adj" fmla="val 6250"/>
            </a:avLst>
          </a:prstGeom>
          <a:noFill/>
          <a:ln w="19050">
            <a:solidFill>
              <a:srgbClr val="E7EAF2"/>
            </a:solidFill>
            <a:prstDash val="solid"/>
          </a:ln>
        </p:spPr>
      </p:sp>
      <p:sp>
        <p:nvSpPr>
          <p:cNvPr id="8" name="Text 5"/>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7, m/s 2</a:t>
            </a:r>
            <a:endParaRPr lang="en-US" sz="1000" dirty="0"/>
          </a:p>
        </p:txBody>
      </p:sp>
      <p:sp>
        <p:nvSpPr>
          <p:cNvPr id="9" name="Text 6"/>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7  |  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GAMBARAN KESELURUHAN</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Konsep Pengendalian Data dalam KP2027</a:t>
            </a:r>
            <a:endParaRPr lang="en-US" sz="2600" dirty="0"/>
          </a:p>
        </p:txBody>
      </p:sp>
      <p:sp>
        <p:nvSpPr>
          <p:cNvPr id="4" name="Text 2"/>
          <p:cNvSpPr txBox="1"/>
          <p:nvPr/>
        </p:nvSpPr>
        <p:spPr>
          <a:xfrm>
            <a:off x="548640" y="1600200"/>
            <a:ext cx="11064240" cy="1005840"/>
          </a:xfrm>
          <a:prstGeom prst="rect">
            <a:avLst/>
          </a:prstGeom>
          <a:noFill/>
          <a:ln/>
        </p:spPr>
        <p:txBody>
          <a:bodyPr wrap="square" rtlCol="0" anchor="ctr"/>
          <a:lstStyle/>
          <a:p>
            <a:pPr indent="0" marL="0">
              <a:lnSpc>
                <a:spcPct val="125000"/>
              </a:lnSpc>
              <a:buNone/>
            </a:pPr>
            <a:r>
              <a:rPr lang="en-US" sz="1300" dirty="0">
                <a:solidFill>
                  <a:srgbClr val="141A45"/>
                </a:solidFill>
                <a:latin typeface="Calibri" pitchFamily="34" charset="0"/>
                <a:ea typeface="Calibri" pitchFamily="34" charset="-122"/>
                <a:cs typeface="Calibri" pitchFamily="34" charset="-120"/>
              </a:rPr>
              <a:t>Pendekatan inkuiri statistik berfungsi sebagai kaedah pembelajaran aktif yang melatih murid membina kefahaman matematik secara mendalam dan menyelesaikan masalah kehidupan sebenar melalui proses penyiasatan data berstruktur. Berbeza daripada hafalan formula tradisional, murid bertindak sebagai penyelidik yang meneroka data secara kritikal.</a:t>
            </a:r>
            <a:endParaRPr lang="en-US" sz="1300" dirty="0"/>
          </a:p>
        </p:txBody>
      </p:sp>
      <p:sp>
        <p:nvSpPr>
          <p:cNvPr id="5" name="Shape 3"/>
          <p:cNvSpPr/>
          <p:nvPr/>
        </p:nvSpPr>
        <p:spPr>
          <a:xfrm>
            <a:off x="548640" y="2880360"/>
            <a:ext cx="3520440" cy="2743200"/>
          </a:xfrm>
          <a:prstGeom prst="roundRect">
            <a:avLst>
              <a:gd name="adj" fmla="val 2667"/>
            </a:avLst>
          </a:prstGeom>
          <a:solidFill>
            <a:srgbClr val="1E2761"/>
          </a:solidFill>
          <a:ln/>
        </p:spPr>
      </p:sp>
      <p:sp>
        <p:nvSpPr>
          <p:cNvPr id="6" name="Shape 4"/>
          <p:cNvSpPr/>
          <p:nvPr/>
        </p:nvSpPr>
        <p:spPr>
          <a:xfrm>
            <a:off x="1988820" y="3154680"/>
            <a:ext cx="640080" cy="640080"/>
          </a:xfrm>
          <a:prstGeom prst="ellipse">
            <a:avLst/>
          </a:prstGeom>
          <a:solidFill>
            <a:srgbClr val="F2B705"/>
          </a:solidFill>
          <a:ln/>
        </p:spPr>
      </p:sp>
      <p:pic>
        <p:nvPicPr>
          <p:cNvPr id="7" name="Image 0" descr="/home/claude/shared_icons/icon_target.png">    </p:cNvPr>
          <p:cNvPicPr>
            <a:picLocks noChangeAspect="1"/>
          </p:cNvPicPr>
          <p:nvPr/>
        </p:nvPicPr>
        <p:blipFill>
          <a:blip r:embed="rId1"/>
          <a:stretch>
            <a:fillRect/>
          </a:stretch>
        </p:blipFill>
        <p:spPr>
          <a:xfrm>
            <a:off x="2078431" y="3244291"/>
            <a:ext cx="460858" cy="460858"/>
          </a:xfrm>
          <a:prstGeom prst="rect">
            <a:avLst/>
          </a:prstGeom>
        </p:spPr>
      </p:pic>
      <p:sp>
        <p:nvSpPr>
          <p:cNvPr id="8" name="Text 5"/>
          <p:cNvSpPr txBox="1"/>
          <p:nvPr/>
        </p:nvSpPr>
        <p:spPr>
          <a:xfrm>
            <a:off x="685800" y="3977640"/>
            <a:ext cx="3246120" cy="50292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Berasaskan Projek/Masalah</a:t>
            </a:r>
            <a:endParaRPr lang="en-US" sz="1300" dirty="0"/>
          </a:p>
        </p:txBody>
      </p:sp>
      <p:sp>
        <p:nvSpPr>
          <p:cNvPr id="9" name="Text 6"/>
          <p:cNvSpPr txBox="1"/>
          <p:nvPr/>
        </p:nvSpPr>
        <p:spPr>
          <a:xfrm>
            <a:off x="777240" y="4526280"/>
            <a:ext cx="3063240" cy="1005840"/>
          </a:xfrm>
          <a:prstGeom prst="rect">
            <a:avLst/>
          </a:prstGeom>
          <a:noFill/>
          <a:ln/>
        </p:spPr>
        <p:txBody>
          <a:bodyPr wrap="square" rtlCol="0" anchor="ctr"/>
          <a:lstStyle/>
          <a:p>
            <a:pPr algn="ctr" indent="0" marL="0">
              <a:lnSpc>
                <a:spcPct val="120000"/>
              </a:lnSpc>
              <a:buNone/>
            </a:pPr>
            <a:r>
              <a:rPr lang="en-US" sz="1080" dirty="0">
                <a:solidFill>
                  <a:srgbClr val="CADCFC"/>
                </a:solidFill>
                <a:latin typeface="Calibri" pitchFamily="34" charset="0"/>
                <a:ea typeface="Calibri" pitchFamily="34" charset="-122"/>
                <a:cs typeface="Calibri" pitchFamily="34" charset="-120"/>
              </a:rPr>
              <a:t>Pentaksiran tajuk ini digazetkan sepenuhnya melalui Pembelajaran Berasaskan Projek (PBL).</a:t>
            </a:r>
            <a:endParaRPr lang="en-US" sz="1080" dirty="0"/>
          </a:p>
        </p:txBody>
      </p:sp>
      <p:sp>
        <p:nvSpPr>
          <p:cNvPr id="10" name="Shape 7"/>
          <p:cNvSpPr/>
          <p:nvPr/>
        </p:nvSpPr>
        <p:spPr>
          <a:xfrm>
            <a:off x="4343400" y="2880360"/>
            <a:ext cx="3520440" cy="2743200"/>
          </a:xfrm>
          <a:prstGeom prst="roundRect">
            <a:avLst>
              <a:gd name="adj" fmla="val 2667"/>
            </a:avLst>
          </a:prstGeom>
          <a:solidFill>
            <a:srgbClr val="1E2761"/>
          </a:solidFill>
          <a:ln/>
        </p:spPr>
      </p:sp>
      <p:sp>
        <p:nvSpPr>
          <p:cNvPr id="11" name="Shape 8"/>
          <p:cNvSpPr/>
          <p:nvPr/>
        </p:nvSpPr>
        <p:spPr>
          <a:xfrm>
            <a:off x="5783580" y="3154680"/>
            <a:ext cx="640080" cy="640080"/>
          </a:xfrm>
          <a:prstGeom prst="ellipse">
            <a:avLst/>
          </a:prstGeom>
          <a:solidFill>
            <a:srgbClr val="F2B705"/>
          </a:solidFill>
          <a:ln/>
        </p:spPr>
      </p:sp>
      <p:pic>
        <p:nvPicPr>
          <p:cNvPr id="12" name="Image 1" descr="/home/claude/shared_icons/icon_route.png">    </p:cNvPr>
          <p:cNvPicPr>
            <a:picLocks noChangeAspect="1"/>
          </p:cNvPicPr>
          <p:nvPr/>
        </p:nvPicPr>
        <p:blipFill>
          <a:blip r:embed="rId2"/>
          <a:stretch>
            <a:fillRect/>
          </a:stretch>
        </p:blipFill>
        <p:spPr>
          <a:xfrm>
            <a:off x="5873191" y="3244291"/>
            <a:ext cx="460858" cy="460858"/>
          </a:xfrm>
          <a:prstGeom prst="rect">
            <a:avLst/>
          </a:prstGeom>
        </p:spPr>
      </p:pic>
      <p:sp>
        <p:nvSpPr>
          <p:cNvPr id="13" name="Text 9"/>
          <p:cNvSpPr txBox="1"/>
          <p:nvPr/>
        </p:nvSpPr>
        <p:spPr>
          <a:xfrm>
            <a:off x="4480560" y="3977640"/>
            <a:ext cx="3246120" cy="50292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Proses 7 Langkah</a:t>
            </a:r>
            <a:endParaRPr lang="en-US" sz="1300" dirty="0"/>
          </a:p>
        </p:txBody>
      </p:sp>
      <p:sp>
        <p:nvSpPr>
          <p:cNvPr id="14" name="Text 10"/>
          <p:cNvSpPr txBox="1"/>
          <p:nvPr/>
        </p:nvSpPr>
        <p:spPr>
          <a:xfrm>
            <a:off x="4572000" y="4526280"/>
            <a:ext cx="3063240" cy="1005840"/>
          </a:xfrm>
          <a:prstGeom prst="rect">
            <a:avLst/>
          </a:prstGeom>
          <a:noFill/>
          <a:ln/>
        </p:spPr>
        <p:txBody>
          <a:bodyPr wrap="square" rtlCol="0" anchor="ctr"/>
          <a:lstStyle/>
          <a:p>
            <a:pPr algn="ctr" indent="0" marL="0">
              <a:lnSpc>
                <a:spcPct val="120000"/>
              </a:lnSpc>
              <a:buNone/>
            </a:pPr>
            <a:r>
              <a:rPr lang="en-US" sz="1080" dirty="0">
                <a:solidFill>
                  <a:srgbClr val="CADCFC"/>
                </a:solidFill>
                <a:latin typeface="Calibri" pitchFamily="34" charset="0"/>
                <a:ea typeface="Calibri" pitchFamily="34" charset="-122"/>
                <a:cs typeface="Calibri" pitchFamily="34" charset="-120"/>
              </a:rPr>
              <a:t>Inkuiri statistik berstruktur — daripada soalan hingga pembentangan dapatan.</a:t>
            </a:r>
            <a:endParaRPr lang="en-US" sz="1080" dirty="0"/>
          </a:p>
        </p:txBody>
      </p:sp>
      <p:sp>
        <p:nvSpPr>
          <p:cNvPr id="15" name="Shape 11"/>
          <p:cNvSpPr/>
          <p:nvPr/>
        </p:nvSpPr>
        <p:spPr>
          <a:xfrm>
            <a:off x="8138160" y="2880360"/>
            <a:ext cx="3520440" cy="2743200"/>
          </a:xfrm>
          <a:prstGeom prst="roundRect">
            <a:avLst>
              <a:gd name="adj" fmla="val 2667"/>
            </a:avLst>
          </a:prstGeom>
          <a:solidFill>
            <a:srgbClr val="1E2761"/>
          </a:solidFill>
          <a:ln/>
        </p:spPr>
      </p:sp>
      <p:sp>
        <p:nvSpPr>
          <p:cNvPr id="16" name="Shape 12"/>
          <p:cNvSpPr/>
          <p:nvPr/>
        </p:nvSpPr>
        <p:spPr>
          <a:xfrm>
            <a:off x="9578340" y="3154680"/>
            <a:ext cx="640080" cy="640080"/>
          </a:xfrm>
          <a:prstGeom prst="ellipse">
            <a:avLst/>
          </a:prstGeom>
          <a:solidFill>
            <a:srgbClr val="F2B705"/>
          </a:solidFill>
          <a:ln/>
        </p:spPr>
      </p:sp>
      <p:pic>
        <p:nvPicPr>
          <p:cNvPr id="17" name="Image 2" descr="/home/claude/shared_icons/icon_compass.png">    </p:cNvPr>
          <p:cNvPicPr>
            <a:picLocks noChangeAspect="1"/>
          </p:cNvPicPr>
          <p:nvPr/>
        </p:nvPicPr>
        <p:blipFill>
          <a:blip r:embed="rId3"/>
          <a:stretch>
            <a:fillRect/>
          </a:stretch>
        </p:blipFill>
        <p:spPr>
          <a:xfrm>
            <a:off x="9667951" y="3244291"/>
            <a:ext cx="460858" cy="460858"/>
          </a:xfrm>
          <a:prstGeom prst="rect">
            <a:avLst/>
          </a:prstGeom>
        </p:spPr>
      </p:pic>
      <p:sp>
        <p:nvSpPr>
          <p:cNvPr id="18" name="Text 13"/>
          <p:cNvSpPr txBox="1"/>
          <p:nvPr/>
        </p:nvSpPr>
        <p:spPr>
          <a:xfrm>
            <a:off x="8275320" y="3977640"/>
            <a:ext cx="3246120" cy="50292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Konteks PKJR</a:t>
            </a:r>
            <a:endParaRPr lang="en-US" sz="1300" dirty="0"/>
          </a:p>
        </p:txBody>
      </p:sp>
      <p:sp>
        <p:nvSpPr>
          <p:cNvPr id="19" name="Text 14"/>
          <p:cNvSpPr txBox="1"/>
          <p:nvPr/>
        </p:nvSpPr>
        <p:spPr>
          <a:xfrm>
            <a:off x="8366760" y="4526280"/>
            <a:ext cx="3063240" cy="1005840"/>
          </a:xfrm>
          <a:prstGeom prst="rect">
            <a:avLst/>
          </a:prstGeom>
          <a:noFill/>
          <a:ln/>
        </p:spPr>
        <p:txBody>
          <a:bodyPr wrap="square" rtlCol="0" anchor="ctr"/>
          <a:lstStyle/>
          <a:p>
            <a:pPr algn="ctr" indent="0" marL="0">
              <a:lnSpc>
                <a:spcPct val="120000"/>
              </a:lnSpc>
              <a:buNone/>
            </a:pPr>
            <a:r>
              <a:rPr lang="en-US" sz="1080" dirty="0">
                <a:solidFill>
                  <a:srgbClr val="CADCFC"/>
                </a:solidFill>
                <a:latin typeface="Calibri" pitchFamily="34" charset="0"/>
                <a:ea typeface="Calibri" pitchFamily="34" charset="-122"/>
                <a:cs typeface="Calibri" pitchFamily="34" charset="-120"/>
              </a:rPr>
              <a:t>Data berkaitan Pendidikan Keselamatan Jalan Raya digalakkan sebagai konteks projek.</a:t>
            </a:r>
            <a:endParaRPr lang="en-US" sz="1080" dirty="0"/>
          </a:p>
        </p:txBody>
      </p:sp>
      <p:sp>
        <p:nvSpPr>
          <p:cNvPr id="20" name="Text 15"/>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7, m/s 4, 15</a:t>
            </a:r>
            <a:endParaRPr lang="en-US" sz="1000" dirty="0"/>
          </a:p>
        </p:txBody>
      </p:sp>
      <p:sp>
        <p:nvSpPr>
          <p:cNvPr id="21" name="Text 16"/>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7  |  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FAKTA RASMI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8.1 Pengendalian dan Analisis Data</a:t>
            </a:r>
            <a:endParaRPr lang="en-US" sz="2600" dirty="0"/>
          </a:p>
        </p:txBody>
      </p:sp>
      <p:sp>
        <p:nvSpPr>
          <p:cNvPr id="4" name="Text 2"/>
          <p:cNvSpPr txBox="1"/>
          <p:nvPr/>
        </p:nvSpPr>
        <p:spPr>
          <a:xfrm>
            <a:off x="548640" y="1600200"/>
            <a:ext cx="11064240" cy="731520"/>
          </a:xfrm>
          <a:prstGeom prst="rect">
            <a:avLst/>
          </a:prstGeom>
          <a:noFill/>
          <a:ln/>
        </p:spPr>
        <p:txBody>
          <a:bodyPr wrap="square" rtlCol="0" anchor="ctr"/>
          <a:lstStyle/>
          <a:p>
            <a:pPr indent="0" marL="0">
              <a:lnSpc>
                <a:spcPct val="125000"/>
              </a:lnSpc>
              <a:buNone/>
            </a:pPr>
            <a:r>
              <a:rPr lang="en-US" sz="1300" dirty="0">
                <a:solidFill>
                  <a:srgbClr val="141A45"/>
                </a:solidFill>
                <a:latin typeface="Calibri" pitchFamily="34" charset="0"/>
                <a:ea typeface="Calibri" pitchFamily="34" charset="-122"/>
                <a:cs typeface="Calibri" pitchFamily="34" charset="-120"/>
              </a:rPr>
              <a:t>Subtajuk ini memfokuskan proses mengumpul, mengelas, mewakil, menganalisis, mentafsir dan mengkomunikasikan data tak terkumpul melalui pelaksanaan pembelajaran berasaskan projek atau masalah.</a:t>
            </a:r>
            <a:endParaRPr lang="en-US" sz="1300" dirty="0"/>
          </a:p>
        </p:txBody>
      </p:sp>
      <p:sp>
        <p:nvSpPr>
          <p:cNvPr id="5" name="Shape 3"/>
          <p:cNvSpPr/>
          <p:nvPr/>
        </p:nvSpPr>
        <p:spPr>
          <a:xfrm>
            <a:off x="548640" y="2514600"/>
            <a:ext cx="11064240" cy="2286000"/>
          </a:xfrm>
          <a:prstGeom prst="roundRect">
            <a:avLst>
              <a:gd name="adj" fmla="val 3200"/>
            </a:avLst>
          </a:prstGeom>
          <a:solidFill>
            <a:srgbClr val="F5F7FC"/>
          </a:solidFill>
          <a:ln w="12700">
            <a:solidFill>
              <a:srgbClr val="E7EAF2"/>
            </a:solidFill>
            <a:prstDash val="solid"/>
          </a:ln>
        </p:spPr>
      </p:sp>
      <p:sp>
        <p:nvSpPr>
          <p:cNvPr id="6" name="Text 4"/>
          <p:cNvSpPr txBox="1"/>
          <p:nvPr/>
        </p:nvSpPr>
        <p:spPr>
          <a:xfrm>
            <a:off x="777240" y="2651760"/>
            <a:ext cx="10607040" cy="365760"/>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Skop: Pengorganisasian dan Perwakilan Data Melibatkan 8 Jenis Graf/Carta</a:t>
            </a:r>
            <a:endParaRPr lang="en-US" sz="1300" dirty="0"/>
          </a:p>
        </p:txBody>
      </p:sp>
      <p:sp>
        <p:nvSpPr>
          <p:cNvPr id="7" name="Shape 5"/>
          <p:cNvSpPr/>
          <p:nvPr/>
        </p:nvSpPr>
        <p:spPr>
          <a:xfrm>
            <a:off x="777240" y="3108960"/>
            <a:ext cx="2514600" cy="457200"/>
          </a:xfrm>
          <a:prstGeom prst="roundRect">
            <a:avLst>
              <a:gd name="adj" fmla="val 50000"/>
            </a:avLst>
          </a:prstGeom>
          <a:solidFill>
            <a:srgbClr val="E0435A"/>
          </a:solidFill>
          <a:ln/>
        </p:spPr>
      </p:sp>
      <p:sp>
        <p:nvSpPr>
          <p:cNvPr id="8" name="Text 6"/>
          <p:cNvSpPr txBox="1"/>
          <p:nvPr/>
        </p:nvSpPr>
        <p:spPr>
          <a:xfrm>
            <a:off x="777240" y="3108960"/>
            <a:ext cx="251460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Carta Pai</a:t>
            </a:r>
            <a:endParaRPr lang="en-US" sz="1000" dirty="0"/>
          </a:p>
        </p:txBody>
      </p:sp>
      <p:sp>
        <p:nvSpPr>
          <p:cNvPr id="9" name="Shape 7"/>
          <p:cNvSpPr/>
          <p:nvPr/>
        </p:nvSpPr>
        <p:spPr>
          <a:xfrm>
            <a:off x="3474720" y="3108960"/>
            <a:ext cx="2514600" cy="457200"/>
          </a:xfrm>
          <a:prstGeom prst="roundRect">
            <a:avLst>
              <a:gd name="adj" fmla="val 50000"/>
            </a:avLst>
          </a:prstGeom>
          <a:solidFill>
            <a:srgbClr val="E0435A"/>
          </a:solidFill>
          <a:ln/>
        </p:spPr>
      </p:sp>
      <p:sp>
        <p:nvSpPr>
          <p:cNvPr id="10" name="Text 8"/>
          <p:cNvSpPr txBox="1"/>
          <p:nvPr/>
        </p:nvSpPr>
        <p:spPr>
          <a:xfrm>
            <a:off x="3474720" y="3108960"/>
            <a:ext cx="251460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Carta Palang Berkelompok</a:t>
            </a:r>
            <a:endParaRPr lang="en-US" sz="1000" dirty="0"/>
          </a:p>
        </p:txBody>
      </p:sp>
      <p:sp>
        <p:nvSpPr>
          <p:cNvPr id="11" name="Shape 9"/>
          <p:cNvSpPr/>
          <p:nvPr/>
        </p:nvSpPr>
        <p:spPr>
          <a:xfrm>
            <a:off x="6172200" y="3108960"/>
            <a:ext cx="2514600" cy="457200"/>
          </a:xfrm>
          <a:prstGeom prst="roundRect">
            <a:avLst>
              <a:gd name="adj" fmla="val 50000"/>
            </a:avLst>
          </a:prstGeom>
          <a:solidFill>
            <a:srgbClr val="E0435A"/>
          </a:solidFill>
          <a:ln/>
        </p:spPr>
      </p:sp>
      <p:sp>
        <p:nvSpPr>
          <p:cNvPr id="12" name="Text 10"/>
          <p:cNvSpPr txBox="1"/>
          <p:nvPr/>
        </p:nvSpPr>
        <p:spPr>
          <a:xfrm>
            <a:off x="6172200" y="3108960"/>
            <a:ext cx="251460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Carta Palang Bertindan</a:t>
            </a:r>
            <a:endParaRPr lang="en-US" sz="1000" dirty="0"/>
          </a:p>
        </p:txBody>
      </p:sp>
      <p:sp>
        <p:nvSpPr>
          <p:cNvPr id="13" name="Shape 11"/>
          <p:cNvSpPr/>
          <p:nvPr/>
        </p:nvSpPr>
        <p:spPr>
          <a:xfrm>
            <a:off x="8869680" y="3108960"/>
            <a:ext cx="2514600" cy="457200"/>
          </a:xfrm>
          <a:prstGeom prst="roundRect">
            <a:avLst>
              <a:gd name="adj" fmla="val 50000"/>
            </a:avLst>
          </a:prstGeom>
          <a:solidFill>
            <a:srgbClr val="E0435A"/>
          </a:solidFill>
          <a:ln/>
        </p:spPr>
      </p:sp>
      <p:sp>
        <p:nvSpPr>
          <p:cNvPr id="14" name="Text 12"/>
          <p:cNvSpPr txBox="1"/>
          <p:nvPr/>
        </p:nvSpPr>
        <p:spPr>
          <a:xfrm>
            <a:off x="8869680" y="3108960"/>
            <a:ext cx="251460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Graf Garis</a:t>
            </a:r>
            <a:endParaRPr lang="en-US" sz="1000" dirty="0"/>
          </a:p>
        </p:txBody>
      </p:sp>
      <p:sp>
        <p:nvSpPr>
          <p:cNvPr id="15" name="Shape 13"/>
          <p:cNvSpPr/>
          <p:nvPr/>
        </p:nvSpPr>
        <p:spPr>
          <a:xfrm>
            <a:off x="777240" y="3703320"/>
            <a:ext cx="2514600" cy="457200"/>
          </a:xfrm>
          <a:prstGeom prst="roundRect">
            <a:avLst>
              <a:gd name="adj" fmla="val 50000"/>
            </a:avLst>
          </a:prstGeom>
          <a:solidFill>
            <a:srgbClr val="E0435A"/>
          </a:solidFill>
          <a:ln/>
        </p:spPr>
      </p:sp>
      <p:sp>
        <p:nvSpPr>
          <p:cNvPr id="16" name="Text 14"/>
          <p:cNvSpPr txBox="1"/>
          <p:nvPr/>
        </p:nvSpPr>
        <p:spPr>
          <a:xfrm>
            <a:off x="777240" y="3703320"/>
            <a:ext cx="251460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Plot Titik</a:t>
            </a:r>
            <a:endParaRPr lang="en-US" sz="1000" dirty="0"/>
          </a:p>
        </p:txBody>
      </p:sp>
      <p:sp>
        <p:nvSpPr>
          <p:cNvPr id="17" name="Shape 15"/>
          <p:cNvSpPr/>
          <p:nvPr/>
        </p:nvSpPr>
        <p:spPr>
          <a:xfrm>
            <a:off x="3474720" y="3703320"/>
            <a:ext cx="2514600" cy="457200"/>
          </a:xfrm>
          <a:prstGeom prst="roundRect">
            <a:avLst>
              <a:gd name="adj" fmla="val 50000"/>
            </a:avLst>
          </a:prstGeom>
          <a:solidFill>
            <a:srgbClr val="E0435A"/>
          </a:solidFill>
          <a:ln/>
        </p:spPr>
      </p:sp>
      <p:sp>
        <p:nvSpPr>
          <p:cNvPr id="18" name="Text 16"/>
          <p:cNvSpPr txBox="1"/>
          <p:nvPr/>
        </p:nvSpPr>
        <p:spPr>
          <a:xfrm>
            <a:off x="3474720" y="3703320"/>
            <a:ext cx="251460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Plot Batang-dan-Daun</a:t>
            </a:r>
            <a:endParaRPr lang="en-US" sz="1000" dirty="0"/>
          </a:p>
        </p:txBody>
      </p:sp>
      <p:sp>
        <p:nvSpPr>
          <p:cNvPr id="19" name="Shape 17"/>
          <p:cNvSpPr/>
          <p:nvPr/>
        </p:nvSpPr>
        <p:spPr>
          <a:xfrm>
            <a:off x="6172200" y="3703320"/>
            <a:ext cx="2514600" cy="457200"/>
          </a:xfrm>
          <a:prstGeom prst="roundRect">
            <a:avLst>
              <a:gd name="adj" fmla="val 50000"/>
            </a:avLst>
          </a:prstGeom>
          <a:solidFill>
            <a:srgbClr val="E0435A"/>
          </a:solidFill>
          <a:ln/>
        </p:spPr>
      </p:sp>
      <p:sp>
        <p:nvSpPr>
          <p:cNvPr id="20" name="Text 18"/>
          <p:cNvSpPr txBox="1"/>
          <p:nvPr/>
        </p:nvSpPr>
        <p:spPr>
          <a:xfrm>
            <a:off x="6172200" y="3703320"/>
            <a:ext cx="251460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Histogram</a:t>
            </a:r>
            <a:endParaRPr lang="en-US" sz="1000" dirty="0"/>
          </a:p>
        </p:txBody>
      </p:sp>
      <p:sp>
        <p:nvSpPr>
          <p:cNvPr id="21" name="Shape 19"/>
          <p:cNvSpPr/>
          <p:nvPr/>
        </p:nvSpPr>
        <p:spPr>
          <a:xfrm>
            <a:off x="8869680" y="3703320"/>
            <a:ext cx="2514600" cy="457200"/>
          </a:xfrm>
          <a:prstGeom prst="roundRect">
            <a:avLst>
              <a:gd name="adj" fmla="val 50000"/>
            </a:avLst>
          </a:prstGeom>
          <a:solidFill>
            <a:srgbClr val="E0435A"/>
          </a:solidFill>
          <a:ln/>
        </p:spPr>
      </p:sp>
      <p:sp>
        <p:nvSpPr>
          <p:cNvPr id="22" name="Text 20"/>
          <p:cNvSpPr txBox="1"/>
          <p:nvPr/>
        </p:nvSpPr>
        <p:spPr>
          <a:xfrm>
            <a:off x="8869680" y="3703320"/>
            <a:ext cx="251460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Graf Sebar</a:t>
            </a:r>
            <a:endParaRPr lang="en-US" sz="1000" dirty="0"/>
          </a:p>
        </p:txBody>
      </p:sp>
      <p:sp>
        <p:nvSpPr>
          <p:cNvPr id="23" name="Shape 21"/>
          <p:cNvSpPr/>
          <p:nvPr/>
        </p:nvSpPr>
        <p:spPr>
          <a:xfrm>
            <a:off x="548640" y="5029200"/>
            <a:ext cx="11064240" cy="777240"/>
          </a:xfrm>
          <a:prstGeom prst="roundRect">
            <a:avLst>
              <a:gd name="adj" fmla="val 9412"/>
            </a:avLst>
          </a:prstGeom>
          <a:solidFill>
            <a:srgbClr val="1E2761"/>
          </a:solidFill>
          <a:ln/>
        </p:spPr>
      </p:sp>
      <p:sp>
        <p:nvSpPr>
          <p:cNvPr id="24" name="Text 22"/>
          <p:cNvSpPr txBox="1"/>
          <p:nvPr/>
        </p:nvSpPr>
        <p:spPr>
          <a:xfrm>
            <a:off x="777240" y="5029200"/>
            <a:ext cx="10607040" cy="777240"/>
          </a:xfrm>
          <a:prstGeom prst="rect">
            <a:avLst/>
          </a:prstGeom>
          <a:noFill/>
          <a:ln/>
        </p:spPr>
        <p:txBody>
          <a:bodyPr wrap="square" rtlCol="0" anchor="ctr"/>
          <a:lstStyle/>
          <a:p>
            <a:pPr indent="0" marL="0">
              <a:lnSpc>
                <a:spcPct val="120000"/>
              </a:lnSpc>
              <a:buNone/>
            </a:pPr>
            <a:r>
              <a:rPr lang="en-US" sz="1100" i="1" dirty="0">
                <a:solidFill>
                  <a:srgbClr val="CADCFC"/>
                </a:solidFill>
                <a:latin typeface="Calibri" pitchFamily="34" charset="0"/>
                <a:ea typeface="Calibri" pitchFamily="34" charset="-122"/>
                <a:cs typeface="Calibri" pitchFamily="34" charset="-120"/>
              </a:rPr>
              <a:t>Kompetensi: Komunikasi (berkomunikasi secara efektif &amp; beretika dalam pengumpulan data) dan Literasi Pelbagai (memperkukuh literasi digital melalui perisian pengurusan data).</a:t>
            </a:r>
            <a:endParaRPr lang="en-US" sz="1100" dirty="0"/>
          </a:p>
        </p:txBody>
      </p:sp>
      <p:sp>
        <p:nvSpPr>
          <p:cNvPr id="25" name="Text 23"/>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 Wording rasmi, Slaid Sidang 7 m/s 4</a:t>
            </a:r>
            <a:endParaRPr lang="en-US" sz="1000" dirty="0"/>
          </a:p>
        </p:txBody>
      </p:sp>
      <p:sp>
        <p:nvSpPr>
          <p:cNvPr id="26" name="Text 24"/>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7  |  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FAKTA RASMI</a:t>
            </a:r>
            <a:endParaRPr lang="en-US" sz="1300" dirty="0"/>
          </a:p>
        </p:txBody>
      </p:sp>
      <p:sp>
        <p:nvSpPr>
          <p:cNvPr id="3" name="Text 1"/>
          <p:cNvSpPr txBox="1"/>
          <p:nvPr/>
        </p:nvSpPr>
        <p:spPr>
          <a:xfrm>
            <a:off x="548640" y="658368"/>
            <a:ext cx="11247120" cy="685800"/>
          </a:xfrm>
          <a:prstGeom prst="rect">
            <a:avLst/>
          </a:prstGeom>
          <a:noFill/>
          <a:ln/>
        </p:spPr>
        <p:txBody>
          <a:bodyPr wrap="square"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Standard Pembelajaran: 8.1.1 – 8.1.2</a:t>
            </a:r>
            <a:endParaRPr lang="en-US" sz="2500" dirty="0"/>
          </a:p>
        </p:txBody>
      </p:sp>
      <p:sp>
        <p:nvSpPr>
          <p:cNvPr id="4" name="Shape 2"/>
          <p:cNvSpPr/>
          <p:nvPr/>
        </p:nvSpPr>
        <p:spPr>
          <a:xfrm>
            <a:off x="548640" y="1554480"/>
            <a:ext cx="11064240" cy="1920240"/>
          </a:xfrm>
          <a:prstGeom prst="roundRect">
            <a:avLst>
              <a:gd name="adj" fmla="val 3810"/>
            </a:avLst>
          </a:prstGeom>
          <a:solidFill>
            <a:srgbClr val="141A45"/>
          </a:solidFill>
          <a:ln w="12700">
            <a:solidFill>
              <a:srgbClr val="E0435A"/>
            </a:solidFill>
            <a:prstDash val="solid"/>
          </a:ln>
        </p:spPr>
      </p:sp>
      <p:sp>
        <p:nvSpPr>
          <p:cNvPr id="5" name="Text 3"/>
          <p:cNvSpPr txBox="1"/>
          <p:nvPr/>
        </p:nvSpPr>
        <p:spPr>
          <a:xfrm>
            <a:off x="777240" y="1691640"/>
            <a:ext cx="1371600" cy="365760"/>
          </a:xfrm>
          <a:prstGeom prst="rect">
            <a:avLst/>
          </a:prstGeom>
          <a:noFill/>
          <a:ln/>
        </p:spPr>
        <p:txBody>
          <a:bodyPr wrap="square" rtlCol="0" anchor="ctr"/>
          <a:lstStyle/>
          <a:p>
            <a:pPr indent="0" marL="0">
              <a:buNone/>
            </a:pPr>
            <a:r>
              <a:rPr lang="en-US" sz="1400" b="1" dirty="0">
                <a:solidFill>
                  <a:srgbClr val="F2B705"/>
                </a:solidFill>
                <a:latin typeface="Cambria" pitchFamily="34" charset="0"/>
                <a:ea typeface="Cambria" pitchFamily="34" charset="-122"/>
                <a:cs typeface="Cambria" pitchFamily="34" charset="-120"/>
              </a:rPr>
              <a:t>8.1.1</a:t>
            </a:r>
            <a:endParaRPr lang="en-US" sz="1400" dirty="0"/>
          </a:p>
        </p:txBody>
      </p:sp>
      <p:sp>
        <p:nvSpPr>
          <p:cNvPr id="6" name="Text 4"/>
          <p:cNvSpPr txBox="1"/>
          <p:nvPr/>
        </p:nvSpPr>
        <p:spPr>
          <a:xfrm>
            <a:off x="777240" y="2057400"/>
            <a:ext cx="1060704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Mengumpul data yang relevan berdasarkan soalan statistik.</a:t>
            </a:r>
            <a:endParaRPr lang="en-US" sz="1200" dirty="0"/>
          </a:p>
        </p:txBody>
      </p:sp>
      <p:sp>
        <p:nvSpPr>
          <p:cNvPr id="7" name="Text 5"/>
          <p:cNvSpPr txBox="1"/>
          <p:nvPr/>
        </p:nvSpPr>
        <p:spPr>
          <a:xfrm>
            <a:off x="822960" y="2468880"/>
            <a:ext cx="10515600" cy="914400"/>
          </a:xfrm>
          <a:prstGeom prst="rect">
            <a:avLst/>
          </a:prstGeom>
          <a:noFill/>
          <a:ln/>
        </p:spPr>
        <p:txBody>
          <a:bodyPr wrap="square" rtlCol="0" anchor="t"/>
          <a:lstStyle/>
          <a:p>
            <a:pPr marL="228600" indent="-228600">
              <a:spcAft>
                <a:spcPts val="400"/>
              </a:spcAft>
              <a:buSzPct val="100000"/>
              <a:buChar char="▪"/>
            </a:pPr>
            <a:r>
              <a:rPr lang="en-US" sz="1050" dirty="0">
                <a:solidFill>
                  <a:srgbClr val="CADCFC"/>
                </a:solidFill>
                <a:latin typeface="Calibri" pitchFamily="34" charset="0"/>
                <a:ea typeface="Calibri" pitchFamily="34" charset="-122"/>
                <a:cs typeface="Calibri" pitchFamily="34" charset="-120"/>
              </a:rPr>
              <a:t>Gunakan pendekatan inkuiri statistik.</a:t>
            </a:r>
            <a:endParaRPr lang="en-US" sz="1050" dirty="0"/>
          </a:p>
          <a:p>
            <a:pPr marL="228600" indent="-228600">
              <a:spcAft>
                <a:spcPts val="400"/>
              </a:spcAft>
              <a:buSzPct val="100000"/>
              <a:buChar char="▪"/>
            </a:pPr>
            <a:r>
              <a:rPr lang="en-US" sz="1050" dirty="0">
                <a:solidFill>
                  <a:srgbClr val="CADCFC"/>
                </a:solidFill>
                <a:latin typeface="Calibri" pitchFamily="34" charset="0"/>
                <a:ea typeface="Calibri" pitchFamily="34" charset="-122"/>
                <a:cs typeface="Calibri" pitchFamily="34" charset="-120"/>
              </a:rPr>
              <a:t>Bincangkan pelbagai kaedah pengumpulan data: temu bual, tinjauan, eksperimen dan pemerhatian.</a:t>
            </a:r>
            <a:endParaRPr lang="en-US" sz="1050" dirty="0"/>
          </a:p>
          <a:p>
            <a:pPr marL="228600" indent="-228600">
              <a:spcAft>
                <a:spcPts val="400"/>
              </a:spcAft>
              <a:buSzPct val="100000"/>
              <a:buChar char="▪"/>
            </a:pPr>
            <a:r>
              <a:rPr lang="en-US" sz="1050" dirty="0">
                <a:solidFill>
                  <a:srgbClr val="CADCFC"/>
                </a:solidFill>
                <a:latin typeface="Calibri" pitchFamily="34" charset="0"/>
                <a:ea typeface="Calibri" pitchFamily="34" charset="-122"/>
                <a:cs typeface="Calibri" pitchFamily="34" charset="-120"/>
              </a:rPr>
              <a:t>Penggunaan perisian dinamik yang sesuai amat digalakkan bagi mengumpul data.</a:t>
            </a:r>
            <a:endParaRPr lang="en-US" sz="1050" dirty="0"/>
          </a:p>
        </p:txBody>
      </p:sp>
      <p:sp>
        <p:nvSpPr>
          <p:cNvPr id="8" name="Shape 6"/>
          <p:cNvSpPr/>
          <p:nvPr/>
        </p:nvSpPr>
        <p:spPr>
          <a:xfrm>
            <a:off x="548640" y="3657600"/>
            <a:ext cx="11064240" cy="1188720"/>
          </a:xfrm>
          <a:prstGeom prst="roundRect">
            <a:avLst>
              <a:gd name="adj" fmla="val 6154"/>
            </a:avLst>
          </a:prstGeom>
          <a:solidFill>
            <a:srgbClr val="F2B705"/>
          </a:solidFill>
          <a:ln/>
        </p:spPr>
      </p:sp>
      <p:sp>
        <p:nvSpPr>
          <p:cNvPr id="9" name="Text 7"/>
          <p:cNvSpPr txBox="1"/>
          <p:nvPr/>
        </p:nvSpPr>
        <p:spPr>
          <a:xfrm>
            <a:off x="777240" y="3767328"/>
            <a:ext cx="1371600" cy="36576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8.1.2</a:t>
            </a:r>
            <a:endParaRPr lang="en-US" sz="1400" dirty="0"/>
          </a:p>
        </p:txBody>
      </p:sp>
      <p:sp>
        <p:nvSpPr>
          <p:cNvPr id="10" name="Text 8"/>
          <p:cNvSpPr txBox="1"/>
          <p:nvPr/>
        </p:nvSpPr>
        <p:spPr>
          <a:xfrm>
            <a:off x="777240" y="4114800"/>
            <a:ext cx="1060704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Mengelas data kepada data numerik atau data kategori dan membina jadual kekerapan.</a:t>
            </a:r>
            <a:endParaRPr lang="en-US" sz="1200" dirty="0"/>
          </a:p>
        </p:txBody>
      </p:sp>
      <p:sp>
        <p:nvSpPr>
          <p:cNvPr id="11" name="Text 9"/>
          <p:cNvSpPr txBox="1"/>
          <p:nvPr/>
        </p:nvSpPr>
        <p:spPr>
          <a:xfrm>
            <a:off x="777240" y="4480560"/>
            <a:ext cx="10607040" cy="320040"/>
          </a:xfrm>
          <a:prstGeom prst="rect">
            <a:avLst/>
          </a:prstGeom>
          <a:noFill/>
          <a:ln/>
        </p:spPr>
        <p:txBody>
          <a:bodyPr wrap="square" rtlCol="0" anchor="ctr"/>
          <a:lstStyle/>
          <a:p>
            <a:pPr indent="0" marL="0">
              <a:buNone/>
            </a:pPr>
            <a:r>
              <a:rPr lang="en-US" sz="1100" i="1" dirty="0">
                <a:solidFill>
                  <a:srgbClr val="141A45"/>
                </a:solidFill>
                <a:latin typeface="Calibri" pitchFamily="34" charset="0"/>
                <a:ea typeface="Calibri" pitchFamily="34" charset="-122"/>
                <a:cs typeface="Calibri" pitchFamily="34" charset="-120"/>
              </a:rPr>
              <a:t>Nota: Libatkan data berkaitan Pendidikan Keselamatan Jalan Raya (PKJR).</a:t>
            </a:r>
            <a:endParaRPr lang="en-US" sz="1100" dirty="0"/>
          </a:p>
        </p:txBody>
      </p:sp>
      <p:sp>
        <p:nvSpPr>
          <p:cNvPr id="12" name="Shape 10"/>
          <p:cNvSpPr/>
          <p:nvPr/>
        </p:nvSpPr>
        <p:spPr>
          <a:xfrm>
            <a:off x="548640" y="5074920"/>
            <a:ext cx="5349240" cy="1051560"/>
          </a:xfrm>
          <a:prstGeom prst="roundRect">
            <a:avLst>
              <a:gd name="adj" fmla="val 5217"/>
            </a:avLst>
          </a:prstGeom>
          <a:solidFill>
            <a:srgbClr val="141A45"/>
          </a:solidFill>
          <a:ln w="12700">
            <a:solidFill>
              <a:srgbClr val="2E86AB"/>
            </a:solidFill>
            <a:prstDash val="solid"/>
          </a:ln>
        </p:spPr>
      </p:sp>
      <p:sp>
        <p:nvSpPr>
          <p:cNvPr id="13" name="Text 11"/>
          <p:cNvSpPr txBox="1"/>
          <p:nvPr/>
        </p:nvSpPr>
        <p:spPr>
          <a:xfrm>
            <a:off x="731520" y="5166360"/>
            <a:ext cx="4983480" cy="320040"/>
          </a:xfrm>
          <a:prstGeom prst="rect">
            <a:avLst/>
          </a:prstGeom>
          <a:noFill/>
          <a:ln/>
        </p:spPr>
        <p:txBody>
          <a:bodyPr wrap="square" rtlCol="0" anchor="ctr"/>
          <a:lstStyle/>
          <a:p>
            <a:pPr indent="0" marL="0">
              <a:buNone/>
            </a:pPr>
            <a:r>
              <a:rPr lang="en-US" sz="1200" b="1" dirty="0">
                <a:solidFill>
                  <a:srgbClr val="2E86AB"/>
                </a:solidFill>
                <a:latin typeface="Cambria" pitchFamily="34" charset="0"/>
                <a:ea typeface="Cambria" pitchFamily="34" charset="-122"/>
                <a:cs typeface="Cambria" pitchFamily="34" charset="-120"/>
              </a:rPr>
              <a:t>DATA NUMERIK</a:t>
            </a:r>
            <a:endParaRPr lang="en-US" sz="1200" dirty="0"/>
          </a:p>
        </p:txBody>
      </p:sp>
      <p:sp>
        <p:nvSpPr>
          <p:cNvPr id="14" name="Text 12"/>
          <p:cNvSpPr txBox="1"/>
          <p:nvPr/>
        </p:nvSpPr>
        <p:spPr>
          <a:xfrm>
            <a:off x="731520" y="5486400"/>
            <a:ext cx="4983480" cy="548640"/>
          </a:xfrm>
          <a:prstGeom prst="rect">
            <a:avLst/>
          </a:prstGeom>
          <a:noFill/>
          <a:ln/>
        </p:spPr>
        <p:txBody>
          <a:bodyPr wrap="square" rtlCol="0" anchor="ctr"/>
          <a:lstStyle/>
          <a:p>
            <a:pPr indent="0" marL="0">
              <a:lnSpc>
                <a:spcPct val="115000"/>
              </a:lnSpc>
              <a:buNone/>
            </a:pPr>
            <a:r>
              <a:rPr lang="en-US" sz="1000" dirty="0">
                <a:solidFill>
                  <a:srgbClr val="CADCFC"/>
                </a:solidFill>
                <a:latin typeface="Calibri" pitchFamily="34" charset="0"/>
                <a:ea typeface="Calibri" pitchFamily="34" charset="-122"/>
                <a:cs typeface="Calibri" pitchFamily="34" charset="-120"/>
              </a:rPr>
              <a:t>cth. Markah ujian bulanan murid; bilangan kenderaan yang melalui lampu isyarat.</a:t>
            </a:r>
            <a:endParaRPr lang="en-US" sz="1000" dirty="0"/>
          </a:p>
        </p:txBody>
      </p:sp>
      <p:sp>
        <p:nvSpPr>
          <p:cNvPr id="15" name="Shape 13"/>
          <p:cNvSpPr/>
          <p:nvPr/>
        </p:nvSpPr>
        <p:spPr>
          <a:xfrm>
            <a:off x="6263640" y="5074920"/>
            <a:ext cx="5349240" cy="1051560"/>
          </a:xfrm>
          <a:prstGeom prst="roundRect">
            <a:avLst>
              <a:gd name="adj" fmla="val 5217"/>
            </a:avLst>
          </a:prstGeom>
          <a:solidFill>
            <a:srgbClr val="141A45"/>
          </a:solidFill>
          <a:ln w="12700">
            <a:solidFill>
              <a:srgbClr val="E0435A"/>
            </a:solidFill>
            <a:prstDash val="solid"/>
          </a:ln>
        </p:spPr>
      </p:sp>
      <p:sp>
        <p:nvSpPr>
          <p:cNvPr id="16" name="Text 14"/>
          <p:cNvSpPr txBox="1"/>
          <p:nvPr/>
        </p:nvSpPr>
        <p:spPr>
          <a:xfrm>
            <a:off x="6446520" y="5166360"/>
            <a:ext cx="4983480" cy="320040"/>
          </a:xfrm>
          <a:prstGeom prst="rect">
            <a:avLst/>
          </a:prstGeom>
          <a:noFill/>
          <a:ln/>
        </p:spPr>
        <p:txBody>
          <a:bodyPr wrap="square" rtlCol="0" anchor="ctr"/>
          <a:lstStyle/>
          <a:p>
            <a:pPr indent="0" marL="0">
              <a:buNone/>
            </a:pPr>
            <a:r>
              <a:rPr lang="en-US" sz="1200" b="1" dirty="0">
                <a:solidFill>
                  <a:srgbClr val="E0435A"/>
                </a:solidFill>
                <a:latin typeface="Cambria" pitchFamily="34" charset="0"/>
                <a:ea typeface="Cambria" pitchFamily="34" charset="-122"/>
                <a:cs typeface="Cambria" pitchFamily="34" charset="-120"/>
              </a:rPr>
              <a:t>DATA KATEGORI</a:t>
            </a:r>
            <a:endParaRPr lang="en-US" sz="1200" dirty="0"/>
          </a:p>
        </p:txBody>
      </p:sp>
      <p:sp>
        <p:nvSpPr>
          <p:cNvPr id="17" name="Text 15"/>
          <p:cNvSpPr txBox="1"/>
          <p:nvPr/>
        </p:nvSpPr>
        <p:spPr>
          <a:xfrm>
            <a:off x="6446520" y="5486400"/>
            <a:ext cx="4983480" cy="548640"/>
          </a:xfrm>
          <a:prstGeom prst="rect">
            <a:avLst/>
          </a:prstGeom>
          <a:noFill/>
          <a:ln/>
        </p:spPr>
        <p:txBody>
          <a:bodyPr wrap="square" rtlCol="0" anchor="ctr"/>
          <a:lstStyle/>
          <a:p>
            <a:pPr indent="0" marL="0">
              <a:lnSpc>
                <a:spcPct val="115000"/>
              </a:lnSpc>
              <a:buNone/>
            </a:pPr>
            <a:r>
              <a:rPr lang="en-US" sz="1000" dirty="0">
                <a:solidFill>
                  <a:srgbClr val="CADCFC"/>
                </a:solidFill>
                <a:latin typeface="Calibri" pitchFamily="34" charset="0"/>
                <a:ea typeface="Calibri" pitchFamily="34" charset="-122"/>
                <a:cs typeface="Calibri" pitchFamily="34" charset="-120"/>
              </a:rPr>
              <a:t>cth. Jenama topi keledar yang digunakan murid; tahap kesedaran keselamatan jalan raya.</a:t>
            </a:r>
            <a:endParaRPr lang="en-US" sz="1000" dirty="0"/>
          </a:p>
        </p:txBody>
      </p:sp>
      <p:sp>
        <p:nvSpPr>
          <p:cNvPr id="18" name="Text 16"/>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 Wording rasmi, Slaid Sidang 7 m/s 5, 9–10</a:t>
            </a:r>
            <a:endParaRPr lang="en-US" sz="1000" dirty="0"/>
          </a:p>
        </p:txBody>
      </p:sp>
      <p:sp>
        <p:nvSpPr>
          <p:cNvPr id="19" name="Text 17"/>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7  |  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FAKTA RASMI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Standard Pembelajaran: 8.1.3 – 8.1.4</a:t>
            </a:r>
            <a:endParaRPr lang="en-US" sz="2600" dirty="0"/>
          </a:p>
        </p:txBody>
      </p:sp>
      <p:sp>
        <p:nvSpPr>
          <p:cNvPr id="4" name="Shape 2"/>
          <p:cNvSpPr/>
          <p:nvPr/>
        </p:nvSpPr>
        <p:spPr>
          <a:xfrm>
            <a:off x="548640" y="1691640"/>
            <a:ext cx="11064240" cy="1783080"/>
          </a:xfrm>
          <a:prstGeom prst="roundRect">
            <a:avLst>
              <a:gd name="adj" fmla="val 4103"/>
            </a:avLst>
          </a:prstGeom>
          <a:solidFill>
            <a:srgbClr val="F5F7FC"/>
          </a:solidFill>
          <a:ln w="12700">
            <a:solidFill>
              <a:srgbClr val="E7EAF2"/>
            </a:solidFill>
            <a:prstDash val="solid"/>
          </a:ln>
        </p:spPr>
      </p:sp>
      <p:sp>
        <p:nvSpPr>
          <p:cNvPr id="5" name="Text 3"/>
          <p:cNvSpPr txBox="1"/>
          <p:nvPr/>
        </p:nvSpPr>
        <p:spPr>
          <a:xfrm>
            <a:off x="777240" y="1828800"/>
            <a:ext cx="1371600" cy="365760"/>
          </a:xfrm>
          <a:prstGeom prst="rect">
            <a:avLst/>
          </a:prstGeom>
          <a:noFill/>
          <a:ln/>
        </p:spPr>
        <p:txBody>
          <a:bodyPr wrap="square" rtlCol="0" anchor="ctr"/>
          <a:lstStyle/>
          <a:p>
            <a:pPr indent="0" marL="0">
              <a:buNone/>
            </a:pPr>
            <a:r>
              <a:rPr lang="en-US" sz="1500" b="1" dirty="0">
                <a:solidFill>
                  <a:srgbClr val="E0435A"/>
                </a:solidFill>
                <a:latin typeface="Cambria" pitchFamily="34" charset="0"/>
                <a:ea typeface="Cambria" pitchFamily="34" charset="-122"/>
                <a:cs typeface="Cambria" pitchFamily="34" charset="-120"/>
              </a:rPr>
              <a:t>8.1.3</a:t>
            </a:r>
            <a:endParaRPr lang="en-US" sz="1500" dirty="0"/>
          </a:p>
        </p:txBody>
      </p:sp>
      <p:sp>
        <p:nvSpPr>
          <p:cNvPr id="6" name="Text 4"/>
          <p:cNvSpPr txBox="1"/>
          <p:nvPr/>
        </p:nvSpPr>
        <p:spPr>
          <a:xfrm>
            <a:off x="777240" y="2194560"/>
            <a:ext cx="10607040" cy="365760"/>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Melengkapkan pelbagai perwakilan data yang diberi.</a:t>
            </a:r>
            <a:endParaRPr lang="en-US" sz="1250" dirty="0"/>
          </a:p>
        </p:txBody>
      </p:sp>
      <p:sp>
        <p:nvSpPr>
          <p:cNvPr id="7" name="Text 5"/>
          <p:cNvSpPr txBox="1"/>
          <p:nvPr/>
        </p:nvSpPr>
        <p:spPr>
          <a:xfrm>
            <a:off x="777240" y="2560320"/>
            <a:ext cx="10607040" cy="822960"/>
          </a:xfrm>
          <a:prstGeom prst="rect">
            <a:avLst/>
          </a:prstGeom>
          <a:noFill/>
          <a:ln/>
        </p:spPr>
        <p:txBody>
          <a:bodyPr wrap="square" rtlCol="0" anchor="ctr"/>
          <a:lstStyle/>
          <a:p>
            <a:pPr indent="0" marL="0">
              <a:lnSpc>
                <a:spcPct val="125000"/>
              </a:lnSpc>
              <a:buNone/>
            </a:pPr>
            <a:r>
              <a:rPr lang="en-US" sz="1100" i="1" dirty="0">
                <a:solidFill>
                  <a:srgbClr val="5B6472"/>
                </a:solidFill>
                <a:latin typeface="Calibri" pitchFamily="34" charset="0"/>
                <a:ea typeface="Calibri" pitchFamily="34" charset="-122"/>
                <a:cs typeface="Calibri" pitchFamily="34" charset="-120"/>
              </a:rPr>
              <a:t>Bincangkan perwakilan data yang sesuai berdasarkan data yang diberi. Penggunaan perisian dinamik yang sesuai amat digalakkan.</a:t>
            </a:r>
            <a:endParaRPr lang="en-US" sz="1100" dirty="0"/>
          </a:p>
        </p:txBody>
      </p:sp>
      <p:sp>
        <p:nvSpPr>
          <p:cNvPr id="8" name="Shape 6"/>
          <p:cNvSpPr/>
          <p:nvPr/>
        </p:nvSpPr>
        <p:spPr>
          <a:xfrm>
            <a:off x="548640" y="3657600"/>
            <a:ext cx="11064240" cy="1783080"/>
          </a:xfrm>
          <a:prstGeom prst="roundRect">
            <a:avLst>
              <a:gd name="adj" fmla="val 4103"/>
            </a:avLst>
          </a:prstGeom>
          <a:solidFill>
            <a:srgbClr val="F5F7FC"/>
          </a:solidFill>
          <a:ln w="12700">
            <a:solidFill>
              <a:srgbClr val="E7EAF2"/>
            </a:solidFill>
            <a:prstDash val="solid"/>
          </a:ln>
        </p:spPr>
      </p:sp>
      <p:sp>
        <p:nvSpPr>
          <p:cNvPr id="9" name="Text 7"/>
          <p:cNvSpPr txBox="1"/>
          <p:nvPr/>
        </p:nvSpPr>
        <p:spPr>
          <a:xfrm>
            <a:off x="777240" y="3794760"/>
            <a:ext cx="1371600" cy="365760"/>
          </a:xfrm>
          <a:prstGeom prst="rect">
            <a:avLst/>
          </a:prstGeom>
          <a:noFill/>
          <a:ln/>
        </p:spPr>
        <p:txBody>
          <a:bodyPr wrap="square" rtlCol="0" anchor="ctr"/>
          <a:lstStyle/>
          <a:p>
            <a:pPr indent="0" marL="0">
              <a:buNone/>
            </a:pPr>
            <a:r>
              <a:rPr lang="en-US" sz="1500" b="1" dirty="0">
                <a:solidFill>
                  <a:srgbClr val="E0435A"/>
                </a:solidFill>
                <a:latin typeface="Cambria" pitchFamily="34" charset="0"/>
                <a:ea typeface="Cambria" pitchFamily="34" charset="-122"/>
                <a:cs typeface="Cambria" pitchFamily="34" charset="-120"/>
              </a:rPr>
              <a:t>8.1.4</a:t>
            </a:r>
            <a:endParaRPr lang="en-US" sz="1500" dirty="0"/>
          </a:p>
        </p:txBody>
      </p:sp>
      <p:sp>
        <p:nvSpPr>
          <p:cNvPr id="10" name="Text 8"/>
          <p:cNvSpPr txBox="1"/>
          <p:nvPr/>
        </p:nvSpPr>
        <p:spPr>
          <a:xfrm>
            <a:off x="777240" y="4160520"/>
            <a:ext cx="10607040" cy="365760"/>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Mentafsir pelbagai perwakilan data.</a:t>
            </a:r>
            <a:endParaRPr lang="en-US" sz="1250" dirty="0"/>
          </a:p>
        </p:txBody>
      </p:sp>
      <p:sp>
        <p:nvSpPr>
          <p:cNvPr id="11" name="Text 9"/>
          <p:cNvSpPr txBox="1"/>
          <p:nvPr/>
        </p:nvSpPr>
        <p:spPr>
          <a:xfrm>
            <a:off x="777240" y="4526280"/>
            <a:ext cx="10607040" cy="822960"/>
          </a:xfrm>
          <a:prstGeom prst="rect">
            <a:avLst/>
          </a:prstGeom>
          <a:noFill/>
          <a:ln/>
        </p:spPr>
        <p:txBody>
          <a:bodyPr wrap="square" rtlCol="0" anchor="ctr"/>
          <a:lstStyle/>
          <a:p>
            <a:pPr indent="0" marL="0">
              <a:lnSpc>
                <a:spcPct val="125000"/>
              </a:lnSpc>
              <a:buNone/>
            </a:pPr>
            <a:r>
              <a:rPr lang="en-US" sz="1100" i="1" dirty="0">
                <a:solidFill>
                  <a:srgbClr val="5B6472"/>
                </a:solidFill>
                <a:latin typeface="Calibri" pitchFamily="34" charset="0"/>
                <a:ea typeface="Calibri" pitchFamily="34" charset="-122"/>
                <a:cs typeface="Calibri" pitchFamily="34" charset="-120"/>
              </a:rPr>
              <a:t>Bincangkan kepentingan perwakilan data yang beretika dalam mengelakkan kekeliruan. Bincangkan tafsiran data yang melibatkan PKJR. Libatkan situasi kehidupan harian seperti ekonomi, kesihatan dan sukan.</a:t>
            </a:r>
            <a:endParaRPr lang="en-US" sz="1100" dirty="0"/>
          </a:p>
        </p:txBody>
      </p:sp>
      <p:sp>
        <p:nvSpPr>
          <p:cNvPr id="12" name="Text 10"/>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 Wording rasmi, Slaid Sidang 7 m/s 12</a:t>
            </a:r>
            <a:endParaRPr lang="en-US" sz="1000" dirty="0"/>
          </a:p>
        </p:txBody>
      </p:sp>
      <p:sp>
        <p:nvSpPr>
          <p:cNvPr id="13" name="Text 11"/>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7  |  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FAKTA RASMI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Standard Prestasi: 8.0 Pengendalian Data</a:t>
            </a:r>
            <a:endParaRPr lang="en-US" sz="2600" dirty="0"/>
          </a:p>
        </p:txBody>
      </p:sp>
      <p:sp>
        <p:nvSpPr>
          <p:cNvPr id="4" name="Shape 2"/>
          <p:cNvSpPr/>
          <p:nvPr/>
        </p:nvSpPr>
        <p:spPr>
          <a:xfrm>
            <a:off x="548640" y="1691640"/>
            <a:ext cx="11064240" cy="1005840"/>
          </a:xfrm>
          <a:prstGeom prst="roundRect">
            <a:avLst>
              <a:gd name="adj" fmla="val 5455"/>
            </a:avLst>
          </a:prstGeom>
          <a:solidFill>
            <a:srgbClr val="F5F7FC"/>
          </a:solidFill>
          <a:ln w="19050">
            <a:solidFill>
              <a:srgbClr val="3A4374"/>
            </a:solidFill>
            <a:prstDash val="solid"/>
          </a:ln>
        </p:spPr>
      </p:sp>
      <p:sp>
        <p:nvSpPr>
          <p:cNvPr id="5" name="Shape 3"/>
          <p:cNvSpPr/>
          <p:nvPr/>
        </p:nvSpPr>
        <p:spPr>
          <a:xfrm>
            <a:off x="548640" y="1691640"/>
            <a:ext cx="109728" cy="1005840"/>
          </a:xfrm>
          <a:prstGeom prst="rect">
            <a:avLst/>
          </a:prstGeom>
          <a:solidFill>
            <a:srgbClr val="3A4374"/>
          </a:solidFill>
          <a:ln/>
        </p:spPr>
      </p:sp>
      <p:sp>
        <p:nvSpPr>
          <p:cNvPr id="6" name="Text 4"/>
          <p:cNvSpPr txBox="1"/>
          <p:nvPr/>
        </p:nvSpPr>
        <p:spPr>
          <a:xfrm>
            <a:off x="822960" y="1691640"/>
            <a:ext cx="1280160" cy="1005840"/>
          </a:xfrm>
          <a:prstGeom prst="rect">
            <a:avLst/>
          </a:prstGeom>
          <a:noFill/>
          <a:ln/>
        </p:spPr>
        <p:txBody>
          <a:bodyPr wrap="square" rtlCol="0" anchor="ctr"/>
          <a:lstStyle/>
          <a:p>
            <a:pPr indent="0" marL="0">
              <a:buNone/>
            </a:pPr>
            <a:r>
              <a:rPr lang="en-US" sz="1500" b="1" dirty="0">
                <a:solidFill>
                  <a:srgbClr val="3A4374"/>
                </a:solidFill>
                <a:latin typeface="Cambria" pitchFamily="34" charset="0"/>
                <a:ea typeface="Cambria" pitchFamily="34" charset="-122"/>
                <a:cs typeface="Cambria" pitchFamily="34" charset="-120"/>
              </a:rPr>
              <a:t>TP1</a:t>
            </a:r>
            <a:endParaRPr lang="en-US" sz="1500" dirty="0"/>
          </a:p>
        </p:txBody>
      </p:sp>
      <p:sp>
        <p:nvSpPr>
          <p:cNvPr id="7" name="Text 5"/>
          <p:cNvSpPr txBox="1"/>
          <p:nvPr/>
        </p:nvSpPr>
        <p:spPr>
          <a:xfrm>
            <a:off x="2103120" y="1691640"/>
            <a:ext cx="9326880" cy="1005840"/>
          </a:xfrm>
          <a:prstGeom prst="rect">
            <a:avLst/>
          </a:prstGeom>
          <a:noFill/>
          <a:ln/>
        </p:spPr>
        <p:txBody>
          <a:bodyPr wrap="square" rtlCol="0" anchor="ctr"/>
          <a:lstStyle/>
          <a:p>
            <a:pPr indent="0" marL="0">
              <a:lnSpc>
                <a:spcPct val="115000"/>
              </a:lnSpc>
              <a:buNone/>
            </a:pPr>
            <a:r>
              <a:rPr lang="en-US" sz="1200" dirty="0">
                <a:solidFill>
                  <a:srgbClr val="141A45"/>
                </a:solidFill>
                <a:latin typeface="Calibri" pitchFamily="34" charset="0"/>
                <a:ea typeface="Calibri" pitchFamily="34" charset="-122"/>
                <a:cs typeface="Calibri" pitchFamily="34" charset="-120"/>
              </a:rPr>
              <a:t>Murid boleh menyatakan pengelasan data dan ciri perwakilan data.</a:t>
            </a:r>
            <a:endParaRPr lang="en-US" sz="1200" dirty="0"/>
          </a:p>
        </p:txBody>
      </p:sp>
      <p:sp>
        <p:nvSpPr>
          <p:cNvPr id="8" name="Shape 6"/>
          <p:cNvSpPr/>
          <p:nvPr/>
        </p:nvSpPr>
        <p:spPr>
          <a:xfrm>
            <a:off x="548640" y="2807208"/>
            <a:ext cx="11064240" cy="1005840"/>
          </a:xfrm>
          <a:prstGeom prst="roundRect">
            <a:avLst>
              <a:gd name="adj" fmla="val 5455"/>
            </a:avLst>
          </a:prstGeom>
          <a:solidFill>
            <a:srgbClr val="F5F7FC"/>
          </a:solidFill>
          <a:ln w="19050">
            <a:solidFill>
              <a:srgbClr val="5C6BAE"/>
            </a:solidFill>
            <a:prstDash val="solid"/>
          </a:ln>
        </p:spPr>
      </p:sp>
      <p:sp>
        <p:nvSpPr>
          <p:cNvPr id="9" name="Shape 7"/>
          <p:cNvSpPr/>
          <p:nvPr/>
        </p:nvSpPr>
        <p:spPr>
          <a:xfrm>
            <a:off x="548640" y="2807208"/>
            <a:ext cx="109728" cy="1005840"/>
          </a:xfrm>
          <a:prstGeom prst="rect">
            <a:avLst/>
          </a:prstGeom>
          <a:solidFill>
            <a:srgbClr val="5C6BAE"/>
          </a:solidFill>
          <a:ln/>
        </p:spPr>
      </p:sp>
      <p:sp>
        <p:nvSpPr>
          <p:cNvPr id="10" name="Text 8"/>
          <p:cNvSpPr txBox="1"/>
          <p:nvPr/>
        </p:nvSpPr>
        <p:spPr>
          <a:xfrm>
            <a:off x="822960" y="2807208"/>
            <a:ext cx="1280160" cy="1005840"/>
          </a:xfrm>
          <a:prstGeom prst="rect">
            <a:avLst/>
          </a:prstGeom>
          <a:noFill/>
          <a:ln/>
        </p:spPr>
        <p:txBody>
          <a:bodyPr wrap="square" rtlCol="0" anchor="ctr"/>
          <a:lstStyle/>
          <a:p>
            <a:pPr indent="0" marL="0">
              <a:buNone/>
            </a:pPr>
            <a:r>
              <a:rPr lang="en-US" sz="1500" b="1" dirty="0">
                <a:solidFill>
                  <a:srgbClr val="5C6BAE"/>
                </a:solidFill>
                <a:latin typeface="Cambria" pitchFamily="34" charset="0"/>
                <a:ea typeface="Cambria" pitchFamily="34" charset="-122"/>
                <a:cs typeface="Cambria" pitchFamily="34" charset="-120"/>
              </a:rPr>
              <a:t>TP2</a:t>
            </a:r>
            <a:endParaRPr lang="en-US" sz="1500" dirty="0"/>
          </a:p>
        </p:txBody>
      </p:sp>
      <p:sp>
        <p:nvSpPr>
          <p:cNvPr id="11" name="Text 9"/>
          <p:cNvSpPr txBox="1"/>
          <p:nvPr/>
        </p:nvSpPr>
        <p:spPr>
          <a:xfrm>
            <a:off x="2103120" y="2807208"/>
            <a:ext cx="9326880" cy="1005840"/>
          </a:xfrm>
          <a:prstGeom prst="rect">
            <a:avLst/>
          </a:prstGeom>
          <a:noFill/>
          <a:ln/>
        </p:spPr>
        <p:txBody>
          <a:bodyPr wrap="square" rtlCol="0" anchor="ctr"/>
          <a:lstStyle/>
          <a:p>
            <a:pPr indent="0" marL="0">
              <a:lnSpc>
                <a:spcPct val="115000"/>
              </a:lnSpc>
              <a:buNone/>
            </a:pPr>
            <a:r>
              <a:rPr lang="en-US" sz="1200" dirty="0">
                <a:solidFill>
                  <a:srgbClr val="141A45"/>
                </a:solidFill>
                <a:latin typeface="Calibri" pitchFamily="34" charset="0"/>
                <a:ea typeface="Calibri" pitchFamily="34" charset="-122"/>
                <a:cs typeface="Calibri" pitchFamily="34" charset="-120"/>
              </a:rPr>
              <a:t>Murid boleh mengumpul data dan membina jadual kekerapan.</a:t>
            </a:r>
            <a:endParaRPr lang="en-US" sz="1200" dirty="0"/>
          </a:p>
        </p:txBody>
      </p:sp>
      <p:sp>
        <p:nvSpPr>
          <p:cNvPr id="12" name="Shape 10"/>
          <p:cNvSpPr/>
          <p:nvPr/>
        </p:nvSpPr>
        <p:spPr>
          <a:xfrm>
            <a:off x="548640" y="3922776"/>
            <a:ext cx="11064240" cy="1005840"/>
          </a:xfrm>
          <a:prstGeom prst="roundRect">
            <a:avLst>
              <a:gd name="adj" fmla="val 5455"/>
            </a:avLst>
          </a:prstGeom>
          <a:solidFill>
            <a:srgbClr val="F5F7FC"/>
          </a:solidFill>
          <a:ln w="19050">
            <a:solidFill>
              <a:srgbClr val="8593D4"/>
            </a:solidFill>
            <a:prstDash val="solid"/>
          </a:ln>
        </p:spPr>
      </p:sp>
      <p:sp>
        <p:nvSpPr>
          <p:cNvPr id="13" name="Shape 11"/>
          <p:cNvSpPr/>
          <p:nvPr/>
        </p:nvSpPr>
        <p:spPr>
          <a:xfrm>
            <a:off x="548640" y="3922776"/>
            <a:ext cx="109728" cy="1005840"/>
          </a:xfrm>
          <a:prstGeom prst="rect">
            <a:avLst/>
          </a:prstGeom>
          <a:solidFill>
            <a:srgbClr val="8593D4"/>
          </a:solidFill>
          <a:ln/>
        </p:spPr>
      </p:sp>
      <p:sp>
        <p:nvSpPr>
          <p:cNvPr id="14" name="Text 12"/>
          <p:cNvSpPr txBox="1"/>
          <p:nvPr/>
        </p:nvSpPr>
        <p:spPr>
          <a:xfrm>
            <a:off x="822960" y="3922776"/>
            <a:ext cx="1280160" cy="1005840"/>
          </a:xfrm>
          <a:prstGeom prst="rect">
            <a:avLst/>
          </a:prstGeom>
          <a:noFill/>
          <a:ln/>
        </p:spPr>
        <p:txBody>
          <a:bodyPr wrap="square" rtlCol="0" anchor="ctr"/>
          <a:lstStyle/>
          <a:p>
            <a:pPr indent="0" marL="0">
              <a:buNone/>
            </a:pPr>
            <a:r>
              <a:rPr lang="en-US" sz="1500" b="1" dirty="0">
                <a:solidFill>
                  <a:srgbClr val="8593D4"/>
                </a:solidFill>
                <a:latin typeface="Cambria" pitchFamily="34" charset="0"/>
                <a:ea typeface="Cambria" pitchFamily="34" charset="-122"/>
                <a:cs typeface="Cambria" pitchFamily="34" charset="-120"/>
              </a:rPr>
              <a:t>TP3</a:t>
            </a:r>
            <a:endParaRPr lang="en-US" sz="1500" dirty="0"/>
          </a:p>
        </p:txBody>
      </p:sp>
      <p:sp>
        <p:nvSpPr>
          <p:cNvPr id="15" name="Text 13"/>
          <p:cNvSpPr txBox="1"/>
          <p:nvPr/>
        </p:nvSpPr>
        <p:spPr>
          <a:xfrm>
            <a:off x="2103120" y="3922776"/>
            <a:ext cx="9326880" cy="1005840"/>
          </a:xfrm>
          <a:prstGeom prst="rect">
            <a:avLst/>
          </a:prstGeom>
          <a:noFill/>
          <a:ln/>
        </p:spPr>
        <p:txBody>
          <a:bodyPr wrap="square" rtlCol="0" anchor="ctr"/>
          <a:lstStyle/>
          <a:p>
            <a:pPr indent="0" marL="0">
              <a:lnSpc>
                <a:spcPct val="115000"/>
              </a:lnSpc>
              <a:buNone/>
            </a:pPr>
            <a:r>
              <a:rPr lang="en-US" sz="1200" dirty="0">
                <a:solidFill>
                  <a:srgbClr val="141A45"/>
                </a:solidFill>
                <a:latin typeface="Calibri" pitchFamily="34" charset="0"/>
                <a:ea typeface="Calibri" pitchFamily="34" charset="-122"/>
                <a:cs typeface="Calibri" pitchFamily="34" charset="-120"/>
              </a:rPr>
              <a:t>Murid boleh melengkapkan perwakilan data dan menganalisis pelbagai perwakilan data.</a:t>
            </a:r>
            <a:endParaRPr lang="en-US" sz="1200" dirty="0"/>
          </a:p>
        </p:txBody>
      </p:sp>
      <p:sp>
        <p:nvSpPr>
          <p:cNvPr id="16" name="Shape 14"/>
          <p:cNvSpPr/>
          <p:nvPr/>
        </p:nvSpPr>
        <p:spPr>
          <a:xfrm>
            <a:off x="548640" y="5038344"/>
            <a:ext cx="11064240" cy="1005840"/>
          </a:xfrm>
          <a:prstGeom prst="roundRect">
            <a:avLst>
              <a:gd name="adj" fmla="val 5455"/>
            </a:avLst>
          </a:prstGeom>
          <a:solidFill>
            <a:srgbClr val="F5F7FC"/>
          </a:solidFill>
          <a:ln w="19050">
            <a:solidFill>
              <a:srgbClr val="F2B705"/>
            </a:solidFill>
            <a:prstDash val="solid"/>
          </a:ln>
        </p:spPr>
      </p:sp>
      <p:sp>
        <p:nvSpPr>
          <p:cNvPr id="17" name="Shape 15"/>
          <p:cNvSpPr/>
          <p:nvPr/>
        </p:nvSpPr>
        <p:spPr>
          <a:xfrm>
            <a:off x="548640" y="5038344"/>
            <a:ext cx="109728" cy="1005840"/>
          </a:xfrm>
          <a:prstGeom prst="rect">
            <a:avLst/>
          </a:prstGeom>
          <a:solidFill>
            <a:srgbClr val="F2B705"/>
          </a:solidFill>
          <a:ln/>
        </p:spPr>
      </p:sp>
      <p:sp>
        <p:nvSpPr>
          <p:cNvPr id="18" name="Text 16"/>
          <p:cNvSpPr txBox="1"/>
          <p:nvPr/>
        </p:nvSpPr>
        <p:spPr>
          <a:xfrm>
            <a:off x="822960" y="5038344"/>
            <a:ext cx="1280160" cy="1005840"/>
          </a:xfrm>
          <a:prstGeom prst="rect">
            <a:avLst/>
          </a:prstGeom>
          <a:noFill/>
          <a:ln/>
        </p:spPr>
        <p:txBody>
          <a:bodyPr wrap="square" rtlCol="0" anchor="ctr"/>
          <a:lstStyle/>
          <a:p>
            <a:pPr indent="0" marL="0">
              <a:buNone/>
            </a:pPr>
            <a:r>
              <a:rPr lang="en-US" sz="1500" b="1" dirty="0">
                <a:solidFill>
                  <a:srgbClr val="B08600"/>
                </a:solidFill>
                <a:latin typeface="Cambria" pitchFamily="34" charset="0"/>
                <a:ea typeface="Cambria" pitchFamily="34" charset="-122"/>
                <a:cs typeface="Cambria" pitchFamily="34" charset="-120"/>
              </a:rPr>
              <a:t>TP4</a:t>
            </a:r>
            <a:endParaRPr lang="en-US" sz="1500" dirty="0"/>
          </a:p>
        </p:txBody>
      </p:sp>
      <p:sp>
        <p:nvSpPr>
          <p:cNvPr id="19" name="Text 17"/>
          <p:cNvSpPr txBox="1"/>
          <p:nvPr/>
        </p:nvSpPr>
        <p:spPr>
          <a:xfrm>
            <a:off x="2103120" y="5038344"/>
            <a:ext cx="9326880" cy="1005840"/>
          </a:xfrm>
          <a:prstGeom prst="rect">
            <a:avLst/>
          </a:prstGeom>
          <a:noFill/>
          <a:ln/>
        </p:spPr>
        <p:txBody>
          <a:bodyPr wrap="square" rtlCol="0" anchor="ctr"/>
          <a:lstStyle/>
          <a:p>
            <a:pPr indent="0" marL="0">
              <a:lnSpc>
                <a:spcPct val="115000"/>
              </a:lnSpc>
              <a:buNone/>
            </a:pPr>
            <a:r>
              <a:rPr lang="en-US" sz="1200" dirty="0">
                <a:solidFill>
                  <a:srgbClr val="141A45"/>
                </a:solidFill>
                <a:latin typeface="Calibri" pitchFamily="34" charset="0"/>
                <a:ea typeface="Calibri" pitchFamily="34" charset="-122"/>
                <a:cs typeface="Calibri" pitchFamily="34" charset="-120"/>
              </a:rPr>
              <a:t>Murid boleh mentafsir maklumat daripada pelbagai perwakilan data dan seterusnya membentangkan hasil dapatan.</a:t>
            </a:r>
            <a:endParaRPr lang="en-US" sz="1200" dirty="0"/>
          </a:p>
        </p:txBody>
      </p:sp>
      <p:sp>
        <p:nvSpPr>
          <p:cNvPr id="20" name="Text 18"/>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 Wording rasmi, Slaid Sidang 7 m/s 13</a:t>
            </a:r>
            <a:endParaRPr lang="en-US" sz="1000" dirty="0"/>
          </a:p>
        </p:txBody>
      </p:sp>
      <p:sp>
        <p:nvSpPr>
          <p:cNvPr id="21" name="Text 19"/>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7  |  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PENDEKATAN PDP</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7 Langkah Pendekatan Inkuiri Statistik</a:t>
            </a:r>
            <a:endParaRPr lang="en-US" sz="2600" dirty="0"/>
          </a:p>
        </p:txBody>
      </p:sp>
      <p:sp>
        <p:nvSpPr>
          <p:cNvPr id="4" name="Shape 2"/>
          <p:cNvSpPr/>
          <p:nvPr/>
        </p:nvSpPr>
        <p:spPr>
          <a:xfrm>
            <a:off x="548640" y="1920240"/>
            <a:ext cx="1490472" cy="2651760"/>
          </a:xfrm>
          <a:prstGeom prst="roundRect">
            <a:avLst>
              <a:gd name="adj" fmla="val 3681"/>
            </a:avLst>
          </a:prstGeom>
          <a:solidFill>
            <a:srgbClr val="1E2761"/>
          </a:solidFill>
          <a:ln/>
        </p:spPr>
      </p:sp>
      <p:sp>
        <p:nvSpPr>
          <p:cNvPr id="5" name="Shape 3"/>
          <p:cNvSpPr/>
          <p:nvPr/>
        </p:nvSpPr>
        <p:spPr>
          <a:xfrm>
            <a:off x="1019556" y="2148840"/>
            <a:ext cx="548640" cy="548640"/>
          </a:xfrm>
          <a:prstGeom prst="ellipse">
            <a:avLst/>
          </a:prstGeom>
          <a:solidFill>
            <a:srgbClr val="F2B705"/>
          </a:solidFill>
          <a:ln/>
        </p:spPr>
      </p:sp>
      <p:pic>
        <p:nvPicPr>
          <p:cNvPr id="6" name="Image 0" descr="/home/claude/shared_icons/icon_question.png">    </p:cNvPr>
          <p:cNvPicPr>
            <a:picLocks noChangeAspect="1"/>
          </p:cNvPicPr>
          <p:nvPr/>
        </p:nvPicPr>
        <p:blipFill>
          <a:blip r:embed="rId1"/>
          <a:stretch>
            <a:fillRect/>
          </a:stretch>
        </p:blipFill>
        <p:spPr>
          <a:xfrm>
            <a:off x="1096366" y="2225650"/>
            <a:ext cx="395021" cy="395021"/>
          </a:xfrm>
          <a:prstGeom prst="rect">
            <a:avLst/>
          </a:prstGeom>
        </p:spPr>
      </p:pic>
      <p:sp>
        <p:nvSpPr>
          <p:cNvPr id="7" name="Text 4"/>
          <p:cNvSpPr txBox="1"/>
          <p:nvPr/>
        </p:nvSpPr>
        <p:spPr>
          <a:xfrm>
            <a:off x="640080" y="2926080"/>
            <a:ext cx="1307592" cy="1463040"/>
          </a:xfrm>
          <a:prstGeom prst="rect">
            <a:avLst/>
          </a:prstGeom>
          <a:noFill/>
          <a:ln/>
        </p:spPr>
        <p:txBody>
          <a:bodyPr wrap="square" rtlCol="0" anchor="ctr"/>
          <a:lstStyle/>
          <a:p>
            <a:pPr algn="ctr" indent="0" marL="0">
              <a:lnSpc>
                <a:spcPct val="115000"/>
              </a:lnSpc>
              <a:buNone/>
            </a:pPr>
            <a:r>
              <a:rPr lang="en-US" sz="950" b="1" dirty="0">
                <a:solidFill>
                  <a:srgbClr val="FFFFFF"/>
                </a:solidFill>
                <a:latin typeface="Calibri" pitchFamily="34" charset="0"/>
                <a:ea typeface="Calibri" pitchFamily="34" charset="-122"/>
                <a:cs typeface="Calibri" pitchFamily="34" charset="-120"/>
              </a:rPr>
              <a:t>1. Menjana Soalan Statistik</a:t>
            </a:r>
            <a:endParaRPr lang="en-US" sz="950" dirty="0"/>
          </a:p>
        </p:txBody>
      </p:sp>
      <p:sp>
        <p:nvSpPr>
          <p:cNvPr id="8" name="Shape 5"/>
          <p:cNvSpPr/>
          <p:nvPr/>
        </p:nvSpPr>
        <p:spPr>
          <a:xfrm>
            <a:off x="2130552" y="1920240"/>
            <a:ext cx="1490472" cy="2651760"/>
          </a:xfrm>
          <a:prstGeom prst="roundRect">
            <a:avLst>
              <a:gd name="adj" fmla="val 3681"/>
            </a:avLst>
          </a:prstGeom>
          <a:solidFill>
            <a:srgbClr val="1E2761"/>
          </a:solidFill>
          <a:ln/>
        </p:spPr>
      </p:sp>
      <p:sp>
        <p:nvSpPr>
          <p:cNvPr id="9" name="Shape 6"/>
          <p:cNvSpPr/>
          <p:nvPr/>
        </p:nvSpPr>
        <p:spPr>
          <a:xfrm>
            <a:off x="2601468" y="2148840"/>
            <a:ext cx="548640" cy="548640"/>
          </a:xfrm>
          <a:prstGeom prst="ellipse">
            <a:avLst/>
          </a:prstGeom>
          <a:solidFill>
            <a:srgbClr val="F2B705"/>
          </a:solidFill>
          <a:ln/>
        </p:spPr>
      </p:sp>
      <p:pic>
        <p:nvPicPr>
          <p:cNvPr id="10" name="Image 1" descr="/home/claude/shared_icons/icon_target.png">    </p:cNvPr>
          <p:cNvPicPr>
            <a:picLocks noChangeAspect="1"/>
          </p:cNvPicPr>
          <p:nvPr/>
        </p:nvPicPr>
        <p:blipFill>
          <a:blip r:embed="rId2"/>
          <a:stretch>
            <a:fillRect/>
          </a:stretch>
        </p:blipFill>
        <p:spPr>
          <a:xfrm>
            <a:off x="2678278" y="2225650"/>
            <a:ext cx="395021" cy="395021"/>
          </a:xfrm>
          <a:prstGeom prst="rect">
            <a:avLst/>
          </a:prstGeom>
        </p:spPr>
      </p:pic>
      <p:sp>
        <p:nvSpPr>
          <p:cNvPr id="11" name="Text 7"/>
          <p:cNvSpPr txBox="1"/>
          <p:nvPr/>
        </p:nvSpPr>
        <p:spPr>
          <a:xfrm>
            <a:off x="2221992" y="2926080"/>
            <a:ext cx="1307592" cy="1463040"/>
          </a:xfrm>
          <a:prstGeom prst="rect">
            <a:avLst/>
          </a:prstGeom>
          <a:noFill/>
          <a:ln/>
        </p:spPr>
        <p:txBody>
          <a:bodyPr wrap="square" rtlCol="0" anchor="ctr"/>
          <a:lstStyle/>
          <a:p>
            <a:pPr algn="ctr" indent="0" marL="0">
              <a:lnSpc>
                <a:spcPct val="115000"/>
              </a:lnSpc>
              <a:buNone/>
            </a:pPr>
            <a:r>
              <a:rPr lang="en-US" sz="950" b="1" dirty="0">
                <a:solidFill>
                  <a:srgbClr val="FFFFFF"/>
                </a:solidFill>
                <a:latin typeface="Calibri" pitchFamily="34" charset="0"/>
                <a:ea typeface="Calibri" pitchFamily="34" charset="-122"/>
                <a:cs typeface="Calibri" pitchFamily="34" charset="-120"/>
              </a:rPr>
              <a:t>2. Merancang Pengumpulan Data</a:t>
            </a:r>
            <a:endParaRPr lang="en-US" sz="950" dirty="0"/>
          </a:p>
        </p:txBody>
      </p:sp>
      <p:sp>
        <p:nvSpPr>
          <p:cNvPr id="12" name="Shape 8"/>
          <p:cNvSpPr/>
          <p:nvPr/>
        </p:nvSpPr>
        <p:spPr>
          <a:xfrm>
            <a:off x="3712464" y="1920240"/>
            <a:ext cx="1490472" cy="2651760"/>
          </a:xfrm>
          <a:prstGeom prst="roundRect">
            <a:avLst>
              <a:gd name="adj" fmla="val 3681"/>
            </a:avLst>
          </a:prstGeom>
          <a:solidFill>
            <a:srgbClr val="1E2761"/>
          </a:solidFill>
          <a:ln/>
        </p:spPr>
      </p:sp>
      <p:sp>
        <p:nvSpPr>
          <p:cNvPr id="13" name="Shape 9"/>
          <p:cNvSpPr/>
          <p:nvPr/>
        </p:nvSpPr>
        <p:spPr>
          <a:xfrm>
            <a:off x="4183380" y="2148840"/>
            <a:ext cx="548640" cy="548640"/>
          </a:xfrm>
          <a:prstGeom prst="ellipse">
            <a:avLst/>
          </a:prstGeom>
          <a:solidFill>
            <a:srgbClr val="F2B705"/>
          </a:solidFill>
          <a:ln/>
        </p:spPr>
      </p:sp>
      <p:pic>
        <p:nvPicPr>
          <p:cNvPr id="14" name="Image 2" descr="/home/claude/shared_icons/icon_clipboard.png">    </p:cNvPr>
          <p:cNvPicPr>
            <a:picLocks noChangeAspect="1"/>
          </p:cNvPicPr>
          <p:nvPr/>
        </p:nvPicPr>
        <p:blipFill>
          <a:blip r:embed="rId3"/>
          <a:stretch>
            <a:fillRect/>
          </a:stretch>
        </p:blipFill>
        <p:spPr>
          <a:xfrm>
            <a:off x="4260190" y="2225650"/>
            <a:ext cx="395021" cy="395021"/>
          </a:xfrm>
          <a:prstGeom prst="rect">
            <a:avLst/>
          </a:prstGeom>
        </p:spPr>
      </p:pic>
      <p:sp>
        <p:nvSpPr>
          <p:cNvPr id="15" name="Text 10"/>
          <p:cNvSpPr txBox="1"/>
          <p:nvPr/>
        </p:nvSpPr>
        <p:spPr>
          <a:xfrm>
            <a:off x="3803904" y="2926080"/>
            <a:ext cx="1307592" cy="1463040"/>
          </a:xfrm>
          <a:prstGeom prst="rect">
            <a:avLst/>
          </a:prstGeom>
          <a:noFill/>
          <a:ln/>
        </p:spPr>
        <p:txBody>
          <a:bodyPr wrap="square" rtlCol="0" anchor="ctr"/>
          <a:lstStyle/>
          <a:p>
            <a:pPr algn="ctr" indent="0" marL="0">
              <a:lnSpc>
                <a:spcPct val="115000"/>
              </a:lnSpc>
              <a:buNone/>
            </a:pPr>
            <a:r>
              <a:rPr lang="en-US" sz="950" b="1" dirty="0">
                <a:solidFill>
                  <a:srgbClr val="FFFFFF"/>
                </a:solidFill>
                <a:latin typeface="Calibri" pitchFamily="34" charset="0"/>
                <a:ea typeface="Calibri" pitchFamily="34" charset="-122"/>
                <a:cs typeface="Calibri" pitchFamily="34" charset="-120"/>
              </a:rPr>
              <a:t>3. Mengumpul &amp; Mengurus Data</a:t>
            </a:r>
            <a:endParaRPr lang="en-US" sz="950" dirty="0"/>
          </a:p>
        </p:txBody>
      </p:sp>
      <p:sp>
        <p:nvSpPr>
          <p:cNvPr id="16" name="Shape 11"/>
          <p:cNvSpPr/>
          <p:nvPr/>
        </p:nvSpPr>
        <p:spPr>
          <a:xfrm>
            <a:off x="5294376" y="1920240"/>
            <a:ext cx="1490472" cy="2651760"/>
          </a:xfrm>
          <a:prstGeom prst="roundRect">
            <a:avLst>
              <a:gd name="adj" fmla="val 3681"/>
            </a:avLst>
          </a:prstGeom>
          <a:solidFill>
            <a:srgbClr val="1E2761"/>
          </a:solidFill>
          <a:ln/>
        </p:spPr>
      </p:sp>
      <p:sp>
        <p:nvSpPr>
          <p:cNvPr id="17" name="Shape 12"/>
          <p:cNvSpPr/>
          <p:nvPr/>
        </p:nvSpPr>
        <p:spPr>
          <a:xfrm>
            <a:off x="5765292" y="2148840"/>
            <a:ext cx="548640" cy="548640"/>
          </a:xfrm>
          <a:prstGeom prst="ellipse">
            <a:avLst/>
          </a:prstGeom>
          <a:solidFill>
            <a:srgbClr val="F2B705"/>
          </a:solidFill>
          <a:ln/>
        </p:spPr>
      </p:sp>
      <p:pic>
        <p:nvPicPr>
          <p:cNvPr id="18" name="Image 3" descr="/home/claude/shared_icons/icon_chart.png">    </p:cNvPr>
          <p:cNvPicPr>
            <a:picLocks noChangeAspect="1"/>
          </p:cNvPicPr>
          <p:nvPr/>
        </p:nvPicPr>
        <p:blipFill>
          <a:blip r:embed="rId4"/>
          <a:stretch>
            <a:fillRect/>
          </a:stretch>
        </p:blipFill>
        <p:spPr>
          <a:xfrm>
            <a:off x="5842102" y="2225650"/>
            <a:ext cx="395021" cy="395021"/>
          </a:xfrm>
          <a:prstGeom prst="rect">
            <a:avLst/>
          </a:prstGeom>
        </p:spPr>
      </p:pic>
      <p:sp>
        <p:nvSpPr>
          <p:cNvPr id="19" name="Text 13"/>
          <p:cNvSpPr txBox="1"/>
          <p:nvPr/>
        </p:nvSpPr>
        <p:spPr>
          <a:xfrm>
            <a:off x="5385816" y="2926080"/>
            <a:ext cx="1307592" cy="1463040"/>
          </a:xfrm>
          <a:prstGeom prst="rect">
            <a:avLst/>
          </a:prstGeom>
          <a:noFill/>
          <a:ln/>
        </p:spPr>
        <p:txBody>
          <a:bodyPr wrap="square" rtlCol="0" anchor="ctr"/>
          <a:lstStyle/>
          <a:p>
            <a:pPr algn="ctr" indent="0" marL="0">
              <a:lnSpc>
                <a:spcPct val="115000"/>
              </a:lnSpc>
              <a:buNone/>
            </a:pPr>
            <a:r>
              <a:rPr lang="en-US" sz="950" b="1" dirty="0">
                <a:solidFill>
                  <a:srgbClr val="FFFFFF"/>
                </a:solidFill>
                <a:latin typeface="Calibri" pitchFamily="34" charset="0"/>
                <a:ea typeface="Calibri" pitchFamily="34" charset="-122"/>
                <a:cs typeface="Calibri" pitchFamily="34" charset="-120"/>
              </a:rPr>
              <a:t>4. Menganalisis Data</a:t>
            </a:r>
            <a:endParaRPr lang="en-US" sz="950" dirty="0"/>
          </a:p>
        </p:txBody>
      </p:sp>
      <p:sp>
        <p:nvSpPr>
          <p:cNvPr id="20" name="Shape 14"/>
          <p:cNvSpPr/>
          <p:nvPr/>
        </p:nvSpPr>
        <p:spPr>
          <a:xfrm>
            <a:off x="6876288" y="1920240"/>
            <a:ext cx="1490472" cy="2651760"/>
          </a:xfrm>
          <a:prstGeom prst="roundRect">
            <a:avLst>
              <a:gd name="adj" fmla="val 3681"/>
            </a:avLst>
          </a:prstGeom>
          <a:solidFill>
            <a:srgbClr val="1E2761"/>
          </a:solidFill>
          <a:ln/>
        </p:spPr>
      </p:sp>
      <p:sp>
        <p:nvSpPr>
          <p:cNvPr id="21" name="Shape 15"/>
          <p:cNvSpPr/>
          <p:nvPr/>
        </p:nvSpPr>
        <p:spPr>
          <a:xfrm>
            <a:off x="7347204" y="2148840"/>
            <a:ext cx="548640" cy="548640"/>
          </a:xfrm>
          <a:prstGeom prst="ellipse">
            <a:avLst/>
          </a:prstGeom>
          <a:solidFill>
            <a:srgbClr val="F2B705"/>
          </a:solidFill>
          <a:ln/>
        </p:spPr>
      </p:sp>
      <p:pic>
        <p:nvPicPr>
          <p:cNvPr id="22" name="Image 4" descr="/home/claude/shared_icons/icon_brain.png">    </p:cNvPr>
          <p:cNvPicPr>
            <a:picLocks noChangeAspect="1"/>
          </p:cNvPicPr>
          <p:nvPr/>
        </p:nvPicPr>
        <p:blipFill>
          <a:blip r:embed="rId5"/>
          <a:stretch>
            <a:fillRect/>
          </a:stretch>
        </p:blipFill>
        <p:spPr>
          <a:xfrm>
            <a:off x="7424014" y="2225650"/>
            <a:ext cx="395021" cy="395021"/>
          </a:xfrm>
          <a:prstGeom prst="rect">
            <a:avLst/>
          </a:prstGeom>
        </p:spPr>
      </p:pic>
      <p:sp>
        <p:nvSpPr>
          <p:cNvPr id="23" name="Text 16"/>
          <p:cNvSpPr txBox="1"/>
          <p:nvPr/>
        </p:nvSpPr>
        <p:spPr>
          <a:xfrm>
            <a:off x="6967728" y="2926080"/>
            <a:ext cx="1307592" cy="1463040"/>
          </a:xfrm>
          <a:prstGeom prst="rect">
            <a:avLst/>
          </a:prstGeom>
          <a:noFill/>
          <a:ln/>
        </p:spPr>
        <p:txBody>
          <a:bodyPr wrap="square" rtlCol="0" anchor="ctr"/>
          <a:lstStyle/>
          <a:p>
            <a:pPr algn="ctr" indent="0" marL="0">
              <a:lnSpc>
                <a:spcPct val="115000"/>
              </a:lnSpc>
              <a:buNone/>
            </a:pPr>
            <a:r>
              <a:rPr lang="en-US" sz="950" b="1" dirty="0">
                <a:solidFill>
                  <a:srgbClr val="FFFFFF"/>
                </a:solidFill>
                <a:latin typeface="Calibri" pitchFamily="34" charset="0"/>
                <a:ea typeface="Calibri" pitchFamily="34" charset="-122"/>
                <a:cs typeface="Calibri" pitchFamily="34" charset="-120"/>
              </a:rPr>
              <a:t>5. Membuat Tafsiran</a:t>
            </a:r>
            <a:endParaRPr lang="en-US" sz="950" dirty="0"/>
          </a:p>
        </p:txBody>
      </p:sp>
      <p:sp>
        <p:nvSpPr>
          <p:cNvPr id="24" name="Shape 17"/>
          <p:cNvSpPr/>
          <p:nvPr/>
        </p:nvSpPr>
        <p:spPr>
          <a:xfrm>
            <a:off x="8458200" y="1920240"/>
            <a:ext cx="1490472" cy="2651760"/>
          </a:xfrm>
          <a:prstGeom prst="roundRect">
            <a:avLst>
              <a:gd name="adj" fmla="val 3681"/>
            </a:avLst>
          </a:prstGeom>
          <a:solidFill>
            <a:srgbClr val="1E2761"/>
          </a:solidFill>
          <a:ln/>
        </p:spPr>
      </p:sp>
      <p:sp>
        <p:nvSpPr>
          <p:cNvPr id="25" name="Shape 18"/>
          <p:cNvSpPr/>
          <p:nvPr/>
        </p:nvSpPr>
        <p:spPr>
          <a:xfrm>
            <a:off x="8929116" y="2148840"/>
            <a:ext cx="548640" cy="548640"/>
          </a:xfrm>
          <a:prstGeom prst="ellipse">
            <a:avLst/>
          </a:prstGeom>
          <a:solidFill>
            <a:srgbClr val="F2B705"/>
          </a:solidFill>
          <a:ln/>
        </p:spPr>
      </p:sp>
      <p:pic>
        <p:nvPicPr>
          <p:cNvPr id="26" name="Image 5" descr="/home/claude/shared_icons/icon_scroll.png">    </p:cNvPr>
          <p:cNvPicPr>
            <a:picLocks noChangeAspect="1"/>
          </p:cNvPicPr>
          <p:nvPr/>
        </p:nvPicPr>
        <p:blipFill>
          <a:blip r:embed="rId6"/>
          <a:stretch>
            <a:fillRect/>
          </a:stretch>
        </p:blipFill>
        <p:spPr>
          <a:xfrm>
            <a:off x="9005926" y="2225650"/>
            <a:ext cx="395021" cy="395021"/>
          </a:xfrm>
          <a:prstGeom prst="rect">
            <a:avLst/>
          </a:prstGeom>
        </p:spPr>
      </p:pic>
      <p:sp>
        <p:nvSpPr>
          <p:cNvPr id="27" name="Text 19"/>
          <p:cNvSpPr txBox="1"/>
          <p:nvPr/>
        </p:nvSpPr>
        <p:spPr>
          <a:xfrm>
            <a:off x="8549640" y="2926080"/>
            <a:ext cx="1307592" cy="1463040"/>
          </a:xfrm>
          <a:prstGeom prst="rect">
            <a:avLst/>
          </a:prstGeom>
          <a:noFill/>
          <a:ln/>
        </p:spPr>
        <p:txBody>
          <a:bodyPr wrap="square" rtlCol="0" anchor="ctr"/>
          <a:lstStyle/>
          <a:p>
            <a:pPr algn="ctr" indent="0" marL="0">
              <a:lnSpc>
                <a:spcPct val="115000"/>
              </a:lnSpc>
              <a:buNone/>
            </a:pPr>
            <a:r>
              <a:rPr lang="en-US" sz="950" b="1" dirty="0">
                <a:solidFill>
                  <a:srgbClr val="FFFFFF"/>
                </a:solidFill>
                <a:latin typeface="Calibri" pitchFamily="34" charset="0"/>
                <a:ea typeface="Calibri" pitchFamily="34" charset="-122"/>
                <a:cs typeface="Calibri" pitchFamily="34" charset="-120"/>
              </a:rPr>
              <a:t>6. Kesimpulan</a:t>
            </a:r>
            <a:endParaRPr lang="en-US" sz="950" dirty="0"/>
          </a:p>
        </p:txBody>
      </p:sp>
      <p:sp>
        <p:nvSpPr>
          <p:cNvPr id="28" name="Shape 20"/>
          <p:cNvSpPr/>
          <p:nvPr/>
        </p:nvSpPr>
        <p:spPr>
          <a:xfrm>
            <a:off x="10040112" y="1920240"/>
            <a:ext cx="1490472" cy="2651760"/>
          </a:xfrm>
          <a:prstGeom prst="roundRect">
            <a:avLst>
              <a:gd name="adj" fmla="val 3681"/>
            </a:avLst>
          </a:prstGeom>
          <a:solidFill>
            <a:srgbClr val="1E2761"/>
          </a:solidFill>
          <a:ln/>
        </p:spPr>
      </p:sp>
      <p:sp>
        <p:nvSpPr>
          <p:cNvPr id="29" name="Shape 21"/>
          <p:cNvSpPr/>
          <p:nvPr/>
        </p:nvSpPr>
        <p:spPr>
          <a:xfrm>
            <a:off x="10511028" y="2148840"/>
            <a:ext cx="548640" cy="548640"/>
          </a:xfrm>
          <a:prstGeom prst="ellipse">
            <a:avLst/>
          </a:prstGeom>
          <a:solidFill>
            <a:srgbClr val="F2B705"/>
          </a:solidFill>
          <a:ln/>
        </p:spPr>
      </p:sp>
      <p:pic>
        <p:nvPicPr>
          <p:cNvPr id="30" name="Image 6" descr="/home/claude/shared_icons/icon_users.png">    </p:cNvPr>
          <p:cNvPicPr>
            <a:picLocks noChangeAspect="1"/>
          </p:cNvPicPr>
          <p:nvPr/>
        </p:nvPicPr>
        <p:blipFill>
          <a:blip r:embed="rId7"/>
          <a:stretch>
            <a:fillRect/>
          </a:stretch>
        </p:blipFill>
        <p:spPr>
          <a:xfrm>
            <a:off x="10587838" y="2225650"/>
            <a:ext cx="395021" cy="395021"/>
          </a:xfrm>
          <a:prstGeom prst="rect">
            <a:avLst/>
          </a:prstGeom>
        </p:spPr>
      </p:pic>
      <p:sp>
        <p:nvSpPr>
          <p:cNvPr id="31" name="Text 22"/>
          <p:cNvSpPr txBox="1"/>
          <p:nvPr/>
        </p:nvSpPr>
        <p:spPr>
          <a:xfrm>
            <a:off x="10131552" y="2926080"/>
            <a:ext cx="1307592" cy="1463040"/>
          </a:xfrm>
          <a:prstGeom prst="rect">
            <a:avLst/>
          </a:prstGeom>
          <a:noFill/>
          <a:ln/>
        </p:spPr>
        <p:txBody>
          <a:bodyPr wrap="square" rtlCol="0" anchor="ctr"/>
          <a:lstStyle/>
          <a:p>
            <a:pPr algn="ctr" indent="0" marL="0">
              <a:lnSpc>
                <a:spcPct val="115000"/>
              </a:lnSpc>
              <a:buNone/>
            </a:pPr>
            <a:r>
              <a:rPr lang="en-US" sz="950" b="1" dirty="0">
                <a:solidFill>
                  <a:srgbClr val="FFFFFF"/>
                </a:solidFill>
                <a:latin typeface="Calibri" pitchFamily="34" charset="0"/>
                <a:ea typeface="Calibri" pitchFamily="34" charset="-122"/>
                <a:cs typeface="Calibri" pitchFamily="34" charset="-120"/>
              </a:rPr>
              <a:t>7. Membentangkan Hasil Dapatan</a:t>
            </a:r>
            <a:endParaRPr lang="en-US" sz="950" dirty="0"/>
          </a:p>
        </p:txBody>
      </p:sp>
      <p:sp>
        <p:nvSpPr>
          <p:cNvPr id="32" name="Text 23"/>
          <p:cNvSpPr txBox="1"/>
          <p:nvPr/>
        </p:nvSpPr>
        <p:spPr>
          <a:xfrm>
            <a:off x="548640" y="4846320"/>
            <a:ext cx="11064240" cy="548640"/>
          </a:xfrm>
          <a:prstGeom prst="rect">
            <a:avLst/>
          </a:prstGeom>
          <a:noFill/>
          <a:ln/>
        </p:spPr>
        <p:txBody>
          <a:bodyPr wrap="square" rtlCol="0" anchor="ctr"/>
          <a:lstStyle/>
          <a:p>
            <a:pPr indent="0" marL="0">
              <a:lnSpc>
                <a:spcPct val="120000"/>
              </a:lnSpc>
              <a:buNone/>
            </a:pPr>
            <a:r>
              <a:rPr lang="en-US" sz="1200" i="1" dirty="0">
                <a:solidFill>
                  <a:srgbClr val="5B6472"/>
                </a:solidFill>
                <a:latin typeface="Calibri" pitchFamily="34" charset="0"/>
                <a:ea typeface="Calibri" pitchFamily="34" charset="-122"/>
                <a:cs typeface="Calibri" pitchFamily="34" charset="-120"/>
              </a:rPr>
              <a:t>Berbeza daripada hafalan formula tradisional, pendekatan ini membolehkan murid bertindak sebagai penyelidik yang meneroka data secara kritikal.</a:t>
            </a:r>
            <a:endParaRPr lang="en-US" sz="1200" dirty="0"/>
          </a:p>
        </p:txBody>
      </p:sp>
      <p:sp>
        <p:nvSpPr>
          <p:cNvPr id="33" name="Shape 24"/>
          <p:cNvSpPr/>
          <p:nvPr/>
        </p:nvSpPr>
        <p:spPr>
          <a:xfrm>
            <a:off x="548640" y="5486400"/>
            <a:ext cx="11064240" cy="685800"/>
          </a:xfrm>
          <a:prstGeom prst="roundRect">
            <a:avLst>
              <a:gd name="adj" fmla="val 10667"/>
            </a:avLst>
          </a:prstGeom>
          <a:solidFill>
            <a:srgbClr val="F5F7FC"/>
          </a:solidFill>
          <a:ln w="12700">
            <a:solidFill>
              <a:srgbClr val="E7EAF2"/>
            </a:solidFill>
            <a:prstDash val="solid"/>
          </a:ln>
        </p:spPr>
      </p:sp>
      <p:sp>
        <p:nvSpPr>
          <p:cNvPr id="34" name="Text 25"/>
          <p:cNvSpPr txBox="1"/>
          <p:nvPr/>
        </p:nvSpPr>
        <p:spPr>
          <a:xfrm>
            <a:off x="777240" y="5486400"/>
            <a:ext cx="10607040" cy="685800"/>
          </a:xfrm>
          <a:prstGeom prst="rect">
            <a:avLst/>
          </a:prstGeom>
          <a:noFill/>
          <a:ln/>
        </p:spPr>
        <p:txBody>
          <a:bodyPr wrap="square" rtlCol="0" anchor="ctr"/>
          <a:lstStyle/>
          <a:p>
            <a:pPr indent="0" marL="0">
              <a:buNone/>
            </a:pPr>
            <a:r>
              <a:rPr lang="en-US" sz="1100" i="1" dirty="0">
                <a:solidFill>
                  <a:srgbClr val="141A45"/>
                </a:solidFill>
                <a:latin typeface="Calibri" pitchFamily="34" charset="0"/>
                <a:ea typeface="Calibri" pitchFamily="34" charset="-122"/>
                <a:cs typeface="Calibri" pitchFamily="34" charset="-120"/>
              </a:rPr>
              <a:t>Secara berkumpulan, pilih satu situasi dalam kehidupan harian yang bersesuaian dengan tahap murid menengah rendah dan reka bentuk satu tugasan PBL bagi tajuk Pengendalian Data.</a:t>
            </a:r>
            <a:endParaRPr lang="en-US" sz="1100" dirty="0"/>
          </a:p>
        </p:txBody>
      </p:sp>
      <p:sp>
        <p:nvSpPr>
          <p:cNvPr id="35" name="Text 26"/>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7, m/s 15, 17</a:t>
            </a:r>
            <a:endParaRPr lang="en-US" sz="1000" dirty="0"/>
          </a:p>
        </p:txBody>
      </p:sp>
      <p:sp>
        <p:nvSpPr>
          <p:cNvPr id="36" name="Text 27"/>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7  |  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CONTOH MUDAH DIFAHAMI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Contoh Praktikal: Kajian Perbelanjaan Kantin Sekolah (1/3)</a:t>
            </a:r>
            <a:endParaRPr lang="en-US" sz="2600" dirty="0"/>
          </a:p>
        </p:txBody>
      </p:sp>
      <p:sp>
        <p:nvSpPr>
          <p:cNvPr id="4" name="Shape 2"/>
          <p:cNvSpPr/>
          <p:nvPr/>
        </p:nvSpPr>
        <p:spPr>
          <a:xfrm>
            <a:off x="548640" y="1600200"/>
            <a:ext cx="5349240" cy="4206240"/>
          </a:xfrm>
          <a:prstGeom prst="roundRect">
            <a:avLst>
              <a:gd name="adj" fmla="val 1739"/>
            </a:avLst>
          </a:prstGeom>
          <a:solidFill>
            <a:srgbClr val="F5F7FC"/>
          </a:solidFill>
          <a:ln w="19050">
            <a:solidFill>
              <a:srgbClr val="E0435A"/>
            </a:solidFill>
            <a:prstDash val="solid"/>
          </a:ln>
        </p:spPr>
      </p:sp>
      <p:sp>
        <p:nvSpPr>
          <p:cNvPr id="5" name="Shape 3"/>
          <p:cNvSpPr/>
          <p:nvPr/>
        </p:nvSpPr>
        <p:spPr>
          <a:xfrm>
            <a:off x="777240" y="1783080"/>
            <a:ext cx="640080" cy="640080"/>
          </a:xfrm>
          <a:prstGeom prst="ellipse">
            <a:avLst/>
          </a:prstGeom>
          <a:solidFill>
            <a:srgbClr val="E0435A"/>
          </a:solidFill>
          <a:ln/>
        </p:spPr>
      </p:sp>
      <p:pic>
        <p:nvPicPr>
          <p:cNvPr id="6" name="Image 0" descr="/home/claude/shared_icons/icon_question.png">    </p:cNvPr>
          <p:cNvPicPr>
            <a:picLocks noChangeAspect="1"/>
          </p:cNvPicPr>
          <p:nvPr/>
        </p:nvPicPr>
        <p:blipFill>
          <a:blip r:embed="rId1"/>
          <a:stretch>
            <a:fillRect/>
          </a:stretch>
        </p:blipFill>
        <p:spPr>
          <a:xfrm>
            <a:off x="866851" y="1872691"/>
            <a:ext cx="460858" cy="460858"/>
          </a:xfrm>
          <a:prstGeom prst="rect">
            <a:avLst/>
          </a:prstGeom>
        </p:spPr>
      </p:pic>
      <p:sp>
        <p:nvSpPr>
          <p:cNvPr id="7" name="Text 4"/>
          <p:cNvSpPr txBox="1"/>
          <p:nvPr/>
        </p:nvSpPr>
        <p:spPr>
          <a:xfrm>
            <a:off x="1554480" y="1920240"/>
            <a:ext cx="4206240" cy="548640"/>
          </a:xfrm>
          <a:prstGeom prst="rect">
            <a:avLst/>
          </a:prstGeom>
          <a:noFill/>
          <a:ln/>
        </p:spPr>
        <p:txBody>
          <a:bodyPr wrap="square" rtlCol="0" anchor="t"/>
          <a:lstStyle/>
          <a:p>
            <a:pPr indent="0" marL="0">
              <a:buNone/>
            </a:pPr>
            <a:r>
              <a:rPr lang="en-US" sz="1300" b="1" dirty="0">
                <a:solidFill>
                  <a:srgbClr val="1E2761"/>
                </a:solidFill>
                <a:latin typeface="Cambria" pitchFamily="34" charset="0"/>
                <a:ea typeface="Cambria" pitchFamily="34" charset="-122"/>
                <a:cs typeface="Cambria" pitchFamily="34" charset="-120"/>
              </a:rPr>
              <a:t>Langkah 1: Menjana Soalan Statistik</a:t>
            </a:r>
            <a:endParaRPr lang="en-US" sz="1300" dirty="0"/>
          </a:p>
        </p:txBody>
      </p:sp>
      <p:sp>
        <p:nvSpPr>
          <p:cNvPr id="8" name="Text 5"/>
          <p:cNvSpPr txBox="1"/>
          <p:nvPr/>
        </p:nvSpPr>
        <p:spPr>
          <a:xfrm>
            <a:off x="777240" y="2606040"/>
            <a:ext cx="4937760" cy="1188720"/>
          </a:xfrm>
          <a:prstGeom prst="rect">
            <a:avLst/>
          </a:prstGeom>
          <a:noFill/>
          <a:ln/>
        </p:spPr>
        <p:txBody>
          <a:bodyPr wrap="square" rtlCol="0" anchor="ctr"/>
          <a:lstStyle/>
          <a:p>
            <a:pPr indent="0" marL="0">
              <a:lnSpc>
                <a:spcPct val="125000"/>
              </a:lnSpc>
              <a:buNone/>
            </a:pPr>
            <a:r>
              <a:rPr lang="en-US" sz="1100" dirty="0">
                <a:solidFill>
                  <a:srgbClr val="141A45"/>
                </a:solidFill>
                <a:latin typeface="Calibri" pitchFamily="34" charset="0"/>
                <a:ea typeface="Calibri" pitchFamily="34" charset="-122"/>
                <a:cs typeface="Calibri" pitchFamily="34" charset="-120"/>
              </a:rPr>
              <a:t>Mulakan inkuiri dengan soalan fokus seperti jenis makanan popular, purata perbelanjaan harian, dan perbezaan corak perbelanjaan antara murid lelaki dan perempuan.</a:t>
            </a:r>
            <a:endParaRPr lang="en-US" sz="1100" dirty="0"/>
          </a:p>
        </p:txBody>
      </p:sp>
      <p:sp>
        <p:nvSpPr>
          <p:cNvPr id="9" name="Text 6"/>
          <p:cNvSpPr txBox="1"/>
          <p:nvPr/>
        </p:nvSpPr>
        <p:spPr>
          <a:xfrm>
            <a:off x="777240" y="3931920"/>
            <a:ext cx="4937760" cy="1737360"/>
          </a:xfrm>
          <a:prstGeom prst="rect">
            <a:avLst/>
          </a:prstGeom>
          <a:noFill/>
          <a:ln/>
        </p:spPr>
        <p:txBody>
          <a:bodyPr wrap="square" rtlCol="0" anchor="ctr"/>
          <a:lstStyle/>
          <a:p>
            <a:pPr indent="0" marL="0">
              <a:lnSpc>
                <a:spcPct val="125000"/>
              </a:lnSpc>
              <a:buNone/>
            </a:pPr>
            <a:r>
              <a:rPr lang="en-US" sz="1000" i="1" dirty="0">
                <a:solidFill>
                  <a:srgbClr val="5B6472"/>
                </a:solidFill>
                <a:latin typeface="Calibri" pitchFamily="34" charset="0"/>
                <a:ea typeface="Calibri" pitchFamily="34" charset="-122"/>
                <a:cs typeface="Calibri" pitchFamily="34" charset="-120"/>
              </a:rPr>
              <a:t>Pendidikan Statistik Berasaskan Data Autentik: bimbingan sistematik untuk murid dan guru memahami corak pemakanan dan perbelanjaan di kantin.</a:t>
            </a:r>
            <a:endParaRPr lang="en-US" sz="1000" dirty="0"/>
          </a:p>
        </p:txBody>
      </p:sp>
      <p:sp>
        <p:nvSpPr>
          <p:cNvPr id="10" name="Shape 7"/>
          <p:cNvSpPr/>
          <p:nvPr/>
        </p:nvSpPr>
        <p:spPr>
          <a:xfrm>
            <a:off x="6263640" y="1600200"/>
            <a:ext cx="5349240" cy="4206240"/>
          </a:xfrm>
          <a:prstGeom prst="roundRect">
            <a:avLst>
              <a:gd name="adj" fmla="val 1739"/>
            </a:avLst>
          </a:prstGeom>
          <a:solidFill>
            <a:srgbClr val="F5F7FC"/>
          </a:solidFill>
          <a:ln w="19050">
            <a:solidFill>
              <a:srgbClr val="E0435A"/>
            </a:solidFill>
            <a:prstDash val="solid"/>
          </a:ln>
        </p:spPr>
      </p:sp>
      <p:sp>
        <p:nvSpPr>
          <p:cNvPr id="11" name="Shape 8"/>
          <p:cNvSpPr/>
          <p:nvPr/>
        </p:nvSpPr>
        <p:spPr>
          <a:xfrm>
            <a:off x="6492240" y="1783080"/>
            <a:ext cx="640080" cy="640080"/>
          </a:xfrm>
          <a:prstGeom prst="ellipse">
            <a:avLst/>
          </a:prstGeom>
          <a:solidFill>
            <a:srgbClr val="E0435A"/>
          </a:solidFill>
          <a:ln/>
        </p:spPr>
      </p:sp>
      <p:pic>
        <p:nvPicPr>
          <p:cNvPr id="12" name="Image 1" descr="/home/claude/shared_icons/icon_target.png">    </p:cNvPr>
          <p:cNvPicPr>
            <a:picLocks noChangeAspect="1"/>
          </p:cNvPicPr>
          <p:nvPr/>
        </p:nvPicPr>
        <p:blipFill>
          <a:blip r:embed="rId2"/>
          <a:stretch>
            <a:fillRect/>
          </a:stretch>
        </p:blipFill>
        <p:spPr>
          <a:xfrm>
            <a:off x="6581851" y="1872691"/>
            <a:ext cx="460858" cy="460858"/>
          </a:xfrm>
          <a:prstGeom prst="rect">
            <a:avLst/>
          </a:prstGeom>
        </p:spPr>
      </p:pic>
      <p:sp>
        <p:nvSpPr>
          <p:cNvPr id="13" name="Text 9"/>
          <p:cNvSpPr txBox="1"/>
          <p:nvPr/>
        </p:nvSpPr>
        <p:spPr>
          <a:xfrm>
            <a:off x="7269480" y="1920240"/>
            <a:ext cx="4206240" cy="548640"/>
          </a:xfrm>
          <a:prstGeom prst="rect">
            <a:avLst/>
          </a:prstGeom>
          <a:noFill/>
          <a:ln/>
        </p:spPr>
        <p:txBody>
          <a:bodyPr wrap="square" rtlCol="0" anchor="t"/>
          <a:lstStyle/>
          <a:p>
            <a:pPr indent="0" marL="0">
              <a:buNone/>
            </a:pPr>
            <a:r>
              <a:rPr lang="en-US" sz="1300" b="1" dirty="0">
                <a:solidFill>
                  <a:srgbClr val="1E2761"/>
                </a:solidFill>
                <a:latin typeface="Cambria" pitchFamily="34" charset="0"/>
                <a:ea typeface="Cambria" pitchFamily="34" charset="-122"/>
                <a:cs typeface="Cambria" pitchFamily="34" charset="-120"/>
              </a:rPr>
              <a:t>Langkah 2: Merancang Pengumpulan Data</a:t>
            </a:r>
            <a:endParaRPr lang="en-US" sz="1300" dirty="0"/>
          </a:p>
        </p:txBody>
      </p:sp>
      <p:sp>
        <p:nvSpPr>
          <p:cNvPr id="14" name="Text 10"/>
          <p:cNvSpPr txBox="1"/>
          <p:nvPr/>
        </p:nvSpPr>
        <p:spPr>
          <a:xfrm>
            <a:off x="6492240" y="2606040"/>
            <a:ext cx="4937760" cy="1188720"/>
          </a:xfrm>
          <a:prstGeom prst="rect">
            <a:avLst/>
          </a:prstGeom>
          <a:noFill/>
          <a:ln/>
        </p:spPr>
        <p:txBody>
          <a:bodyPr wrap="square" rtlCol="0" anchor="ctr"/>
          <a:lstStyle/>
          <a:p>
            <a:pPr indent="0" marL="0">
              <a:lnSpc>
                <a:spcPct val="125000"/>
              </a:lnSpc>
              <a:buNone/>
            </a:pPr>
            <a:r>
              <a:rPr lang="en-US" sz="1100" dirty="0">
                <a:solidFill>
                  <a:srgbClr val="141A45"/>
                </a:solidFill>
                <a:latin typeface="Calibri" pitchFamily="34" charset="0"/>
                <a:ea typeface="Calibri" pitchFamily="34" charset="-122"/>
                <a:cs typeface="Calibri" pitchFamily="34" charset="-120"/>
              </a:rPr>
              <a:t>Menentukan kaedah seperti Google Form atau temu bual, saiz sampel serta jenis data yang diperlukan (cth. kategori makanan dan jumlah perbelanjaan).</a:t>
            </a:r>
            <a:endParaRPr lang="en-US" sz="1100" dirty="0"/>
          </a:p>
        </p:txBody>
      </p:sp>
      <p:sp>
        <p:nvSpPr>
          <p:cNvPr id="15" name="Text 11"/>
          <p:cNvSpPr txBox="1"/>
          <p:nvPr/>
        </p:nvSpPr>
        <p:spPr>
          <a:xfrm>
            <a:off x="6675120" y="3931920"/>
            <a:ext cx="4754880" cy="1737360"/>
          </a:xfrm>
          <a:prstGeom prst="rect">
            <a:avLst/>
          </a:prstGeom>
          <a:noFill/>
          <a:ln/>
        </p:spPr>
        <p:txBody>
          <a:bodyPr wrap="square" rtlCol="0" anchor="t"/>
          <a:lstStyle/>
          <a:p>
            <a:pPr marL="228600" indent="-228600">
              <a:spcAft>
                <a:spcPts val="600"/>
              </a:spcAft>
              <a:buSzPct val="100000"/>
              <a:buChar char="▪"/>
            </a:pPr>
            <a:r>
              <a:rPr lang="en-US" sz="1050" dirty="0">
                <a:solidFill>
                  <a:srgbClr val="141A45"/>
                </a:solidFill>
                <a:latin typeface="Calibri" pitchFamily="34" charset="0"/>
                <a:ea typeface="Calibri" pitchFamily="34" charset="-122"/>
                <a:cs typeface="Calibri" pitchFamily="34" charset="-120"/>
              </a:rPr>
              <a:t>Kaedah: Google Form / Temu Bual</a:t>
            </a:r>
            <a:endParaRPr lang="en-US" sz="1050" dirty="0"/>
          </a:p>
          <a:p>
            <a:pPr marL="228600" indent="-228600">
              <a:spcAft>
                <a:spcPts val="600"/>
              </a:spcAft>
              <a:buSzPct val="100000"/>
              <a:buChar char="▪"/>
            </a:pPr>
            <a:r>
              <a:rPr lang="en-US" sz="1050" dirty="0">
                <a:solidFill>
                  <a:srgbClr val="141A45"/>
                </a:solidFill>
                <a:latin typeface="Calibri" pitchFamily="34" charset="0"/>
                <a:ea typeface="Calibri" pitchFamily="34" charset="-122"/>
                <a:cs typeface="Calibri" pitchFamily="34" charset="-120"/>
              </a:rPr>
              <a:t>Saiz sampel: H = 100</a:t>
            </a:r>
            <a:endParaRPr lang="en-US" sz="1050" dirty="0"/>
          </a:p>
          <a:p>
            <a:pPr marL="228600" indent="-228600">
              <a:spcAft>
                <a:spcPts val="600"/>
              </a:spcAft>
              <a:buSzPct val="100000"/>
              <a:buChar char="▪"/>
            </a:pPr>
            <a:r>
              <a:rPr lang="en-US" sz="1050" dirty="0">
                <a:solidFill>
                  <a:srgbClr val="141A45"/>
                </a:solidFill>
                <a:latin typeface="Calibri" pitchFamily="34" charset="0"/>
                <a:ea typeface="Calibri" pitchFamily="34" charset="-122"/>
                <a:cs typeface="Calibri" pitchFamily="34" charset="-120"/>
              </a:rPr>
              <a:t>Rekod: Jenis Makanan &amp; Jumlah (RM)</a:t>
            </a:r>
            <a:endParaRPr lang="en-US" sz="1050" dirty="0"/>
          </a:p>
        </p:txBody>
      </p:sp>
      <p:sp>
        <p:nvSpPr>
          <p:cNvPr id="16" name="Text 12"/>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7, m/s 17</a:t>
            </a:r>
            <a:endParaRPr lang="en-US" sz="1000" dirty="0"/>
          </a:p>
        </p:txBody>
      </p:sp>
      <p:sp>
        <p:nvSpPr>
          <p:cNvPr id="17" name="Text 13"/>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7  |  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CONTOH MUDAH DIFAHAMI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Contoh Praktikal: Kajian Perbelanjaan Kantin Sekolah (2/3)</a:t>
            </a:r>
            <a:endParaRPr lang="en-US" sz="2600" dirty="0"/>
          </a:p>
        </p:txBody>
      </p:sp>
      <p:sp>
        <p:nvSpPr>
          <p:cNvPr id="4" name="Shape 2"/>
          <p:cNvSpPr/>
          <p:nvPr/>
        </p:nvSpPr>
        <p:spPr>
          <a:xfrm>
            <a:off x="548640" y="1600200"/>
            <a:ext cx="5349240" cy="4206240"/>
          </a:xfrm>
          <a:prstGeom prst="roundRect">
            <a:avLst>
              <a:gd name="adj" fmla="val 1739"/>
            </a:avLst>
          </a:prstGeom>
          <a:solidFill>
            <a:srgbClr val="F5F7FC"/>
          </a:solidFill>
          <a:ln w="19050">
            <a:solidFill>
              <a:srgbClr val="E0435A"/>
            </a:solidFill>
            <a:prstDash val="solid"/>
          </a:ln>
        </p:spPr>
      </p:sp>
      <p:sp>
        <p:nvSpPr>
          <p:cNvPr id="5" name="Shape 3"/>
          <p:cNvSpPr/>
          <p:nvPr/>
        </p:nvSpPr>
        <p:spPr>
          <a:xfrm>
            <a:off x="777240" y="1783080"/>
            <a:ext cx="640080" cy="640080"/>
          </a:xfrm>
          <a:prstGeom prst="ellipse">
            <a:avLst/>
          </a:prstGeom>
          <a:solidFill>
            <a:srgbClr val="E0435A"/>
          </a:solidFill>
          <a:ln/>
        </p:spPr>
      </p:sp>
      <p:pic>
        <p:nvPicPr>
          <p:cNvPr id="6" name="Image 0" descr="/home/claude/shared_icons/icon_clipboard.png">    </p:cNvPr>
          <p:cNvPicPr>
            <a:picLocks noChangeAspect="1"/>
          </p:cNvPicPr>
          <p:nvPr/>
        </p:nvPicPr>
        <p:blipFill>
          <a:blip r:embed="rId1"/>
          <a:stretch>
            <a:fillRect/>
          </a:stretch>
        </p:blipFill>
        <p:spPr>
          <a:xfrm>
            <a:off x="866851" y="1872691"/>
            <a:ext cx="460858" cy="460858"/>
          </a:xfrm>
          <a:prstGeom prst="rect">
            <a:avLst/>
          </a:prstGeom>
        </p:spPr>
      </p:pic>
      <p:sp>
        <p:nvSpPr>
          <p:cNvPr id="7" name="Text 4"/>
          <p:cNvSpPr txBox="1"/>
          <p:nvPr/>
        </p:nvSpPr>
        <p:spPr>
          <a:xfrm>
            <a:off x="1554480" y="1920240"/>
            <a:ext cx="4206240" cy="548640"/>
          </a:xfrm>
          <a:prstGeom prst="rect">
            <a:avLst/>
          </a:prstGeom>
          <a:noFill/>
          <a:ln/>
        </p:spPr>
        <p:txBody>
          <a:bodyPr wrap="square" rtlCol="0" anchor="t"/>
          <a:lstStyle/>
          <a:p>
            <a:pPr indent="0" marL="0">
              <a:buNone/>
            </a:pPr>
            <a:r>
              <a:rPr lang="en-US" sz="1300" b="1" dirty="0">
                <a:solidFill>
                  <a:srgbClr val="1E2761"/>
                </a:solidFill>
                <a:latin typeface="Cambria" pitchFamily="34" charset="0"/>
                <a:ea typeface="Cambria" pitchFamily="34" charset="-122"/>
                <a:cs typeface="Cambria" pitchFamily="34" charset="-120"/>
              </a:rPr>
              <a:t>Langkah 3: Mengumpul &amp; Mengurus Data</a:t>
            </a:r>
            <a:endParaRPr lang="en-US" sz="1300" dirty="0"/>
          </a:p>
        </p:txBody>
      </p:sp>
      <p:sp>
        <p:nvSpPr>
          <p:cNvPr id="8" name="Text 5"/>
          <p:cNvSpPr txBox="1"/>
          <p:nvPr/>
        </p:nvSpPr>
        <p:spPr>
          <a:xfrm>
            <a:off x="777240" y="2606040"/>
            <a:ext cx="4937760" cy="1371600"/>
          </a:xfrm>
          <a:prstGeom prst="rect">
            <a:avLst/>
          </a:prstGeom>
          <a:noFill/>
          <a:ln/>
        </p:spPr>
        <p:txBody>
          <a:bodyPr wrap="square" rtlCol="0" anchor="ctr"/>
          <a:lstStyle/>
          <a:p>
            <a:pPr indent="0" marL="0">
              <a:lnSpc>
                <a:spcPct val="125000"/>
              </a:lnSpc>
              <a:buNone/>
            </a:pPr>
            <a:r>
              <a:rPr lang="en-US" sz="1100" dirty="0">
                <a:solidFill>
                  <a:srgbClr val="141A45"/>
                </a:solidFill>
                <a:latin typeface="Calibri" pitchFamily="34" charset="0"/>
                <a:ea typeface="Calibri" pitchFamily="34" charset="-122"/>
                <a:cs typeface="Calibri" pitchFamily="34" charset="-120"/>
              </a:rPr>
              <a:t>Mengumpul data mentah, menyemak ketepatan, dan mengklasifikasikan data kepada data kategori (jenis makanan) atau data numerik (jumlah wang) dalam jadual.</a:t>
            </a:r>
            <a:endParaRPr lang="en-US" sz="1100" dirty="0"/>
          </a:p>
        </p:txBody>
      </p:sp>
      <p:sp>
        <p:nvSpPr>
          <p:cNvPr id="9" name="Shape 6"/>
          <p:cNvSpPr/>
          <p:nvPr/>
        </p:nvSpPr>
        <p:spPr>
          <a:xfrm>
            <a:off x="777240" y="4114800"/>
            <a:ext cx="4937760" cy="365760"/>
          </a:xfrm>
          <a:prstGeom prst="rect">
            <a:avLst/>
          </a:prstGeom>
          <a:solidFill>
            <a:srgbClr val="1E2761"/>
          </a:solidFill>
          <a:ln w="6350">
            <a:solidFill>
              <a:srgbClr val="E7EAF2"/>
            </a:solidFill>
            <a:prstDash val="solid"/>
          </a:ln>
        </p:spPr>
      </p:sp>
      <p:sp>
        <p:nvSpPr>
          <p:cNvPr id="10" name="Text 7"/>
          <p:cNvSpPr txBox="1"/>
          <p:nvPr/>
        </p:nvSpPr>
        <p:spPr>
          <a:xfrm>
            <a:off x="822960" y="4114800"/>
            <a:ext cx="1554480" cy="365760"/>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Jenis Data</a:t>
            </a:r>
            <a:endParaRPr lang="en-US" sz="950" dirty="0"/>
          </a:p>
        </p:txBody>
      </p:sp>
      <p:sp>
        <p:nvSpPr>
          <p:cNvPr id="11" name="Text 8"/>
          <p:cNvSpPr txBox="1"/>
          <p:nvPr/>
        </p:nvSpPr>
        <p:spPr>
          <a:xfrm>
            <a:off x="2423160" y="4114800"/>
            <a:ext cx="1920240" cy="365760"/>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Contoh Data</a:t>
            </a:r>
            <a:endParaRPr lang="en-US" sz="950" dirty="0"/>
          </a:p>
        </p:txBody>
      </p:sp>
      <p:sp>
        <p:nvSpPr>
          <p:cNvPr id="12" name="Text 9"/>
          <p:cNvSpPr txBox="1"/>
          <p:nvPr/>
        </p:nvSpPr>
        <p:spPr>
          <a:xfrm>
            <a:off x="4389120" y="4114800"/>
            <a:ext cx="1280160" cy="365760"/>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Perwakilan</a:t>
            </a:r>
            <a:endParaRPr lang="en-US" sz="950" dirty="0"/>
          </a:p>
        </p:txBody>
      </p:sp>
      <p:sp>
        <p:nvSpPr>
          <p:cNvPr id="13" name="Shape 10"/>
          <p:cNvSpPr/>
          <p:nvPr/>
        </p:nvSpPr>
        <p:spPr>
          <a:xfrm>
            <a:off x="777240" y="4480560"/>
            <a:ext cx="4937760" cy="365760"/>
          </a:xfrm>
          <a:prstGeom prst="rect">
            <a:avLst/>
          </a:prstGeom>
          <a:solidFill>
            <a:srgbClr val="FFFFFF"/>
          </a:solidFill>
          <a:ln w="6350">
            <a:solidFill>
              <a:srgbClr val="E7EAF2"/>
            </a:solidFill>
            <a:prstDash val="solid"/>
          </a:ln>
        </p:spPr>
      </p:sp>
      <p:sp>
        <p:nvSpPr>
          <p:cNvPr id="14" name="Text 11"/>
          <p:cNvSpPr txBox="1"/>
          <p:nvPr/>
        </p:nvSpPr>
        <p:spPr>
          <a:xfrm>
            <a:off x="822960" y="4480560"/>
            <a:ext cx="1554480" cy="365760"/>
          </a:xfrm>
          <a:prstGeom prst="rect">
            <a:avLst/>
          </a:prstGeom>
          <a:noFill/>
          <a:ln/>
        </p:spPr>
        <p:txBody>
          <a:bodyPr wrap="square" rtlCol="0" anchor="ctr"/>
          <a:lstStyle/>
          <a:p>
            <a:pPr indent="0" marL="0">
              <a:buNone/>
            </a:pPr>
            <a:r>
              <a:rPr lang="en-US" sz="950" dirty="0">
                <a:solidFill>
                  <a:srgbClr val="141A45"/>
                </a:solidFill>
                <a:latin typeface="Calibri" pitchFamily="34" charset="0"/>
                <a:ea typeface="Calibri" pitchFamily="34" charset="-122"/>
                <a:cs typeface="Calibri" pitchFamily="34" charset="-120"/>
              </a:rPr>
              <a:t>Data Kategori</a:t>
            </a:r>
            <a:endParaRPr lang="en-US" sz="950" dirty="0"/>
          </a:p>
        </p:txBody>
      </p:sp>
      <p:sp>
        <p:nvSpPr>
          <p:cNvPr id="15" name="Text 12"/>
          <p:cNvSpPr txBox="1"/>
          <p:nvPr/>
        </p:nvSpPr>
        <p:spPr>
          <a:xfrm>
            <a:off x="2423160" y="4480560"/>
            <a:ext cx="1920240" cy="365760"/>
          </a:xfrm>
          <a:prstGeom prst="rect">
            <a:avLst/>
          </a:prstGeom>
          <a:noFill/>
          <a:ln/>
        </p:spPr>
        <p:txBody>
          <a:bodyPr wrap="square" rtlCol="0" anchor="ctr"/>
          <a:lstStyle/>
          <a:p>
            <a:pPr indent="0" marL="0">
              <a:buNone/>
            </a:pPr>
            <a:r>
              <a:rPr lang="en-US" sz="950" dirty="0">
                <a:solidFill>
                  <a:srgbClr val="141A45"/>
                </a:solidFill>
                <a:latin typeface="Calibri" pitchFamily="34" charset="0"/>
                <a:ea typeface="Calibri" pitchFamily="34" charset="-122"/>
                <a:cs typeface="Calibri" pitchFamily="34" charset="-120"/>
              </a:rPr>
              <a:t>Jenis Makanan/Minuman</a:t>
            </a:r>
            <a:endParaRPr lang="en-US" sz="950" dirty="0"/>
          </a:p>
        </p:txBody>
      </p:sp>
      <p:sp>
        <p:nvSpPr>
          <p:cNvPr id="16" name="Text 13"/>
          <p:cNvSpPr txBox="1"/>
          <p:nvPr/>
        </p:nvSpPr>
        <p:spPr>
          <a:xfrm>
            <a:off x="4389120" y="4480560"/>
            <a:ext cx="1280160" cy="365760"/>
          </a:xfrm>
          <a:prstGeom prst="rect">
            <a:avLst/>
          </a:prstGeom>
          <a:noFill/>
          <a:ln/>
        </p:spPr>
        <p:txBody>
          <a:bodyPr wrap="square" rtlCol="0" anchor="ctr"/>
          <a:lstStyle/>
          <a:p>
            <a:pPr indent="0" marL="0">
              <a:buNone/>
            </a:pPr>
            <a:r>
              <a:rPr lang="en-US" sz="950" dirty="0">
                <a:solidFill>
                  <a:srgbClr val="141A45"/>
                </a:solidFill>
                <a:latin typeface="Calibri" pitchFamily="34" charset="0"/>
                <a:ea typeface="Calibri" pitchFamily="34" charset="-122"/>
                <a:cs typeface="Calibri" pitchFamily="34" charset="-120"/>
              </a:rPr>
              <a:t>Carta Palang</a:t>
            </a:r>
            <a:endParaRPr lang="en-US" sz="950" dirty="0"/>
          </a:p>
        </p:txBody>
      </p:sp>
      <p:sp>
        <p:nvSpPr>
          <p:cNvPr id="17" name="Shape 14"/>
          <p:cNvSpPr/>
          <p:nvPr/>
        </p:nvSpPr>
        <p:spPr>
          <a:xfrm>
            <a:off x="777240" y="4846320"/>
            <a:ext cx="4937760" cy="365760"/>
          </a:xfrm>
          <a:prstGeom prst="rect">
            <a:avLst/>
          </a:prstGeom>
          <a:solidFill>
            <a:srgbClr val="FFFFFF"/>
          </a:solidFill>
          <a:ln w="6350">
            <a:solidFill>
              <a:srgbClr val="E7EAF2"/>
            </a:solidFill>
            <a:prstDash val="solid"/>
          </a:ln>
        </p:spPr>
      </p:sp>
      <p:sp>
        <p:nvSpPr>
          <p:cNvPr id="18" name="Text 15"/>
          <p:cNvSpPr txBox="1"/>
          <p:nvPr/>
        </p:nvSpPr>
        <p:spPr>
          <a:xfrm>
            <a:off x="822960" y="4846320"/>
            <a:ext cx="1554480" cy="365760"/>
          </a:xfrm>
          <a:prstGeom prst="rect">
            <a:avLst/>
          </a:prstGeom>
          <a:noFill/>
          <a:ln/>
        </p:spPr>
        <p:txBody>
          <a:bodyPr wrap="square" rtlCol="0" anchor="ctr"/>
          <a:lstStyle/>
          <a:p>
            <a:pPr indent="0" marL="0">
              <a:buNone/>
            </a:pPr>
            <a:r>
              <a:rPr lang="en-US" sz="950" dirty="0">
                <a:solidFill>
                  <a:srgbClr val="141A45"/>
                </a:solidFill>
                <a:latin typeface="Calibri" pitchFamily="34" charset="0"/>
                <a:ea typeface="Calibri" pitchFamily="34" charset="-122"/>
                <a:cs typeface="Calibri" pitchFamily="34" charset="-120"/>
              </a:rPr>
              <a:t>Data Numerik</a:t>
            </a:r>
            <a:endParaRPr lang="en-US" sz="950" dirty="0"/>
          </a:p>
        </p:txBody>
      </p:sp>
      <p:sp>
        <p:nvSpPr>
          <p:cNvPr id="19" name="Text 16"/>
          <p:cNvSpPr txBox="1"/>
          <p:nvPr/>
        </p:nvSpPr>
        <p:spPr>
          <a:xfrm>
            <a:off x="2423160" y="4846320"/>
            <a:ext cx="1920240" cy="365760"/>
          </a:xfrm>
          <a:prstGeom prst="rect">
            <a:avLst/>
          </a:prstGeom>
          <a:noFill/>
          <a:ln/>
        </p:spPr>
        <p:txBody>
          <a:bodyPr wrap="square" rtlCol="0" anchor="ctr"/>
          <a:lstStyle/>
          <a:p>
            <a:pPr indent="0" marL="0">
              <a:buNone/>
            </a:pPr>
            <a:r>
              <a:rPr lang="en-US" sz="950" dirty="0">
                <a:solidFill>
                  <a:srgbClr val="141A45"/>
                </a:solidFill>
                <a:latin typeface="Calibri" pitchFamily="34" charset="0"/>
                <a:ea typeface="Calibri" pitchFamily="34" charset="-122"/>
                <a:cs typeface="Calibri" pitchFamily="34" charset="-120"/>
              </a:rPr>
              <a:t>Jumlah Perbelanjaan (RM)</a:t>
            </a:r>
            <a:endParaRPr lang="en-US" sz="950" dirty="0"/>
          </a:p>
        </p:txBody>
      </p:sp>
      <p:sp>
        <p:nvSpPr>
          <p:cNvPr id="20" name="Text 17"/>
          <p:cNvSpPr txBox="1"/>
          <p:nvPr/>
        </p:nvSpPr>
        <p:spPr>
          <a:xfrm>
            <a:off x="4389120" y="4846320"/>
            <a:ext cx="1280160" cy="365760"/>
          </a:xfrm>
          <a:prstGeom prst="rect">
            <a:avLst/>
          </a:prstGeom>
          <a:noFill/>
          <a:ln/>
        </p:spPr>
        <p:txBody>
          <a:bodyPr wrap="square" rtlCol="0" anchor="ctr"/>
          <a:lstStyle/>
          <a:p>
            <a:pPr indent="0" marL="0">
              <a:buNone/>
            </a:pPr>
            <a:r>
              <a:rPr lang="en-US" sz="950" dirty="0">
                <a:solidFill>
                  <a:srgbClr val="141A45"/>
                </a:solidFill>
                <a:latin typeface="Calibri" pitchFamily="34" charset="0"/>
                <a:ea typeface="Calibri" pitchFamily="34" charset="-122"/>
                <a:cs typeface="Calibri" pitchFamily="34" charset="-120"/>
              </a:rPr>
              <a:t>Plot Titik</a:t>
            </a:r>
            <a:endParaRPr lang="en-US" sz="950" dirty="0"/>
          </a:p>
        </p:txBody>
      </p:sp>
      <p:sp>
        <p:nvSpPr>
          <p:cNvPr id="21" name="Shape 18"/>
          <p:cNvSpPr/>
          <p:nvPr/>
        </p:nvSpPr>
        <p:spPr>
          <a:xfrm>
            <a:off x="6263640" y="1600200"/>
            <a:ext cx="5349240" cy="4206240"/>
          </a:xfrm>
          <a:prstGeom prst="roundRect">
            <a:avLst>
              <a:gd name="adj" fmla="val 1739"/>
            </a:avLst>
          </a:prstGeom>
          <a:solidFill>
            <a:srgbClr val="F5F7FC"/>
          </a:solidFill>
          <a:ln w="19050">
            <a:solidFill>
              <a:srgbClr val="E0435A"/>
            </a:solidFill>
            <a:prstDash val="solid"/>
          </a:ln>
        </p:spPr>
      </p:sp>
      <p:sp>
        <p:nvSpPr>
          <p:cNvPr id="22" name="Shape 19"/>
          <p:cNvSpPr/>
          <p:nvPr/>
        </p:nvSpPr>
        <p:spPr>
          <a:xfrm>
            <a:off x="6492240" y="1783080"/>
            <a:ext cx="640080" cy="640080"/>
          </a:xfrm>
          <a:prstGeom prst="ellipse">
            <a:avLst/>
          </a:prstGeom>
          <a:solidFill>
            <a:srgbClr val="E0435A"/>
          </a:solidFill>
          <a:ln/>
        </p:spPr>
      </p:sp>
      <p:pic>
        <p:nvPicPr>
          <p:cNvPr id="23" name="Image 1" descr="/home/claude/shared_icons/icon_chart.png">    </p:cNvPr>
          <p:cNvPicPr>
            <a:picLocks noChangeAspect="1"/>
          </p:cNvPicPr>
          <p:nvPr/>
        </p:nvPicPr>
        <p:blipFill>
          <a:blip r:embed="rId2"/>
          <a:stretch>
            <a:fillRect/>
          </a:stretch>
        </p:blipFill>
        <p:spPr>
          <a:xfrm>
            <a:off x="6581851" y="1872691"/>
            <a:ext cx="460858" cy="460858"/>
          </a:xfrm>
          <a:prstGeom prst="rect">
            <a:avLst/>
          </a:prstGeom>
        </p:spPr>
      </p:pic>
      <p:sp>
        <p:nvSpPr>
          <p:cNvPr id="24" name="Text 20"/>
          <p:cNvSpPr txBox="1"/>
          <p:nvPr/>
        </p:nvSpPr>
        <p:spPr>
          <a:xfrm>
            <a:off x="7269480" y="1920240"/>
            <a:ext cx="4206240" cy="548640"/>
          </a:xfrm>
          <a:prstGeom prst="rect">
            <a:avLst/>
          </a:prstGeom>
          <a:noFill/>
          <a:ln/>
        </p:spPr>
        <p:txBody>
          <a:bodyPr wrap="square" rtlCol="0" anchor="t"/>
          <a:lstStyle/>
          <a:p>
            <a:pPr indent="0" marL="0">
              <a:buNone/>
            </a:pPr>
            <a:r>
              <a:rPr lang="en-US" sz="1300" b="1" dirty="0">
                <a:solidFill>
                  <a:srgbClr val="1E2761"/>
                </a:solidFill>
                <a:latin typeface="Cambria" pitchFamily="34" charset="0"/>
                <a:ea typeface="Cambria" pitchFamily="34" charset="-122"/>
                <a:cs typeface="Cambria" pitchFamily="34" charset="-120"/>
              </a:rPr>
              <a:t>Langkah 4: Menganalisis Data</a:t>
            </a:r>
            <a:endParaRPr lang="en-US" sz="1300" dirty="0"/>
          </a:p>
        </p:txBody>
      </p:sp>
      <p:sp>
        <p:nvSpPr>
          <p:cNvPr id="25" name="Text 21"/>
          <p:cNvSpPr txBox="1"/>
          <p:nvPr/>
        </p:nvSpPr>
        <p:spPr>
          <a:xfrm>
            <a:off x="6492240" y="2606040"/>
            <a:ext cx="4937760" cy="1188720"/>
          </a:xfrm>
          <a:prstGeom prst="rect">
            <a:avLst/>
          </a:prstGeom>
          <a:noFill/>
          <a:ln/>
        </p:spPr>
        <p:txBody>
          <a:bodyPr wrap="square" rtlCol="0" anchor="ctr"/>
          <a:lstStyle/>
          <a:p>
            <a:pPr indent="0" marL="0">
              <a:lnSpc>
                <a:spcPct val="125000"/>
              </a:lnSpc>
              <a:buNone/>
            </a:pPr>
            <a:r>
              <a:rPr lang="en-US" sz="1100" dirty="0">
                <a:solidFill>
                  <a:srgbClr val="141A45"/>
                </a:solidFill>
                <a:latin typeface="Calibri" pitchFamily="34" charset="0"/>
                <a:ea typeface="Calibri" pitchFamily="34" charset="-122"/>
                <a:cs typeface="Calibri" pitchFamily="34" charset="-120"/>
              </a:rPr>
              <a:t>Membina jadual kekerapan dan perwakilan data seperti carta palang atau histogram. Kira ukuran kecenderungan memusat untuk memahami trend data.</a:t>
            </a:r>
            <a:endParaRPr lang="en-US" sz="1100" dirty="0"/>
          </a:p>
        </p:txBody>
      </p:sp>
      <p:sp>
        <p:nvSpPr>
          <p:cNvPr id="26" name="Shape 22"/>
          <p:cNvSpPr/>
          <p:nvPr/>
        </p:nvSpPr>
        <p:spPr>
          <a:xfrm>
            <a:off x="6675120" y="3931920"/>
            <a:ext cx="1417320" cy="822960"/>
          </a:xfrm>
          <a:prstGeom prst="roundRect">
            <a:avLst>
              <a:gd name="adj" fmla="val 6667"/>
            </a:avLst>
          </a:prstGeom>
          <a:solidFill>
            <a:srgbClr val="1E2761"/>
          </a:solidFill>
          <a:ln/>
        </p:spPr>
      </p:sp>
      <p:sp>
        <p:nvSpPr>
          <p:cNvPr id="27" name="Text 23"/>
          <p:cNvSpPr txBox="1"/>
          <p:nvPr/>
        </p:nvSpPr>
        <p:spPr>
          <a:xfrm>
            <a:off x="6675120" y="3931920"/>
            <a:ext cx="1417320" cy="822960"/>
          </a:xfrm>
          <a:prstGeom prst="rect">
            <a:avLst/>
          </a:prstGeom>
          <a:noFill/>
          <a:ln/>
        </p:spPr>
        <p:txBody>
          <a:bodyPr wrap="square" rtlCol="0" anchor="ctr"/>
          <a:lstStyle/>
          <a:p>
            <a:pPr algn="ctr" indent="0" marL="0">
              <a:buNone/>
            </a:pPr>
            <a:r>
              <a:rPr lang="en-US" sz="1300" b="1" dirty="0">
                <a:solidFill>
                  <a:srgbClr val="F2B705"/>
                </a:solidFill>
                <a:latin typeface="Cambria" pitchFamily="34" charset="0"/>
                <a:ea typeface="Cambria" pitchFamily="34" charset="-122"/>
                <a:cs typeface="Cambria" pitchFamily="34" charset="-120"/>
              </a:rPr>
              <a:t>Min</a:t>
            </a:r>
            <a:endParaRPr lang="en-US" sz="1300" dirty="0"/>
          </a:p>
        </p:txBody>
      </p:sp>
      <p:sp>
        <p:nvSpPr>
          <p:cNvPr id="28" name="Shape 24"/>
          <p:cNvSpPr/>
          <p:nvPr/>
        </p:nvSpPr>
        <p:spPr>
          <a:xfrm>
            <a:off x="8275320" y="3931920"/>
            <a:ext cx="1417320" cy="822960"/>
          </a:xfrm>
          <a:prstGeom prst="roundRect">
            <a:avLst>
              <a:gd name="adj" fmla="val 6667"/>
            </a:avLst>
          </a:prstGeom>
          <a:solidFill>
            <a:srgbClr val="1E2761"/>
          </a:solidFill>
          <a:ln/>
        </p:spPr>
      </p:sp>
      <p:sp>
        <p:nvSpPr>
          <p:cNvPr id="29" name="Text 25"/>
          <p:cNvSpPr txBox="1"/>
          <p:nvPr/>
        </p:nvSpPr>
        <p:spPr>
          <a:xfrm>
            <a:off x="8275320" y="3931920"/>
            <a:ext cx="1417320" cy="822960"/>
          </a:xfrm>
          <a:prstGeom prst="rect">
            <a:avLst/>
          </a:prstGeom>
          <a:noFill/>
          <a:ln/>
        </p:spPr>
        <p:txBody>
          <a:bodyPr wrap="square" rtlCol="0" anchor="ctr"/>
          <a:lstStyle/>
          <a:p>
            <a:pPr algn="ctr" indent="0" marL="0">
              <a:buNone/>
            </a:pPr>
            <a:r>
              <a:rPr lang="en-US" sz="1300" b="1" dirty="0">
                <a:solidFill>
                  <a:srgbClr val="F2B705"/>
                </a:solidFill>
                <a:latin typeface="Cambria" pitchFamily="34" charset="0"/>
                <a:ea typeface="Cambria" pitchFamily="34" charset="-122"/>
                <a:cs typeface="Cambria" pitchFamily="34" charset="-120"/>
              </a:rPr>
              <a:t>Median</a:t>
            </a:r>
            <a:endParaRPr lang="en-US" sz="1300" dirty="0"/>
          </a:p>
        </p:txBody>
      </p:sp>
      <p:sp>
        <p:nvSpPr>
          <p:cNvPr id="30" name="Shape 26"/>
          <p:cNvSpPr/>
          <p:nvPr/>
        </p:nvSpPr>
        <p:spPr>
          <a:xfrm>
            <a:off x="9875520" y="3931920"/>
            <a:ext cx="1417320" cy="822960"/>
          </a:xfrm>
          <a:prstGeom prst="roundRect">
            <a:avLst>
              <a:gd name="adj" fmla="val 6667"/>
            </a:avLst>
          </a:prstGeom>
          <a:solidFill>
            <a:srgbClr val="1E2761"/>
          </a:solidFill>
          <a:ln/>
        </p:spPr>
      </p:sp>
      <p:sp>
        <p:nvSpPr>
          <p:cNvPr id="31" name="Text 27"/>
          <p:cNvSpPr txBox="1"/>
          <p:nvPr/>
        </p:nvSpPr>
        <p:spPr>
          <a:xfrm>
            <a:off x="9875520" y="3931920"/>
            <a:ext cx="1417320" cy="822960"/>
          </a:xfrm>
          <a:prstGeom prst="rect">
            <a:avLst/>
          </a:prstGeom>
          <a:noFill/>
          <a:ln/>
        </p:spPr>
        <p:txBody>
          <a:bodyPr wrap="square" rtlCol="0" anchor="ctr"/>
          <a:lstStyle/>
          <a:p>
            <a:pPr algn="ctr" indent="0" marL="0">
              <a:buNone/>
            </a:pPr>
            <a:r>
              <a:rPr lang="en-US" sz="1300" b="1" dirty="0">
                <a:solidFill>
                  <a:srgbClr val="F2B705"/>
                </a:solidFill>
                <a:latin typeface="Cambria" pitchFamily="34" charset="0"/>
                <a:ea typeface="Cambria" pitchFamily="34" charset="-122"/>
                <a:cs typeface="Cambria" pitchFamily="34" charset="-120"/>
              </a:rPr>
              <a:t>Mod</a:t>
            </a:r>
            <a:endParaRPr lang="en-US" sz="1300" dirty="0"/>
          </a:p>
        </p:txBody>
      </p:sp>
      <p:sp>
        <p:nvSpPr>
          <p:cNvPr id="32" name="Text 28"/>
          <p:cNvSpPr txBox="1"/>
          <p:nvPr/>
        </p:nvSpPr>
        <p:spPr>
          <a:xfrm>
            <a:off x="6492240" y="4937760"/>
            <a:ext cx="4937760" cy="731520"/>
          </a:xfrm>
          <a:prstGeom prst="rect">
            <a:avLst/>
          </a:prstGeom>
          <a:noFill/>
          <a:ln/>
        </p:spPr>
        <p:txBody>
          <a:bodyPr wrap="square" rtlCol="0" anchor="ctr"/>
          <a:lstStyle/>
          <a:p>
            <a:pPr indent="0" marL="0">
              <a:lnSpc>
                <a:spcPct val="120000"/>
              </a:lnSpc>
              <a:buNone/>
            </a:pPr>
            <a:r>
              <a:rPr lang="en-US" sz="1000" i="1" dirty="0">
                <a:solidFill>
                  <a:srgbClr val="5B6472"/>
                </a:solidFill>
                <a:latin typeface="Calibri" pitchFamily="34" charset="0"/>
                <a:ea typeface="Calibri" pitchFamily="34" charset="-122"/>
                <a:cs typeface="Calibri" pitchFamily="34" charset="-120"/>
              </a:rPr>
              <a:t>Guna kalkulator/perisian bagi mengira Min, Median, Mod bagi set data yang dikumpul.</a:t>
            </a:r>
            <a:endParaRPr lang="en-US" sz="1000" dirty="0"/>
          </a:p>
        </p:txBody>
      </p:sp>
      <p:sp>
        <p:nvSpPr>
          <p:cNvPr id="33" name="Text 29"/>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7, m/s 18</a:t>
            </a:r>
            <a:endParaRPr lang="en-US" sz="1000" dirty="0"/>
          </a:p>
        </p:txBody>
      </p:sp>
      <p:sp>
        <p:nvSpPr>
          <p:cNvPr id="34" name="Text 30"/>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7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CONTOH MUDAH DIFAHAMI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Contoh Praktikal: Kajian Perbelanjaan Kantin Sekolah (3/3)</a:t>
            </a:r>
            <a:endParaRPr lang="en-US" sz="2600" dirty="0"/>
          </a:p>
        </p:txBody>
      </p:sp>
      <p:sp>
        <p:nvSpPr>
          <p:cNvPr id="4" name="Shape 2"/>
          <p:cNvSpPr/>
          <p:nvPr/>
        </p:nvSpPr>
        <p:spPr>
          <a:xfrm>
            <a:off x="548640" y="1691640"/>
            <a:ext cx="3520440" cy="4114800"/>
          </a:xfrm>
          <a:prstGeom prst="roundRect">
            <a:avLst>
              <a:gd name="adj" fmla="val 2078"/>
            </a:avLst>
          </a:prstGeom>
          <a:solidFill>
            <a:srgbClr val="1E2761"/>
          </a:solidFill>
          <a:ln/>
        </p:spPr>
      </p:sp>
      <p:sp>
        <p:nvSpPr>
          <p:cNvPr id="5" name="Shape 3"/>
          <p:cNvSpPr/>
          <p:nvPr/>
        </p:nvSpPr>
        <p:spPr>
          <a:xfrm>
            <a:off x="1988820" y="1965960"/>
            <a:ext cx="640080" cy="640080"/>
          </a:xfrm>
          <a:prstGeom prst="ellipse">
            <a:avLst/>
          </a:prstGeom>
          <a:solidFill>
            <a:srgbClr val="F2B705"/>
          </a:solidFill>
          <a:ln/>
        </p:spPr>
      </p:sp>
      <p:pic>
        <p:nvPicPr>
          <p:cNvPr id="6" name="Image 0" descr="/home/claude/shared_icons/icon_brain.png">    </p:cNvPr>
          <p:cNvPicPr>
            <a:picLocks noChangeAspect="1"/>
          </p:cNvPicPr>
          <p:nvPr/>
        </p:nvPicPr>
        <p:blipFill>
          <a:blip r:embed="rId1"/>
          <a:stretch>
            <a:fillRect/>
          </a:stretch>
        </p:blipFill>
        <p:spPr>
          <a:xfrm>
            <a:off x="2078431" y="2055571"/>
            <a:ext cx="460858" cy="460858"/>
          </a:xfrm>
          <a:prstGeom prst="rect">
            <a:avLst/>
          </a:prstGeom>
        </p:spPr>
      </p:pic>
      <p:sp>
        <p:nvSpPr>
          <p:cNvPr id="7" name="Text 4"/>
          <p:cNvSpPr txBox="1"/>
          <p:nvPr/>
        </p:nvSpPr>
        <p:spPr>
          <a:xfrm>
            <a:off x="685800" y="2788920"/>
            <a:ext cx="3246120" cy="59436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Langkah 5: Membuat Tafsiran</a:t>
            </a:r>
            <a:endParaRPr lang="en-US" sz="1250" dirty="0"/>
          </a:p>
        </p:txBody>
      </p:sp>
      <p:sp>
        <p:nvSpPr>
          <p:cNvPr id="8" name="Text 5"/>
          <p:cNvSpPr txBox="1"/>
          <p:nvPr/>
        </p:nvSpPr>
        <p:spPr>
          <a:xfrm>
            <a:off x="777240" y="3520440"/>
            <a:ext cx="3063240" cy="2103120"/>
          </a:xfrm>
          <a:prstGeom prst="rect">
            <a:avLst/>
          </a:prstGeom>
          <a:noFill/>
          <a:ln/>
        </p:spPr>
        <p:txBody>
          <a:bodyPr wrap="square" rtlCol="0" anchor="ctr"/>
          <a:lstStyle/>
          <a:p>
            <a:pPr algn="ctr" indent="0" marL="0">
              <a:lnSpc>
                <a:spcPct val="125000"/>
              </a:lnSpc>
              <a:buNone/>
            </a:pPr>
            <a:r>
              <a:rPr lang="en-US" sz="1050" dirty="0">
                <a:solidFill>
                  <a:srgbClr val="CADCFC"/>
                </a:solidFill>
                <a:latin typeface="Calibri" pitchFamily="34" charset="0"/>
                <a:ea typeface="Calibri" pitchFamily="34" charset="-122"/>
                <a:cs typeface="Calibri" pitchFamily="34" charset="-120"/>
              </a:rPr>
              <a:t>Mengenal pasti trend seperti makanan yang paling digemari atau julat perbelanjaan yang paling kerap dilakukan oleh murid.</a:t>
            </a:r>
            <a:endParaRPr lang="en-US" sz="1050" dirty="0"/>
          </a:p>
        </p:txBody>
      </p:sp>
      <p:sp>
        <p:nvSpPr>
          <p:cNvPr id="9" name="Shape 6"/>
          <p:cNvSpPr/>
          <p:nvPr/>
        </p:nvSpPr>
        <p:spPr>
          <a:xfrm>
            <a:off x="4343400" y="1691640"/>
            <a:ext cx="3520440" cy="4114800"/>
          </a:xfrm>
          <a:prstGeom prst="roundRect">
            <a:avLst>
              <a:gd name="adj" fmla="val 2078"/>
            </a:avLst>
          </a:prstGeom>
          <a:solidFill>
            <a:srgbClr val="1E2761"/>
          </a:solidFill>
          <a:ln/>
        </p:spPr>
      </p:sp>
      <p:sp>
        <p:nvSpPr>
          <p:cNvPr id="10" name="Shape 7"/>
          <p:cNvSpPr/>
          <p:nvPr/>
        </p:nvSpPr>
        <p:spPr>
          <a:xfrm>
            <a:off x="5783580" y="1965960"/>
            <a:ext cx="640080" cy="640080"/>
          </a:xfrm>
          <a:prstGeom prst="ellipse">
            <a:avLst/>
          </a:prstGeom>
          <a:solidFill>
            <a:srgbClr val="F2B705"/>
          </a:solidFill>
          <a:ln/>
        </p:spPr>
      </p:sp>
      <p:pic>
        <p:nvPicPr>
          <p:cNvPr id="11" name="Image 1" descr="/home/claude/shared_icons/icon_scroll.png">    </p:cNvPr>
          <p:cNvPicPr>
            <a:picLocks noChangeAspect="1"/>
          </p:cNvPicPr>
          <p:nvPr/>
        </p:nvPicPr>
        <p:blipFill>
          <a:blip r:embed="rId2"/>
          <a:stretch>
            <a:fillRect/>
          </a:stretch>
        </p:blipFill>
        <p:spPr>
          <a:xfrm>
            <a:off x="5873191" y="2055571"/>
            <a:ext cx="460858" cy="460858"/>
          </a:xfrm>
          <a:prstGeom prst="rect">
            <a:avLst/>
          </a:prstGeom>
        </p:spPr>
      </p:pic>
      <p:sp>
        <p:nvSpPr>
          <p:cNvPr id="12" name="Text 8"/>
          <p:cNvSpPr txBox="1"/>
          <p:nvPr/>
        </p:nvSpPr>
        <p:spPr>
          <a:xfrm>
            <a:off x="4480560" y="2788920"/>
            <a:ext cx="3246120" cy="59436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Langkah 6: Kesimpulan</a:t>
            </a:r>
            <a:endParaRPr lang="en-US" sz="1250" dirty="0"/>
          </a:p>
        </p:txBody>
      </p:sp>
      <p:sp>
        <p:nvSpPr>
          <p:cNvPr id="13" name="Text 9"/>
          <p:cNvSpPr txBox="1"/>
          <p:nvPr/>
        </p:nvSpPr>
        <p:spPr>
          <a:xfrm>
            <a:off x="4572000" y="3520440"/>
            <a:ext cx="3063240" cy="2103120"/>
          </a:xfrm>
          <a:prstGeom prst="rect">
            <a:avLst/>
          </a:prstGeom>
          <a:noFill/>
          <a:ln/>
        </p:spPr>
        <p:txBody>
          <a:bodyPr wrap="square" rtlCol="0" anchor="ctr"/>
          <a:lstStyle/>
          <a:p>
            <a:pPr algn="ctr" indent="0" marL="0">
              <a:lnSpc>
                <a:spcPct val="125000"/>
              </a:lnSpc>
              <a:buNone/>
            </a:pPr>
            <a:r>
              <a:rPr lang="en-US" sz="1050" dirty="0">
                <a:solidFill>
                  <a:srgbClr val="CADCFC"/>
                </a:solidFill>
                <a:latin typeface="Calibri" pitchFamily="34" charset="0"/>
                <a:ea typeface="Calibri" pitchFamily="34" charset="-122"/>
                <a:cs typeface="Calibri" pitchFamily="34" charset="-120"/>
              </a:rPr>
              <a:t>Menghasilkan rumusan bertulis yang menjawab soalan asal. Contohnya: purata perbelanjaan murid ialah RM5 sehari dan nasi goreng ialah makanan paling popular.</a:t>
            </a:r>
            <a:endParaRPr lang="en-US" sz="1050" dirty="0"/>
          </a:p>
        </p:txBody>
      </p:sp>
      <p:sp>
        <p:nvSpPr>
          <p:cNvPr id="14" name="Shape 10"/>
          <p:cNvSpPr/>
          <p:nvPr/>
        </p:nvSpPr>
        <p:spPr>
          <a:xfrm>
            <a:off x="8138160" y="1691640"/>
            <a:ext cx="3520440" cy="4114800"/>
          </a:xfrm>
          <a:prstGeom prst="roundRect">
            <a:avLst>
              <a:gd name="adj" fmla="val 2078"/>
            </a:avLst>
          </a:prstGeom>
          <a:solidFill>
            <a:srgbClr val="1E2761"/>
          </a:solidFill>
          <a:ln/>
        </p:spPr>
      </p:sp>
      <p:sp>
        <p:nvSpPr>
          <p:cNvPr id="15" name="Shape 11"/>
          <p:cNvSpPr/>
          <p:nvPr/>
        </p:nvSpPr>
        <p:spPr>
          <a:xfrm>
            <a:off x="9578340" y="1965960"/>
            <a:ext cx="640080" cy="640080"/>
          </a:xfrm>
          <a:prstGeom prst="ellipse">
            <a:avLst/>
          </a:prstGeom>
          <a:solidFill>
            <a:srgbClr val="F2B705"/>
          </a:solidFill>
          <a:ln/>
        </p:spPr>
      </p:sp>
      <p:pic>
        <p:nvPicPr>
          <p:cNvPr id="16" name="Image 2" descr="/home/claude/shared_icons/icon_users.png">    </p:cNvPr>
          <p:cNvPicPr>
            <a:picLocks noChangeAspect="1"/>
          </p:cNvPicPr>
          <p:nvPr/>
        </p:nvPicPr>
        <p:blipFill>
          <a:blip r:embed="rId3"/>
          <a:stretch>
            <a:fillRect/>
          </a:stretch>
        </p:blipFill>
        <p:spPr>
          <a:xfrm>
            <a:off x="9667951" y="2055571"/>
            <a:ext cx="460858" cy="460858"/>
          </a:xfrm>
          <a:prstGeom prst="rect">
            <a:avLst/>
          </a:prstGeom>
        </p:spPr>
      </p:pic>
      <p:sp>
        <p:nvSpPr>
          <p:cNvPr id="17" name="Text 12"/>
          <p:cNvSpPr txBox="1"/>
          <p:nvPr/>
        </p:nvSpPr>
        <p:spPr>
          <a:xfrm>
            <a:off x="8275320" y="2788920"/>
            <a:ext cx="3246120" cy="59436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Langkah 7: Membentangkan Hasil Dapatan</a:t>
            </a:r>
            <a:endParaRPr lang="en-US" sz="1250" dirty="0"/>
          </a:p>
        </p:txBody>
      </p:sp>
      <p:sp>
        <p:nvSpPr>
          <p:cNvPr id="18" name="Text 13"/>
          <p:cNvSpPr txBox="1"/>
          <p:nvPr/>
        </p:nvSpPr>
        <p:spPr>
          <a:xfrm>
            <a:off x="8366760" y="3520440"/>
            <a:ext cx="3063240" cy="2103120"/>
          </a:xfrm>
          <a:prstGeom prst="rect">
            <a:avLst/>
          </a:prstGeom>
          <a:noFill/>
          <a:ln/>
        </p:spPr>
        <p:txBody>
          <a:bodyPr wrap="square" rtlCol="0" anchor="ctr"/>
          <a:lstStyle/>
          <a:p>
            <a:pPr algn="ctr" indent="0" marL="0">
              <a:lnSpc>
                <a:spcPct val="125000"/>
              </a:lnSpc>
              <a:buNone/>
            </a:pPr>
            <a:r>
              <a:rPr lang="en-US" sz="1050" dirty="0">
                <a:solidFill>
                  <a:srgbClr val="CADCFC"/>
                </a:solidFill>
                <a:latin typeface="Calibri" pitchFamily="34" charset="0"/>
                <a:ea typeface="Calibri" pitchFamily="34" charset="-122"/>
                <a:cs typeface="Calibri" pitchFamily="34" charset="-120"/>
              </a:rPr>
              <a:t>Berkongsi dapatan melalui pembentangan lisan, poster infografik dan aktiviti Gallery Walk untuk mendapatkan maklum balas rakan sebaya.</a:t>
            </a:r>
            <a:endParaRPr lang="en-US" sz="1050" dirty="0"/>
          </a:p>
        </p:txBody>
      </p:sp>
      <p:sp>
        <p:nvSpPr>
          <p:cNvPr id="19" name="Text 14"/>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7, m/s 19</a:t>
            </a:r>
            <a:endParaRPr lang="en-US" sz="1000" dirty="0"/>
          </a:p>
        </p:txBody>
      </p:sp>
      <p:sp>
        <p:nvSpPr>
          <p:cNvPr id="20" name="Text 15"/>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7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WAJIB TAHU: MENGAPA INI PENTING</a:t>
            </a:r>
            <a:endParaRPr lang="en-US" sz="1300" dirty="0"/>
          </a:p>
        </p:txBody>
      </p:sp>
      <p:sp>
        <p:nvSpPr>
          <p:cNvPr id="3" name="Text 1"/>
          <p:cNvSpPr txBox="1"/>
          <p:nvPr/>
        </p:nvSpPr>
        <p:spPr>
          <a:xfrm>
            <a:off x="548640" y="658368"/>
            <a:ext cx="11247120" cy="68580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Prestasi Murid Malaysia dalam Item Statistik TIMSS</a:t>
            </a:r>
            <a:endParaRPr lang="en-US" sz="2400" dirty="0"/>
          </a:p>
        </p:txBody>
      </p:sp>
      <p:sp>
        <p:nvSpPr>
          <p:cNvPr id="4" name="Text 2"/>
          <p:cNvSpPr txBox="1"/>
          <p:nvPr/>
        </p:nvSpPr>
        <p:spPr>
          <a:xfrm>
            <a:off x="548640" y="1508760"/>
            <a:ext cx="11064240" cy="640080"/>
          </a:xfrm>
          <a:prstGeom prst="rect">
            <a:avLst/>
          </a:prstGeom>
          <a:noFill/>
          <a:ln/>
        </p:spPr>
        <p:txBody>
          <a:bodyPr wrap="square" rtlCol="0" anchor="ctr"/>
          <a:lstStyle/>
          <a:p>
            <a:pPr indent="0" marL="0">
              <a:lnSpc>
                <a:spcPct val="120000"/>
              </a:lnSpc>
              <a:buNone/>
            </a:pPr>
            <a:r>
              <a:rPr lang="en-US" sz="1200" dirty="0">
                <a:solidFill>
                  <a:srgbClr val="CADCFC"/>
                </a:solidFill>
                <a:latin typeface="Calibri" pitchFamily="34" charset="0"/>
                <a:ea typeface="Calibri" pitchFamily="34" charset="-122"/>
                <a:cs typeface="Calibri" pitchFamily="34" charset="-120"/>
              </a:rPr>
              <a:t>Laporan Analisis Item Matematik TIMSS mendedahkan murid Malaysia bergelut dengan soalan yang menuntut tafsiran kritikal data — bukan sekadar membaca graf, tetapi menaakul tentang kemunasabahannya.</a:t>
            </a:r>
            <a:endParaRPr lang="en-US" sz="1200" dirty="0"/>
          </a:p>
        </p:txBody>
      </p:sp>
      <p:sp>
        <p:nvSpPr>
          <p:cNvPr id="5" name="Shape 3"/>
          <p:cNvSpPr/>
          <p:nvPr/>
        </p:nvSpPr>
        <p:spPr>
          <a:xfrm>
            <a:off x="548640" y="2331720"/>
            <a:ext cx="5349240" cy="2834640"/>
          </a:xfrm>
          <a:prstGeom prst="roundRect">
            <a:avLst>
              <a:gd name="adj" fmla="val 2581"/>
            </a:avLst>
          </a:prstGeom>
          <a:solidFill>
            <a:srgbClr val="141A45"/>
          </a:solidFill>
          <a:ln w="19050">
            <a:solidFill>
              <a:srgbClr val="E0435A"/>
            </a:solidFill>
            <a:prstDash val="solid"/>
          </a:ln>
        </p:spPr>
      </p:sp>
      <p:sp>
        <p:nvSpPr>
          <p:cNvPr id="6" name="Text 4"/>
          <p:cNvSpPr txBox="1"/>
          <p:nvPr/>
        </p:nvSpPr>
        <p:spPr>
          <a:xfrm>
            <a:off x="731520" y="2468880"/>
            <a:ext cx="4983480" cy="457200"/>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Item Carta Pai (Populasi Zedland)</a:t>
            </a:r>
            <a:endParaRPr lang="en-US" sz="1250" dirty="0"/>
          </a:p>
        </p:txBody>
      </p:sp>
      <p:sp>
        <p:nvSpPr>
          <p:cNvPr id="7" name="Text 5"/>
          <p:cNvSpPr txBox="1"/>
          <p:nvPr/>
        </p:nvSpPr>
        <p:spPr>
          <a:xfrm>
            <a:off x="731520" y="2953512"/>
            <a:ext cx="4983480" cy="1051560"/>
          </a:xfrm>
          <a:prstGeom prst="rect">
            <a:avLst/>
          </a:prstGeom>
          <a:noFill/>
          <a:ln/>
        </p:spPr>
        <p:txBody>
          <a:bodyPr wrap="square" rtlCol="0" anchor="ctr"/>
          <a:lstStyle/>
          <a:p>
            <a:pPr indent="0" marL="0">
              <a:lnSpc>
                <a:spcPct val="120000"/>
              </a:lnSpc>
              <a:buNone/>
            </a:pPr>
            <a:r>
              <a:rPr lang="en-US" sz="1030" dirty="0">
                <a:solidFill>
                  <a:srgbClr val="CADCFC"/>
                </a:solidFill>
                <a:latin typeface="Calibri" pitchFamily="34" charset="0"/>
                <a:ea typeface="Calibri" pitchFamily="34" charset="-122"/>
                <a:cs typeface="Calibri" pitchFamily="34" charset="-120"/>
              </a:rPr>
              <a:t>“Jelaskan mengapa pernyataan Lena TIDAK BENAR” — menuntut murid banding peratusan RELATIF terhadap populasi ASAS yang berbeza.</a:t>
            </a:r>
            <a:endParaRPr lang="en-US" sz="1030" dirty="0"/>
          </a:p>
        </p:txBody>
      </p:sp>
      <p:sp>
        <p:nvSpPr>
          <p:cNvPr id="8" name="Text 6"/>
          <p:cNvSpPr txBox="1"/>
          <p:nvPr/>
        </p:nvSpPr>
        <p:spPr>
          <a:xfrm>
            <a:off x="731520" y="4114800"/>
            <a:ext cx="2011680" cy="777240"/>
          </a:xfrm>
          <a:prstGeom prst="rect">
            <a:avLst/>
          </a:prstGeom>
          <a:noFill/>
          <a:ln/>
        </p:spPr>
        <p:txBody>
          <a:bodyPr wrap="square" rtlCol="0" anchor="ctr"/>
          <a:lstStyle/>
          <a:p>
            <a:pPr indent="0" marL="0">
              <a:buNone/>
            </a:pPr>
            <a:r>
              <a:rPr lang="en-US" sz="3000" b="1" dirty="0">
                <a:solidFill>
                  <a:srgbClr val="E0435A"/>
                </a:solidFill>
                <a:latin typeface="Cambria" pitchFamily="34" charset="0"/>
                <a:ea typeface="Cambria" pitchFamily="34" charset="-122"/>
                <a:cs typeface="Cambria" pitchFamily="34" charset="-120"/>
              </a:rPr>
              <a:t>3.9%</a:t>
            </a:r>
            <a:endParaRPr lang="en-US" sz="3000" dirty="0"/>
          </a:p>
        </p:txBody>
      </p:sp>
      <p:sp>
        <p:nvSpPr>
          <p:cNvPr id="9" name="Text 7"/>
          <p:cNvSpPr txBox="1"/>
          <p:nvPr/>
        </p:nvSpPr>
        <p:spPr>
          <a:xfrm>
            <a:off x="2468880" y="4206240"/>
            <a:ext cx="3246120" cy="640080"/>
          </a:xfrm>
          <a:prstGeom prst="rect">
            <a:avLst/>
          </a:prstGeom>
          <a:noFill/>
          <a:ln/>
        </p:spPr>
        <p:txBody>
          <a:bodyPr wrap="square" rtlCol="0" anchor="t"/>
          <a:lstStyle/>
          <a:p>
            <a:pPr indent="0" marL="0">
              <a:lnSpc>
                <a:spcPct val="110000"/>
              </a:lnSpc>
              <a:buNone/>
            </a:pPr>
            <a:r>
              <a:rPr lang="en-US" sz="950" dirty="0">
                <a:solidFill>
                  <a:srgbClr val="F2B705"/>
                </a:solidFill>
                <a:latin typeface="Calibri" pitchFamily="34" charset="0"/>
                <a:ea typeface="Calibri" pitchFamily="34" charset="-122"/>
                <a:cs typeface="Calibri" pitchFamily="34" charset="-120"/>
              </a:rPr>
              <a:t>murid Malaysia</a:t>
            </a:r>
            <a:endParaRPr lang="en-US" sz="950" dirty="0"/>
          </a:p>
          <a:p>
            <a:pPr indent="0" marL="0">
              <a:lnSpc>
                <a:spcPct val="110000"/>
              </a:lnSpc>
              <a:buNone/>
            </a:pPr>
            <a:r>
              <a:rPr lang="en-US" sz="950" dirty="0">
                <a:solidFill>
                  <a:srgbClr val="F2B705"/>
                </a:solidFill>
                <a:latin typeface="Calibri" pitchFamily="34" charset="0"/>
                <a:ea typeface="Calibri" pitchFamily="34" charset="-122"/>
                <a:cs typeface="Calibri" pitchFamily="34" charset="-120"/>
              </a:rPr>
              <a:t>menjawab BETUL</a:t>
            </a:r>
            <a:endParaRPr lang="en-US" sz="950" dirty="0"/>
          </a:p>
        </p:txBody>
      </p:sp>
      <p:sp>
        <p:nvSpPr>
          <p:cNvPr id="10" name="Text 8"/>
          <p:cNvSpPr txBox="1"/>
          <p:nvPr/>
        </p:nvSpPr>
        <p:spPr>
          <a:xfrm>
            <a:off x="731520" y="4846320"/>
            <a:ext cx="4983480" cy="274320"/>
          </a:xfrm>
          <a:prstGeom prst="rect">
            <a:avLst/>
          </a:prstGeom>
          <a:noFill/>
          <a:ln/>
        </p:spPr>
        <p:txBody>
          <a:bodyPr wrap="square" rtlCol="0" anchor="ctr"/>
          <a:lstStyle/>
          <a:p>
            <a:pPr indent="0" marL="0">
              <a:buNone/>
            </a:pPr>
            <a:r>
              <a:rPr lang="en-US" sz="850" i="1" dirty="0">
                <a:solidFill>
                  <a:srgbClr val="5B6472"/>
                </a:solidFill>
                <a:latin typeface="Calibri" pitchFamily="34" charset="0"/>
                <a:ea typeface="Calibri" pitchFamily="34" charset="-122"/>
                <a:cs typeface="Calibri" pitchFamily="34" charset="-120"/>
              </a:rPr>
              <a:t>Sumber: TIMSS 2023</a:t>
            </a:r>
            <a:endParaRPr lang="en-US" sz="850" dirty="0"/>
          </a:p>
        </p:txBody>
      </p:sp>
      <p:sp>
        <p:nvSpPr>
          <p:cNvPr id="11" name="Shape 9"/>
          <p:cNvSpPr/>
          <p:nvPr/>
        </p:nvSpPr>
        <p:spPr>
          <a:xfrm>
            <a:off x="6263640" y="2331720"/>
            <a:ext cx="5349240" cy="2834640"/>
          </a:xfrm>
          <a:prstGeom prst="roundRect">
            <a:avLst>
              <a:gd name="adj" fmla="val 2581"/>
            </a:avLst>
          </a:prstGeom>
          <a:solidFill>
            <a:srgbClr val="141A45"/>
          </a:solidFill>
          <a:ln w="19050">
            <a:solidFill>
              <a:srgbClr val="E0435A"/>
            </a:solidFill>
            <a:prstDash val="solid"/>
          </a:ln>
        </p:spPr>
      </p:sp>
      <p:sp>
        <p:nvSpPr>
          <p:cNvPr id="12" name="Text 10"/>
          <p:cNvSpPr txBox="1"/>
          <p:nvPr/>
        </p:nvSpPr>
        <p:spPr>
          <a:xfrm>
            <a:off x="6446520" y="2468880"/>
            <a:ext cx="4983480" cy="457200"/>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Item Graf Bar (Salji Zedland)</a:t>
            </a:r>
            <a:endParaRPr lang="en-US" sz="1250" dirty="0"/>
          </a:p>
        </p:txBody>
      </p:sp>
      <p:sp>
        <p:nvSpPr>
          <p:cNvPr id="13" name="Text 11"/>
          <p:cNvSpPr txBox="1"/>
          <p:nvPr/>
        </p:nvSpPr>
        <p:spPr>
          <a:xfrm>
            <a:off x="6446520" y="2953512"/>
            <a:ext cx="4983480" cy="1051560"/>
          </a:xfrm>
          <a:prstGeom prst="rect">
            <a:avLst/>
          </a:prstGeom>
          <a:noFill/>
          <a:ln/>
        </p:spPr>
        <p:txBody>
          <a:bodyPr wrap="square" rtlCol="0" anchor="ctr"/>
          <a:lstStyle/>
          <a:p>
            <a:pPr indent="0" marL="0">
              <a:lnSpc>
                <a:spcPct val="120000"/>
              </a:lnSpc>
              <a:buNone/>
            </a:pPr>
            <a:r>
              <a:rPr lang="en-US" sz="1030" dirty="0">
                <a:solidFill>
                  <a:srgbClr val="CADCFC"/>
                </a:solidFill>
                <a:latin typeface="Calibri" pitchFamily="34" charset="0"/>
                <a:ea typeface="Calibri" pitchFamily="34" charset="-122"/>
                <a:cs typeface="Calibri" pitchFamily="34" charset="-120"/>
              </a:rPr>
              <a:t>“Jelaskan mengapa Julie SALAH” — menuntut murid perhatikan skala paksi-y yang BERBEZA antara dua graf.</a:t>
            </a:r>
            <a:endParaRPr lang="en-US" sz="1030" dirty="0"/>
          </a:p>
        </p:txBody>
      </p:sp>
      <p:sp>
        <p:nvSpPr>
          <p:cNvPr id="14" name="Text 12"/>
          <p:cNvSpPr txBox="1"/>
          <p:nvPr/>
        </p:nvSpPr>
        <p:spPr>
          <a:xfrm>
            <a:off x="6446520" y="4114800"/>
            <a:ext cx="2011680" cy="777240"/>
          </a:xfrm>
          <a:prstGeom prst="rect">
            <a:avLst/>
          </a:prstGeom>
          <a:noFill/>
          <a:ln/>
        </p:spPr>
        <p:txBody>
          <a:bodyPr wrap="square" rtlCol="0" anchor="ctr"/>
          <a:lstStyle/>
          <a:p>
            <a:pPr indent="0" marL="0">
              <a:buNone/>
            </a:pPr>
            <a:r>
              <a:rPr lang="en-US" sz="3000" b="1" dirty="0">
                <a:solidFill>
                  <a:srgbClr val="E0435A"/>
                </a:solidFill>
                <a:latin typeface="Cambria" pitchFamily="34" charset="0"/>
                <a:ea typeface="Cambria" pitchFamily="34" charset="-122"/>
                <a:cs typeface="Cambria" pitchFamily="34" charset="-120"/>
              </a:rPr>
              <a:t>14.9%</a:t>
            </a:r>
            <a:endParaRPr lang="en-US" sz="3000" dirty="0"/>
          </a:p>
        </p:txBody>
      </p:sp>
      <p:sp>
        <p:nvSpPr>
          <p:cNvPr id="15" name="Text 13"/>
          <p:cNvSpPr txBox="1"/>
          <p:nvPr/>
        </p:nvSpPr>
        <p:spPr>
          <a:xfrm>
            <a:off x="8183880" y="4206240"/>
            <a:ext cx="3246120" cy="640080"/>
          </a:xfrm>
          <a:prstGeom prst="rect">
            <a:avLst/>
          </a:prstGeom>
          <a:noFill/>
          <a:ln/>
        </p:spPr>
        <p:txBody>
          <a:bodyPr wrap="square" rtlCol="0" anchor="t"/>
          <a:lstStyle/>
          <a:p>
            <a:pPr indent="0" marL="0">
              <a:lnSpc>
                <a:spcPct val="110000"/>
              </a:lnSpc>
              <a:buNone/>
            </a:pPr>
            <a:r>
              <a:rPr lang="en-US" sz="950" dirty="0">
                <a:solidFill>
                  <a:srgbClr val="F2B705"/>
                </a:solidFill>
                <a:latin typeface="Calibri" pitchFamily="34" charset="0"/>
                <a:ea typeface="Calibri" pitchFamily="34" charset="-122"/>
                <a:cs typeface="Calibri" pitchFamily="34" charset="-120"/>
              </a:rPr>
              <a:t>murid Malaysia</a:t>
            </a:r>
            <a:endParaRPr lang="en-US" sz="950" dirty="0"/>
          </a:p>
          <a:p>
            <a:pPr indent="0" marL="0">
              <a:lnSpc>
                <a:spcPct val="110000"/>
              </a:lnSpc>
              <a:buNone/>
            </a:pPr>
            <a:r>
              <a:rPr lang="en-US" sz="950" dirty="0">
                <a:solidFill>
                  <a:srgbClr val="F2B705"/>
                </a:solidFill>
                <a:latin typeface="Calibri" pitchFamily="34" charset="0"/>
                <a:ea typeface="Calibri" pitchFamily="34" charset="-122"/>
                <a:cs typeface="Calibri" pitchFamily="34" charset="-120"/>
              </a:rPr>
              <a:t>menjawab BETUL</a:t>
            </a:r>
            <a:endParaRPr lang="en-US" sz="950" dirty="0"/>
          </a:p>
        </p:txBody>
      </p:sp>
      <p:sp>
        <p:nvSpPr>
          <p:cNvPr id="16" name="Text 14"/>
          <p:cNvSpPr txBox="1"/>
          <p:nvPr/>
        </p:nvSpPr>
        <p:spPr>
          <a:xfrm>
            <a:off x="6446520" y="4846320"/>
            <a:ext cx="4983480" cy="274320"/>
          </a:xfrm>
          <a:prstGeom prst="rect">
            <a:avLst/>
          </a:prstGeom>
          <a:noFill/>
          <a:ln/>
        </p:spPr>
        <p:txBody>
          <a:bodyPr wrap="square" rtlCol="0" anchor="ctr"/>
          <a:lstStyle/>
          <a:p>
            <a:pPr indent="0" marL="0">
              <a:buNone/>
            </a:pPr>
            <a:r>
              <a:rPr lang="en-US" sz="850" i="1" dirty="0">
                <a:solidFill>
                  <a:srgbClr val="5B6472"/>
                </a:solidFill>
                <a:latin typeface="Calibri" pitchFamily="34" charset="0"/>
                <a:ea typeface="Calibri" pitchFamily="34" charset="-122"/>
                <a:cs typeface="Calibri" pitchFamily="34" charset="-120"/>
              </a:rPr>
              <a:t>Sumber: TIMSS 2023</a:t>
            </a:r>
            <a:endParaRPr lang="en-US" sz="850" dirty="0"/>
          </a:p>
        </p:txBody>
      </p:sp>
      <p:sp>
        <p:nvSpPr>
          <p:cNvPr id="17" name="Text 15"/>
          <p:cNvSpPr txBox="1"/>
          <p:nvPr/>
        </p:nvSpPr>
        <p:spPr>
          <a:xfrm>
            <a:off x="548640" y="5349240"/>
            <a:ext cx="11064240" cy="457200"/>
          </a:xfrm>
          <a:prstGeom prst="rect">
            <a:avLst/>
          </a:prstGeom>
          <a:noFill/>
          <a:ln/>
        </p:spPr>
        <p:txBody>
          <a:bodyPr wrap="square" rtlCol="0" anchor="ctr"/>
          <a:lstStyle/>
          <a:p>
            <a:pPr algn="ctr" indent="0" marL="0">
              <a:buNone/>
            </a:pPr>
            <a:r>
              <a:rPr lang="en-US" sz="1200" b="1" i="1" dirty="0">
                <a:solidFill>
                  <a:srgbClr val="F2B705"/>
                </a:solidFill>
                <a:latin typeface="Calibri" pitchFamily="34" charset="0"/>
                <a:ea typeface="Calibri" pitchFamily="34" charset="-122"/>
                <a:cs typeface="Calibri" pitchFamily="34" charset="-120"/>
              </a:rPr>
              <a:t>Inilah sebab pendekatan inkuiri statistik 7 langkah kritikal — murid perlu berlatih MENTAFSIR, bukan sekadar melukis graf.</a:t>
            </a:r>
            <a:endParaRPr lang="en-US" sz="1200" dirty="0"/>
          </a:p>
        </p:txBody>
      </p:sp>
      <p:sp>
        <p:nvSpPr>
          <p:cNvPr id="18" name="Text 16"/>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7, m/s 20–21</a:t>
            </a:r>
            <a:endParaRPr lang="en-US" sz="1000" dirty="0"/>
          </a:p>
        </p:txBody>
      </p:sp>
      <p:sp>
        <p:nvSpPr>
          <p:cNvPr id="19" name="Text 17"/>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7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PERKARA PENTING</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Perkara yang Guru WAJIB Faham</a:t>
            </a:r>
            <a:endParaRPr lang="en-US" sz="2600" dirty="0"/>
          </a:p>
        </p:txBody>
      </p:sp>
      <p:sp>
        <p:nvSpPr>
          <p:cNvPr id="4" name="Shape 2"/>
          <p:cNvSpPr/>
          <p:nvPr/>
        </p:nvSpPr>
        <p:spPr>
          <a:xfrm>
            <a:off x="548640" y="1645920"/>
            <a:ext cx="5349240" cy="1371600"/>
          </a:xfrm>
          <a:prstGeom prst="roundRect">
            <a:avLst>
              <a:gd name="adj" fmla="val 5333"/>
            </a:avLst>
          </a:prstGeom>
          <a:solidFill>
            <a:srgbClr val="F5F7FC"/>
          </a:solidFill>
          <a:ln w="12700">
            <a:solidFill>
              <a:srgbClr val="E7EAF2"/>
            </a:solidFill>
            <a:prstDash val="solid"/>
          </a:ln>
        </p:spPr>
      </p:sp>
      <p:sp>
        <p:nvSpPr>
          <p:cNvPr id="5" name="Shape 3"/>
          <p:cNvSpPr/>
          <p:nvPr/>
        </p:nvSpPr>
        <p:spPr>
          <a:xfrm>
            <a:off x="713232" y="1874520"/>
            <a:ext cx="457200" cy="457200"/>
          </a:xfrm>
          <a:prstGeom prst="ellipse">
            <a:avLst/>
          </a:prstGeom>
          <a:solidFill>
            <a:srgbClr val="E0435A"/>
          </a:solidFill>
          <a:ln/>
        </p:spPr>
      </p:sp>
      <p:pic>
        <p:nvPicPr>
          <p:cNvPr id="6" name="Image 0" descr="/home/claude/shared_icons/icon_check.png">    </p:cNvPr>
          <p:cNvPicPr>
            <a:picLocks noChangeAspect="1"/>
          </p:cNvPicPr>
          <p:nvPr/>
        </p:nvPicPr>
        <p:blipFill>
          <a:blip r:embed="rId1"/>
          <a:stretch>
            <a:fillRect/>
          </a:stretch>
        </p:blipFill>
        <p:spPr>
          <a:xfrm>
            <a:off x="777240" y="1938528"/>
            <a:ext cx="329184" cy="329184"/>
          </a:xfrm>
          <a:prstGeom prst="rect">
            <a:avLst/>
          </a:prstGeom>
        </p:spPr>
      </p:pic>
      <p:sp>
        <p:nvSpPr>
          <p:cNvPr id="7" name="Text 4"/>
          <p:cNvSpPr txBox="1"/>
          <p:nvPr/>
        </p:nvSpPr>
        <p:spPr>
          <a:xfrm>
            <a:off x="1298448" y="1737360"/>
            <a:ext cx="4434840" cy="1188720"/>
          </a:xfrm>
          <a:prstGeom prst="rect">
            <a:avLst/>
          </a:prstGeom>
          <a:noFill/>
          <a:ln/>
        </p:spPr>
        <p:txBody>
          <a:bodyPr wrap="square" rtlCol="0" anchor="ctr"/>
          <a:lstStyle/>
          <a:p>
            <a:pPr indent="0" marL="0">
              <a:lnSpc>
                <a:spcPct val="115000"/>
              </a:lnSpc>
              <a:buNone/>
            </a:pPr>
            <a:r>
              <a:rPr lang="en-US" sz="1020" dirty="0">
                <a:solidFill>
                  <a:srgbClr val="141A45"/>
                </a:solidFill>
                <a:latin typeface="Calibri" pitchFamily="34" charset="0"/>
                <a:ea typeface="Calibri" pitchFamily="34" charset="-122"/>
                <a:cs typeface="Calibri" pitchFamily="34" charset="-120"/>
              </a:rPr>
              <a:t>Pentaksiran tajuk Pengendalian Data digazetkan SEPENUHNYA melalui Pembelajaran Berasaskan Projek (PBL) — bukan peperiksaan bertulis tradisional sahaja.</a:t>
            </a:r>
            <a:endParaRPr lang="en-US" sz="1020" dirty="0"/>
          </a:p>
        </p:txBody>
      </p:sp>
      <p:sp>
        <p:nvSpPr>
          <p:cNvPr id="8" name="Shape 5"/>
          <p:cNvSpPr/>
          <p:nvPr/>
        </p:nvSpPr>
        <p:spPr>
          <a:xfrm>
            <a:off x="6263640" y="1645920"/>
            <a:ext cx="5349240" cy="1371600"/>
          </a:xfrm>
          <a:prstGeom prst="roundRect">
            <a:avLst>
              <a:gd name="adj" fmla="val 5333"/>
            </a:avLst>
          </a:prstGeom>
          <a:solidFill>
            <a:srgbClr val="F5F7FC"/>
          </a:solidFill>
          <a:ln w="12700">
            <a:solidFill>
              <a:srgbClr val="E7EAF2"/>
            </a:solidFill>
            <a:prstDash val="solid"/>
          </a:ln>
        </p:spPr>
      </p:sp>
      <p:sp>
        <p:nvSpPr>
          <p:cNvPr id="9" name="Shape 6"/>
          <p:cNvSpPr/>
          <p:nvPr/>
        </p:nvSpPr>
        <p:spPr>
          <a:xfrm>
            <a:off x="6428232" y="1874520"/>
            <a:ext cx="457200" cy="457200"/>
          </a:xfrm>
          <a:prstGeom prst="ellipse">
            <a:avLst/>
          </a:prstGeom>
          <a:solidFill>
            <a:srgbClr val="E0435A"/>
          </a:solidFill>
          <a:ln/>
        </p:spPr>
      </p:sp>
      <p:pic>
        <p:nvPicPr>
          <p:cNvPr id="10" name="Image 1" descr="/home/claude/shared_icons/icon_check.png">    </p:cNvPr>
          <p:cNvPicPr>
            <a:picLocks noChangeAspect="1"/>
          </p:cNvPicPr>
          <p:nvPr/>
        </p:nvPicPr>
        <p:blipFill>
          <a:blip r:embed="rId2"/>
          <a:stretch>
            <a:fillRect/>
          </a:stretch>
        </p:blipFill>
        <p:spPr>
          <a:xfrm>
            <a:off x="6492240" y="1938528"/>
            <a:ext cx="329184" cy="329184"/>
          </a:xfrm>
          <a:prstGeom prst="rect">
            <a:avLst/>
          </a:prstGeom>
        </p:spPr>
      </p:pic>
      <p:sp>
        <p:nvSpPr>
          <p:cNvPr id="11" name="Text 7"/>
          <p:cNvSpPr txBox="1"/>
          <p:nvPr/>
        </p:nvSpPr>
        <p:spPr>
          <a:xfrm>
            <a:off x="7013448" y="1737360"/>
            <a:ext cx="4434840" cy="1188720"/>
          </a:xfrm>
          <a:prstGeom prst="rect">
            <a:avLst/>
          </a:prstGeom>
          <a:noFill/>
          <a:ln/>
        </p:spPr>
        <p:txBody>
          <a:bodyPr wrap="square" rtlCol="0" anchor="ctr"/>
          <a:lstStyle/>
          <a:p>
            <a:pPr indent="0" marL="0">
              <a:lnSpc>
                <a:spcPct val="115000"/>
              </a:lnSpc>
              <a:buNone/>
            </a:pPr>
            <a:r>
              <a:rPr lang="en-US" sz="1020" dirty="0">
                <a:solidFill>
                  <a:srgbClr val="141A45"/>
                </a:solidFill>
                <a:latin typeface="Calibri" pitchFamily="34" charset="0"/>
                <a:ea typeface="Calibri" pitchFamily="34" charset="-122"/>
                <a:cs typeface="Calibri" pitchFamily="34" charset="-120"/>
              </a:rPr>
              <a:t>Guru wajib membimbing murid melalui KESELURUHAN 7 langkah inkuiri statistik, bukan sekadar mengajar melukis carta sahaja.</a:t>
            </a:r>
            <a:endParaRPr lang="en-US" sz="1020" dirty="0"/>
          </a:p>
        </p:txBody>
      </p:sp>
      <p:sp>
        <p:nvSpPr>
          <p:cNvPr id="12" name="Shape 8"/>
          <p:cNvSpPr/>
          <p:nvPr/>
        </p:nvSpPr>
        <p:spPr>
          <a:xfrm>
            <a:off x="548640" y="3182112"/>
            <a:ext cx="5349240" cy="1371600"/>
          </a:xfrm>
          <a:prstGeom prst="roundRect">
            <a:avLst>
              <a:gd name="adj" fmla="val 5333"/>
            </a:avLst>
          </a:prstGeom>
          <a:solidFill>
            <a:srgbClr val="F5F7FC"/>
          </a:solidFill>
          <a:ln w="12700">
            <a:solidFill>
              <a:srgbClr val="E7EAF2"/>
            </a:solidFill>
            <a:prstDash val="solid"/>
          </a:ln>
        </p:spPr>
      </p:sp>
      <p:sp>
        <p:nvSpPr>
          <p:cNvPr id="13" name="Shape 9"/>
          <p:cNvSpPr/>
          <p:nvPr/>
        </p:nvSpPr>
        <p:spPr>
          <a:xfrm>
            <a:off x="713232" y="3410712"/>
            <a:ext cx="457200" cy="457200"/>
          </a:xfrm>
          <a:prstGeom prst="ellipse">
            <a:avLst/>
          </a:prstGeom>
          <a:solidFill>
            <a:srgbClr val="E0435A"/>
          </a:solidFill>
          <a:ln/>
        </p:spPr>
      </p:sp>
      <p:pic>
        <p:nvPicPr>
          <p:cNvPr id="14" name="Image 2" descr="/home/claude/shared_icons/icon_check.png">    </p:cNvPr>
          <p:cNvPicPr>
            <a:picLocks noChangeAspect="1"/>
          </p:cNvPicPr>
          <p:nvPr/>
        </p:nvPicPr>
        <p:blipFill>
          <a:blip r:embed="rId3"/>
          <a:stretch>
            <a:fillRect/>
          </a:stretch>
        </p:blipFill>
        <p:spPr>
          <a:xfrm>
            <a:off x="777240" y="3474720"/>
            <a:ext cx="329184" cy="329184"/>
          </a:xfrm>
          <a:prstGeom prst="rect">
            <a:avLst/>
          </a:prstGeom>
        </p:spPr>
      </p:pic>
      <p:sp>
        <p:nvSpPr>
          <p:cNvPr id="15" name="Text 10"/>
          <p:cNvSpPr txBox="1"/>
          <p:nvPr/>
        </p:nvSpPr>
        <p:spPr>
          <a:xfrm>
            <a:off x="1298448" y="3273552"/>
            <a:ext cx="4434840" cy="1188720"/>
          </a:xfrm>
          <a:prstGeom prst="rect">
            <a:avLst/>
          </a:prstGeom>
          <a:noFill/>
          <a:ln/>
        </p:spPr>
        <p:txBody>
          <a:bodyPr wrap="square" rtlCol="0" anchor="ctr"/>
          <a:lstStyle/>
          <a:p>
            <a:pPr indent="0" marL="0">
              <a:lnSpc>
                <a:spcPct val="115000"/>
              </a:lnSpc>
              <a:buNone/>
            </a:pPr>
            <a:r>
              <a:rPr lang="en-US" sz="1020" dirty="0">
                <a:solidFill>
                  <a:srgbClr val="141A45"/>
                </a:solidFill>
                <a:latin typeface="Calibri" pitchFamily="34" charset="0"/>
                <a:ea typeface="Calibri" pitchFamily="34" charset="-122"/>
                <a:cs typeface="Calibri" pitchFamily="34" charset="-120"/>
              </a:rPr>
              <a:t>SP 8.1.2 &amp; 8.1.4 secara eksplisit mewajibkan data/tafsiran berkaitan Pendidikan Keselamatan Jalan Raya (PKJR) dibincangkan.</a:t>
            </a:r>
            <a:endParaRPr lang="en-US" sz="1020" dirty="0"/>
          </a:p>
        </p:txBody>
      </p:sp>
      <p:sp>
        <p:nvSpPr>
          <p:cNvPr id="16" name="Shape 11"/>
          <p:cNvSpPr/>
          <p:nvPr/>
        </p:nvSpPr>
        <p:spPr>
          <a:xfrm>
            <a:off x="6263640" y="3182112"/>
            <a:ext cx="5349240" cy="1371600"/>
          </a:xfrm>
          <a:prstGeom prst="roundRect">
            <a:avLst>
              <a:gd name="adj" fmla="val 5333"/>
            </a:avLst>
          </a:prstGeom>
          <a:solidFill>
            <a:srgbClr val="F5F7FC"/>
          </a:solidFill>
          <a:ln w="12700">
            <a:solidFill>
              <a:srgbClr val="E7EAF2"/>
            </a:solidFill>
            <a:prstDash val="solid"/>
          </a:ln>
        </p:spPr>
      </p:sp>
      <p:sp>
        <p:nvSpPr>
          <p:cNvPr id="17" name="Shape 12"/>
          <p:cNvSpPr/>
          <p:nvPr/>
        </p:nvSpPr>
        <p:spPr>
          <a:xfrm>
            <a:off x="6428232" y="3410712"/>
            <a:ext cx="457200" cy="457200"/>
          </a:xfrm>
          <a:prstGeom prst="ellipse">
            <a:avLst/>
          </a:prstGeom>
          <a:solidFill>
            <a:srgbClr val="E0435A"/>
          </a:solidFill>
          <a:ln/>
        </p:spPr>
      </p:sp>
      <p:pic>
        <p:nvPicPr>
          <p:cNvPr id="18" name="Image 3" descr="/home/claude/shared_icons/icon_check.png">    </p:cNvPr>
          <p:cNvPicPr>
            <a:picLocks noChangeAspect="1"/>
          </p:cNvPicPr>
          <p:nvPr/>
        </p:nvPicPr>
        <p:blipFill>
          <a:blip r:embed="rId4"/>
          <a:stretch>
            <a:fillRect/>
          </a:stretch>
        </p:blipFill>
        <p:spPr>
          <a:xfrm>
            <a:off x="6492240" y="3474720"/>
            <a:ext cx="329184" cy="329184"/>
          </a:xfrm>
          <a:prstGeom prst="rect">
            <a:avLst/>
          </a:prstGeom>
        </p:spPr>
      </p:pic>
      <p:sp>
        <p:nvSpPr>
          <p:cNvPr id="19" name="Text 13"/>
          <p:cNvSpPr txBox="1"/>
          <p:nvPr/>
        </p:nvSpPr>
        <p:spPr>
          <a:xfrm>
            <a:off x="7013448" y="3273552"/>
            <a:ext cx="4434840" cy="1188720"/>
          </a:xfrm>
          <a:prstGeom prst="rect">
            <a:avLst/>
          </a:prstGeom>
          <a:noFill/>
          <a:ln/>
        </p:spPr>
        <p:txBody>
          <a:bodyPr wrap="square" rtlCol="0" anchor="ctr"/>
          <a:lstStyle/>
          <a:p>
            <a:pPr indent="0" marL="0">
              <a:lnSpc>
                <a:spcPct val="115000"/>
              </a:lnSpc>
              <a:buNone/>
            </a:pPr>
            <a:r>
              <a:rPr lang="en-US" sz="1020" dirty="0">
                <a:solidFill>
                  <a:srgbClr val="141A45"/>
                </a:solidFill>
                <a:latin typeface="Calibri" pitchFamily="34" charset="0"/>
                <a:ea typeface="Calibri" pitchFamily="34" charset="-122"/>
                <a:cs typeface="Calibri" pitchFamily="34" charset="-120"/>
              </a:rPr>
              <a:t>Tempoh projek PBL yang munasabah ialah dua minggu hingga sebulan — bukan disiapkan dalam satu waktu 60 minit.</a:t>
            </a:r>
            <a:endParaRPr lang="en-US" sz="1020" dirty="0"/>
          </a:p>
        </p:txBody>
      </p:sp>
      <p:sp>
        <p:nvSpPr>
          <p:cNvPr id="20" name="Shape 14"/>
          <p:cNvSpPr/>
          <p:nvPr/>
        </p:nvSpPr>
        <p:spPr>
          <a:xfrm>
            <a:off x="548640" y="4718304"/>
            <a:ext cx="5349240" cy="1371600"/>
          </a:xfrm>
          <a:prstGeom prst="roundRect">
            <a:avLst>
              <a:gd name="adj" fmla="val 5333"/>
            </a:avLst>
          </a:prstGeom>
          <a:solidFill>
            <a:srgbClr val="F5F7FC"/>
          </a:solidFill>
          <a:ln w="12700">
            <a:solidFill>
              <a:srgbClr val="E7EAF2"/>
            </a:solidFill>
            <a:prstDash val="solid"/>
          </a:ln>
        </p:spPr>
      </p:sp>
      <p:sp>
        <p:nvSpPr>
          <p:cNvPr id="21" name="Shape 15"/>
          <p:cNvSpPr/>
          <p:nvPr/>
        </p:nvSpPr>
        <p:spPr>
          <a:xfrm>
            <a:off x="713232" y="4946904"/>
            <a:ext cx="457200" cy="457200"/>
          </a:xfrm>
          <a:prstGeom prst="ellipse">
            <a:avLst/>
          </a:prstGeom>
          <a:solidFill>
            <a:srgbClr val="E0435A"/>
          </a:solidFill>
          <a:ln/>
        </p:spPr>
      </p:sp>
      <p:pic>
        <p:nvPicPr>
          <p:cNvPr id="22" name="Image 4" descr="/home/claude/shared_icons/icon_check.png">    </p:cNvPr>
          <p:cNvPicPr>
            <a:picLocks noChangeAspect="1"/>
          </p:cNvPicPr>
          <p:nvPr/>
        </p:nvPicPr>
        <p:blipFill>
          <a:blip r:embed="rId5"/>
          <a:stretch>
            <a:fillRect/>
          </a:stretch>
        </p:blipFill>
        <p:spPr>
          <a:xfrm>
            <a:off x="777240" y="5010912"/>
            <a:ext cx="329184" cy="329184"/>
          </a:xfrm>
          <a:prstGeom prst="rect">
            <a:avLst/>
          </a:prstGeom>
        </p:spPr>
      </p:pic>
      <p:sp>
        <p:nvSpPr>
          <p:cNvPr id="23" name="Text 16"/>
          <p:cNvSpPr txBox="1"/>
          <p:nvPr/>
        </p:nvSpPr>
        <p:spPr>
          <a:xfrm>
            <a:off x="1298448" y="4809744"/>
            <a:ext cx="4434840" cy="1188720"/>
          </a:xfrm>
          <a:prstGeom prst="rect">
            <a:avLst/>
          </a:prstGeom>
          <a:noFill/>
          <a:ln/>
        </p:spPr>
        <p:txBody>
          <a:bodyPr wrap="square" rtlCol="0" anchor="ctr"/>
          <a:lstStyle/>
          <a:p>
            <a:pPr indent="0" marL="0">
              <a:lnSpc>
                <a:spcPct val="115000"/>
              </a:lnSpc>
              <a:buNone/>
            </a:pPr>
            <a:r>
              <a:rPr lang="en-US" sz="1020" dirty="0">
                <a:solidFill>
                  <a:srgbClr val="141A45"/>
                </a:solidFill>
                <a:latin typeface="Calibri" pitchFamily="34" charset="0"/>
                <a:ea typeface="Calibri" pitchFamily="34" charset="-122"/>
                <a:cs typeface="Calibri" pitchFamily="34" charset="-120"/>
              </a:rPr>
              <a:t>Penggunaan AI/perisian dinamik (ChatGPT, Canva, SPSS) amat digalakkan untuk menyokong fasa analisis data murid.</a:t>
            </a:r>
            <a:endParaRPr lang="en-US" sz="1020" dirty="0"/>
          </a:p>
        </p:txBody>
      </p:sp>
      <p:sp>
        <p:nvSpPr>
          <p:cNvPr id="24" name="Shape 17"/>
          <p:cNvSpPr/>
          <p:nvPr/>
        </p:nvSpPr>
        <p:spPr>
          <a:xfrm>
            <a:off x="6263640" y="4718304"/>
            <a:ext cx="5349240" cy="1371600"/>
          </a:xfrm>
          <a:prstGeom prst="roundRect">
            <a:avLst>
              <a:gd name="adj" fmla="val 5333"/>
            </a:avLst>
          </a:prstGeom>
          <a:solidFill>
            <a:srgbClr val="F5F7FC"/>
          </a:solidFill>
          <a:ln w="12700">
            <a:solidFill>
              <a:srgbClr val="E7EAF2"/>
            </a:solidFill>
            <a:prstDash val="solid"/>
          </a:ln>
        </p:spPr>
      </p:sp>
      <p:sp>
        <p:nvSpPr>
          <p:cNvPr id="25" name="Shape 18"/>
          <p:cNvSpPr/>
          <p:nvPr/>
        </p:nvSpPr>
        <p:spPr>
          <a:xfrm>
            <a:off x="6428232" y="4946904"/>
            <a:ext cx="457200" cy="457200"/>
          </a:xfrm>
          <a:prstGeom prst="ellipse">
            <a:avLst/>
          </a:prstGeom>
          <a:solidFill>
            <a:srgbClr val="E0435A"/>
          </a:solidFill>
          <a:ln/>
        </p:spPr>
      </p:sp>
      <p:pic>
        <p:nvPicPr>
          <p:cNvPr id="26" name="Image 5" descr="/home/claude/shared_icons/icon_check.png">    </p:cNvPr>
          <p:cNvPicPr>
            <a:picLocks noChangeAspect="1"/>
          </p:cNvPicPr>
          <p:nvPr/>
        </p:nvPicPr>
        <p:blipFill>
          <a:blip r:embed="rId6"/>
          <a:stretch>
            <a:fillRect/>
          </a:stretch>
        </p:blipFill>
        <p:spPr>
          <a:xfrm>
            <a:off x="6492240" y="5010912"/>
            <a:ext cx="329184" cy="329184"/>
          </a:xfrm>
          <a:prstGeom prst="rect">
            <a:avLst/>
          </a:prstGeom>
        </p:spPr>
      </p:pic>
      <p:sp>
        <p:nvSpPr>
          <p:cNvPr id="27" name="Text 19"/>
          <p:cNvSpPr txBox="1"/>
          <p:nvPr/>
        </p:nvSpPr>
        <p:spPr>
          <a:xfrm>
            <a:off x="7013448" y="4809744"/>
            <a:ext cx="4434840" cy="1188720"/>
          </a:xfrm>
          <a:prstGeom prst="rect">
            <a:avLst/>
          </a:prstGeom>
          <a:noFill/>
          <a:ln/>
        </p:spPr>
        <p:txBody>
          <a:bodyPr wrap="square" rtlCol="0" anchor="ctr"/>
          <a:lstStyle/>
          <a:p>
            <a:pPr indent="0" marL="0">
              <a:lnSpc>
                <a:spcPct val="115000"/>
              </a:lnSpc>
              <a:buNone/>
            </a:pPr>
            <a:r>
              <a:rPr lang="en-US" sz="1020" dirty="0">
                <a:solidFill>
                  <a:srgbClr val="141A45"/>
                </a:solidFill>
                <a:latin typeface="Calibri" pitchFamily="34" charset="0"/>
                <a:ea typeface="Calibri" pitchFamily="34" charset="-122"/>
                <a:cs typeface="Calibri" pitchFamily="34" charset="-120"/>
              </a:rPr>
              <a:t>Kepentingan perwakilan data yang BERETIKA (mengelakkan kekeliruan/manipulasi visual) wajib dibincangkan (SP 8.1.4).</a:t>
            </a:r>
            <a:endParaRPr lang="en-US" sz="1020" dirty="0"/>
          </a:p>
        </p:txBody>
      </p:sp>
      <p:sp>
        <p:nvSpPr>
          <p:cNvPr id="28" name="Text 20"/>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[DKP/BPK/BENGKEL] Slaid &amp; Analisis Sidang 7</a:t>
            </a:r>
            <a:endParaRPr lang="en-US" sz="1000" dirty="0"/>
          </a:p>
        </p:txBody>
      </p:sp>
      <p:sp>
        <p:nvSpPr>
          <p:cNvPr id="29" name="Text 21"/>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7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KESILAPAN PERLU DIELAKKAN</a:t>
            </a:r>
            <a:endParaRPr lang="en-US" sz="1300" dirty="0"/>
          </a:p>
        </p:txBody>
      </p:sp>
      <p:sp>
        <p:nvSpPr>
          <p:cNvPr id="3" name="Text 1"/>
          <p:cNvSpPr txBox="1"/>
          <p:nvPr/>
        </p:nvSpPr>
        <p:spPr>
          <a:xfrm>
            <a:off x="548640" y="658368"/>
            <a:ext cx="10972800" cy="68580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Salah Faham Lazim dalam Pelaksanaan</a:t>
            </a:r>
            <a:endParaRPr lang="en-US" sz="2700" dirty="0"/>
          </a:p>
        </p:txBody>
      </p:sp>
      <p:sp>
        <p:nvSpPr>
          <p:cNvPr id="4" name="Shape 2"/>
          <p:cNvSpPr/>
          <p:nvPr/>
        </p:nvSpPr>
        <p:spPr>
          <a:xfrm>
            <a:off x="548640" y="1600200"/>
            <a:ext cx="5349240" cy="1298448"/>
          </a:xfrm>
          <a:prstGeom prst="roundRect">
            <a:avLst>
              <a:gd name="adj" fmla="val 5634"/>
            </a:avLst>
          </a:prstGeom>
          <a:solidFill>
            <a:srgbClr val="141A45"/>
          </a:solidFill>
          <a:ln/>
        </p:spPr>
      </p:sp>
      <p:sp>
        <p:nvSpPr>
          <p:cNvPr id="5" name="Shape 3"/>
          <p:cNvSpPr/>
          <p:nvPr/>
        </p:nvSpPr>
        <p:spPr>
          <a:xfrm>
            <a:off x="713232" y="1837944"/>
            <a:ext cx="457200" cy="457200"/>
          </a:xfrm>
          <a:prstGeom prst="ellipse">
            <a:avLst/>
          </a:prstGeom>
          <a:solidFill>
            <a:srgbClr val="E0435A"/>
          </a:solidFill>
          <a:ln/>
        </p:spPr>
      </p:sp>
      <p:pic>
        <p:nvPicPr>
          <p:cNvPr id="6" name="Image 0" descr="/home/claude/shared_icons/icon_warning.png">    </p:cNvPr>
          <p:cNvPicPr>
            <a:picLocks noChangeAspect="1"/>
          </p:cNvPicPr>
          <p:nvPr/>
        </p:nvPicPr>
        <p:blipFill>
          <a:blip r:embed="rId1"/>
          <a:stretch>
            <a:fillRect/>
          </a:stretch>
        </p:blipFill>
        <p:spPr>
          <a:xfrm>
            <a:off x="777240" y="1901952"/>
            <a:ext cx="329184" cy="329184"/>
          </a:xfrm>
          <a:prstGeom prst="rect">
            <a:avLst/>
          </a:prstGeom>
        </p:spPr>
      </p:pic>
      <p:sp>
        <p:nvSpPr>
          <p:cNvPr id="7" name="Text 4"/>
          <p:cNvSpPr txBox="1"/>
          <p:nvPr/>
        </p:nvSpPr>
        <p:spPr>
          <a:xfrm>
            <a:off x="1298448" y="1691640"/>
            <a:ext cx="4434840" cy="1097280"/>
          </a:xfrm>
          <a:prstGeom prst="rect">
            <a:avLst/>
          </a:prstGeom>
          <a:noFill/>
          <a:ln/>
        </p:spPr>
        <p:txBody>
          <a:bodyPr wrap="square" rtlCol="0" anchor="ctr"/>
          <a:lstStyle/>
          <a:p>
            <a:pPr indent="0" marL="0">
              <a:lnSpc>
                <a:spcPct val="115000"/>
              </a:lnSpc>
              <a:buNone/>
            </a:pPr>
            <a:r>
              <a:rPr lang="en-US" sz="1020" dirty="0">
                <a:solidFill>
                  <a:srgbClr val="FFFFFF"/>
                </a:solidFill>
                <a:latin typeface="Calibri" pitchFamily="34" charset="0"/>
                <a:ea typeface="Calibri" pitchFamily="34" charset="-122"/>
                <a:cs typeface="Calibri" pitchFamily="34" charset="-120"/>
              </a:rPr>
              <a:t>Hanya mengajar kemahiran melukis graf secara mekanikal tanpa melalui proses inkuiri penuh.</a:t>
            </a:r>
            <a:endParaRPr lang="en-US" sz="1020" dirty="0"/>
          </a:p>
        </p:txBody>
      </p:sp>
      <p:sp>
        <p:nvSpPr>
          <p:cNvPr id="8" name="Shape 5"/>
          <p:cNvSpPr/>
          <p:nvPr/>
        </p:nvSpPr>
        <p:spPr>
          <a:xfrm>
            <a:off x="6263640" y="1600200"/>
            <a:ext cx="5349240" cy="1298448"/>
          </a:xfrm>
          <a:prstGeom prst="roundRect">
            <a:avLst>
              <a:gd name="adj" fmla="val 5634"/>
            </a:avLst>
          </a:prstGeom>
          <a:solidFill>
            <a:srgbClr val="141A45"/>
          </a:solidFill>
          <a:ln/>
        </p:spPr>
      </p:sp>
      <p:sp>
        <p:nvSpPr>
          <p:cNvPr id="9" name="Shape 6"/>
          <p:cNvSpPr/>
          <p:nvPr/>
        </p:nvSpPr>
        <p:spPr>
          <a:xfrm>
            <a:off x="6428232" y="1837944"/>
            <a:ext cx="457200" cy="457200"/>
          </a:xfrm>
          <a:prstGeom prst="ellipse">
            <a:avLst/>
          </a:prstGeom>
          <a:solidFill>
            <a:srgbClr val="E0435A"/>
          </a:solidFill>
          <a:ln/>
        </p:spPr>
      </p:sp>
      <p:pic>
        <p:nvPicPr>
          <p:cNvPr id="10" name="Image 1" descr="/home/claude/shared_icons/icon_warning.png">    </p:cNvPr>
          <p:cNvPicPr>
            <a:picLocks noChangeAspect="1"/>
          </p:cNvPicPr>
          <p:nvPr/>
        </p:nvPicPr>
        <p:blipFill>
          <a:blip r:embed="rId2"/>
          <a:stretch>
            <a:fillRect/>
          </a:stretch>
        </p:blipFill>
        <p:spPr>
          <a:xfrm>
            <a:off x="6492240" y="1901952"/>
            <a:ext cx="329184" cy="329184"/>
          </a:xfrm>
          <a:prstGeom prst="rect">
            <a:avLst/>
          </a:prstGeom>
        </p:spPr>
      </p:pic>
      <p:sp>
        <p:nvSpPr>
          <p:cNvPr id="11" name="Text 7"/>
          <p:cNvSpPr txBox="1"/>
          <p:nvPr/>
        </p:nvSpPr>
        <p:spPr>
          <a:xfrm>
            <a:off x="7013448" y="1691640"/>
            <a:ext cx="4434840" cy="1097280"/>
          </a:xfrm>
          <a:prstGeom prst="rect">
            <a:avLst/>
          </a:prstGeom>
          <a:noFill/>
          <a:ln/>
        </p:spPr>
        <p:txBody>
          <a:bodyPr wrap="square" rtlCol="0" anchor="ctr"/>
          <a:lstStyle/>
          <a:p>
            <a:pPr indent="0" marL="0">
              <a:lnSpc>
                <a:spcPct val="115000"/>
              </a:lnSpc>
              <a:buNone/>
            </a:pPr>
            <a:r>
              <a:rPr lang="en-US" sz="1020" dirty="0">
                <a:solidFill>
                  <a:srgbClr val="FFFFFF"/>
                </a:solidFill>
                <a:latin typeface="Calibri" pitchFamily="34" charset="0"/>
                <a:ea typeface="Calibri" pitchFamily="34" charset="-122"/>
                <a:cs typeface="Calibri" pitchFamily="34" charset="-120"/>
              </a:rPr>
              <a:t>Cuba memaksa projek PBL disiapkan dalam satu waktu 60 minit sahaja.</a:t>
            </a:r>
            <a:endParaRPr lang="en-US" sz="1020" dirty="0"/>
          </a:p>
        </p:txBody>
      </p:sp>
      <p:sp>
        <p:nvSpPr>
          <p:cNvPr id="12" name="Shape 8"/>
          <p:cNvSpPr/>
          <p:nvPr/>
        </p:nvSpPr>
        <p:spPr>
          <a:xfrm>
            <a:off x="548640" y="3063240"/>
            <a:ext cx="5349240" cy="1298448"/>
          </a:xfrm>
          <a:prstGeom prst="roundRect">
            <a:avLst>
              <a:gd name="adj" fmla="val 5634"/>
            </a:avLst>
          </a:prstGeom>
          <a:solidFill>
            <a:srgbClr val="141A45"/>
          </a:solidFill>
          <a:ln/>
        </p:spPr>
      </p:sp>
      <p:sp>
        <p:nvSpPr>
          <p:cNvPr id="13" name="Shape 9"/>
          <p:cNvSpPr/>
          <p:nvPr/>
        </p:nvSpPr>
        <p:spPr>
          <a:xfrm>
            <a:off x="713232" y="3300984"/>
            <a:ext cx="457200" cy="457200"/>
          </a:xfrm>
          <a:prstGeom prst="ellipse">
            <a:avLst/>
          </a:prstGeom>
          <a:solidFill>
            <a:srgbClr val="E0435A"/>
          </a:solidFill>
          <a:ln/>
        </p:spPr>
      </p:sp>
      <p:pic>
        <p:nvPicPr>
          <p:cNvPr id="14" name="Image 2" descr="/home/claude/shared_icons/icon_warning.png">    </p:cNvPr>
          <p:cNvPicPr>
            <a:picLocks noChangeAspect="1"/>
          </p:cNvPicPr>
          <p:nvPr/>
        </p:nvPicPr>
        <p:blipFill>
          <a:blip r:embed="rId3"/>
          <a:stretch>
            <a:fillRect/>
          </a:stretch>
        </p:blipFill>
        <p:spPr>
          <a:xfrm>
            <a:off x="777240" y="3364992"/>
            <a:ext cx="329184" cy="329184"/>
          </a:xfrm>
          <a:prstGeom prst="rect">
            <a:avLst/>
          </a:prstGeom>
        </p:spPr>
      </p:pic>
      <p:sp>
        <p:nvSpPr>
          <p:cNvPr id="15" name="Text 10"/>
          <p:cNvSpPr txBox="1"/>
          <p:nvPr/>
        </p:nvSpPr>
        <p:spPr>
          <a:xfrm>
            <a:off x="1298448" y="3154680"/>
            <a:ext cx="4434840" cy="1097280"/>
          </a:xfrm>
          <a:prstGeom prst="rect">
            <a:avLst/>
          </a:prstGeom>
          <a:noFill/>
          <a:ln/>
        </p:spPr>
        <p:txBody>
          <a:bodyPr wrap="square" rtlCol="0" anchor="ctr"/>
          <a:lstStyle/>
          <a:p>
            <a:pPr indent="0" marL="0">
              <a:lnSpc>
                <a:spcPct val="115000"/>
              </a:lnSpc>
              <a:buNone/>
            </a:pPr>
            <a:r>
              <a:rPr lang="en-US" sz="1020" dirty="0">
                <a:solidFill>
                  <a:srgbClr val="FFFFFF"/>
                </a:solidFill>
                <a:latin typeface="Calibri" pitchFamily="34" charset="0"/>
                <a:ea typeface="Calibri" pitchFamily="34" charset="-122"/>
                <a:cs typeface="Calibri" pitchFamily="34" charset="-120"/>
              </a:rPr>
              <a:t>Mengabaikan konteks PKJR yang dinyatakan secara eksplisit dalam Nota SP 8.1.2 &amp; 8.1.4.</a:t>
            </a:r>
            <a:endParaRPr lang="en-US" sz="1020" dirty="0"/>
          </a:p>
        </p:txBody>
      </p:sp>
      <p:sp>
        <p:nvSpPr>
          <p:cNvPr id="16" name="Shape 11"/>
          <p:cNvSpPr/>
          <p:nvPr/>
        </p:nvSpPr>
        <p:spPr>
          <a:xfrm>
            <a:off x="6263640" y="3063240"/>
            <a:ext cx="5349240" cy="1298448"/>
          </a:xfrm>
          <a:prstGeom prst="roundRect">
            <a:avLst>
              <a:gd name="adj" fmla="val 5634"/>
            </a:avLst>
          </a:prstGeom>
          <a:solidFill>
            <a:srgbClr val="141A45"/>
          </a:solidFill>
          <a:ln/>
        </p:spPr>
      </p:sp>
      <p:sp>
        <p:nvSpPr>
          <p:cNvPr id="17" name="Shape 12"/>
          <p:cNvSpPr/>
          <p:nvPr/>
        </p:nvSpPr>
        <p:spPr>
          <a:xfrm>
            <a:off x="6428232" y="3300984"/>
            <a:ext cx="457200" cy="457200"/>
          </a:xfrm>
          <a:prstGeom prst="ellipse">
            <a:avLst/>
          </a:prstGeom>
          <a:solidFill>
            <a:srgbClr val="E0435A"/>
          </a:solidFill>
          <a:ln/>
        </p:spPr>
      </p:sp>
      <p:pic>
        <p:nvPicPr>
          <p:cNvPr id="18" name="Image 3" descr="/home/claude/shared_icons/icon_warning.png">    </p:cNvPr>
          <p:cNvPicPr>
            <a:picLocks noChangeAspect="1"/>
          </p:cNvPicPr>
          <p:nvPr/>
        </p:nvPicPr>
        <p:blipFill>
          <a:blip r:embed="rId4"/>
          <a:stretch>
            <a:fillRect/>
          </a:stretch>
        </p:blipFill>
        <p:spPr>
          <a:xfrm>
            <a:off x="6492240" y="3364992"/>
            <a:ext cx="329184" cy="329184"/>
          </a:xfrm>
          <a:prstGeom prst="rect">
            <a:avLst/>
          </a:prstGeom>
        </p:spPr>
      </p:pic>
      <p:sp>
        <p:nvSpPr>
          <p:cNvPr id="19" name="Text 13"/>
          <p:cNvSpPr txBox="1"/>
          <p:nvPr/>
        </p:nvSpPr>
        <p:spPr>
          <a:xfrm>
            <a:off x="7013448" y="3154680"/>
            <a:ext cx="4434840" cy="1097280"/>
          </a:xfrm>
          <a:prstGeom prst="rect">
            <a:avLst/>
          </a:prstGeom>
          <a:noFill/>
          <a:ln/>
        </p:spPr>
        <p:txBody>
          <a:bodyPr wrap="square" rtlCol="0" anchor="ctr"/>
          <a:lstStyle/>
          <a:p>
            <a:pPr indent="0" marL="0">
              <a:lnSpc>
                <a:spcPct val="115000"/>
              </a:lnSpc>
              <a:buNone/>
            </a:pPr>
            <a:r>
              <a:rPr lang="en-US" sz="1020" dirty="0">
                <a:solidFill>
                  <a:srgbClr val="FFFFFF"/>
                </a:solidFill>
                <a:latin typeface="Calibri" pitchFamily="34" charset="0"/>
                <a:ea typeface="Calibri" pitchFamily="34" charset="-122"/>
                <a:cs typeface="Calibri" pitchFamily="34" charset="-120"/>
              </a:rPr>
              <a:t>Menolak/mengetepikan perbincangan etika dalam perwakilan data (risiko manipulasi visual).</a:t>
            </a:r>
            <a:endParaRPr lang="en-US" sz="1020" dirty="0"/>
          </a:p>
        </p:txBody>
      </p:sp>
      <p:sp>
        <p:nvSpPr>
          <p:cNvPr id="20" name="Shape 14"/>
          <p:cNvSpPr/>
          <p:nvPr/>
        </p:nvSpPr>
        <p:spPr>
          <a:xfrm>
            <a:off x="548640" y="4526280"/>
            <a:ext cx="5349240" cy="1298448"/>
          </a:xfrm>
          <a:prstGeom prst="roundRect">
            <a:avLst>
              <a:gd name="adj" fmla="val 5634"/>
            </a:avLst>
          </a:prstGeom>
          <a:solidFill>
            <a:srgbClr val="141A45"/>
          </a:solidFill>
          <a:ln/>
        </p:spPr>
      </p:sp>
      <p:sp>
        <p:nvSpPr>
          <p:cNvPr id="21" name="Shape 15"/>
          <p:cNvSpPr/>
          <p:nvPr/>
        </p:nvSpPr>
        <p:spPr>
          <a:xfrm>
            <a:off x="713232" y="4764024"/>
            <a:ext cx="457200" cy="457200"/>
          </a:xfrm>
          <a:prstGeom prst="ellipse">
            <a:avLst/>
          </a:prstGeom>
          <a:solidFill>
            <a:srgbClr val="E0435A"/>
          </a:solidFill>
          <a:ln/>
        </p:spPr>
      </p:sp>
      <p:pic>
        <p:nvPicPr>
          <p:cNvPr id="22" name="Image 4" descr="/home/claude/shared_icons/icon_warning.png">    </p:cNvPr>
          <p:cNvPicPr>
            <a:picLocks noChangeAspect="1"/>
          </p:cNvPicPr>
          <p:nvPr/>
        </p:nvPicPr>
        <p:blipFill>
          <a:blip r:embed="rId5"/>
          <a:stretch>
            <a:fillRect/>
          </a:stretch>
        </p:blipFill>
        <p:spPr>
          <a:xfrm>
            <a:off x="777240" y="4828032"/>
            <a:ext cx="329184" cy="329184"/>
          </a:xfrm>
          <a:prstGeom prst="rect">
            <a:avLst/>
          </a:prstGeom>
        </p:spPr>
      </p:pic>
      <p:sp>
        <p:nvSpPr>
          <p:cNvPr id="23" name="Text 16"/>
          <p:cNvSpPr txBox="1"/>
          <p:nvPr/>
        </p:nvSpPr>
        <p:spPr>
          <a:xfrm>
            <a:off x="1298448" y="4617720"/>
            <a:ext cx="4434840" cy="1097280"/>
          </a:xfrm>
          <a:prstGeom prst="rect">
            <a:avLst/>
          </a:prstGeom>
          <a:noFill/>
          <a:ln/>
        </p:spPr>
        <p:txBody>
          <a:bodyPr wrap="square" rtlCol="0" anchor="ctr"/>
          <a:lstStyle/>
          <a:p>
            <a:pPr indent="0" marL="0">
              <a:lnSpc>
                <a:spcPct val="115000"/>
              </a:lnSpc>
              <a:buNone/>
            </a:pPr>
            <a:r>
              <a:rPr lang="en-US" sz="1020" dirty="0">
                <a:solidFill>
                  <a:srgbClr val="FFFFFF"/>
                </a:solidFill>
                <a:latin typeface="Calibri" pitchFamily="34" charset="0"/>
                <a:ea typeface="Calibri" pitchFamily="34" charset="-122"/>
                <a:cs typeface="Calibri" pitchFamily="34" charset="-120"/>
              </a:rPr>
              <a:t>Menganggap projek statistik memerlukan capaian internet penuh — sebenarnya boleh dilakukan secara manual.</a:t>
            </a:r>
            <a:endParaRPr lang="en-US" sz="1020" dirty="0"/>
          </a:p>
        </p:txBody>
      </p:sp>
      <p:sp>
        <p:nvSpPr>
          <p:cNvPr id="24" name="Shape 17"/>
          <p:cNvSpPr/>
          <p:nvPr/>
        </p:nvSpPr>
        <p:spPr>
          <a:xfrm>
            <a:off x="6263640" y="4526280"/>
            <a:ext cx="5349240" cy="1298448"/>
          </a:xfrm>
          <a:prstGeom prst="roundRect">
            <a:avLst>
              <a:gd name="adj" fmla="val 5634"/>
            </a:avLst>
          </a:prstGeom>
          <a:solidFill>
            <a:srgbClr val="141A45"/>
          </a:solidFill>
          <a:ln/>
        </p:spPr>
      </p:sp>
      <p:sp>
        <p:nvSpPr>
          <p:cNvPr id="25" name="Shape 18"/>
          <p:cNvSpPr/>
          <p:nvPr/>
        </p:nvSpPr>
        <p:spPr>
          <a:xfrm>
            <a:off x="6428232" y="4764024"/>
            <a:ext cx="457200" cy="457200"/>
          </a:xfrm>
          <a:prstGeom prst="ellipse">
            <a:avLst/>
          </a:prstGeom>
          <a:solidFill>
            <a:srgbClr val="E0435A"/>
          </a:solidFill>
          <a:ln/>
        </p:spPr>
      </p:sp>
      <p:pic>
        <p:nvPicPr>
          <p:cNvPr id="26" name="Image 5" descr="/home/claude/shared_icons/icon_warning.png">    </p:cNvPr>
          <p:cNvPicPr>
            <a:picLocks noChangeAspect="1"/>
          </p:cNvPicPr>
          <p:nvPr/>
        </p:nvPicPr>
        <p:blipFill>
          <a:blip r:embed="rId6"/>
          <a:stretch>
            <a:fillRect/>
          </a:stretch>
        </p:blipFill>
        <p:spPr>
          <a:xfrm>
            <a:off x="6492240" y="4828032"/>
            <a:ext cx="329184" cy="329184"/>
          </a:xfrm>
          <a:prstGeom prst="rect">
            <a:avLst/>
          </a:prstGeom>
        </p:spPr>
      </p:pic>
      <p:sp>
        <p:nvSpPr>
          <p:cNvPr id="27" name="Text 19"/>
          <p:cNvSpPr txBox="1"/>
          <p:nvPr/>
        </p:nvSpPr>
        <p:spPr>
          <a:xfrm>
            <a:off x="7013448" y="4617720"/>
            <a:ext cx="4434840" cy="1097280"/>
          </a:xfrm>
          <a:prstGeom prst="rect">
            <a:avLst/>
          </a:prstGeom>
          <a:noFill/>
          <a:ln/>
        </p:spPr>
        <p:txBody>
          <a:bodyPr wrap="square" rtlCol="0" anchor="ctr"/>
          <a:lstStyle/>
          <a:p>
            <a:pPr indent="0" marL="0">
              <a:lnSpc>
                <a:spcPct val="115000"/>
              </a:lnSpc>
              <a:buNone/>
            </a:pPr>
            <a:r>
              <a:rPr lang="en-US" sz="1020" dirty="0">
                <a:solidFill>
                  <a:srgbClr val="FFFFFF"/>
                </a:solidFill>
                <a:latin typeface="Calibri" pitchFamily="34" charset="0"/>
                <a:ea typeface="Calibri" pitchFamily="34" charset="-122"/>
                <a:cs typeface="Calibri" pitchFamily="34" charset="-120"/>
              </a:rPr>
              <a:t>Tidak memberi ruang murid membentangkan dapatan (Langkah 7) — berhenti selepas membina graf sahaja.</a:t>
            </a:r>
            <a:endParaRPr lang="en-US" sz="1020" dirty="0"/>
          </a:p>
        </p:txBody>
      </p:sp>
      <p:sp>
        <p:nvSpPr>
          <p:cNvPr id="28" name="Text 20"/>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[BENGKEL] Analisis Pengendalian Data, Bhg. 8</a:t>
            </a:r>
            <a:endParaRPr lang="en-US" sz="1000" dirty="0"/>
          </a:p>
        </p:txBody>
      </p:sp>
      <p:sp>
        <p:nvSpPr>
          <p:cNvPr id="29" name="Text 21"/>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7  |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IMPLIKASI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Implikasi kepada Guru dan Murid</a:t>
            </a:r>
            <a:endParaRPr lang="en-US" sz="2600" dirty="0"/>
          </a:p>
        </p:txBody>
      </p:sp>
      <p:sp>
        <p:nvSpPr>
          <p:cNvPr id="4" name="Shape 2"/>
          <p:cNvSpPr/>
          <p:nvPr/>
        </p:nvSpPr>
        <p:spPr>
          <a:xfrm>
            <a:off x="548640" y="1645920"/>
            <a:ext cx="5394960" cy="4389120"/>
          </a:xfrm>
          <a:prstGeom prst="roundRect">
            <a:avLst>
              <a:gd name="adj" fmla="val 1667"/>
            </a:avLst>
          </a:prstGeom>
          <a:solidFill>
            <a:srgbClr val="1E2761"/>
          </a:solidFill>
          <a:ln/>
        </p:spPr>
      </p:sp>
      <p:sp>
        <p:nvSpPr>
          <p:cNvPr id="5" name="Shape 3"/>
          <p:cNvSpPr/>
          <p:nvPr/>
        </p:nvSpPr>
        <p:spPr>
          <a:xfrm>
            <a:off x="777240" y="1828800"/>
            <a:ext cx="640080" cy="640080"/>
          </a:xfrm>
          <a:prstGeom prst="ellipse">
            <a:avLst/>
          </a:prstGeom>
          <a:solidFill>
            <a:srgbClr val="F2B705"/>
          </a:solidFill>
          <a:ln/>
        </p:spPr>
      </p:sp>
      <p:pic>
        <p:nvPicPr>
          <p:cNvPr id="6" name="Image 0" descr="/home/claude/shared_icons/icon_bookReader.png">    </p:cNvPr>
          <p:cNvPicPr>
            <a:picLocks noChangeAspect="1"/>
          </p:cNvPicPr>
          <p:nvPr/>
        </p:nvPicPr>
        <p:blipFill>
          <a:blip r:embed="rId1"/>
          <a:stretch>
            <a:fillRect/>
          </a:stretch>
        </p:blipFill>
        <p:spPr>
          <a:xfrm>
            <a:off x="866851" y="1918411"/>
            <a:ext cx="460858" cy="460858"/>
          </a:xfrm>
          <a:prstGeom prst="rect">
            <a:avLst/>
          </a:prstGeom>
        </p:spPr>
      </p:pic>
      <p:sp>
        <p:nvSpPr>
          <p:cNvPr id="7" name="Text 4"/>
          <p:cNvSpPr txBox="1"/>
          <p:nvPr/>
        </p:nvSpPr>
        <p:spPr>
          <a:xfrm>
            <a:off x="1554480" y="1965960"/>
            <a:ext cx="420624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KEPADA GURU</a:t>
            </a:r>
            <a:endParaRPr lang="en-US" sz="1500" dirty="0"/>
          </a:p>
        </p:txBody>
      </p:sp>
      <p:sp>
        <p:nvSpPr>
          <p:cNvPr id="8" name="Text 5"/>
          <p:cNvSpPr txBox="1"/>
          <p:nvPr/>
        </p:nvSpPr>
        <p:spPr>
          <a:xfrm>
            <a:off x="822960" y="2468880"/>
            <a:ext cx="4892040" cy="3429000"/>
          </a:xfrm>
          <a:prstGeom prst="rect">
            <a:avLst/>
          </a:prstGeom>
          <a:noFill/>
          <a:ln/>
        </p:spPr>
        <p:txBody>
          <a:bodyPr wrap="square" rtlCol="0" anchor="t"/>
          <a:lstStyle/>
          <a:p>
            <a:pPr marL="228600" indent="-228600">
              <a:spcAft>
                <a:spcPts val="800"/>
              </a:spcAft>
              <a:buSzPct val="100000"/>
              <a:buChar char="▪"/>
            </a:pPr>
            <a:r>
              <a:rPr lang="en-US" sz="1050" dirty="0">
                <a:solidFill>
                  <a:srgbClr val="FFFFFF"/>
                </a:solidFill>
                <a:latin typeface="Calibri" pitchFamily="34" charset="0"/>
                <a:ea typeface="Calibri" pitchFamily="34" charset="-122"/>
                <a:cs typeface="Calibri" pitchFamily="34" charset="-120"/>
              </a:rPr>
              <a:t>Perlu rancang tugasan PBL sepanjang 2 minggu hingga sebulan, bukan slot 60 minit tunggal.</a:t>
            </a:r>
            <a:endParaRPr lang="en-US" sz="1050" dirty="0"/>
          </a:p>
          <a:p>
            <a:pPr marL="228600" indent="-228600">
              <a:spcAft>
                <a:spcPts val="800"/>
              </a:spcAft>
              <a:buSzPct val="100000"/>
              <a:buChar char="▪"/>
            </a:pPr>
            <a:r>
              <a:rPr lang="en-US" sz="1050" dirty="0">
                <a:solidFill>
                  <a:srgbClr val="FFFFFF"/>
                </a:solidFill>
                <a:latin typeface="Calibri" pitchFamily="34" charset="0"/>
                <a:ea typeface="Calibri" pitchFamily="34" charset="-122"/>
                <a:cs typeface="Calibri" pitchFamily="34" charset="-120"/>
              </a:rPr>
              <a:t>Perlu bimbing murid melalui SEMUA 7 langkah, termasuk pembentangan (Gallery Walk).</a:t>
            </a:r>
            <a:endParaRPr lang="en-US" sz="1050" dirty="0"/>
          </a:p>
          <a:p>
            <a:pPr marL="228600" indent="-228600">
              <a:spcAft>
                <a:spcPts val="800"/>
              </a:spcAft>
              <a:buSzPct val="100000"/>
              <a:buChar char="▪"/>
            </a:pPr>
            <a:r>
              <a:rPr lang="en-US" sz="1050" dirty="0">
                <a:solidFill>
                  <a:srgbClr val="FFFFFF"/>
                </a:solidFill>
                <a:latin typeface="Calibri" pitchFamily="34" charset="0"/>
                <a:ea typeface="Calibri" pitchFamily="34" charset="-122"/>
                <a:cs typeface="Calibri" pitchFamily="34" charset="-120"/>
              </a:rPr>
              <a:t>Perlu sediakan konteks PKJR sebagai salah satu tema projek pengumpulan data.</a:t>
            </a:r>
            <a:endParaRPr lang="en-US" sz="1050" dirty="0"/>
          </a:p>
          <a:p>
            <a:pPr marL="228600" indent="-228600">
              <a:spcAft>
                <a:spcPts val="800"/>
              </a:spcAft>
              <a:buSzPct val="100000"/>
              <a:buChar char="▪"/>
            </a:pPr>
            <a:r>
              <a:rPr lang="en-US" sz="1050" dirty="0">
                <a:solidFill>
                  <a:srgbClr val="FFFFFF"/>
                </a:solidFill>
                <a:latin typeface="Calibri" pitchFamily="34" charset="0"/>
                <a:ea typeface="Calibri" pitchFamily="34" charset="-122"/>
                <a:cs typeface="Calibri" pitchFamily="34" charset="-120"/>
              </a:rPr>
              <a:t>Perlu galakkan penggunaan alat digital (Google Form, Canva, kalkulator) untuk analisis.</a:t>
            </a:r>
            <a:endParaRPr lang="en-US" sz="1050" dirty="0"/>
          </a:p>
          <a:p>
            <a:pPr marL="228600" indent="-228600">
              <a:spcAft>
                <a:spcPts val="800"/>
              </a:spcAft>
              <a:buSzPct val="100000"/>
              <a:buChar char="▪"/>
            </a:pPr>
            <a:r>
              <a:rPr lang="en-US" sz="1050" dirty="0">
                <a:solidFill>
                  <a:srgbClr val="FFFFFF"/>
                </a:solidFill>
                <a:latin typeface="Calibri" pitchFamily="34" charset="0"/>
                <a:ea typeface="Calibri" pitchFamily="34" charset="-122"/>
                <a:cs typeface="Calibri" pitchFamily="34" charset="-120"/>
              </a:rPr>
              <a:t>Perlu ajar etika perwakilan data — elak graf mengelirukan (skala tidak konsisten, dsb.).</a:t>
            </a:r>
            <a:endParaRPr lang="en-US" sz="1050" dirty="0"/>
          </a:p>
        </p:txBody>
      </p:sp>
      <p:sp>
        <p:nvSpPr>
          <p:cNvPr id="9" name="Shape 6"/>
          <p:cNvSpPr/>
          <p:nvPr/>
        </p:nvSpPr>
        <p:spPr>
          <a:xfrm>
            <a:off x="6217920" y="1645920"/>
            <a:ext cx="5394960" cy="4389120"/>
          </a:xfrm>
          <a:prstGeom prst="roundRect">
            <a:avLst>
              <a:gd name="adj" fmla="val 1667"/>
            </a:avLst>
          </a:prstGeom>
          <a:solidFill>
            <a:srgbClr val="F5F7FC"/>
          </a:solidFill>
          <a:ln w="12700">
            <a:solidFill>
              <a:srgbClr val="E7EAF2"/>
            </a:solidFill>
            <a:prstDash val="solid"/>
          </a:ln>
        </p:spPr>
      </p:sp>
      <p:sp>
        <p:nvSpPr>
          <p:cNvPr id="10" name="Shape 7"/>
          <p:cNvSpPr/>
          <p:nvPr/>
        </p:nvSpPr>
        <p:spPr>
          <a:xfrm>
            <a:off x="6446520" y="1828800"/>
            <a:ext cx="640080" cy="640080"/>
          </a:xfrm>
          <a:prstGeom prst="ellipse">
            <a:avLst/>
          </a:prstGeom>
          <a:solidFill>
            <a:srgbClr val="E0435A"/>
          </a:solidFill>
          <a:ln/>
        </p:spPr>
      </p:sp>
      <p:pic>
        <p:nvPicPr>
          <p:cNvPr id="11" name="Image 1" descr="/home/claude/shared_icons/icon_users.png">    </p:cNvPr>
          <p:cNvPicPr>
            <a:picLocks noChangeAspect="1"/>
          </p:cNvPicPr>
          <p:nvPr/>
        </p:nvPicPr>
        <p:blipFill>
          <a:blip r:embed="rId2"/>
          <a:stretch>
            <a:fillRect/>
          </a:stretch>
        </p:blipFill>
        <p:spPr>
          <a:xfrm>
            <a:off x="6536131" y="1918411"/>
            <a:ext cx="460858" cy="460858"/>
          </a:xfrm>
          <a:prstGeom prst="rect">
            <a:avLst/>
          </a:prstGeom>
        </p:spPr>
      </p:pic>
      <p:sp>
        <p:nvSpPr>
          <p:cNvPr id="12" name="Text 8"/>
          <p:cNvSpPr txBox="1"/>
          <p:nvPr/>
        </p:nvSpPr>
        <p:spPr>
          <a:xfrm>
            <a:off x="7223760" y="1965960"/>
            <a:ext cx="4206240" cy="36576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KEPADA MURID</a:t>
            </a:r>
            <a:endParaRPr lang="en-US" sz="1500" dirty="0"/>
          </a:p>
        </p:txBody>
      </p:sp>
      <p:sp>
        <p:nvSpPr>
          <p:cNvPr id="13" name="Text 9"/>
          <p:cNvSpPr txBox="1"/>
          <p:nvPr/>
        </p:nvSpPr>
        <p:spPr>
          <a:xfrm>
            <a:off x="6446520" y="2468880"/>
            <a:ext cx="4892040" cy="3429000"/>
          </a:xfrm>
          <a:prstGeom prst="rect">
            <a:avLst/>
          </a:prstGeom>
          <a:noFill/>
          <a:ln/>
        </p:spPr>
        <p:txBody>
          <a:bodyPr wrap="square" rtlCol="0" anchor="t"/>
          <a:lstStyle/>
          <a:p>
            <a:pPr marL="228600" indent="-228600">
              <a:spcAft>
                <a:spcPts val="800"/>
              </a:spcAft>
              <a:buSzPct val="100000"/>
              <a:buChar char="▪"/>
            </a:pPr>
            <a:r>
              <a:rPr lang="en-US" sz="1050" dirty="0">
                <a:solidFill>
                  <a:srgbClr val="141A45"/>
                </a:solidFill>
                <a:latin typeface="Calibri" pitchFamily="34" charset="0"/>
                <a:ea typeface="Calibri" pitchFamily="34" charset="-122"/>
                <a:cs typeface="Calibri" pitchFamily="34" charset="-120"/>
              </a:rPr>
              <a:t>Bertindak sebagai “penyelidik kecil” yang meneroka data sebenar, bukan sekadar melukis carta.</a:t>
            </a:r>
            <a:endParaRPr lang="en-US" sz="1050" dirty="0"/>
          </a:p>
          <a:p>
            <a:pPr marL="228600" indent="-228600">
              <a:spcAft>
                <a:spcPts val="800"/>
              </a:spcAft>
              <a:buSzPct val="100000"/>
              <a:buChar char="▪"/>
            </a:pPr>
            <a:r>
              <a:rPr lang="en-US" sz="1050" dirty="0">
                <a:solidFill>
                  <a:srgbClr val="141A45"/>
                </a:solidFill>
                <a:latin typeface="Calibri" pitchFamily="34" charset="0"/>
                <a:ea typeface="Calibri" pitchFamily="34" charset="-122"/>
                <a:cs typeface="Calibri" pitchFamily="34" charset="-120"/>
              </a:rPr>
              <a:t>Membina kemahiran menaakul &amp; mentafsir kritikal — kemahiran yang lemah dalam kalangan murid Malaysia (rujuk TIMSS).</a:t>
            </a:r>
            <a:endParaRPr lang="en-US" sz="1050" dirty="0"/>
          </a:p>
          <a:p>
            <a:pPr marL="228600" indent="-228600">
              <a:spcAft>
                <a:spcPts val="800"/>
              </a:spcAft>
              <a:buSzPct val="100000"/>
              <a:buChar char="▪"/>
            </a:pPr>
            <a:r>
              <a:rPr lang="en-US" sz="1050" dirty="0">
                <a:solidFill>
                  <a:srgbClr val="141A45"/>
                </a:solidFill>
                <a:latin typeface="Calibri" pitchFamily="34" charset="0"/>
                <a:ea typeface="Calibri" pitchFamily="34" charset="-122"/>
                <a:cs typeface="Calibri" pitchFamily="34" charset="-120"/>
              </a:rPr>
              <a:t>Berpeluang membentangkan dapatan dan menerima maklum balas rakan sebaya (Gallery Walk).</a:t>
            </a:r>
            <a:endParaRPr lang="en-US" sz="1050" dirty="0"/>
          </a:p>
          <a:p>
            <a:pPr marL="228600" indent="-228600">
              <a:spcAft>
                <a:spcPts val="800"/>
              </a:spcAft>
              <a:buSzPct val="100000"/>
              <a:buChar char="▪"/>
            </a:pPr>
            <a:r>
              <a:rPr lang="en-US" sz="1050" dirty="0">
                <a:solidFill>
                  <a:srgbClr val="141A45"/>
                </a:solidFill>
                <a:latin typeface="Calibri" pitchFamily="34" charset="0"/>
                <a:ea typeface="Calibri" pitchFamily="34" charset="-122"/>
                <a:cs typeface="Calibri" pitchFamily="34" charset="-120"/>
              </a:rPr>
              <a:t>Belajar mengaitkan statistik dengan isu sebenar (keselamatan jalan raya, ekonomi, kesihatan).</a:t>
            </a:r>
            <a:endParaRPr lang="en-US" sz="1050" dirty="0"/>
          </a:p>
        </p:txBody>
      </p:sp>
      <p:sp>
        <p:nvSpPr>
          <p:cNvPr id="14" name="Text 10"/>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[SINTESIS] Slaid BPK + Analisis Bengkel Sidang 7</a:t>
            </a:r>
            <a:endParaRPr lang="en-US" sz="1000" dirty="0"/>
          </a:p>
        </p:txBody>
      </p:sp>
      <p:sp>
        <p:nvSpPr>
          <p:cNvPr id="15" name="Text 11"/>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7  |  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CADANGAN AMALAN</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Keutamaan Pelaksanaan di Sekolah</a:t>
            </a:r>
            <a:endParaRPr lang="en-US" sz="2600" dirty="0"/>
          </a:p>
        </p:txBody>
      </p:sp>
      <p:sp>
        <p:nvSpPr>
          <p:cNvPr id="4" name="Shape 2"/>
          <p:cNvSpPr/>
          <p:nvPr/>
        </p:nvSpPr>
        <p:spPr>
          <a:xfrm>
            <a:off x="548640" y="1691640"/>
            <a:ext cx="11064240" cy="1371600"/>
          </a:xfrm>
          <a:prstGeom prst="roundRect">
            <a:avLst>
              <a:gd name="adj" fmla="val 5333"/>
            </a:avLst>
          </a:prstGeom>
          <a:solidFill>
            <a:srgbClr val="F5F7FC"/>
          </a:solidFill>
          <a:ln w="12700">
            <a:solidFill>
              <a:srgbClr val="E7EAF2"/>
            </a:solidFill>
            <a:prstDash val="solid"/>
          </a:ln>
        </p:spPr>
      </p:sp>
      <p:sp>
        <p:nvSpPr>
          <p:cNvPr id="5" name="Shape 3"/>
          <p:cNvSpPr/>
          <p:nvPr/>
        </p:nvSpPr>
        <p:spPr>
          <a:xfrm>
            <a:off x="777240" y="1920240"/>
            <a:ext cx="914400" cy="914400"/>
          </a:xfrm>
          <a:prstGeom prst="ellipse">
            <a:avLst/>
          </a:prstGeom>
          <a:solidFill>
            <a:srgbClr val="E0435A"/>
          </a:solidFill>
          <a:ln/>
        </p:spPr>
      </p:sp>
      <p:sp>
        <p:nvSpPr>
          <p:cNvPr id="6" name="Text 4"/>
          <p:cNvSpPr txBox="1"/>
          <p:nvPr/>
        </p:nvSpPr>
        <p:spPr>
          <a:xfrm>
            <a:off x="777240" y="1920240"/>
            <a:ext cx="914400" cy="91440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7" name="Text 5"/>
          <p:cNvSpPr txBox="1"/>
          <p:nvPr/>
        </p:nvSpPr>
        <p:spPr>
          <a:xfrm>
            <a:off x="1920240" y="1856232"/>
            <a:ext cx="2743200" cy="274320"/>
          </a:xfrm>
          <a:prstGeom prst="rect">
            <a:avLst/>
          </a:prstGeom>
          <a:noFill/>
          <a:ln/>
        </p:spPr>
        <p:txBody>
          <a:bodyPr wrap="square" rtlCol="0" anchor="ctr"/>
          <a:lstStyle/>
          <a:p>
            <a:pPr indent="0" marL="0">
              <a:buNone/>
            </a:pPr>
            <a:r>
              <a:rPr lang="en-US" sz="1000" b="1" spc="100" kern="0" dirty="0">
                <a:solidFill>
                  <a:srgbClr val="E0435A"/>
                </a:solidFill>
                <a:latin typeface="Calibri" pitchFamily="34" charset="0"/>
                <a:ea typeface="Calibri" pitchFamily="34" charset="-122"/>
                <a:cs typeface="Calibri" pitchFamily="34" charset="-120"/>
              </a:rPr>
              <a:t>PALING PENTING</a:t>
            </a:r>
            <a:endParaRPr lang="en-US" sz="1000" dirty="0"/>
          </a:p>
        </p:txBody>
      </p:sp>
      <p:sp>
        <p:nvSpPr>
          <p:cNvPr id="8" name="Text 6"/>
          <p:cNvSpPr txBox="1"/>
          <p:nvPr/>
        </p:nvSpPr>
        <p:spPr>
          <a:xfrm>
            <a:off x="1920240" y="2103120"/>
            <a:ext cx="8595360" cy="365760"/>
          </a:xfrm>
          <a:prstGeom prst="rect">
            <a:avLst/>
          </a:prstGeom>
          <a:noFill/>
          <a:ln/>
        </p:spPr>
        <p:txBody>
          <a:bodyPr wrap="square"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Rancang Projek PBL Penuh (2 Minggu – Sebulan) Bukan Waktu Tunggal</a:t>
            </a:r>
            <a:endParaRPr lang="en-US" sz="1350" dirty="0"/>
          </a:p>
        </p:txBody>
      </p:sp>
      <p:sp>
        <p:nvSpPr>
          <p:cNvPr id="9" name="Text 7"/>
          <p:cNvSpPr txBox="1"/>
          <p:nvPr/>
        </p:nvSpPr>
        <p:spPr>
          <a:xfrm>
            <a:off x="1920240" y="2468880"/>
            <a:ext cx="8595360" cy="502920"/>
          </a:xfrm>
          <a:prstGeom prst="rect">
            <a:avLst/>
          </a:prstGeom>
          <a:noFill/>
          <a:ln/>
        </p:spPr>
        <p:txBody>
          <a:bodyPr wrap="square" rtlCol="0" anchor="ctr"/>
          <a:lstStyle/>
          <a:p>
            <a:pPr indent="0" marL="0">
              <a:lnSpc>
                <a:spcPct val="115000"/>
              </a:lnSpc>
              <a:buNone/>
            </a:pPr>
            <a:r>
              <a:rPr lang="en-US" sz="1050" dirty="0">
                <a:solidFill>
                  <a:srgbClr val="5B6472"/>
                </a:solidFill>
                <a:latin typeface="Calibri" pitchFamily="34" charset="0"/>
                <a:ea typeface="Calibri" pitchFamily="34" charset="-122"/>
                <a:cs typeface="Calibri" pitchFamily="34" charset="-120"/>
              </a:rPr>
              <a:t>Melatih murid menakluk, berkomunikasi secara matematik, dan membuat keputusan beretika berasaskan data sebenar.</a:t>
            </a:r>
            <a:endParaRPr lang="en-US" sz="1050" dirty="0"/>
          </a:p>
        </p:txBody>
      </p:sp>
      <p:sp>
        <p:nvSpPr>
          <p:cNvPr id="10" name="Shape 8"/>
          <p:cNvSpPr/>
          <p:nvPr/>
        </p:nvSpPr>
        <p:spPr>
          <a:xfrm>
            <a:off x="548640" y="3200400"/>
            <a:ext cx="11064240" cy="1371600"/>
          </a:xfrm>
          <a:prstGeom prst="roundRect">
            <a:avLst>
              <a:gd name="adj" fmla="val 5333"/>
            </a:avLst>
          </a:prstGeom>
          <a:solidFill>
            <a:srgbClr val="F5F7FC"/>
          </a:solidFill>
          <a:ln w="12700">
            <a:solidFill>
              <a:srgbClr val="E7EAF2"/>
            </a:solidFill>
            <a:prstDash val="solid"/>
          </a:ln>
        </p:spPr>
      </p:sp>
      <p:sp>
        <p:nvSpPr>
          <p:cNvPr id="11" name="Shape 9"/>
          <p:cNvSpPr/>
          <p:nvPr/>
        </p:nvSpPr>
        <p:spPr>
          <a:xfrm>
            <a:off x="777240" y="3429000"/>
            <a:ext cx="914400" cy="914400"/>
          </a:xfrm>
          <a:prstGeom prst="ellipse">
            <a:avLst/>
          </a:prstGeom>
          <a:solidFill>
            <a:srgbClr val="F2B705"/>
          </a:solidFill>
          <a:ln/>
        </p:spPr>
      </p:sp>
      <p:sp>
        <p:nvSpPr>
          <p:cNvPr id="12" name="Text 10"/>
          <p:cNvSpPr txBox="1"/>
          <p:nvPr/>
        </p:nvSpPr>
        <p:spPr>
          <a:xfrm>
            <a:off x="777240" y="3429000"/>
            <a:ext cx="914400" cy="914400"/>
          </a:xfrm>
          <a:prstGeom prst="rect">
            <a:avLst/>
          </a:prstGeom>
          <a:noFill/>
          <a:ln/>
        </p:spPr>
        <p:txBody>
          <a:bodyPr wrap="square"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2</a:t>
            </a:r>
            <a:endParaRPr lang="en-US" sz="2800" dirty="0"/>
          </a:p>
        </p:txBody>
      </p:sp>
      <p:sp>
        <p:nvSpPr>
          <p:cNvPr id="13" name="Text 11"/>
          <p:cNvSpPr txBox="1"/>
          <p:nvPr/>
        </p:nvSpPr>
        <p:spPr>
          <a:xfrm>
            <a:off x="1920240" y="3364992"/>
            <a:ext cx="2743200" cy="274320"/>
          </a:xfrm>
          <a:prstGeom prst="rect">
            <a:avLst/>
          </a:prstGeom>
          <a:noFill/>
          <a:ln/>
        </p:spPr>
        <p:txBody>
          <a:bodyPr wrap="square" rtlCol="0" anchor="ctr"/>
          <a:lstStyle/>
          <a:p>
            <a:pPr indent="0" marL="0">
              <a:buNone/>
            </a:pPr>
            <a:r>
              <a:rPr lang="en-US" sz="1000" b="1" spc="100" kern="0" dirty="0">
                <a:solidFill>
                  <a:srgbClr val="B08600"/>
                </a:solidFill>
                <a:latin typeface="Calibri" pitchFamily="34" charset="0"/>
                <a:ea typeface="Calibri" pitchFamily="34" charset="-122"/>
                <a:cs typeface="Calibri" pitchFamily="34" charset="-120"/>
              </a:rPr>
              <a:t>PENTING</a:t>
            </a:r>
            <a:endParaRPr lang="en-US" sz="1000" dirty="0"/>
          </a:p>
        </p:txBody>
      </p:sp>
      <p:sp>
        <p:nvSpPr>
          <p:cNvPr id="14" name="Text 12"/>
          <p:cNvSpPr txBox="1"/>
          <p:nvPr/>
        </p:nvSpPr>
        <p:spPr>
          <a:xfrm>
            <a:off x="1920240" y="3611880"/>
            <a:ext cx="8595360" cy="365760"/>
          </a:xfrm>
          <a:prstGeom prst="rect">
            <a:avLst/>
          </a:prstGeom>
          <a:noFill/>
          <a:ln/>
        </p:spPr>
        <p:txBody>
          <a:bodyPr wrap="square"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Laksana 7 Langkah Inkuiri Statistik Secara Penuh &amp; Bermakna</a:t>
            </a:r>
            <a:endParaRPr lang="en-US" sz="1350" dirty="0"/>
          </a:p>
        </p:txBody>
      </p:sp>
      <p:sp>
        <p:nvSpPr>
          <p:cNvPr id="15" name="Text 13"/>
          <p:cNvSpPr txBox="1"/>
          <p:nvPr/>
        </p:nvSpPr>
        <p:spPr>
          <a:xfrm>
            <a:off x="1920240" y="3977640"/>
            <a:ext cx="8595360" cy="502920"/>
          </a:xfrm>
          <a:prstGeom prst="rect">
            <a:avLst/>
          </a:prstGeom>
          <a:noFill/>
          <a:ln/>
        </p:spPr>
        <p:txBody>
          <a:bodyPr wrap="square" rtlCol="0" anchor="ctr"/>
          <a:lstStyle/>
          <a:p>
            <a:pPr indent="0" marL="0">
              <a:lnSpc>
                <a:spcPct val="115000"/>
              </a:lnSpc>
              <a:buNone/>
            </a:pPr>
            <a:r>
              <a:rPr lang="en-US" sz="1050" dirty="0">
                <a:solidFill>
                  <a:srgbClr val="5B6472"/>
                </a:solidFill>
                <a:latin typeface="Calibri" pitchFamily="34" charset="0"/>
                <a:ea typeface="Calibri" pitchFamily="34" charset="-122"/>
                <a:cs typeface="Calibri" pitchFamily="34" charset="-120"/>
              </a:rPr>
              <a:t>Elak sekadar mengajar kemahiran melukis graf mekanikal — pastikan murid alami keseluruhan proses penyiasatan.</a:t>
            </a:r>
            <a:endParaRPr lang="en-US" sz="1050" dirty="0"/>
          </a:p>
        </p:txBody>
      </p:sp>
      <p:sp>
        <p:nvSpPr>
          <p:cNvPr id="16" name="Shape 14"/>
          <p:cNvSpPr/>
          <p:nvPr/>
        </p:nvSpPr>
        <p:spPr>
          <a:xfrm>
            <a:off x="548640" y="4709160"/>
            <a:ext cx="11064240" cy="1371600"/>
          </a:xfrm>
          <a:prstGeom prst="roundRect">
            <a:avLst>
              <a:gd name="adj" fmla="val 5333"/>
            </a:avLst>
          </a:prstGeom>
          <a:solidFill>
            <a:srgbClr val="F5F7FC"/>
          </a:solidFill>
          <a:ln w="12700">
            <a:solidFill>
              <a:srgbClr val="E7EAF2"/>
            </a:solidFill>
            <a:prstDash val="solid"/>
          </a:ln>
        </p:spPr>
      </p:sp>
      <p:sp>
        <p:nvSpPr>
          <p:cNvPr id="17" name="Shape 15"/>
          <p:cNvSpPr/>
          <p:nvPr/>
        </p:nvSpPr>
        <p:spPr>
          <a:xfrm>
            <a:off x="777240" y="4937760"/>
            <a:ext cx="914400" cy="914400"/>
          </a:xfrm>
          <a:prstGeom prst="ellipse">
            <a:avLst/>
          </a:prstGeom>
          <a:solidFill>
            <a:srgbClr val="2E86AB"/>
          </a:solidFill>
          <a:ln/>
        </p:spPr>
      </p:sp>
      <p:sp>
        <p:nvSpPr>
          <p:cNvPr id="18" name="Text 16"/>
          <p:cNvSpPr txBox="1"/>
          <p:nvPr/>
        </p:nvSpPr>
        <p:spPr>
          <a:xfrm>
            <a:off x="777240" y="4937760"/>
            <a:ext cx="914400" cy="91440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19" name="Text 17"/>
          <p:cNvSpPr txBox="1"/>
          <p:nvPr/>
        </p:nvSpPr>
        <p:spPr>
          <a:xfrm>
            <a:off x="1920240" y="4873752"/>
            <a:ext cx="2743200" cy="274320"/>
          </a:xfrm>
          <a:prstGeom prst="rect">
            <a:avLst/>
          </a:prstGeom>
          <a:noFill/>
          <a:ln/>
        </p:spPr>
        <p:txBody>
          <a:bodyPr wrap="square" rtlCol="0" anchor="ctr"/>
          <a:lstStyle/>
          <a:p>
            <a:pPr indent="0" marL="0">
              <a:buNone/>
            </a:pPr>
            <a:r>
              <a:rPr lang="en-US" sz="1000" b="1" spc="100" kern="0" dirty="0">
                <a:solidFill>
                  <a:srgbClr val="2E86AB"/>
                </a:solidFill>
                <a:latin typeface="Calibri" pitchFamily="34" charset="0"/>
                <a:ea typeface="Calibri" pitchFamily="34" charset="-122"/>
                <a:cs typeface="Calibri" pitchFamily="34" charset="-120"/>
              </a:rPr>
              <a:t>SOKONGAN</a:t>
            </a:r>
            <a:endParaRPr lang="en-US" sz="1000" dirty="0"/>
          </a:p>
        </p:txBody>
      </p:sp>
      <p:sp>
        <p:nvSpPr>
          <p:cNvPr id="20" name="Text 18"/>
          <p:cNvSpPr txBox="1"/>
          <p:nvPr/>
        </p:nvSpPr>
        <p:spPr>
          <a:xfrm>
            <a:off x="1920240" y="5120640"/>
            <a:ext cx="8595360" cy="365760"/>
          </a:xfrm>
          <a:prstGeom prst="rect">
            <a:avLst/>
          </a:prstGeom>
          <a:noFill/>
          <a:ln/>
        </p:spPr>
        <p:txBody>
          <a:bodyPr wrap="square"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PLC Rentas Panitia untuk Projek KmR (Kefahaman melalui Reka Bentuk)</a:t>
            </a:r>
            <a:endParaRPr lang="en-US" sz="1350" dirty="0"/>
          </a:p>
        </p:txBody>
      </p:sp>
      <p:sp>
        <p:nvSpPr>
          <p:cNvPr id="21" name="Text 19"/>
          <p:cNvSpPr txBox="1"/>
          <p:nvPr/>
        </p:nvSpPr>
        <p:spPr>
          <a:xfrm>
            <a:off x="1920240" y="5486400"/>
            <a:ext cx="8595360" cy="502920"/>
          </a:xfrm>
          <a:prstGeom prst="rect">
            <a:avLst/>
          </a:prstGeom>
          <a:noFill/>
          <a:ln/>
        </p:spPr>
        <p:txBody>
          <a:bodyPr wrap="square" rtlCol="0" anchor="ctr"/>
          <a:lstStyle/>
          <a:p>
            <a:pPr indent="0" marL="0">
              <a:lnSpc>
                <a:spcPct val="115000"/>
              </a:lnSpc>
              <a:buNone/>
            </a:pPr>
            <a:r>
              <a:rPr lang="en-US" sz="1050" dirty="0">
                <a:solidFill>
                  <a:srgbClr val="5B6472"/>
                </a:solidFill>
                <a:latin typeface="Calibri" pitchFamily="34" charset="0"/>
                <a:ea typeface="Calibri" pitchFamily="34" charset="-122"/>
                <a:cs typeface="Calibri" pitchFamily="34" charset="-120"/>
              </a:rPr>
              <a:t>Gabungkan projek Pengendalian Data dengan Sains/RBT/Geografi bagi kurangkan beban tugasan murid.</a:t>
            </a:r>
            <a:endParaRPr lang="en-US" sz="1050" dirty="0"/>
          </a:p>
        </p:txBody>
      </p:sp>
      <p:sp>
        <p:nvSpPr>
          <p:cNvPr id="22" name="Text 20"/>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[BENGKEL] Analisis Pengendalian Data, Bhg. 9</a:t>
            </a:r>
            <a:endParaRPr lang="en-US" sz="1000" dirty="0"/>
          </a:p>
        </p:txBody>
      </p:sp>
      <p:sp>
        <p:nvSpPr>
          <p:cNvPr id="23" name="Text 21"/>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7  |  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PERBINCANGAN GURU</a:t>
            </a:r>
            <a:endParaRPr lang="en-US" sz="1300" dirty="0"/>
          </a:p>
        </p:txBody>
      </p:sp>
      <p:sp>
        <p:nvSpPr>
          <p:cNvPr id="3" name="Text 1"/>
          <p:cNvSpPr txBox="1"/>
          <p:nvPr/>
        </p:nvSpPr>
        <p:spPr>
          <a:xfrm>
            <a:off x="548640" y="658368"/>
            <a:ext cx="11155680" cy="68580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Aktiviti Reka Bentuk Projek PBL</a:t>
            </a:r>
            <a:endParaRPr lang="en-US" sz="2700" dirty="0"/>
          </a:p>
        </p:txBody>
      </p:sp>
      <p:sp>
        <p:nvSpPr>
          <p:cNvPr id="4" name="Text 2"/>
          <p:cNvSpPr txBox="1"/>
          <p:nvPr/>
        </p:nvSpPr>
        <p:spPr>
          <a:xfrm>
            <a:off x="548640" y="1508760"/>
            <a:ext cx="11064240" cy="640080"/>
          </a:xfrm>
          <a:prstGeom prst="rect">
            <a:avLst/>
          </a:prstGeom>
          <a:noFill/>
          <a:ln/>
        </p:spPr>
        <p:txBody>
          <a:bodyPr wrap="square" rtlCol="0" anchor="ctr"/>
          <a:lstStyle/>
          <a:p>
            <a:pPr indent="0" marL="0">
              <a:lnSpc>
                <a:spcPct val="120000"/>
              </a:lnSpc>
              <a:buNone/>
            </a:pPr>
            <a:r>
              <a:rPr lang="en-US" sz="1250" dirty="0">
                <a:solidFill>
                  <a:srgbClr val="CADCFC"/>
                </a:solidFill>
                <a:latin typeface="Calibri" pitchFamily="34" charset="0"/>
                <a:ea typeface="Calibri" pitchFamily="34" charset="-122"/>
                <a:cs typeface="Calibri" pitchFamily="34" charset="-120"/>
              </a:rPr>
              <a:t>Secara berkumpulan, pilih satu situasi/masalah dalam kehidupan harian yang bersesuaian dengan tahap murid menengah rendah, dan reka bentuk satu tugasan PBL bagi tajuk Pengendalian Data.</a:t>
            </a:r>
            <a:endParaRPr lang="en-US" sz="1250" dirty="0"/>
          </a:p>
        </p:txBody>
      </p:sp>
      <p:sp>
        <p:nvSpPr>
          <p:cNvPr id="5" name="Shape 3"/>
          <p:cNvSpPr/>
          <p:nvPr/>
        </p:nvSpPr>
        <p:spPr>
          <a:xfrm>
            <a:off x="548640" y="2286000"/>
            <a:ext cx="11064240" cy="1097280"/>
          </a:xfrm>
          <a:prstGeom prst="roundRect">
            <a:avLst>
              <a:gd name="adj" fmla="val 6667"/>
            </a:avLst>
          </a:prstGeom>
          <a:solidFill>
            <a:srgbClr val="141A45"/>
          </a:solidFill>
          <a:ln w="12700">
            <a:solidFill>
              <a:srgbClr val="F2B705"/>
            </a:solidFill>
            <a:prstDash val="solid"/>
          </a:ln>
        </p:spPr>
      </p:sp>
      <p:sp>
        <p:nvSpPr>
          <p:cNvPr id="6" name="Shape 4"/>
          <p:cNvSpPr/>
          <p:nvPr/>
        </p:nvSpPr>
        <p:spPr>
          <a:xfrm>
            <a:off x="777240" y="2487168"/>
            <a:ext cx="685800" cy="685800"/>
          </a:xfrm>
          <a:prstGeom prst="ellipse">
            <a:avLst/>
          </a:prstGeom>
          <a:solidFill>
            <a:srgbClr val="F2B705"/>
          </a:solidFill>
          <a:ln/>
        </p:spPr>
      </p:sp>
      <p:sp>
        <p:nvSpPr>
          <p:cNvPr id="7" name="Text 5"/>
          <p:cNvSpPr txBox="1"/>
          <p:nvPr/>
        </p:nvSpPr>
        <p:spPr>
          <a:xfrm>
            <a:off x="777240" y="2487168"/>
            <a:ext cx="685800" cy="685800"/>
          </a:xfrm>
          <a:prstGeom prst="rect">
            <a:avLst/>
          </a:prstGeom>
          <a:noFill/>
          <a:ln/>
        </p:spPr>
        <p:txBody>
          <a:bodyPr wrap="square"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a:t>
            </a:r>
            <a:endParaRPr lang="en-US" sz="2200" dirty="0"/>
          </a:p>
        </p:txBody>
      </p:sp>
      <p:sp>
        <p:nvSpPr>
          <p:cNvPr id="8" name="Text 6"/>
          <p:cNvSpPr txBox="1"/>
          <p:nvPr/>
        </p:nvSpPr>
        <p:spPr>
          <a:xfrm>
            <a:off x="1691640" y="2395728"/>
            <a:ext cx="9692640" cy="45720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Tentukan soalan statistik &amp; konteks projek</a:t>
            </a:r>
            <a:endParaRPr lang="en-US" sz="1200" dirty="0"/>
          </a:p>
        </p:txBody>
      </p:sp>
      <p:sp>
        <p:nvSpPr>
          <p:cNvPr id="9" name="Text 7"/>
          <p:cNvSpPr txBox="1"/>
          <p:nvPr/>
        </p:nvSpPr>
        <p:spPr>
          <a:xfrm>
            <a:off x="1691640" y="2816352"/>
            <a:ext cx="9692640" cy="457200"/>
          </a:xfrm>
          <a:prstGeom prst="rect">
            <a:avLst/>
          </a:prstGeom>
          <a:noFill/>
          <a:ln/>
        </p:spPr>
        <p:txBody>
          <a:bodyPr wrap="square" rtlCol="0" anchor="ctr"/>
          <a:lstStyle/>
          <a:p>
            <a:pPr indent="0" marL="0">
              <a:buNone/>
            </a:pPr>
            <a:r>
              <a:rPr lang="en-US" sz="1030" i="1" dirty="0">
                <a:solidFill>
                  <a:srgbClr val="CADCFC"/>
                </a:solidFill>
                <a:latin typeface="Calibri" pitchFamily="34" charset="0"/>
                <a:ea typeface="Calibri" pitchFamily="34" charset="-122"/>
                <a:cs typeface="Calibri" pitchFamily="34" charset="-120"/>
              </a:rPr>
              <a:t>Cadangan: konteks PKJR (cth. penggunaan topi keledar) atau isu sekolah lain (kantin, penggunaan tandas, dsb.).</a:t>
            </a:r>
            <a:endParaRPr lang="en-US" sz="1030" dirty="0"/>
          </a:p>
        </p:txBody>
      </p:sp>
      <p:sp>
        <p:nvSpPr>
          <p:cNvPr id="10" name="Shape 8"/>
          <p:cNvSpPr/>
          <p:nvPr/>
        </p:nvSpPr>
        <p:spPr>
          <a:xfrm>
            <a:off x="548640" y="3520440"/>
            <a:ext cx="11064240" cy="1097280"/>
          </a:xfrm>
          <a:prstGeom prst="roundRect">
            <a:avLst>
              <a:gd name="adj" fmla="val 6667"/>
            </a:avLst>
          </a:prstGeom>
          <a:solidFill>
            <a:srgbClr val="141A45"/>
          </a:solidFill>
          <a:ln w="12700">
            <a:solidFill>
              <a:srgbClr val="F2B705"/>
            </a:solidFill>
            <a:prstDash val="solid"/>
          </a:ln>
        </p:spPr>
      </p:sp>
      <p:sp>
        <p:nvSpPr>
          <p:cNvPr id="11" name="Shape 9"/>
          <p:cNvSpPr/>
          <p:nvPr/>
        </p:nvSpPr>
        <p:spPr>
          <a:xfrm>
            <a:off x="777240" y="3721608"/>
            <a:ext cx="685800" cy="685800"/>
          </a:xfrm>
          <a:prstGeom prst="ellipse">
            <a:avLst/>
          </a:prstGeom>
          <a:solidFill>
            <a:srgbClr val="F2B705"/>
          </a:solidFill>
          <a:ln/>
        </p:spPr>
      </p:sp>
      <p:sp>
        <p:nvSpPr>
          <p:cNvPr id="12" name="Text 10"/>
          <p:cNvSpPr txBox="1"/>
          <p:nvPr/>
        </p:nvSpPr>
        <p:spPr>
          <a:xfrm>
            <a:off x="777240" y="3721608"/>
            <a:ext cx="685800" cy="685800"/>
          </a:xfrm>
          <a:prstGeom prst="rect">
            <a:avLst/>
          </a:prstGeom>
          <a:noFill/>
          <a:ln/>
        </p:spPr>
        <p:txBody>
          <a:bodyPr wrap="square"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2</a:t>
            </a:r>
            <a:endParaRPr lang="en-US" sz="2200" dirty="0"/>
          </a:p>
        </p:txBody>
      </p:sp>
      <p:sp>
        <p:nvSpPr>
          <p:cNvPr id="13" name="Text 11"/>
          <p:cNvSpPr txBox="1"/>
          <p:nvPr/>
        </p:nvSpPr>
        <p:spPr>
          <a:xfrm>
            <a:off x="1691640" y="3630168"/>
            <a:ext cx="9692640" cy="45720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Rancang kaedah pengumpulan &amp; analisis data</a:t>
            </a:r>
            <a:endParaRPr lang="en-US" sz="1200" dirty="0"/>
          </a:p>
        </p:txBody>
      </p:sp>
      <p:sp>
        <p:nvSpPr>
          <p:cNvPr id="14" name="Text 12"/>
          <p:cNvSpPr txBox="1"/>
          <p:nvPr/>
        </p:nvSpPr>
        <p:spPr>
          <a:xfrm>
            <a:off x="1691640" y="4050792"/>
            <a:ext cx="9692640" cy="457200"/>
          </a:xfrm>
          <a:prstGeom prst="rect">
            <a:avLst/>
          </a:prstGeom>
          <a:noFill/>
          <a:ln/>
        </p:spPr>
        <p:txBody>
          <a:bodyPr wrap="square" rtlCol="0" anchor="ctr"/>
          <a:lstStyle/>
          <a:p>
            <a:pPr indent="0" marL="0">
              <a:buNone/>
            </a:pPr>
            <a:r>
              <a:rPr lang="en-US" sz="1030" i="1" dirty="0">
                <a:solidFill>
                  <a:srgbClr val="CADCFC"/>
                </a:solidFill>
                <a:latin typeface="Calibri" pitchFamily="34" charset="0"/>
                <a:ea typeface="Calibri" pitchFamily="34" charset="-122"/>
                <a:cs typeface="Calibri" pitchFamily="34" charset="-120"/>
              </a:rPr>
              <a:t>Tentukan kaedah (tinjauan/pemerhatian), saiz sampel, dan jenis perwakilan data yang sesuai.</a:t>
            </a:r>
            <a:endParaRPr lang="en-US" sz="1030" dirty="0"/>
          </a:p>
        </p:txBody>
      </p:sp>
      <p:sp>
        <p:nvSpPr>
          <p:cNvPr id="15" name="Shape 13"/>
          <p:cNvSpPr/>
          <p:nvPr/>
        </p:nvSpPr>
        <p:spPr>
          <a:xfrm>
            <a:off x="548640" y="4754880"/>
            <a:ext cx="11064240" cy="1097280"/>
          </a:xfrm>
          <a:prstGeom prst="roundRect">
            <a:avLst>
              <a:gd name="adj" fmla="val 6667"/>
            </a:avLst>
          </a:prstGeom>
          <a:solidFill>
            <a:srgbClr val="141A45"/>
          </a:solidFill>
          <a:ln w="12700">
            <a:solidFill>
              <a:srgbClr val="F2B705"/>
            </a:solidFill>
            <a:prstDash val="solid"/>
          </a:ln>
        </p:spPr>
      </p:sp>
      <p:sp>
        <p:nvSpPr>
          <p:cNvPr id="16" name="Shape 14"/>
          <p:cNvSpPr/>
          <p:nvPr/>
        </p:nvSpPr>
        <p:spPr>
          <a:xfrm>
            <a:off x="777240" y="4956048"/>
            <a:ext cx="685800" cy="685800"/>
          </a:xfrm>
          <a:prstGeom prst="ellipse">
            <a:avLst/>
          </a:prstGeom>
          <a:solidFill>
            <a:srgbClr val="F2B705"/>
          </a:solidFill>
          <a:ln/>
        </p:spPr>
      </p:sp>
      <p:sp>
        <p:nvSpPr>
          <p:cNvPr id="17" name="Text 15"/>
          <p:cNvSpPr txBox="1"/>
          <p:nvPr/>
        </p:nvSpPr>
        <p:spPr>
          <a:xfrm>
            <a:off x="777240" y="4956048"/>
            <a:ext cx="685800" cy="685800"/>
          </a:xfrm>
          <a:prstGeom prst="rect">
            <a:avLst/>
          </a:prstGeom>
          <a:noFill/>
          <a:ln/>
        </p:spPr>
        <p:txBody>
          <a:bodyPr wrap="square"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3</a:t>
            </a:r>
            <a:endParaRPr lang="en-US" sz="2200" dirty="0"/>
          </a:p>
        </p:txBody>
      </p:sp>
      <p:sp>
        <p:nvSpPr>
          <p:cNvPr id="18" name="Text 16"/>
          <p:cNvSpPr txBox="1"/>
          <p:nvPr/>
        </p:nvSpPr>
        <p:spPr>
          <a:xfrm>
            <a:off x="1691640" y="4864608"/>
            <a:ext cx="9692640" cy="45720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Rancang cara pembentangan hasil dapatan</a:t>
            </a:r>
            <a:endParaRPr lang="en-US" sz="1200" dirty="0"/>
          </a:p>
        </p:txBody>
      </p:sp>
      <p:sp>
        <p:nvSpPr>
          <p:cNvPr id="19" name="Text 17"/>
          <p:cNvSpPr txBox="1"/>
          <p:nvPr/>
        </p:nvSpPr>
        <p:spPr>
          <a:xfrm>
            <a:off x="1691640" y="5285232"/>
            <a:ext cx="9692640" cy="457200"/>
          </a:xfrm>
          <a:prstGeom prst="rect">
            <a:avLst/>
          </a:prstGeom>
          <a:noFill/>
          <a:ln/>
        </p:spPr>
        <p:txBody>
          <a:bodyPr wrap="square" rtlCol="0" anchor="ctr"/>
          <a:lstStyle/>
          <a:p>
            <a:pPr indent="0" marL="0">
              <a:buNone/>
            </a:pPr>
            <a:r>
              <a:rPr lang="en-US" sz="1030" i="1" dirty="0">
                <a:solidFill>
                  <a:srgbClr val="CADCFC"/>
                </a:solidFill>
                <a:latin typeface="Calibri" pitchFamily="34" charset="0"/>
                <a:ea typeface="Calibri" pitchFamily="34" charset="-122"/>
                <a:cs typeface="Calibri" pitchFamily="34" charset="-120"/>
              </a:rPr>
              <a:t>Poster infografik, Gallery Walk, atau pembentangan lisan — selaras Langkah 7.</a:t>
            </a:r>
            <a:endParaRPr lang="en-US" sz="1030" dirty="0"/>
          </a:p>
        </p:txBody>
      </p:sp>
      <p:sp>
        <p:nvSpPr>
          <p:cNvPr id="20" name="Text 18"/>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Aktiviti Bengkel Sidang 7, m/s 15–16</a:t>
            </a:r>
            <a:endParaRPr lang="en-US" sz="1000" dirty="0"/>
          </a:p>
        </p:txBody>
      </p:sp>
      <p:sp>
        <p:nvSpPr>
          <p:cNvPr id="21" name="Text 19"/>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7  |  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FAQ RINGKAS</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Soalan Lazim Guru</a:t>
            </a:r>
            <a:endParaRPr lang="en-US" sz="2600" dirty="0"/>
          </a:p>
        </p:txBody>
      </p:sp>
      <p:sp>
        <p:nvSpPr>
          <p:cNvPr id="4" name="Shape 2"/>
          <p:cNvSpPr/>
          <p:nvPr/>
        </p:nvSpPr>
        <p:spPr>
          <a:xfrm>
            <a:off x="548640" y="1691640"/>
            <a:ext cx="11064240" cy="1051560"/>
          </a:xfrm>
          <a:prstGeom prst="roundRect">
            <a:avLst>
              <a:gd name="adj" fmla="val 6957"/>
            </a:avLst>
          </a:prstGeom>
          <a:solidFill>
            <a:srgbClr val="F5F7FC"/>
          </a:solidFill>
          <a:ln w="12700">
            <a:solidFill>
              <a:srgbClr val="E7EAF2"/>
            </a:solidFill>
            <a:prstDash val="solid"/>
          </a:ln>
        </p:spPr>
      </p:sp>
      <p:sp>
        <p:nvSpPr>
          <p:cNvPr id="5" name="Shape 3"/>
          <p:cNvSpPr/>
          <p:nvPr/>
        </p:nvSpPr>
        <p:spPr>
          <a:xfrm>
            <a:off x="731520" y="1920240"/>
            <a:ext cx="594360" cy="594360"/>
          </a:xfrm>
          <a:prstGeom prst="ellipse">
            <a:avLst/>
          </a:prstGeom>
          <a:solidFill>
            <a:srgbClr val="1E2761"/>
          </a:solidFill>
          <a:ln/>
        </p:spPr>
      </p:sp>
      <p:pic>
        <p:nvPicPr>
          <p:cNvPr id="6" name="Image 0" descr="/home/claude/shared_icons/icon_question.png">    </p:cNvPr>
          <p:cNvPicPr>
            <a:picLocks noChangeAspect="1"/>
          </p:cNvPicPr>
          <p:nvPr/>
        </p:nvPicPr>
        <p:blipFill>
          <a:blip r:embed="rId1"/>
          <a:stretch>
            <a:fillRect/>
          </a:stretch>
        </p:blipFill>
        <p:spPr>
          <a:xfrm>
            <a:off x="814730" y="2003450"/>
            <a:ext cx="427939" cy="427939"/>
          </a:xfrm>
          <a:prstGeom prst="rect">
            <a:avLst/>
          </a:prstGeom>
        </p:spPr>
      </p:pic>
      <p:sp>
        <p:nvSpPr>
          <p:cNvPr id="7" name="Text 4"/>
          <p:cNvSpPr txBox="1"/>
          <p:nvPr/>
        </p:nvSpPr>
        <p:spPr>
          <a:xfrm>
            <a:off x="1508760" y="1783080"/>
            <a:ext cx="987552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 Adakah projek Pengendalian Data wajib disiapkan dalam satu waktu (60 minit)?</a:t>
            </a:r>
            <a:endParaRPr lang="en-US" sz="1200" dirty="0"/>
          </a:p>
        </p:txBody>
      </p:sp>
      <p:sp>
        <p:nvSpPr>
          <p:cNvPr id="8" name="Text 5"/>
          <p:cNvSpPr txBox="1"/>
          <p:nvPr/>
        </p:nvSpPr>
        <p:spPr>
          <a:xfrm>
            <a:off x="1508760" y="2194560"/>
            <a:ext cx="9875520" cy="502920"/>
          </a:xfrm>
          <a:prstGeom prst="rect">
            <a:avLst/>
          </a:prstGeom>
          <a:noFill/>
          <a:ln/>
        </p:spPr>
        <p:txBody>
          <a:bodyPr wrap="square" rtlCol="0" anchor="ctr"/>
          <a:lstStyle/>
          <a:p>
            <a:pPr indent="0" marL="0">
              <a:lnSpc>
                <a:spcPct val="115000"/>
              </a:lnSpc>
              <a:buNone/>
            </a:pPr>
            <a:r>
              <a:rPr lang="en-US" sz="1100" dirty="0">
                <a:solidFill>
                  <a:srgbClr val="5B6472"/>
                </a:solidFill>
                <a:latin typeface="Calibri" pitchFamily="34" charset="0"/>
                <a:ea typeface="Calibri" pitchFamily="34" charset="-122"/>
                <a:cs typeface="Calibri" pitchFamily="34" charset="-120"/>
              </a:rPr>
              <a:t>J: Tidak. PBL bagi tajuk ini dirancang untuk tempoh lebih lama, iaitu 2 minggu hingga sebulan.</a:t>
            </a:r>
            <a:endParaRPr lang="en-US" sz="1100" dirty="0"/>
          </a:p>
        </p:txBody>
      </p:sp>
      <p:sp>
        <p:nvSpPr>
          <p:cNvPr id="9" name="Shape 6"/>
          <p:cNvSpPr/>
          <p:nvPr/>
        </p:nvSpPr>
        <p:spPr>
          <a:xfrm>
            <a:off x="548640" y="2862072"/>
            <a:ext cx="11064240" cy="1051560"/>
          </a:xfrm>
          <a:prstGeom prst="roundRect">
            <a:avLst>
              <a:gd name="adj" fmla="val 6957"/>
            </a:avLst>
          </a:prstGeom>
          <a:solidFill>
            <a:srgbClr val="F5F7FC"/>
          </a:solidFill>
          <a:ln w="12700">
            <a:solidFill>
              <a:srgbClr val="E7EAF2"/>
            </a:solidFill>
            <a:prstDash val="solid"/>
          </a:ln>
        </p:spPr>
      </p:sp>
      <p:sp>
        <p:nvSpPr>
          <p:cNvPr id="10" name="Shape 7"/>
          <p:cNvSpPr/>
          <p:nvPr/>
        </p:nvSpPr>
        <p:spPr>
          <a:xfrm>
            <a:off x="731520" y="3090672"/>
            <a:ext cx="594360" cy="594360"/>
          </a:xfrm>
          <a:prstGeom prst="ellipse">
            <a:avLst/>
          </a:prstGeom>
          <a:solidFill>
            <a:srgbClr val="1E2761"/>
          </a:solidFill>
          <a:ln/>
        </p:spPr>
      </p:sp>
      <p:pic>
        <p:nvPicPr>
          <p:cNvPr id="11" name="Image 1" descr="/home/claude/shared_icons/icon_question.png">    </p:cNvPr>
          <p:cNvPicPr>
            <a:picLocks noChangeAspect="1"/>
          </p:cNvPicPr>
          <p:nvPr/>
        </p:nvPicPr>
        <p:blipFill>
          <a:blip r:embed="rId2"/>
          <a:stretch>
            <a:fillRect/>
          </a:stretch>
        </p:blipFill>
        <p:spPr>
          <a:xfrm>
            <a:off x="814730" y="3173882"/>
            <a:ext cx="427939" cy="427939"/>
          </a:xfrm>
          <a:prstGeom prst="rect">
            <a:avLst/>
          </a:prstGeom>
        </p:spPr>
      </p:pic>
      <p:sp>
        <p:nvSpPr>
          <p:cNvPr id="12" name="Text 8"/>
          <p:cNvSpPr txBox="1"/>
          <p:nvPr/>
        </p:nvSpPr>
        <p:spPr>
          <a:xfrm>
            <a:off x="1508760" y="2953512"/>
            <a:ext cx="987552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 Bagaimana sekolah tanpa capaian internet melaksanakan projek statistik?</a:t>
            </a:r>
            <a:endParaRPr lang="en-US" sz="1200" dirty="0"/>
          </a:p>
        </p:txBody>
      </p:sp>
      <p:sp>
        <p:nvSpPr>
          <p:cNvPr id="13" name="Text 9"/>
          <p:cNvSpPr txBox="1"/>
          <p:nvPr/>
        </p:nvSpPr>
        <p:spPr>
          <a:xfrm>
            <a:off x="1508760" y="3364992"/>
            <a:ext cx="9875520" cy="502920"/>
          </a:xfrm>
          <a:prstGeom prst="rect">
            <a:avLst/>
          </a:prstGeom>
          <a:noFill/>
          <a:ln/>
        </p:spPr>
        <p:txBody>
          <a:bodyPr wrap="square" rtlCol="0" anchor="ctr"/>
          <a:lstStyle/>
          <a:p>
            <a:pPr indent="0" marL="0">
              <a:lnSpc>
                <a:spcPct val="115000"/>
              </a:lnSpc>
              <a:buNone/>
            </a:pPr>
            <a:r>
              <a:rPr lang="en-US" sz="1100" dirty="0">
                <a:solidFill>
                  <a:srgbClr val="5B6472"/>
                </a:solidFill>
                <a:latin typeface="Calibri" pitchFamily="34" charset="0"/>
                <a:ea typeface="Calibri" pitchFamily="34" charset="-122"/>
                <a:cs typeface="Calibri" pitchFamily="34" charset="-120"/>
              </a:rPr>
              <a:t>J: Data boleh dikumpul secara manual melalui pemerhatian fizikal, dan graf boleh dilukis secara kreatif di atas kertas.</a:t>
            </a:r>
            <a:endParaRPr lang="en-US" sz="1100" dirty="0"/>
          </a:p>
        </p:txBody>
      </p:sp>
      <p:sp>
        <p:nvSpPr>
          <p:cNvPr id="14" name="Shape 10"/>
          <p:cNvSpPr/>
          <p:nvPr/>
        </p:nvSpPr>
        <p:spPr>
          <a:xfrm>
            <a:off x="548640" y="4032504"/>
            <a:ext cx="11064240" cy="1051560"/>
          </a:xfrm>
          <a:prstGeom prst="roundRect">
            <a:avLst>
              <a:gd name="adj" fmla="val 6957"/>
            </a:avLst>
          </a:prstGeom>
          <a:solidFill>
            <a:srgbClr val="F5F7FC"/>
          </a:solidFill>
          <a:ln w="12700">
            <a:solidFill>
              <a:srgbClr val="E7EAF2"/>
            </a:solidFill>
            <a:prstDash val="solid"/>
          </a:ln>
        </p:spPr>
      </p:sp>
      <p:sp>
        <p:nvSpPr>
          <p:cNvPr id="15" name="Shape 11"/>
          <p:cNvSpPr/>
          <p:nvPr/>
        </p:nvSpPr>
        <p:spPr>
          <a:xfrm>
            <a:off x="731520" y="4261104"/>
            <a:ext cx="594360" cy="594360"/>
          </a:xfrm>
          <a:prstGeom prst="ellipse">
            <a:avLst/>
          </a:prstGeom>
          <a:solidFill>
            <a:srgbClr val="1E2761"/>
          </a:solidFill>
          <a:ln/>
        </p:spPr>
      </p:sp>
      <p:pic>
        <p:nvPicPr>
          <p:cNvPr id="16" name="Image 2" descr="/home/claude/shared_icons/icon_question.png">    </p:cNvPr>
          <p:cNvPicPr>
            <a:picLocks noChangeAspect="1"/>
          </p:cNvPicPr>
          <p:nvPr/>
        </p:nvPicPr>
        <p:blipFill>
          <a:blip r:embed="rId3"/>
          <a:stretch>
            <a:fillRect/>
          </a:stretch>
        </p:blipFill>
        <p:spPr>
          <a:xfrm>
            <a:off x="814730" y="4344314"/>
            <a:ext cx="427939" cy="427939"/>
          </a:xfrm>
          <a:prstGeom prst="rect">
            <a:avLst/>
          </a:prstGeom>
        </p:spPr>
      </p:pic>
      <p:sp>
        <p:nvSpPr>
          <p:cNvPr id="17" name="Text 12"/>
          <p:cNvSpPr txBox="1"/>
          <p:nvPr/>
        </p:nvSpPr>
        <p:spPr>
          <a:xfrm>
            <a:off x="1508760" y="4123944"/>
            <a:ext cx="987552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 Adakah murid cemerlang masih perlu melalui kesemua 7 langkah?</a:t>
            </a:r>
            <a:endParaRPr lang="en-US" sz="1200" dirty="0"/>
          </a:p>
        </p:txBody>
      </p:sp>
      <p:sp>
        <p:nvSpPr>
          <p:cNvPr id="18" name="Text 13"/>
          <p:cNvSpPr txBox="1"/>
          <p:nvPr/>
        </p:nvSpPr>
        <p:spPr>
          <a:xfrm>
            <a:off x="1508760" y="4535424"/>
            <a:ext cx="9875520" cy="502920"/>
          </a:xfrm>
          <a:prstGeom prst="rect">
            <a:avLst/>
          </a:prstGeom>
          <a:noFill/>
          <a:ln/>
        </p:spPr>
        <p:txBody>
          <a:bodyPr wrap="square" rtlCol="0" anchor="ctr"/>
          <a:lstStyle/>
          <a:p>
            <a:pPr indent="0" marL="0">
              <a:lnSpc>
                <a:spcPct val="115000"/>
              </a:lnSpc>
              <a:buNone/>
            </a:pPr>
            <a:r>
              <a:rPr lang="en-US" sz="1100" dirty="0">
                <a:solidFill>
                  <a:srgbClr val="5B6472"/>
                </a:solidFill>
                <a:latin typeface="Calibri" pitchFamily="34" charset="0"/>
                <a:ea typeface="Calibri" pitchFamily="34" charset="-122"/>
                <a:cs typeface="Calibri" pitchFamily="34" charset="-120"/>
              </a:rPr>
              <a:t>J: Ya. Semua murid perlu alami proses penuh — ini membina kemahiran menaakul yang lemah di kalangan murid Malaysia (rujuk data TIMSS).</a:t>
            </a:r>
            <a:endParaRPr lang="en-US" sz="1100" dirty="0"/>
          </a:p>
        </p:txBody>
      </p:sp>
      <p:sp>
        <p:nvSpPr>
          <p:cNvPr id="19" name="Shape 14"/>
          <p:cNvSpPr/>
          <p:nvPr/>
        </p:nvSpPr>
        <p:spPr>
          <a:xfrm>
            <a:off x="548640" y="5202936"/>
            <a:ext cx="11064240" cy="1051560"/>
          </a:xfrm>
          <a:prstGeom prst="roundRect">
            <a:avLst>
              <a:gd name="adj" fmla="val 6957"/>
            </a:avLst>
          </a:prstGeom>
          <a:solidFill>
            <a:srgbClr val="F5F7FC"/>
          </a:solidFill>
          <a:ln w="12700">
            <a:solidFill>
              <a:srgbClr val="E7EAF2"/>
            </a:solidFill>
            <a:prstDash val="solid"/>
          </a:ln>
        </p:spPr>
      </p:sp>
      <p:sp>
        <p:nvSpPr>
          <p:cNvPr id="20" name="Shape 15"/>
          <p:cNvSpPr/>
          <p:nvPr/>
        </p:nvSpPr>
        <p:spPr>
          <a:xfrm>
            <a:off x="731520" y="5431536"/>
            <a:ext cx="594360" cy="594360"/>
          </a:xfrm>
          <a:prstGeom prst="ellipse">
            <a:avLst/>
          </a:prstGeom>
          <a:solidFill>
            <a:srgbClr val="1E2761"/>
          </a:solidFill>
          <a:ln/>
        </p:spPr>
      </p:sp>
      <p:pic>
        <p:nvPicPr>
          <p:cNvPr id="21" name="Image 3" descr="/home/claude/shared_icons/icon_question.png">    </p:cNvPr>
          <p:cNvPicPr>
            <a:picLocks noChangeAspect="1"/>
          </p:cNvPicPr>
          <p:nvPr/>
        </p:nvPicPr>
        <p:blipFill>
          <a:blip r:embed="rId4"/>
          <a:stretch>
            <a:fillRect/>
          </a:stretch>
        </p:blipFill>
        <p:spPr>
          <a:xfrm>
            <a:off x="814730" y="5514746"/>
            <a:ext cx="427939" cy="427939"/>
          </a:xfrm>
          <a:prstGeom prst="rect">
            <a:avLst/>
          </a:prstGeom>
        </p:spPr>
      </p:pic>
      <p:sp>
        <p:nvSpPr>
          <p:cNvPr id="22" name="Text 16"/>
          <p:cNvSpPr txBox="1"/>
          <p:nvPr/>
        </p:nvSpPr>
        <p:spPr>
          <a:xfrm>
            <a:off x="1508760" y="5294376"/>
            <a:ext cx="987552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 Bolehkah projek ini digabungkan dengan subjek lain?</a:t>
            </a:r>
            <a:endParaRPr lang="en-US" sz="1200" dirty="0"/>
          </a:p>
        </p:txBody>
      </p:sp>
      <p:sp>
        <p:nvSpPr>
          <p:cNvPr id="23" name="Text 17"/>
          <p:cNvSpPr txBox="1"/>
          <p:nvPr/>
        </p:nvSpPr>
        <p:spPr>
          <a:xfrm>
            <a:off x="1508760" y="5705856"/>
            <a:ext cx="9875520" cy="502920"/>
          </a:xfrm>
          <a:prstGeom prst="rect">
            <a:avLst/>
          </a:prstGeom>
          <a:noFill/>
          <a:ln/>
        </p:spPr>
        <p:txBody>
          <a:bodyPr wrap="square" rtlCol="0" anchor="ctr"/>
          <a:lstStyle/>
          <a:p>
            <a:pPr indent="0" marL="0">
              <a:lnSpc>
                <a:spcPct val="115000"/>
              </a:lnSpc>
              <a:buNone/>
            </a:pPr>
            <a:r>
              <a:rPr lang="en-US" sz="1100" dirty="0">
                <a:solidFill>
                  <a:srgbClr val="5B6472"/>
                </a:solidFill>
                <a:latin typeface="Calibri" pitchFamily="34" charset="0"/>
                <a:ea typeface="Calibri" pitchFamily="34" charset="-122"/>
                <a:cs typeface="Calibri" pitchFamily="34" charset="-120"/>
              </a:rPr>
              <a:t>J: Sangat digalakkan — melalui pendekatan KmR, projek boleh digabung dengan Sains, RBT, atau Geografi.</a:t>
            </a:r>
            <a:endParaRPr lang="en-US" sz="1100" dirty="0"/>
          </a:p>
        </p:txBody>
      </p:sp>
      <p:sp>
        <p:nvSpPr>
          <p:cNvPr id="24" name="Text 18"/>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[BENGKEL] Analisis Pengendalian Data, Bhg. 12</a:t>
            </a:r>
            <a:endParaRPr lang="en-US" sz="1000" dirty="0"/>
          </a:p>
        </p:txBody>
      </p:sp>
      <p:sp>
        <p:nvSpPr>
          <p:cNvPr id="25" name="Text 19"/>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7  |  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RUMUSAN</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Rumusan Sidang 7</a:t>
            </a:r>
            <a:endParaRPr lang="en-US" sz="2600" dirty="0"/>
          </a:p>
        </p:txBody>
      </p:sp>
      <p:sp>
        <p:nvSpPr>
          <p:cNvPr id="4" name="Shape 2"/>
          <p:cNvSpPr/>
          <p:nvPr/>
        </p:nvSpPr>
        <p:spPr>
          <a:xfrm>
            <a:off x="548640" y="1737360"/>
            <a:ext cx="2651760" cy="3566160"/>
          </a:xfrm>
          <a:prstGeom prst="roundRect">
            <a:avLst>
              <a:gd name="adj" fmla="val 2759"/>
            </a:avLst>
          </a:prstGeom>
          <a:solidFill>
            <a:srgbClr val="1E2761"/>
          </a:solidFill>
          <a:ln/>
        </p:spPr>
      </p:sp>
      <p:sp>
        <p:nvSpPr>
          <p:cNvPr id="5" name="Shape 3"/>
          <p:cNvSpPr/>
          <p:nvPr/>
        </p:nvSpPr>
        <p:spPr>
          <a:xfrm>
            <a:off x="1508760" y="2057400"/>
            <a:ext cx="731520" cy="731520"/>
          </a:xfrm>
          <a:prstGeom prst="ellipse">
            <a:avLst/>
          </a:prstGeom>
          <a:solidFill>
            <a:srgbClr val="F2B705"/>
          </a:solidFill>
          <a:ln/>
        </p:spPr>
      </p:sp>
      <p:pic>
        <p:nvPicPr>
          <p:cNvPr id="6" name="Image 0" descr="/home/claude/shared_icons/icon_chart.png">    </p:cNvPr>
          <p:cNvPicPr>
            <a:picLocks noChangeAspect="1"/>
          </p:cNvPicPr>
          <p:nvPr/>
        </p:nvPicPr>
        <p:blipFill>
          <a:blip r:embed="rId1"/>
          <a:stretch>
            <a:fillRect/>
          </a:stretch>
        </p:blipFill>
        <p:spPr>
          <a:xfrm>
            <a:off x="1611173" y="2159813"/>
            <a:ext cx="526694" cy="526694"/>
          </a:xfrm>
          <a:prstGeom prst="rect">
            <a:avLst/>
          </a:prstGeom>
        </p:spPr>
      </p:pic>
      <p:sp>
        <p:nvSpPr>
          <p:cNvPr id="7" name="Text 4"/>
          <p:cNvSpPr txBox="1"/>
          <p:nvPr/>
        </p:nvSpPr>
        <p:spPr>
          <a:xfrm>
            <a:off x="685800" y="2971800"/>
            <a:ext cx="2377440" cy="365760"/>
          </a:xfrm>
          <a:prstGeom prst="rect">
            <a:avLst/>
          </a:prstGeom>
          <a:noFill/>
          <a:ln/>
        </p:spPr>
        <p:txBody>
          <a:bodyPr wrap="square"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Struktur</a:t>
            </a:r>
            <a:endParaRPr lang="en-US" sz="1350" dirty="0"/>
          </a:p>
        </p:txBody>
      </p:sp>
      <p:sp>
        <p:nvSpPr>
          <p:cNvPr id="8" name="Text 5"/>
          <p:cNvSpPr txBox="1"/>
          <p:nvPr/>
        </p:nvSpPr>
        <p:spPr>
          <a:xfrm>
            <a:off x="731520" y="3429000"/>
            <a:ext cx="2286000" cy="1737360"/>
          </a:xfrm>
          <a:prstGeom prst="rect">
            <a:avLst/>
          </a:prstGeom>
          <a:noFill/>
          <a:ln/>
        </p:spPr>
        <p:txBody>
          <a:bodyPr wrap="square" rtlCol="0" anchor="t"/>
          <a:lstStyle/>
          <a:p>
            <a:pPr algn="ctr" indent="0" marL="0">
              <a:lnSpc>
                <a:spcPct val="120000"/>
              </a:lnSpc>
              <a:buNone/>
            </a:pPr>
            <a:r>
              <a:rPr lang="en-US" sz="1030" dirty="0">
                <a:solidFill>
                  <a:srgbClr val="CADCFC"/>
                </a:solidFill>
                <a:latin typeface="Calibri" pitchFamily="34" charset="0"/>
                <a:ea typeface="Calibri" pitchFamily="34" charset="-122"/>
                <a:cs typeface="Calibri" pitchFamily="34" charset="-120"/>
              </a:rPr>
              <a:t>1 subtajuk (8.1), 4 SP — 8 jenis graf/carta dalam skop perwakilan data.</a:t>
            </a:r>
            <a:endParaRPr lang="en-US" sz="1030" dirty="0"/>
          </a:p>
        </p:txBody>
      </p:sp>
      <p:sp>
        <p:nvSpPr>
          <p:cNvPr id="9" name="Shape 6"/>
          <p:cNvSpPr/>
          <p:nvPr/>
        </p:nvSpPr>
        <p:spPr>
          <a:xfrm>
            <a:off x="3429000" y="1737360"/>
            <a:ext cx="2651760" cy="3566160"/>
          </a:xfrm>
          <a:prstGeom prst="roundRect">
            <a:avLst>
              <a:gd name="adj" fmla="val 2759"/>
            </a:avLst>
          </a:prstGeom>
          <a:solidFill>
            <a:srgbClr val="1E2761"/>
          </a:solidFill>
          <a:ln/>
        </p:spPr>
      </p:sp>
      <p:sp>
        <p:nvSpPr>
          <p:cNvPr id="10" name="Shape 7"/>
          <p:cNvSpPr/>
          <p:nvPr/>
        </p:nvSpPr>
        <p:spPr>
          <a:xfrm>
            <a:off x="4389120" y="2057400"/>
            <a:ext cx="731520" cy="731520"/>
          </a:xfrm>
          <a:prstGeom prst="ellipse">
            <a:avLst/>
          </a:prstGeom>
          <a:solidFill>
            <a:srgbClr val="F2B705"/>
          </a:solidFill>
          <a:ln/>
        </p:spPr>
      </p:sp>
      <p:pic>
        <p:nvPicPr>
          <p:cNvPr id="11" name="Image 1" descr="/home/claude/shared_icons/icon_route.png">    </p:cNvPr>
          <p:cNvPicPr>
            <a:picLocks noChangeAspect="1"/>
          </p:cNvPicPr>
          <p:nvPr/>
        </p:nvPicPr>
        <p:blipFill>
          <a:blip r:embed="rId2"/>
          <a:stretch>
            <a:fillRect/>
          </a:stretch>
        </p:blipFill>
        <p:spPr>
          <a:xfrm>
            <a:off x="4491533" y="2159813"/>
            <a:ext cx="526694" cy="526694"/>
          </a:xfrm>
          <a:prstGeom prst="rect">
            <a:avLst/>
          </a:prstGeom>
        </p:spPr>
      </p:pic>
      <p:sp>
        <p:nvSpPr>
          <p:cNvPr id="12" name="Text 8"/>
          <p:cNvSpPr txBox="1"/>
          <p:nvPr/>
        </p:nvSpPr>
        <p:spPr>
          <a:xfrm>
            <a:off x="3566160" y="2971800"/>
            <a:ext cx="2377440" cy="365760"/>
          </a:xfrm>
          <a:prstGeom prst="rect">
            <a:avLst/>
          </a:prstGeom>
          <a:noFill/>
          <a:ln/>
        </p:spPr>
        <p:txBody>
          <a:bodyPr wrap="square"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Pendekatan</a:t>
            </a:r>
            <a:endParaRPr lang="en-US" sz="1350" dirty="0"/>
          </a:p>
        </p:txBody>
      </p:sp>
      <p:sp>
        <p:nvSpPr>
          <p:cNvPr id="13" name="Text 9"/>
          <p:cNvSpPr txBox="1"/>
          <p:nvPr/>
        </p:nvSpPr>
        <p:spPr>
          <a:xfrm>
            <a:off x="3611880" y="3429000"/>
            <a:ext cx="2286000" cy="1737360"/>
          </a:xfrm>
          <a:prstGeom prst="rect">
            <a:avLst/>
          </a:prstGeom>
          <a:noFill/>
          <a:ln/>
        </p:spPr>
        <p:txBody>
          <a:bodyPr wrap="square" rtlCol="0" anchor="t"/>
          <a:lstStyle/>
          <a:p>
            <a:pPr algn="ctr" indent="0" marL="0">
              <a:lnSpc>
                <a:spcPct val="120000"/>
              </a:lnSpc>
              <a:buNone/>
            </a:pPr>
            <a:r>
              <a:rPr lang="en-US" sz="1030" dirty="0">
                <a:solidFill>
                  <a:srgbClr val="CADCFC"/>
                </a:solidFill>
                <a:latin typeface="Calibri" pitchFamily="34" charset="0"/>
                <a:ea typeface="Calibri" pitchFamily="34" charset="-122"/>
                <a:cs typeface="Calibri" pitchFamily="34" charset="-120"/>
              </a:rPr>
              <a:t>7 Langkah Inkuiri Statistik — dari soalan hingga pembentangan (Gallery Walk).</a:t>
            </a:r>
            <a:endParaRPr lang="en-US" sz="1030" dirty="0"/>
          </a:p>
        </p:txBody>
      </p:sp>
      <p:sp>
        <p:nvSpPr>
          <p:cNvPr id="14" name="Shape 10"/>
          <p:cNvSpPr/>
          <p:nvPr/>
        </p:nvSpPr>
        <p:spPr>
          <a:xfrm>
            <a:off x="6309360" y="1737360"/>
            <a:ext cx="2651760" cy="3566160"/>
          </a:xfrm>
          <a:prstGeom prst="roundRect">
            <a:avLst>
              <a:gd name="adj" fmla="val 2759"/>
            </a:avLst>
          </a:prstGeom>
          <a:solidFill>
            <a:srgbClr val="1E2761"/>
          </a:solidFill>
          <a:ln/>
        </p:spPr>
      </p:sp>
      <p:sp>
        <p:nvSpPr>
          <p:cNvPr id="15" name="Shape 11"/>
          <p:cNvSpPr/>
          <p:nvPr/>
        </p:nvSpPr>
        <p:spPr>
          <a:xfrm>
            <a:off x="7269480" y="2057400"/>
            <a:ext cx="731520" cy="731520"/>
          </a:xfrm>
          <a:prstGeom prst="ellipse">
            <a:avLst/>
          </a:prstGeom>
          <a:solidFill>
            <a:srgbClr val="F2B705"/>
          </a:solidFill>
          <a:ln/>
        </p:spPr>
      </p:sp>
      <p:pic>
        <p:nvPicPr>
          <p:cNvPr id="16" name="Image 2" descr="/home/claude/shared_icons/icon_compass.png">    </p:cNvPr>
          <p:cNvPicPr>
            <a:picLocks noChangeAspect="1"/>
          </p:cNvPicPr>
          <p:nvPr/>
        </p:nvPicPr>
        <p:blipFill>
          <a:blip r:embed="rId3"/>
          <a:stretch>
            <a:fillRect/>
          </a:stretch>
        </p:blipFill>
        <p:spPr>
          <a:xfrm>
            <a:off x="7371893" y="2159813"/>
            <a:ext cx="526694" cy="526694"/>
          </a:xfrm>
          <a:prstGeom prst="rect">
            <a:avLst/>
          </a:prstGeom>
        </p:spPr>
      </p:pic>
      <p:sp>
        <p:nvSpPr>
          <p:cNvPr id="17" name="Text 12"/>
          <p:cNvSpPr txBox="1"/>
          <p:nvPr/>
        </p:nvSpPr>
        <p:spPr>
          <a:xfrm>
            <a:off x="6446520" y="2971800"/>
            <a:ext cx="2377440" cy="365760"/>
          </a:xfrm>
          <a:prstGeom prst="rect">
            <a:avLst/>
          </a:prstGeom>
          <a:noFill/>
          <a:ln/>
        </p:spPr>
        <p:txBody>
          <a:bodyPr wrap="square"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Konteks</a:t>
            </a:r>
            <a:endParaRPr lang="en-US" sz="1350" dirty="0"/>
          </a:p>
        </p:txBody>
      </p:sp>
      <p:sp>
        <p:nvSpPr>
          <p:cNvPr id="18" name="Text 13"/>
          <p:cNvSpPr txBox="1"/>
          <p:nvPr/>
        </p:nvSpPr>
        <p:spPr>
          <a:xfrm>
            <a:off x="6492240" y="3429000"/>
            <a:ext cx="2286000" cy="1737360"/>
          </a:xfrm>
          <a:prstGeom prst="rect">
            <a:avLst/>
          </a:prstGeom>
          <a:noFill/>
          <a:ln/>
        </p:spPr>
        <p:txBody>
          <a:bodyPr wrap="square" rtlCol="0" anchor="t"/>
          <a:lstStyle/>
          <a:p>
            <a:pPr algn="ctr" indent="0" marL="0">
              <a:lnSpc>
                <a:spcPct val="120000"/>
              </a:lnSpc>
              <a:buNone/>
            </a:pPr>
            <a:r>
              <a:rPr lang="en-US" sz="1030" dirty="0">
                <a:solidFill>
                  <a:srgbClr val="CADCFC"/>
                </a:solidFill>
                <a:latin typeface="Calibri" pitchFamily="34" charset="0"/>
                <a:ea typeface="Calibri" pitchFamily="34" charset="-122"/>
                <a:cs typeface="Calibri" pitchFamily="34" charset="-120"/>
              </a:rPr>
              <a:t>PKJR diwajibkan secara eksplisit dalam Nota SP 8.1.2 &amp; 8.1.4.</a:t>
            </a:r>
            <a:endParaRPr lang="en-US" sz="1030" dirty="0"/>
          </a:p>
        </p:txBody>
      </p:sp>
      <p:sp>
        <p:nvSpPr>
          <p:cNvPr id="19" name="Shape 14"/>
          <p:cNvSpPr/>
          <p:nvPr/>
        </p:nvSpPr>
        <p:spPr>
          <a:xfrm>
            <a:off x="9189720" y="1737360"/>
            <a:ext cx="2651760" cy="3566160"/>
          </a:xfrm>
          <a:prstGeom prst="roundRect">
            <a:avLst>
              <a:gd name="adj" fmla="val 2759"/>
            </a:avLst>
          </a:prstGeom>
          <a:solidFill>
            <a:srgbClr val="1E2761"/>
          </a:solidFill>
          <a:ln/>
        </p:spPr>
      </p:sp>
      <p:sp>
        <p:nvSpPr>
          <p:cNvPr id="20" name="Shape 15"/>
          <p:cNvSpPr/>
          <p:nvPr/>
        </p:nvSpPr>
        <p:spPr>
          <a:xfrm>
            <a:off x="10149840" y="2057400"/>
            <a:ext cx="731520" cy="731520"/>
          </a:xfrm>
          <a:prstGeom prst="ellipse">
            <a:avLst/>
          </a:prstGeom>
          <a:solidFill>
            <a:srgbClr val="F2B705"/>
          </a:solidFill>
          <a:ln/>
        </p:spPr>
      </p:sp>
      <p:pic>
        <p:nvPicPr>
          <p:cNvPr id="21" name="Image 3" descr="/home/claude/shared_icons/icon_target.png">    </p:cNvPr>
          <p:cNvPicPr>
            <a:picLocks noChangeAspect="1"/>
          </p:cNvPicPr>
          <p:nvPr/>
        </p:nvPicPr>
        <p:blipFill>
          <a:blip r:embed="rId4"/>
          <a:stretch>
            <a:fillRect/>
          </a:stretch>
        </p:blipFill>
        <p:spPr>
          <a:xfrm>
            <a:off x="10252253" y="2159813"/>
            <a:ext cx="526694" cy="526694"/>
          </a:xfrm>
          <a:prstGeom prst="rect">
            <a:avLst/>
          </a:prstGeom>
        </p:spPr>
      </p:pic>
      <p:sp>
        <p:nvSpPr>
          <p:cNvPr id="22" name="Text 16"/>
          <p:cNvSpPr txBox="1"/>
          <p:nvPr/>
        </p:nvSpPr>
        <p:spPr>
          <a:xfrm>
            <a:off x="9326880" y="2971800"/>
            <a:ext cx="2377440" cy="365760"/>
          </a:xfrm>
          <a:prstGeom prst="rect">
            <a:avLst/>
          </a:prstGeom>
          <a:noFill/>
          <a:ln/>
        </p:spPr>
        <p:txBody>
          <a:bodyPr wrap="square"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Pentaksiran</a:t>
            </a:r>
            <a:endParaRPr lang="en-US" sz="1350" dirty="0"/>
          </a:p>
        </p:txBody>
      </p:sp>
      <p:sp>
        <p:nvSpPr>
          <p:cNvPr id="23" name="Text 17"/>
          <p:cNvSpPr txBox="1"/>
          <p:nvPr/>
        </p:nvSpPr>
        <p:spPr>
          <a:xfrm>
            <a:off x="9372600" y="3429000"/>
            <a:ext cx="2286000" cy="1737360"/>
          </a:xfrm>
          <a:prstGeom prst="rect">
            <a:avLst/>
          </a:prstGeom>
          <a:noFill/>
          <a:ln/>
        </p:spPr>
        <p:txBody>
          <a:bodyPr wrap="square" rtlCol="0" anchor="t"/>
          <a:lstStyle/>
          <a:p>
            <a:pPr algn="ctr" indent="0" marL="0">
              <a:lnSpc>
                <a:spcPct val="120000"/>
              </a:lnSpc>
              <a:buNone/>
            </a:pPr>
            <a:r>
              <a:rPr lang="en-US" sz="1030" dirty="0">
                <a:solidFill>
                  <a:srgbClr val="CADCFC"/>
                </a:solidFill>
                <a:latin typeface="Calibri" pitchFamily="34" charset="0"/>
                <a:ea typeface="Calibri" pitchFamily="34" charset="-122"/>
                <a:cs typeface="Calibri" pitchFamily="34" charset="-120"/>
              </a:rPr>
              <a:t>Digazetkan sepenuhnya melalui PBL (2 minggu – sebulan), bukan peperiksaan tunggal.</a:t>
            </a:r>
            <a:endParaRPr lang="en-US" sz="1030" dirty="0"/>
          </a:p>
        </p:txBody>
      </p:sp>
      <p:sp>
        <p:nvSpPr>
          <p:cNvPr id="24" name="Text 18"/>
          <p:cNvSpPr txBox="1"/>
          <p:nvPr/>
        </p:nvSpPr>
        <p:spPr>
          <a:xfrm>
            <a:off x="548640" y="5486400"/>
            <a:ext cx="11064240" cy="457200"/>
          </a:xfrm>
          <a:prstGeom prst="rect">
            <a:avLst/>
          </a:prstGeom>
          <a:noFill/>
          <a:ln/>
        </p:spPr>
        <p:txBody>
          <a:bodyPr wrap="square" rtlCol="0" anchor="ctr"/>
          <a:lstStyle/>
          <a:p>
            <a:pPr algn="ctr" indent="0" marL="0">
              <a:buNone/>
            </a:pPr>
            <a:r>
              <a:rPr lang="en-US" sz="1150" i="1" dirty="0">
                <a:solidFill>
                  <a:srgbClr val="5B6472"/>
                </a:solidFill>
                <a:latin typeface="Calibri" pitchFamily="34" charset="0"/>
                <a:ea typeface="Calibri" pitchFamily="34" charset="-122"/>
                <a:cs typeface="Calibri" pitchFamily="34" charset="-120"/>
              </a:rPr>
              <a:t>Data TIMSS mengingatkan kita: kemahiran mentafsir kritikal murid Malaysia masih lemah — inkuiri statistik 7 langkah ialah jawapannya.</a:t>
            </a:r>
            <a:endParaRPr lang="en-US" sz="1150" dirty="0"/>
          </a:p>
        </p:txBody>
      </p:sp>
      <p:sp>
        <p:nvSpPr>
          <p:cNvPr id="25" name="Text 19"/>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[SINTESIS] Slaid BPK + Analisis Bengkel</a:t>
            </a:r>
            <a:endParaRPr lang="en-US" sz="1000" dirty="0"/>
          </a:p>
        </p:txBody>
      </p:sp>
      <p:sp>
        <p:nvSpPr>
          <p:cNvPr id="26" name="Text 20"/>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7  |  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TINDAKAN GURU</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Apa Perlu Dibuat Selepas Sidang Ini?</a:t>
            </a:r>
            <a:endParaRPr lang="en-US" sz="2600" dirty="0"/>
          </a:p>
        </p:txBody>
      </p:sp>
      <p:sp>
        <p:nvSpPr>
          <p:cNvPr id="4" name="Shape 2"/>
          <p:cNvSpPr/>
          <p:nvPr/>
        </p:nvSpPr>
        <p:spPr>
          <a:xfrm>
            <a:off x="548640" y="1691640"/>
            <a:ext cx="11064240" cy="658368"/>
          </a:xfrm>
          <a:prstGeom prst="roundRect">
            <a:avLst>
              <a:gd name="adj" fmla="val 8333"/>
            </a:avLst>
          </a:prstGeom>
          <a:solidFill>
            <a:srgbClr val="F5F7FC"/>
          </a:solidFill>
          <a:ln w="12700">
            <a:solidFill>
              <a:srgbClr val="E7EAF2"/>
            </a:solidFill>
            <a:prstDash val="solid"/>
          </a:ln>
        </p:spPr>
      </p:sp>
      <p:sp>
        <p:nvSpPr>
          <p:cNvPr id="5" name="Shape 3"/>
          <p:cNvSpPr/>
          <p:nvPr/>
        </p:nvSpPr>
        <p:spPr>
          <a:xfrm>
            <a:off x="777240" y="1883664"/>
            <a:ext cx="274320" cy="274320"/>
          </a:xfrm>
          <a:prstGeom prst="rect">
            <a:avLst/>
          </a:prstGeom>
          <a:solidFill>
            <a:srgbClr val="FFFFFF"/>
          </a:solidFill>
          <a:ln w="19050">
            <a:solidFill>
              <a:srgbClr val="1E2761"/>
            </a:solidFill>
            <a:prstDash val="solid"/>
          </a:ln>
        </p:spPr>
      </p:sp>
      <p:sp>
        <p:nvSpPr>
          <p:cNvPr id="6" name="Text 4"/>
          <p:cNvSpPr txBox="1"/>
          <p:nvPr/>
        </p:nvSpPr>
        <p:spPr>
          <a:xfrm>
            <a:off x="1234440" y="1691640"/>
            <a:ext cx="10195560" cy="658368"/>
          </a:xfrm>
          <a:prstGeom prst="rect">
            <a:avLst/>
          </a:prstGeom>
          <a:noFill/>
          <a:ln/>
        </p:spPr>
        <p:txBody>
          <a:bodyPr wrap="square" rtlCol="0" anchor="ctr"/>
          <a:lstStyle/>
          <a:p>
            <a:pPr indent="0" marL="0">
              <a:buNone/>
            </a:pPr>
            <a:r>
              <a:rPr lang="en-US" sz="1150" dirty="0">
                <a:solidFill>
                  <a:srgbClr val="141A45"/>
                </a:solidFill>
                <a:latin typeface="Calibri" pitchFamily="34" charset="0"/>
                <a:ea typeface="Calibri" pitchFamily="34" charset="-122"/>
                <a:cs typeface="Calibri" pitchFamily="34" charset="-120"/>
              </a:rPr>
              <a:t>Rancang SATU projek PBL Pengendalian Data bertempoh 2 minggu – sebulan untuk kelas anda.</a:t>
            </a:r>
            <a:endParaRPr lang="en-US" sz="1150" dirty="0"/>
          </a:p>
        </p:txBody>
      </p:sp>
      <p:sp>
        <p:nvSpPr>
          <p:cNvPr id="7" name="Shape 5"/>
          <p:cNvSpPr/>
          <p:nvPr/>
        </p:nvSpPr>
        <p:spPr>
          <a:xfrm>
            <a:off x="548640" y="2441448"/>
            <a:ext cx="11064240" cy="658368"/>
          </a:xfrm>
          <a:prstGeom prst="roundRect">
            <a:avLst>
              <a:gd name="adj" fmla="val 8333"/>
            </a:avLst>
          </a:prstGeom>
          <a:solidFill>
            <a:srgbClr val="F5F7FC"/>
          </a:solidFill>
          <a:ln w="12700">
            <a:solidFill>
              <a:srgbClr val="E7EAF2"/>
            </a:solidFill>
            <a:prstDash val="solid"/>
          </a:ln>
        </p:spPr>
      </p:sp>
      <p:sp>
        <p:nvSpPr>
          <p:cNvPr id="8" name="Shape 6"/>
          <p:cNvSpPr/>
          <p:nvPr/>
        </p:nvSpPr>
        <p:spPr>
          <a:xfrm>
            <a:off x="777240" y="2633472"/>
            <a:ext cx="274320" cy="274320"/>
          </a:xfrm>
          <a:prstGeom prst="rect">
            <a:avLst/>
          </a:prstGeom>
          <a:solidFill>
            <a:srgbClr val="FFFFFF"/>
          </a:solidFill>
          <a:ln w="19050">
            <a:solidFill>
              <a:srgbClr val="1E2761"/>
            </a:solidFill>
            <a:prstDash val="solid"/>
          </a:ln>
        </p:spPr>
      </p:sp>
      <p:sp>
        <p:nvSpPr>
          <p:cNvPr id="9" name="Text 7"/>
          <p:cNvSpPr txBox="1"/>
          <p:nvPr/>
        </p:nvSpPr>
        <p:spPr>
          <a:xfrm>
            <a:off x="1234440" y="2441448"/>
            <a:ext cx="10195560" cy="658368"/>
          </a:xfrm>
          <a:prstGeom prst="rect">
            <a:avLst/>
          </a:prstGeom>
          <a:noFill/>
          <a:ln/>
        </p:spPr>
        <p:txBody>
          <a:bodyPr wrap="square" rtlCol="0" anchor="ctr"/>
          <a:lstStyle/>
          <a:p>
            <a:pPr indent="0" marL="0">
              <a:buNone/>
            </a:pPr>
            <a:r>
              <a:rPr lang="en-US" sz="1150" dirty="0">
                <a:solidFill>
                  <a:srgbClr val="141A45"/>
                </a:solidFill>
                <a:latin typeface="Calibri" pitchFamily="34" charset="0"/>
                <a:ea typeface="Calibri" pitchFamily="34" charset="-122"/>
                <a:cs typeface="Calibri" pitchFamily="34" charset="-120"/>
              </a:rPr>
              <a:t>Kenal pasti konteks PKJR yang sesuai untuk dijadikan tema pengumpulan data murid.</a:t>
            </a:r>
            <a:endParaRPr lang="en-US" sz="1150" dirty="0"/>
          </a:p>
        </p:txBody>
      </p:sp>
      <p:sp>
        <p:nvSpPr>
          <p:cNvPr id="10" name="Shape 8"/>
          <p:cNvSpPr/>
          <p:nvPr/>
        </p:nvSpPr>
        <p:spPr>
          <a:xfrm>
            <a:off x="548640" y="3191256"/>
            <a:ext cx="11064240" cy="658368"/>
          </a:xfrm>
          <a:prstGeom prst="roundRect">
            <a:avLst>
              <a:gd name="adj" fmla="val 8333"/>
            </a:avLst>
          </a:prstGeom>
          <a:solidFill>
            <a:srgbClr val="F5F7FC"/>
          </a:solidFill>
          <a:ln w="12700">
            <a:solidFill>
              <a:srgbClr val="E7EAF2"/>
            </a:solidFill>
            <a:prstDash val="solid"/>
          </a:ln>
        </p:spPr>
      </p:sp>
      <p:sp>
        <p:nvSpPr>
          <p:cNvPr id="11" name="Shape 9"/>
          <p:cNvSpPr/>
          <p:nvPr/>
        </p:nvSpPr>
        <p:spPr>
          <a:xfrm>
            <a:off x="777240" y="3383280"/>
            <a:ext cx="274320" cy="274320"/>
          </a:xfrm>
          <a:prstGeom prst="rect">
            <a:avLst/>
          </a:prstGeom>
          <a:solidFill>
            <a:srgbClr val="FFFFFF"/>
          </a:solidFill>
          <a:ln w="19050">
            <a:solidFill>
              <a:srgbClr val="1E2761"/>
            </a:solidFill>
            <a:prstDash val="solid"/>
          </a:ln>
        </p:spPr>
      </p:sp>
      <p:sp>
        <p:nvSpPr>
          <p:cNvPr id="12" name="Text 10"/>
          <p:cNvSpPr txBox="1"/>
          <p:nvPr/>
        </p:nvSpPr>
        <p:spPr>
          <a:xfrm>
            <a:off x="1234440" y="3191256"/>
            <a:ext cx="10195560" cy="658368"/>
          </a:xfrm>
          <a:prstGeom prst="rect">
            <a:avLst/>
          </a:prstGeom>
          <a:noFill/>
          <a:ln/>
        </p:spPr>
        <p:txBody>
          <a:bodyPr wrap="square" rtlCol="0" anchor="ctr"/>
          <a:lstStyle/>
          <a:p>
            <a:pPr indent="0" marL="0">
              <a:buNone/>
            </a:pPr>
            <a:r>
              <a:rPr lang="en-US" sz="1150" dirty="0">
                <a:solidFill>
                  <a:srgbClr val="141A45"/>
                </a:solidFill>
                <a:latin typeface="Calibri" pitchFamily="34" charset="0"/>
                <a:ea typeface="Calibri" pitchFamily="34" charset="-122"/>
                <a:cs typeface="Calibri" pitchFamily="34" charset="-120"/>
              </a:rPr>
              <a:t>Sediakan templat jadual kekerapan &amp; panduan 7 langkah untuk diedarkan kepada murid.</a:t>
            </a:r>
            <a:endParaRPr lang="en-US" sz="1150" dirty="0"/>
          </a:p>
        </p:txBody>
      </p:sp>
      <p:sp>
        <p:nvSpPr>
          <p:cNvPr id="13" name="Shape 11"/>
          <p:cNvSpPr/>
          <p:nvPr/>
        </p:nvSpPr>
        <p:spPr>
          <a:xfrm>
            <a:off x="548640" y="3941064"/>
            <a:ext cx="11064240" cy="658368"/>
          </a:xfrm>
          <a:prstGeom prst="roundRect">
            <a:avLst>
              <a:gd name="adj" fmla="val 8333"/>
            </a:avLst>
          </a:prstGeom>
          <a:solidFill>
            <a:srgbClr val="F5F7FC"/>
          </a:solidFill>
          <a:ln w="12700">
            <a:solidFill>
              <a:srgbClr val="E7EAF2"/>
            </a:solidFill>
            <a:prstDash val="solid"/>
          </a:ln>
        </p:spPr>
      </p:sp>
      <p:sp>
        <p:nvSpPr>
          <p:cNvPr id="14" name="Shape 12"/>
          <p:cNvSpPr/>
          <p:nvPr/>
        </p:nvSpPr>
        <p:spPr>
          <a:xfrm>
            <a:off x="777240" y="4133088"/>
            <a:ext cx="274320" cy="274320"/>
          </a:xfrm>
          <a:prstGeom prst="rect">
            <a:avLst/>
          </a:prstGeom>
          <a:solidFill>
            <a:srgbClr val="FFFFFF"/>
          </a:solidFill>
          <a:ln w="19050">
            <a:solidFill>
              <a:srgbClr val="1E2761"/>
            </a:solidFill>
            <a:prstDash val="solid"/>
          </a:ln>
        </p:spPr>
      </p:sp>
      <p:sp>
        <p:nvSpPr>
          <p:cNvPr id="15" name="Text 13"/>
          <p:cNvSpPr txBox="1"/>
          <p:nvPr/>
        </p:nvSpPr>
        <p:spPr>
          <a:xfrm>
            <a:off x="1234440" y="3941064"/>
            <a:ext cx="10195560" cy="658368"/>
          </a:xfrm>
          <a:prstGeom prst="rect">
            <a:avLst/>
          </a:prstGeom>
          <a:noFill/>
          <a:ln/>
        </p:spPr>
        <p:txBody>
          <a:bodyPr wrap="square" rtlCol="0" anchor="ctr"/>
          <a:lstStyle/>
          <a:p>
            <a:pPr indent="0" marL="0">
              <a:buNone/>
            </a:pPr>
            <a:r>
              <a:rPr lang="en-US" sz="1150" dirty="0">
                <a:solidFill>
                  <a:srgbClr val="141A45"/>
                </a:solidFill>
                <a:latin typeface="Calibri" pitchFamily="34" charset="0"/>
                <a:ea typeface="Calibri" pitchFamily="34" charset="-122"/>
                <a:cs typeface="Calibri" pitchFamily="34" charset="-120"/>
              </a:rPr>
              <a:t>Rancang sesi Gallery Walk/pembentangan sebagai penutup projek (Langkah 7).</a:t>
            </a:r>
            <a:endParaRPr lang="en-US" sz="1150" dirty="0"/>
          </a:p>
        </p:txBody>
      </p:sp>
      <p:sp>
        <p:nvSpPr>
          <p:cNvPr id="16" name="Shape 14"/>
          <p:cNvSpPr/>
          <p:nvPr/>
        </p:nvSpPr>
        <p:spPr>
          <a:xfrm>
            <a:off x="548640" y="4690872"/>
            <a:ext cx="11064240" cy="658368"/>
          </a:xfrm>
          <a:prstGeom prst="roundRect">
            <a:avLst>
              <a:gd name="adj" fmla="val 8333"/>
            </a:avLst>
          </a:prstGeom>
          <a:solidFill>
            <a:srgbClr val="F5F7FC"/>
          </a:solidFill>
          <a:ln w="12700">
            <a:solidFill>
              <a:srgbClr val="E7EAF2"/>
            </a:solidFill>
            <a:prstDash val="solid"/>
          </a:ln>
        </p:spPr>
      </p:sp>
      <p:sp>
        <p:nvSpPr>
          <p:cNvPr id="17" name="Shape 15"/>
          <p:cNvSpPr/>
          <p:nvPr/>
        </p:nvSpPr>
        <p:spPr>
          <a:xfrm>
            <a:off x="777240" y="4882896"/>
            <a:ext cx="274320" cy="274320"/>
          </a:xfrm>
          <a:prstGeom prst="rect">
            <a:avLst/>
          </a:prstGeom>
          <a:solidFill>
            <a:srgbClr val="FFFFFF"/>
          </a:solidFill>
          <a:ln w="19050">
            <a:solidFill>
              <a:srgbClr val="1E2761"/>
            </a:solidFill>
            <a:prstDash val="solid"/>
          </a:ln>
        </p:spPr>
      </p:sp>
      <p:sp>
        <p:nvSpPr>
          <p:cNvPr id="18" name="Text 16"/>
          <p:cNvSpPr txBox="1"/>
          <p:nvPr/>
        </p:nvSpPr>
        <p:spPr>
          <a:xfrm>
            <a:off x="1234440" y="4690872"/>
            <a:ext cx="10195560" cy="658368"/>
          </a:xfrm>
          <a:prstGeom prst="rect">
            <a:avLst/>
          </a:prstGeom>
          <a:noFill/>
          <a:ln/>
        </p:spPr>
        <p:txBody>
          <a:bodyPr wrap="square" rtlCol="0" anchor="ctr"/>
          <a:lstStyle/>
          <a:p>
            <a:pPr indent="0" marL="0">
              <a:buNone/>
            </a:pPr>
            <a:r>
              <a:rPr lang="en-US" sz="1150" dirty="0">
                <a:solidFill>
                  <a:srgbClr val="141A45"/>
                </a:solidFill>
                <a:latin typeface="Calibri" pitchFamily="34" charset="0"/>
                <a:ea typeface="Calibri" pitchFamily="34" charset="-122"/>
                <a:cs typeface="Calibri" pitchFamily="34" charset="-120"/>
              </a:rPr>
              <a:t>Bincang dengan panitia lain (Sains/RBT/Geografi) peluang projek rentas kurikulum (KmR).</a:t>
            </a:r>
            <a:endParaRPr lang="en-US" sz="1150" dirty="0"/>
          </a:p>
        </p:txBody>
      </p:sp>
      <p:sp>
        <p:nvSpPr>
          <p:cNvPr id="19" name="Shape 17"/>
          <p:cNvSpPr/>
          <p:nvPr/>
        </p:nvSpPr>
        <p:spPr>
          <a:xfrm>
            <a:off x="548640" y="5440680"/>
            <a:ext cx="11064240" cy="658368"/>
          </a:xfrm>
          <a:prstGeom prst="roundRect">
            <a:avLst>
              <a:gd name="adj" fmla="val 8333"/>
            </a:avLst>
          </a:prstGeom>
          <a:solidFill>
            <a:srgbClr val="F5F7FC"/>
          </a:solidFill>
          <a:ln w="12700">
            <a:solidFill>
              <a:srgbClr val="E7EAF2"/>
            </a:solidFill>
            <a:prstDash val="solid"/>
          </a:ln>
        </p:spPr>
      </p:sp>
      <p:sp>
        <p:nvSpPr>
          <p:cNvPr id="20" name="Shape 18"/>
          <p:cNvSpPr/>
          <p:nvPr/>
        </p:nvSpPr>
        <p:spPr>
          <a:xfrm>
            <a:off x="777240" y="5632704"/>
            <a:ext cx="274320" cy="274320"/>
          </a:xfrm>
          <a:prstGeom prst="rect">
            <a:avLst/>
          </a:prstGeom>
          <a:solidFill>
            <a:srgbClr val="FFFFFF"/>
          </a:solidFill>
          <a:ln w="19050">
            <a:solidFill>
              <a:srgbClr val="1E2761"/>
            </a:solidFill>
            <a:prstDash val="solid"/>
          </a:ln>
        </p:spPr>
      </p:sp>
      <p:sp>
        <p:nvSpPr>
          <p:cNvPr id="21" name="Text 19"/>
          <p:cNvSpPr txBox="1"/>
          <p:nvPr/>
        </p:nvSpPr>
        <p:spPr>
          <a:xfrm>
            <a:off x="1234440" y="5440680"/>
            <a:ext cx="10195560" cy="658368"/>
          </a:xfrm>
          <a:prstGeom prst="rect">
            <a:avLst/>
          </a:prstGeom>
          <a:noFill/>
          <a:ln/>
        </p:spPr>
        <p:txBody>
          <a:bodyPr wrap="square" rtlCol="0" anchor="ctr"/>
          <a:lstStyle/>
          <a:p>
            <a:pPr indent="0" marL="0">
              <a:buNone/>
            </a:pPr>
            <a:r>
              <a:rPr lang="en-US" sz="1150" dirty="0">
                <a:solidFill>
                  <a:srgbClr val="141A45"/>
                </a:solidFill>
                <a:latin typeface="Calibri" pitchFamily="34" charset="0"/>
                <a:ea typeface="Calibri" pitchFamily="34" charset="-122"/>
                <a:cs typeface="Calibri" pitchFamily="34" charset="-120"/>
              </a:rPr>
              <a:t>Kongsikan bahan ini kepada rakan sekolah yang tidak dapat hadir sidang asal.</a:t>
            </a:r>
            <a:endParaRPr lang="en-US" sz="1150" dirty="0"/>
          </a:p>
        </p:txBody>
      </p:sp>
      <p:sp>
        <p:nvSpPr>
          <p:cNvPr id="22" name="Text 20"/>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[CADANGAN PEMBANGUN MODUL] Senarai semak tindakan susulan</a:t>
            </a:r>
            <a:endParaRPr lang="en-US" sz="1000" dirty="0"/>
          </a:p>
        </p:txBody>
      </p:sp>
      <p:sp>
        <p:nvSpPr>
          <p:cNvPr id="23" name="Text 21"/>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7  |  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141A45"/>
          </a:solidFill>
          <a:ln/>
        </p:spPr>
      </p:sp>
      <p:sp>
        <p:nvSpPr>
          <p:cNvPr id="3" name="Shape 1"/>
          <p:cNvSpPr/>
          <p:nvPr/>
        </p:nvSpPr>
        <p:spPr>
          <a:xfrm>
            <a:off x="-1645920" y="4754880"/>
            <a:ext cx="4023360" cy="4023360"/>
          </a:xfrm>
          <a:prstGeom prst="ellipse">
            <a:avLst/>
          </a:prstGeom>
          <a:solidFill>
            <a:srgbClr val="141A45"/>
          </a:solidFill>
          <a:ln/>
        </p:spPr>
      </p:sp>
      <p:sp>
        <p:nvSpPr>
          <p:cNvPr id="4" name="Text 2"/>
          <p:cNvSpPr txBox="1"/>
          <p:nvPr/>
        </p:nvSpPr>
        <p:spPr>
          <a:xfrm>
            <a:off x="822960" y="640080"/>
            <a:ext cx="9144000" cy="365760"/>
          </a:xfrm>
          <a:prstGeom prst="rect">
            <a:avLst/>
          </a:prstGeom>
          <a:noFill/>
          <a:ln/>
        </p:spPr>
        <p:txBody>
          <a:bodyPr wrap="square" rtlCol="0" anchor="ctr"/>
          <a:lstStyle/>
          <a:p>
            <a:pPr indent="0" marL="0">
              <a:buNone/>
            </a:pPr>
            <a:r>
              <a:rPr lang="en-US" sz="1400" b="1" spc="300" kern="0" dirty="0">
                <a:solidFill>
                  <a:srgbClr val="F2B705"/>
                </a:solidFill>
                <a:latin typeface="Calibri" pitchFamily="34" charset="0"/>
                <a:ea typeface="Calibri" pitchFamily="34" charset="-122"/>
                <a:cs typeface="Calibri" pitchFamily="34" charset="-120"/>
              </a:rPr>
              <a:t>TAKEAWAY</a:t>
            </a:r>
            <a:endParaRPr lang="en-US" sz="1400" dirty="0"/>
          </a:p>
        </p:txBody>
      </p:sp>
      <p:sp>
        <p:nvSpPr>
          <p:cNvPr id="5" name="Text 3"/>
          <p:cNvSpPr txBox="1"/>
          <p:nvPr/>
        </p:nvSpPr>
        <p:spPr>
          <a:xfrm>
            <a:off x="822960" y="1005840"/>
            <a:ext cx="10058400" cy="6858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Perkara Wajib Dibawa Pulang</a:t>
            </a:r>
            <a:endParaRPr lang="en-US" sz="3200" dirty="0"/>
          </a:p>
        </p:txBody>
      </p:sp>
      <p:sp>
        <p:nvSpPr>
          <p:cNvPr id="6" name="Shape 4"/>
          <p:cNvSpPr/>
          <p:nvPr/>
        </p:nvSpPr>
        <p:spPr>
          <a:xfrm>
            <a:off x="822960" y="1965960"/>
            <a:ext cx="457200" cy="457200"/>
          </a:xfrm>
          <a:prstGeom prst="ellipse">
            <a:avLst/>
          </a:prstGeom>
          <a:solidFill>
            <a:srgbClr val="F2B705"/>
          </a:solidFill>
          <a:ln/>
        </p:spPr>
      </p:sp>
      <p:pic>
        <p:nvPicPr>
          <p:cNvPr id="7" name="Image 0" descr="/home/claude/shared_icons/icon_check.png">    </p:cNvPr>
          <p:cNvPicPr>
            <a:picLocks noChangeAspect="1"/>
          </p:cNvPicPr>
          <p:nvPr/>
        </p:nvPicPr>
        <p:blipFill>
          <a:blip r:embed="rId1"/>
          <a:stretch>
            <a:fillRect/>
          </a:stretch>
        </p:blipFill>
        <p:spPr>
          <a:xfrm>
            <a:off x="886968" y="2029968"/>
            <a:ext cx="329184" cy="329184"/>
          </a:xfrm>
          <a:prstGeom prst="rect">
            <a:avLst/>
          </a:prstGeom>
        </p:spPr>
      </p:pic>
      <p:sp>
        <p:nvSpPr>
          <p:cNvPr id="8" name="Text 5"/>
          <p:cNvSpPr txBox="1"/>
          <p:nvPr/>
        </p:nvSpPr>
        <p:spPr>
          <a:xfrm>
            <a:off x="1463040" y="1984248"/>
            <a:ext cx="987552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8.1 Pengendalian Data: 4 SP, 8 jenis graf/carta dalam skop perwakilan data.</a:t>
            </a:r>
            <a:endParaRPr lang="en-US" sz="1300" dirty="0"/>
          </a:p>
        </p:txBody>
      </p:sp>
      <p:sp>
        <p:nvSpPr>
          <p:cNvPr id="9" name="Shape 6"/>
          <p:cNvSpPr/>
          <p:nvPr/>
        </p:nvSpPr>
        <p:spPr>
          <a:xfrm>
            <a:off x="822960" y="2624328"/>
            <a:ext cx="457200" cy="457200"/>
          </a:xfrm>
          <a:prstGeom prst="ellipse">
            <a:avLst/>
          </a:prstGeom>
          <a:solidFill>
            <a:srgbClr val="F2B705"/>
          </a:solidFill>
          <a:ln/>
        </p:spPr>
      </p:sp>
      <p:pic>
        <p:nvPicPr>
          <p:cNvPr id="10" name="Image 1" descr="/home/claude/shared_icons/icon_check.png">    </p:cNvPr>
          <p:cNvPicPr>
            <a:picLocks noChangeAspect="1"/>
          </p:cNvPicPr>
          <p:nvPr/>
        </p:nvPicPr>
        <p:blipFill>
          <a:blip r:embed="rId2"/>
          <a:stretch>
            <a:fillRect/>
          </a:stretch>
        </p:blipFill>
        <p:spPr>
          <a:xfrm>
            <a:off x="886968" y="2688336"/>
            <a:ext cx="329184" cy="329184"/>
          </a:xfrm>
          <a:prstGeom prst="rect">
            <a:avLst/>
          </a:prstGeom>
        </p:spPr>
      </p:pic>
      <p:sp>
        <p:nvSpPr>
          <p:cNvPr id="11" name="Text 7"/>
          <p:cNvSpPr txBox="1"/>
          <p:nvPr/>
        </p:nvSpPr>
        <p:spPr>
          <a:xfrm>
            <a:off x="1463040" y="2642616"/>
            <a:ext cx="987552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 Langkah Inkuiri Statistik — daripada soalan hingga pembentangan (Gallery Walk).</a:t>
            </a:r>
            <a:endParaRPr lang="en-US" sz="1300" dirty="0"/>
          </a:p>
        </p:txBody>
      </p:sp>
      <p:sp>
        <p:nvSpPr>
          <p:cNvPr id="12" name="Shape 8"/>
          <p:cNvSpPr/>
          <p:nvPr/>
        </p:nvSpPr>
        <p:spPr>
          <a:xfrm>
            <a:off x="822960" y="3282696"/>
            <a:ext cx="457200" cy="457200"/>
          </a:xfrm>
          <a:prstGeom prst="ellipse">
            <a:avLst/>
          </a:prstGeom>
          <a:solidFill>
            <a:srgbClr val="F2B705"/>
          </a:solidFill>
          <a:ln/>
        </p:spPr>
      </p:sp>
      <p:pic>
        <p:nvPicPr>
          <p:cNvPr id="13" name="Image 2" descr="/home/claude/shared_icons/icon_check.png">    </p:cNvPr>
          <p:cNvPicPr>
            <a:picLocks noChangeAspect="1"/>
          </p:cNvPicPr>
          <p:nvPr/>
        </p:nvPicPr>
        <p:blipFill>
          <a:blip r:embed="rId3"/>
          <a:stretch>
            <a:fillRect/>
          </a:stretch>
        </p:blipFill>
        <p:spPr>
          <a:xfrm>
            <a:off x="886968" y="3346704"/>
            <a:ext cx="329184" cy="329184"/>
          </a:xfrm>
          <a:prstGeom prst="rect">
            <a:avLst/>
          </a:prstGeom>
        </p:spPr>
      </p:pic>
      <p:sp>
        <p:nvSpPr>
          <p:cNvPr id="14" name="Text 9"/>
          <p:cNvSpPr txBox="1"/>
          <p:nvPr/>
        </p:nvSpPr>
        <p:spPr>
          <a:xfrm>
            <a:off x="1463040" y="3300984"/>
            <a:ext cx="987552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PKJR wajib dibincangkan secara eksplisit (SP 8.1.2 &amp; 8.1.4).</a:t>
            </a:r>
            <a:endParaRPr lang="en-US" sz="1300" dirty="0"/>
          </a:p>
        </p:txBody>
      </p:sp>
      <p:sp>
        <p:nvSpPr>
          <p:cNvPr id="15" name="Shape 10"/>
          <p:cNvSpPr/>
          <p:nvPr/>
        </p:nvSpPr>
        <p:spPr>
          <a:xfrm>
            <a:off x="822960" y="3941064"/>
            <a:ext cx="457200" cy="457200"/>
          </a:xfrm>
          <a:prstGeom prst="ellipse">
            <a:avLst/>
          </a:prstGeom>
          <a:solidFill>
            <a:srgbClr val="F2B705"/>
          </a:solidFill>
          <a:ln/>
        </p:spPr>
      </p:sp>
      <p:pic>
        <p:nvPicPr>
          <p:cNvPr id="16" name="Image 3" descr="/home/claude/shared_icons/icon_check.png">    </p:cNvPr>
          <p:cNvPicPr>
            <a:picLocks noChangeAspect="1"/>
          </p:cNvPicPr>
          <p:nvPr/>
        </p:nvPicPr>
        <p:blipFill>
          <a:blip r:embed="rId4"/>
          <a:stretch>
            <a:fillRect/>
          </a:stretch>
        </p:blipFill>
        <p:spPr>
          <a:xfrm>
            <a:off x="886968" y="4005072"/>
            <a:ext cx="329184" cy="329184"/>
          </a:xfrm>
          <a:prstGeom prst="rect">
            <a:avLst/>
          </a:prstGeom>
        </p:spPr>
      </p:pic>
      <p:sp>
        <p:nvSpPr>
          <p:cNvPr id="17" name="Text 11"/>
          <p:cNvSpPr txBox="1"/>
          <p:nvPr/>
        </p:nvSpPr>
        <p:spPr>
          <a:xfrm>
            <a:off x="1463040" y="3959352"/>
            <a:ext cx="987552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Pentaksiran digazetkan sepenuhnya melalui PBL (2 minggu – sebulan).</a:t>
            </a:r>
            <a:endParaRPr lang="en-US" sz="1300" dirty="0"/>
          </a:p>
        </p:txBody>
      </p:sp>
      <p:sp>
        <p:nvSpPr>
          <p:cNvPr id="18" name="Shape 12"/>
          <p:cNvSpPr/>
          <p:nvPr/>
        </p:nvSpPr>
        <p:spPr>
          <a:xfrm>
            <a:off x="822960" y="4599432"/>
            <a:ext cx="457200" cy="457200"/>
          </a:xfrm>
          <a:prstGeom prst="ellipse">
            <a:avLst/>
          </a:prstGeom>
          <a:solidFill>
            <a:srgbClr val="F2B705"/>
          </a:solidFill>
          <a:ln/>
        </p:spPr>
      </p:sp>
      <p:pic>
        <p:nvPicPr>
          <p:cNvPr id="19" name="Image 4" descr="/home/claude/shared_icons/icon_check.png">    </p:cNvPr>
          <p:cNvPicPr>
            <a:picLocks noChangeAspect="1"/>
          </p:cNvPicPr>
          <p:nvPr/>
        </p:nvPicPr>
        <p:blipFill>
          <a:blip r:embed="rId5"/>
          <a:stretch>
            <a:fillRect/>
          </a:stretch>
        </p:blipFill>
        <p:spPr>
          <a:xfrm>
            <a:off x="886968" y="4663440"/>
            <a:ext cx="329184" cy="329184"/>
          </a:xfrm>
          <a:prstGeom prst="rect">
            <a:avLst/>
          </a:prstGeom>
        </p:spPr>
      </p:pic>
      <p:sp>
        <p:nvSpPr>
          <p:cNvPr id="20" name="Text 13"/>
          <p:cNvSpPr txBox="1"/>
          <p:nvPr/>
        </p:nvSpPr>
        <p:spPr>
          <a:xfrm>
            <a:off x="1463040" y="4617720"/>
            <a:ext cx="987552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Data TIMSS: hanya 3.9%–14.9% murid Malaysia jawab betul — mentafsir kritikal perlu diperkasa.</a:t>
            </a:r>
            <a:endParaRPr lang="en-US" sz="1300" dirty="0"/>
          </a:p>
        </p:txBody>
      </p:sp>
      <p:sp>
        <p:nvSpPr>
          <p:cNvPr id="21" name="Shape 14"/>
          <p:cNvSpPr/>
          <p:nvPr/>
        </p:nvSpPr>
        <p:spPr>
          <a:xfrm>
            <a:off x="822960" y="5806440"/>
            <a:ext cx="10515600" cy="0"/>
          </a:xfrm>
          <a:prstGeom prst="line">
            <a:avLst/>
          </a:prstGeom>
          <a:noFill/>
          <a:ln w="19050">
            <a:solidFill>
              <a:srgbClr val="141A45"/>
            </a:solidFill>
            <a:prstDash val="solid"/>
          </a:ln>
        </p:spPr>
      </p:sp>
      <p:sp>
        <p:nvSpPr>
          <p:cNvPr id="22" name="Text 15"/>
          <p:cNvSpPr txBox="1"/>
          <p:nvPr/>
        </p:nvSpPr>
        <p:spPr>
          <a:xfrm>
            <a:off x="822960" y="5943600"/>
            <a:ext cx="10515600" cy="36576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Bahagian Pembangunan Kurikulum (BPK)  |  bpk.moe.gov.my  |  #kurikulumkita</a:t>
            </a:r>
            <a:endParaRPr lang="en-US" sz="1100" dirty="0"/>
          </a:p>
        </p:txBody>
      </p:sp>
      <p:sp>
        <p:nvSpPr>
          <p:cNvPr id="23" name="Text 16"/>
          <p:cNvSpPr txBox="1"/>
          <p:nvPr/>
        </p:nvSpPr>
        <p:spPr>
          <a:xfrm>
            <a:off x="822960" y="6263640"/>
            <a:ext cx="10515600" cy="457200"/>
          </a:xfrm>
          <a:prstGeom prst="rect">
            <a:avLst/>
          </a:prstGeom>
          <a:noFill/>
          <a:ln/>
        </p:spPr>
        <p:txBody>
          <a:bodyPr wrap="square" rtlCol="0" anchor="ctr"/>
          <a:lstStyle/>
          <a:p>
            <a:pPr indent="0" marL="0">
              <a:lnSpc>
                <a:spcPct val="115000"/>
              </a:lnSpc>
              <a:buNone/>
            </a:pPr>
            <a:r>
              <a:rPr lang="en-US" sz="900" i="1" dirty="0">
                <a:solidFill>
                  <a:srgbClr val="5B6472"/>
                </a:solidFill>
                <a:latin typeface="Calibri" pitchFamily="34" charset="0"/>
                <a:ea typeface="Calibri" pitchFamily="34" charset="-122"/>
                <a:cs typeface="Calibri" pitchFamily="34" charset="-120"/>
              </a:rPr>
              <a:t>Bahan disintesis daripada Slaid Rasmi BPK Sidang 7, Analisis Rakaman Bengkel &amp; Dokumen Kurikulum Matematik. Perkara bertanda [CADANGAN PEMBANGUN MODUL] ialah cadangan penyampai, bukan arahan rasmi KPM.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2026-09-15T03:49:37Z</dcterms:created>
  <dcterms:modified xsi:type="dcterms:W3CDTF">2026-09-15T03:49:37Z</dcterms:modified>
</cp:coreProperties>
</file>