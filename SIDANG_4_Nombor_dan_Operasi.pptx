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1.png"/><Relationship Id="rId6" Type="http://schemas.openxmlformats.org/officeDocument/2006/relationships/image" Target="../media/image-17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1.png"/><Relationship Id="rId4" Type="http://schemas.openxmlformats.org/officeDocument/2006/relationships/image" Target="../media/image-18-1.png"/><Relationship Id="rId5" Type="http://schemas.openxmlformats.org/officeDocument/2006/relationships/image" Target="../media/image-1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1.png"/><Relationship Id="rId3" Type="http://schemas.openxmlformats.org/officeDocument/2006/relationships/image" Target="../media/image-22-1.png"/><Relationship Id="rId4" Type="http://schemas.openxmlformats.org/officeDocument/2006/relationships/image" Target="../media/image-2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1.png"/><Relationship Id="rId3" Type="http://schemas.openxmlformats.org/officeDocument/2006/relationships/image" Target="../media/image-25-1.png"/><Relationship Id="rId4" Type="http://schemas.openxmlformats.org/officeDocument/2006/relationships/image" Target="../media/image-25-1.png"/><Relationship Id="rId5" Type="http://schemas.openxmlformats.org/officeDocument/2006/relationships/image" Target="../media/image-25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PENATARAN KURIKULUM PERSEKOLAHAN 2027  •  SIDANG 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Selam Intelektual: Menguasai SP &amp; SPi</a:t>
            </a:r>
            <a:endParaRPr lang="en-US" sz="3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Secara Mendalam — Nombor dan Operasi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68680" y="3611880"/>
            <a:ext cx="2194560" cy="0"/>
          </a:xfrm>
          <a:prstGeom prst="line">
            <a:avLst/>
          </a:prstGeom>
          <a:noFill/>
          <a:ln w="38100">
            <a:solidFill>
              <a:srgbClr val="F2B70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673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“Daripada Standard kepada Kefahaman Bermakna”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34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Bidang Pembelajaran: Nombor dan Operasi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0" name="Image 0" descr="/home/claude/shared_icons/icon_div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330" y="4971410"/>
            <a:ext cx="408188" cy="40818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0876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Nombor Nyata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63440" y="4892040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3" name="Image 1" descr="/home/claude/shared_icons/icon_sortNu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810" y="4971410"/>
            <a:ext cx="408188" cy="40818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924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Faktor dan Gandaan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Perkongsian Peringkat Sekolah  |  Disintesis daripada Slaid Rasmi BPK, Analisis Rakaman Bengkel &amp; Dokumen Kurikulum Matematik T1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PEMBELAJARAN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Selepas Sidang Ini, Guru Dapat...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60120" y="192024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63240" y="22860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hared_icons/icon_div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1256" y="2414016"/>
            <a:ext cx="658368" cy="6583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3383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Mendalami Nombor Nyata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39776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Mendalami Standard Kandungan, Standard Pembelajaran dan Standard Prestasi bagi tajuk Nombor Nyata (1.0).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46520" y="192024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9640" y="22860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hared_icons/icon_sortNu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56" y="2414016"/>
            <a:ext cx="658368" cy="6583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720840" y="3383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Mendalami Faktor dan Gandaan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812280" y="39776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Mendalami Standard Kandungan, Standard Pembelajaran dan Standard Prestasi bagi tajuk Faktor dan Gandaan (2.0).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4, m/s 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KESELURUHAN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“Selam Intelektual”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mengajak guru “menyelam” lebih dalam ke dalam SATU bidang pembelajaran — Nombor dan Operasi — untuk menguasai SP dan SPi secara mendalam, bukan sekadar membaca permukaan dokumen.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92608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7" name="Image 0" descr="/home/claude/shared_icons/icon_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091" y="3015691"/>
            <a:ext cx="460858" cy="4608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749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Bandingkan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2519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kandungan KSSM (lama) dengan DKP2027 (baharu) bagi kenal pasti perubahan.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3182112" y="40233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429000" y="26517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4434840" y="292608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3" name="Image 1" descr="/home/claude/shared_icons/icon_bookRea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451" y="301569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66160" y="3749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Baca Berstruktur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42519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dokumen mengikut hierarki: Bidang → Tajuk → Subtajuk → SP → Nota.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062472" y="40233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309360" y="26517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0" y="292608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9" name="Image 2" descr="/home/claude/shared_icons/icon_chalk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811" y="3015691"/>
            <a:ext cx="460858" cy="46085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46520" y="3749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Terjemah ke PdP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42519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Aplikasikan pendekatan PdP (Induktif, Fikrah, Modular, Bermakna) mengikut konteks SP.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8942832" y="40233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9189720" y="26517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24" name="Shape 19"/>
          <p:cNvSpPr/>
          <p:nvPr/>
        </p:nvSpPr>
        <p:spPr>
          <a:xfrm>
            <a:off x="10195560" y="292608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5" name="Image 3" descr="/home/claude/shared_icons/icon_balanceSc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5171" y="3015691"/>
            <a:ext cx="460858" cy="46085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326880" y="3749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Taksir Penguasaan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9372600" y="42519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Rujuk Standard Prestasi untuk merancang pentaksiran berterusan.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[SINTESIS] Slaid Sidang 4, m/s 1–11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 RASMI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Perbandingan Kandungan: KSSM vs DKP2027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 Tingkatan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11480"/>
          </a:xfrm>
          <a:prstGeom prst="roundRect">
            <a:avLst>
              <a:gd name="adj" fmla="val 13333"/>
            </a:avLst>
          </a:prstGeom>
          <a:solidFill>
            <a:srgbClr val="5B64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KSSM (13 Tajuk)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Nombor Nisbah</a:t>
            </a:r>
            <a:endParaRPr lang="en-US" sz="93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9115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Faktor dan Gandaan</a:t>
            </a:r>
            <a:endParaRPr lang="en-US" sz="93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791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Kuasa Dua, Punca Kuasa Dua, Kuasa Tiga, Punca Kuasa Tiga</a:t>
            </a:r>
            <a:endParaRPr lang="en-US" sz="93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6722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Nisbah, Kadar dan Kadaran</a:t>
            </a:r>
            <a:endParaRPr lang="en-US" sz="93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552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Ungkapan Algebra</a:t>
            </a:r>
            <a:endParaRPr lang="en-US" sz="93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5433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Persamaan Linear</a:t>
            </a:r>
            <a:endParaRPr lang="en-US" sz="93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8313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Ketaksamaan Linear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1193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Garis dan Sudut</a:t>
            </a:r>
            <a:endParaRPr lang="en-US" sz="93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4074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Poligon Asas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69544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Perimeter dan Luas</a:t>
            </a:r>
            <a:endParaRPr lang="en-US" sz="93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9834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Pengenalan Set</a:t>
            </a:r>
            <a:endParaRPr lang="en-US" sz="93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27151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Pengendalian Data</a:t>
            </a:r>
            <a:endParaRPr lang="en-US" sz="93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5595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Teorem Pythagoras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6263640" y="1691640"/>
            <a:ext cx="5349240" cy="411480"/>
          </a:xfrm>
          <a:prstGeom prst="roundRect">
            <a:avLst>
              <a:gd name="adj" fmla="val 13333"/>
            </a:avLst>
          </a:prstGeom>
          <a:solidFill>
            <a:srgbClr val="2E86A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63640" y="169164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DKP2027 (8 Tajuk, 4 Bidang)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1031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Nombor dan Operasi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23774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Nombor Nyata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26517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Faktor dan Gandaan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29260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Perkaitan dan Algebra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320040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Nisbah, Kadar dan Perkadaran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347472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Ungkapan Algebra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37490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Persamaan &amp; Ketaksamaan Linear (1 Pemboleh Ubah)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40233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Sukatan dan Geometri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42976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 Garis dan Sudut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457200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 Segi Tiga dan Sisi Empat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48463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dan Kebarangkalian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0" y="51206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 Pengendalian Data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5989320"/>
            <a:ext cx="11064240" cy="384048"/>
          </a:xfrm>
          <a:prstGeom prst="roundRect">
            <a:avLst>
              <a:gd name="adj" fmla="val 14286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598932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 tajuk KSSM digabung/disepadukan ke dalam tajuk sedia ada DKP2027 (cth. Kuasa Dua/Tiga masuk ke 1.0 Nombor Nyata) — lihat Slaid 6 &amp; Sidang 3 untuk butiran sisihan.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4, m/s 3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UTAMA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Membaca Dokumen Kurikulum: 7 Elemen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65376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65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373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Bidang Pembelajaran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0312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besar kandungan (cth. Nombor dan Operasi).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865376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865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7373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Tajuk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10312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utama di bawah bidang (cth. 1.0 Nombor Nyata).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099816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099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9718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Subtajuk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33756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Pecahan tajuk yang lebih khusus (cth. 1.1 Nombor Nisbah...).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172200" y="2880360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3099816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3099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9718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Fokus Kandungan Ilmu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33756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Ilmu berkaitan subtajuk yang perlu dikuasai murid.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334256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43342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2062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Kemahiran Matematik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457200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Kemahiran matematik yang ditekankan bagi subtajuk itu.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172200" y="4114800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4334256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09360" y="43342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42062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Batasan (Skop)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457200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Subtajuk/perkara yang TIDAK perlu dibincangkan.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5568696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85800" y="5568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325880" y="54406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Keupayaan Murid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1325880" y="580644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pengetahuan, kemahiran &amp; adab menghadapi situasi.</a:t>
            </a:r>
            <a:endParaRPr lang="en-US" sz="98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4, m/s 8 (rajah anotasi rasmi)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 RASMI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Bidang: Nombor dan Operasi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5F7FC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349240" cy="5486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  NOMBOR NYATA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42316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Nombor Nisbah dan Nombor Tak Nisbah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918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29184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Asas Aritmetik yang Melibatkan Nombor Nisbah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16052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1605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Kuasa Dua, Punca Kuasa Dua, Kuasa Tiga dan Punca Kuasa Tiga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64592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5F7FC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645920"/>
            <a:ext cx="5349240" cy="5486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16459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  FAKTOR DAN GANDAAN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4231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24231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Faktor, Faktor Perdana, Faktor Sepunya dan Faktor Sepunya Terbesar (FSTB)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47472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34747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Gandaan Sepunya dan Gandaan Sepunya Terkecil (GSTK)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4, m/s 7, 51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MUDAH DIFAHAMI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Wajib: Hukum Operasi Asas Aritmetik (SP 1.2.1)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251960"/>
          </a:xfrm>
          <a:prstGeom prst="roundRect">
            <a:avLst>
              <a:gd name="adj" fmla="val 86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1.2.1  Membuat pengiraan yang melibatkan gabungan operasi asas aritmetik bagi nombor nisbah mengikut tertib operasi.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423160"/>
            <a:ext cx="10789920" cy="0"/>
          </a:xfrm>
          <a:prstGeom prst="line">
            <a:avLst/>
          </a:prstGeom>
          <a:noFill/>
          <a:ln w="12700">
            <a:solidFill>
              <a:srgbClr val="E7EA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5420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Libatkan pengiraan yang efisien dengan menggunakan hukum operasi asas aritmetik berikut: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971800"/>
            <a:ext cx="10332720" cy="4572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971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+ b = b + 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971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Kalis Tukar Tertib (Tambah)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502152"/>
            <a:ext cx="10332720" cy="4572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502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5021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+ (b + c) = (a + b) + 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5021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Kalis Sekutuan (Tambah)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032504"/>
            <a:ext cx="10332720" cy="4572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0325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× b = b × 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403250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Kalis Tukar Tertib (Darab)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562856"/>
            <a:ext cx="10332720" cy="4572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5628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× (b × c) = (a × b) × c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456285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Kalis Sekutuan (Darab)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5093208"/>
            <a:ext cx="10332720" cy="4572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093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50932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× (b ± c) = (a × b) ± (a × c)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50932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Kalis Agihan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89520" y="539496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589520" y="53949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Roman = turutan WAJIB dipatuhi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[DKP] Petikan sebenar Dokumen Kurikulum, Slaid Sidang 4 m/s 14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MUDAH DIFAHAMI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Nota Rasmi: Model Bar (SP 1.2.2)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1.2.2  Menyelesaikan masalah berkaitan gabungan operasi asas aritmetik melibatkan nombor nisbah.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Perkenalkan model bar sebagai salah satu kaedah penyelesaian masalah.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064240" cy="3703320"/>
          </a:xfrm>
          <a:prstGeom prst="roundRect">
            <a:avLst>
              <a:gd name="adj" fmla="val 1481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Mahmud memberikan 1/5 daripada gaji bulanannya kepada ibunya. Mahmud memberikan 3/4 daripada baki gajinya kepada isterinya dan menyimpan selebihnya pada setiap bulan. Mahmud berjaya menyimpan RM750 pada setiap bulan. Berapakah gaji Mahmud sebulan?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977640"/>
            <a:ext cx="1737360" cy="5943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3977640"/>
            <a:ext cx="1737360" cy="594360"/>
          </a:xfrm>
          <a:prstGeom prst="rect">
            <a:avLst/>
          </a:prstGeom>
          <a:solidFill>
            <a:srgbClr val="F3D1E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3977640"/>
            <a:ext cx="1737360" cy="594360"/>
          </a:xfrm>
          <a:prstGeom prst="rect">
            <a:avLst/>
          </a:prstGeom>
          <a:solidFill>
            <a:srgbClr val="F3D1E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3977640"/>
            <a:ext cx="1737360" cy="594360"/>
          </a:xfrm>
          <a:prstGeom prst="rect">
            <a:avLst/>
          </a:prstGeom>
          <a:solidFill>
            <a:srgbClr val="F3D1E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3977640"/>
            <a:ext cx="1737360" cy="594360"/>
          </a:xfrm>
          <a:prstGeom prst="rect">
            <a:avLst/>
          </a:prstGeom>
          <a:solidFill>
            <a:srgbClr val="E7EAF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3977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RM750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617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Ibu →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4617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Isteri →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1206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Gaji Mahmud sebulan = RM750 × 5 = RM3 750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6235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Bar membantu murid “melihat” perkaitan pecahan sebelum mengira secara algebra — jambatan CPA (Concrete-Pictorial-Abstract).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[DKP] Petikan sebenar Nota Dokumen Kurikulum, Slaid Sidang 4 m/s 15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PENERANGAN TERPERINCI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Kepentingan Menguasai Hukum Operasi Asas Aritmetik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41A4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56232"/>
            <a:ext cx="502920" cy="5029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0" descr="/home/claude/shared_icons/icon_div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641" y="1926641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0992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Memudahkan Pengiraan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02082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Membantu murid melakukan pengiraan mental dengan pantas.</a:t>
            </a:r>
            <a:endParaRPr lang="en-US" sz="97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53288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Kalis Tukar Tertib: 3+8=8+3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41A45"/>
          </a:solidFill>
          <a:ln/>
        </p:spPr>
      </p:sp>
      <p:sp>
        <p:nvSpPr>
          <p:cNvPr id="11" name="Shape 8"/>
          <p:cNvSpPr/>
          <p:nvPr/>
        </p:nvSpPr>
        <p:spPr>
          <a:xfrm>
            <a:off x="6428232" y="1856232"/>
            <a:ext cx="502920" cy="5029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2" name="Image 1" descr="/home/claude/shared_icons/icon_co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641" y="1926641"/>
            <a:ext cx="362102" cy="3621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40880" y="170992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Bantu Masalah Harian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040880" y="202082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Pengiraan mental harian lebih cekap (cth. membeli-belah, menganggar).</a:t>
            </a:r>
            <a:endParaRPr lang="en-US" sz="970" dirty="0"/>
          </a:p>
        </p:txBody>
      </p:sp>
      <p:sp>
        <p:nvSpPr>
          <p:cNvPr id="15" name="Shape 11"/>
          <p:cNvSpPr/>
          <p:nvPr/>
        </p:nvSpPr>
        <p:spPr>
          <a:xfrm>
            <a:off x="548640" y="3081528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41A45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232" y="3337560"/>
            <a:ext cx="502920" cy="5029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7" name="Image 2" descr="/home/claude/shared_icons/icon_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41" y="3407969"/>
            <a:ext cx="362102" cy="3621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25880" y="319125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 Kefahaman Algebra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325880" y="350215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asas kepada ungkapan algebra dan penyelesaian persamaan.</a:t>
            </a:r>
            <a:endParaRPr lang="en-US" sz="970" dirty="0"/>
          </a:p>
        </p:txBody>
      </p:sp>
      <p:sp>
        <p:nvSpPr>
          <p:cNvPr id="20" name="Text 15"/>
          <p:cNvSpPr txBox="1"/>
          <p:nvPr/>
        </p:nvSpPr>
        <p:spPr>
          <a:xfrm>
            <a:off x="1325880" y="4014216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Kalis Agihan: 3(x+4)=3x+12</a:t>
            </a:r>
            <a:endParaRPr lang="en-US" sz="880" dirty="0"/>
          </a:p>
        </p:txBody>
      </p:sp>
      <p:sp>
        <p:nvSpPr>
          <p:cNvPr id="21" name="Shape 16"/>
          <p:cNvSpPr/>
          <p:nvPr/>
        </p:nvSpPr>
        <p:spPr>
          <a:xfrm>
            <a:off x="6263640" y="3081528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41A45"/>
          </a:solidFill>
          <a:ln/>
        </p:spPr>
      </p:sp>
      <p:sp>
        <p:nvSpPr>
          <p:cNvPr id="22" name="Shape 17"/>
          <p:cNvSpPr/>
          <p:nvPr/>
        </p:nvSpPr>
        <p:spPr>
          <a:xfrm>
            <a:off x="6428232" y="3337560"/>
            <a:ext cx="502920" cy="5029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3" name="Image 3" descr="/home/claude/shared_icons/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641" y="3407969"/>
            <a:ext cx="362102" cy="3621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40880" y="319125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Asas Matematik Lebih Tinggi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7040880" y="350215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Elak kesukaran dalam Matematik Tambahan kelak.</a:t>
            </a:r>
            <a:endParaRPr lang="en-US" sz="970" dirty="0"/>
          </a:p>
        </p:txBody>
      </p:sp>
      <p:sp>
        <p:nvSpPr>
          <p:cNvPr id="26" name="Shape 20"/>
          <p:cNvSpPr/>
          <p:nvPr/>
        </p:nvSpPr>
        <p:spPr>
          <a:xfrm>
            <a:off x="548640" y="4562856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41A45"/>
          </a:solidFill>
          <a:ln/>
        </p:spPr>
      </p:sp>
      <p:sp>
        <p:nvSpPr>
          <p:cNvPr id="27" name="Shape 21"/>
          <p:cNvSpPr/>
          <p:nvPr/>
        </p:nvSpPr>
        <p:spPr>
          <a:xfrm>
            <a:off x="713232" y="4818888"/>
            <a:ext cx="502920" cy="5029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8" name="Image 4" descr="/home/claude/shared_icons/icon_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41" y="4889297"/>
            <a:ext cx="362102" cy="3621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325880" y="467258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Pemikiran Logik &amp; Mental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325880" y="498348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Membina fleksibiliti strategi dan keyakinan penyelesaian masalah.</a:t>
            </a:r>
            <a:endParaRPr lang="en-US" sz="970" dirty="0"/>
          </a:p>
        </p:txBody>
      </p:sp>
      <p:sp>
        <p:nvSpPr>
          <p:cNvPr id="31" name="Shape 24"/>
          <p:cNvSpPr/>
          <p:nvPr/>
        </p:nvSpPr>
        <p:spPr>
          <a:xfrm>
            <a:off x="6263640" y="4562856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41A45"/>
          </a:solidFill>
          <a:ln/>
        </p:spPr>
      </p:sp>
      <p:sp>
        <p:nvSpPr>
          <p:cNvPr id="32" name="Shape 25"/>
          <p:cNvSpPr/>
          <p:nvPr/>
        </p:nvSpPr>
        <p:spPr>
          <a:xfrm>
            <a:off x="6428232" y="4818888"/>
            <a:ext cx="502920" cy="5029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33" name="Image 5" descr="/home/claude/shared_icons/icon_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641" y="4889297"/>
            <a:ext cx="362102" cy="3621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040880" y="467258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Pembelajaran Bermakna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7040880" y="498348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Faham SEBAB sesuatu langkah dilakukan, bukan sekadar menghafal.</a:t>
            </a:r>
            <a:endParaRPr lang="en-US" sz="970" dirty="0"/>
          </a:p>
        </p:txBody>
      </p:sp>
      <p:sp>
        <p:nvSpPr>
          <p:cNvPr id="36" name="Text 28"/>
          <p:cNvSpPr txBox="1"/>
          <p:nvPr/>
        </p:nvSpPr>
        <p:spPr>
          <a:xfrm>
            <a:off x="7040880" y="5495544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Kalis Sekutuan: (2+5)+3=2+(5+3)</a:t>
            </a:r>
            <a:endParaRPr lang="en-US" sz="880" dirty="0"/>
          </a:p>
        </p:txBody>
      </p:sp>
      <p:sp>
        <p:nvSpPr>
          <p:cNvPr id="37" name="Text 29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4, m/s 30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PDP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Pendekatan Induktif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menyelesaikan masalah secara mental TERLEBIH DAHULU, kemudian guru membimbing mereka menyimpulkan hukum aritmetik yang digunakan — daripada khusus kepada umum.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468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1: Penambahan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645 + 287 + 413 = 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645 + (287 + 413)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645 + 700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1 345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Kalis Sekutuan (Tambah) digunakan secara tidak sedar!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166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susulan: 847 + 306 + 453 = 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23317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2468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2: Pendaraban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785 × 94 = 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33756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785 × (100 − 6)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(785×100) − (785×6)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78 500 − 4 710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73 790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754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Kalis Agihan digunakan secara tidak sedar!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Refleksi: Mengapa guru diberikan contoh-contoh ini dahulu, sebelum nama hukum didedahkan?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4, m/s 16–29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PDP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Bilik Darjah Fikrah (Building Thinking Classrooms)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pedagogi dalam pendidikan matematik yang diperkenalkan oleh Peter Liljedahl — menekankan pembelajaran matematik secara aktif.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2E86AB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29260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shared_icons/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173" y="3028493"/>
            <a:ext cx="526694" cy="52669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Penaakulan Matematik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480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membina hujah logik, bukan sekadar meniru langkah.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29000" y="26517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2E86AB"/>
          </a:solidFill>
          <a:ln/>
        </p:spPr>
      </p:sp>
      <p:sp>
        <p:nvSpPr>
          <p:cNvPr id="12" name="Shape 9"/>
          <p:cNvSpPr/>
          <p:nvPr/>
        </p:nvSpPr>
        <p:spPr>
          <a:xfrm>
            <a:off x="4389120" y="29260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shared_icons/icon_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533" y="3028493"/>
            <a:ext cx="526694" cy="52669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6616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Penerokaan Idea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4480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meneroka pelbagai kaedah sebelum kaedah formal didedahkan.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309360" y="26517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2E86AB"/>
          </a:solidFill>
          <a:ln/>
        </p:spPr>
      </p:sp>
      <p:sp>
        <p:nvSpPr>
          <p:cNvPr id="17" name="Shape 13"/>
          <p:cNvSpPr/>
          <p:nvPr/>
        </p:nvSpPr>
        <p:spPr>
          <a:xfrm>
            <a:off x="7269480" y="29260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shared_icons/icon_com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893" y="3028493"/>
            <a:ext cx="526694" cy="52669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4652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Komunikasi Matematik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4480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menyampaikan pemikiran secara lisan/visual/bertulis.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189720" y="26517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2E86AB"/>
          </a:solidFill>
          <a:ln/>
        </p:spPr>
      </p:sp>
      <p:sp>
        <p:nvSpPr>
          <p:cNvPr id="22" name="Shape 17"/>
          <p:cNvSpPr/>
          <p:nvPr/>
        </p:nvSpPr>
        <p:spPr>
          <a:xfrm>
            <a:off x="10149840" y="29260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/home/claude/shared_icons/icon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2253" y="3028493"/>
            <a:ext cx="526694" cy="52669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2688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Penyelesaian Masalah Kolaboratif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9372600" y="4480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menyelesaikan masalah bersama rakan di papan putih mudah alih.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Mulakan dengan tugasan mencabar &amp; menarik (bukan latihan rutin buku teks) untuk merangsang minda murid sebelum beralih kepada tugasan berasaskan kurikulum.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4, m/s 33–35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PDP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Pendekatan Modular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Mentransformasi penyampaian kurikulum melalui unit bersepadu (Pengetahuan, Kemahiran, Nilai) yang fleksibel dan berpusatkan murid.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Secara Linear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disampaikan mengikut turutan hierarki ilmu; terikat kepada struktur DKP.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214884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E67E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228600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Secara Bukan Linear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69748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Penggabungan SP secara dinamik merentas bidang/tajuk, mengikut kebolehan &amp; keperluan murid.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86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Kerangka Integrasi: Paksi Pergerakan Kurikulum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2651760" cy="1737360"/>
          </a:xfrm>
          <a:prstGeom prst="roundRect">
            <a:avLst>
              <a:gd name="adj" fmla="val 3158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4074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Mendatar (Dalam Mata Pelajaran)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983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 SP berbeza dalam subjek sama pada tahap sama — sesuai konsep berkait rapat.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29000" y="4297680"/>
            <a:ext cx="2651760" cy="1737360"/>
          </a:xfrm>
          <a:prstGeom prst="roundRect">
            <a:avLst>
              <a:gd name="adj" fmla="val 3158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44074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Mendatar (Merentas Mata Pelajaran)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4983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 SP subjek berbeza untuk satu tema seragam — kukuhkan pemahaman rentas disiplin.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4297680"/>
            <a:ext cx="2651760" cy="1737360"/>
          </a:xfrm>
          <a:prstGeom prst="roundRect">
            <a:avLst>
              <a:gd name="adj" fmla="val 3158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44074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Menegak (Dalam Mata Pelajaran)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983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 SP subjek sama merentas tingkatan berbeza.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89720" y="4297680"/>
            <a:ext cx="2651760" cy="1737360"/>
          </a:xfrm>
          <a:prstGeom prst="roundRect">
            <a:avLst>
              <a:gd name="adj" fmla="val 3158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0" y="44074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Menegak (Merentas)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4983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 SP merentas mata pelajaran &amp; tingkatan serentak.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4, m/s 36–44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PDP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Pendekatan Pembelajaran Bermakna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Menekankan penaakulan dan pembuktian (BUKAN sekadar jawapan akhir) sebagai asas penting pembinaan pengetahuan matematik.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Terangkan sebab −8 ÷ −2 = 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288036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2743200"/>
            <a:ext cx="0" cy="640080"/>
          </a:xfrm>
          <a:prstGeom prst="line">
            <a:avLst/>
          </a:prstGeom>
          <a:noFill/>
          <a:ln w="19050">
            <a:solidFill>
              <a:srgbClr val="E0435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103120" y="288036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288036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2743200"/>
            <a:ext cx="0" cy="640080"/>
          </a:xfrm>
          <a:prstGeom prst="line">
            <a:avLst/>
          </a:prstGeom>
          <a:noFill/>
          <a:ln w="19050">
            <a:solidFill>
              <a:srgbClr val="E0435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337560" y="288036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288036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2743200"/>
            <a:ext cx="0" cy="640080"/>
          </a:xfrm>
          <a:prstGeom prst="line">
            <a:avLst/>
          </a:prstGeom>
          <a:noFill/>
          <a:ln w="19050">
            <a:solidFill>
              <a:srgbClr val="E0435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572000" y="288036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288036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5204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kaunter negatif dibahagi kepada kumpulan bersaiz −2 → terhasil 4 kumpulan.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206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∴ −8 ÷ −2 = 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7548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Bandingkan: −8 ÷ 2 = −4 (8 kaunter negatif dibahagi kepada 2 kumpulan → 4 kaunter negatif sekumpulan).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214884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2331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Pendekatan Ini Penting?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2788920"/>
            <a:ext cx="4937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FAHAM sebab jawapan negatif/positif terhasil, bukan menghafal peraturan “tanda” secara buta.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Membina asas penaakulan dan pembuktian sejak awal — kritikal untuk topik algebra kelak.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Sesuai untuk murid visual &amp; kinestetik — gunakan kaunter/cip sebenar di dalam kelas.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Selari dengan Standard Proses Penaakulan dalam kerangka Matematik KP2027.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4, m/s 63–67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 RASMI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Prestasi: 1.0 Nombor Nyata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3A437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1280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600200"/>
            <a:ext cx="9326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boleh mengenal pasti jenis nombor nisbah dan nombor tak nisbah, serta menyelesaikan operasi asas aritmetik bagi nombor bulat.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5C6BA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788920"/>
            <a:ext cx="1280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2788920"/>
            <a:ext cx="9326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boleh menjelaskan penyusunan nombor secara tertib dan penentuan tertib operasi dalam gabungan operasi asas aritmetik bagi integer.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8593D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1280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3977640"/>
            <a:ext cx="9326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boleh menyelesaikan gabungan operasi asas aritmetik bagi nombor nisbah mengikut tertib operasi.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2B70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5166360"/>
            <a:ext cx="1280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5166360"/>
            <a:ext cx="9326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boleh menyelesaikan masalah berkaitan nombor nisbah (termasuk kuasa dua dan kuasa tiga) dalam kehidupan harian.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[DKP] Wording rasmi, Slaid Sidang 4 m/s 50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 RASMI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Prestasi: 2.0 Faktor dan Gandaan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 w="19050">
            <a:solidFill>
              <a:srgbClr val="3A437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109728" cy="914400"/>
          </a:xfrm>
          <a:prstGeom prst="rect">
            <a:avLst/>
          </a:prstGeom>
          <a:solidFill>
            <a:srgbClr val="3A43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459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43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164592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boleh menyatakan konsep dan istilah berkaitan faktor dan gandaan.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 w="19050">
            <a:solidFill>
              <a:srgbClr val="5C6B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79192"/>
            <a:ext cx="109728" cy="914400"/>
          </a:xfrm>
          <a:prstGeom prst="rect">
            <a:avLst/>
          </a:prstGeom>
          <a:solidFill>
            <a:srgbClr val="5C6BA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67919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B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679192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boleh menjelaskan faktor perdana dan gandaan sepunya.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12464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 w="19050">
            <a:solidFill>
              <a:srgbClr val="8593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12464"/>
            <a:ext cx="109728" cy="914400"/>
          </a:xfrm>
          <a:prstGeom prst="rect">
            <a:avLst/>
          </a:prstGeom>
          <a:solidFill>
            <a:srgbClr val="8593D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712464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593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3712464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boleh melaksanakan pengiraan dalam menentukan FSTB dan GSTK.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45736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 w="19050">
            <a:solidFill>
              <a:srgbClr val="F2B70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745736"/>
            <a:ext cx="109728" cy="91440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745736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4745736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boleh menyelesaikan masalah berkaitan faktor dan gandaan dalam kehidupan harian.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GLOSARI:  </a:t>
            </a:r>
            <a:pPr indent="0" marL="0"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FSTB = Faktor Sepunya Terbesar   |   GSTK = Gandaan Sepunya Terkecil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[DKP] Wording rasmi, Slaid Sidang 4 m/s 58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KAITAN SILANG TAJUK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Nombor &amp; Operasi ↔ Number Sense (Mental Calculation)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Hukum aritmetik dalam SP 1.2.1 adalah ASAS kepada kemahiran Mental Calculation yang ditegaskan merentas kurikulum KP2027 (rujuk Sidang 3).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88820" y="25603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7" name="Image 0" descr="/home/claude/shared_icons/icon_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8431" y="2649931"/>
            <a:ext cx="460858" cy="4608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337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and Half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7490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× 8 → gandakan 35 (70), separuhkan 8 (4) → 70 × 4 = 280.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754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Kalis Tukar Tertib &amp; Sekutuan (Darab)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43400" y="23317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83580" y="25603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3" name="Image 1" descr="/home/claude/shared_icons/icon_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191" y="264993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80560" y="3337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k-Perdana (Coprime)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37490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Pasangan nombor (4, 9) hanya berkongsi FPB = 1.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4754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konsep Faktor Sepunya (2.1)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138160" y="23317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578340" y="25603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9" name="Image 2" descr="/home/claude/shared_icons/icon_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951" y="2649931"/>
            <a:ext cx="460858" cy="46085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75320" y="3337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Hukum Kalis Agihan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37490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968 × 73 + 968 × 27 = 968 × (73+27) = 96 800.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4754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terus SP 1.2.1 (v)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digalak menyerap latihan mencongak/number talks ringkas (3–5 minit) di awal PdP tajuk Nombor dan Operasi.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[SINTESIS] DKP Sidang 4 + Analisis Rakaman Mental Calculation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PERKARA PENTING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Perkara yang Guru WAJIB Faham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261872"/>
          </a:xfrm>
          <a:prstGeom prst="roundRect">
            <a:avLst>
              <a:gd name="adj" fmla="val 5797"/>
            </a:avLst>
          </a:prstGeom>
          <a:solidFill>
            <a:srgbClr val="141A4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56232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0" descr="/home/claude/shared_icon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69164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DKP2027 memadatkan 13 tajuk KSSM kepada 8 tajuk di bawah 4 bidang — sesetengah tajuk digabung ke tajuk sedia ada.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349240" cy="1261872"/>
          </a:xfrm>
          <a:prstGeom prst="roundRect">
            <a:avLst>
              <a:gd name="adj" fmla="val 5797"/>
            </a:avLst>
          </a:prstGeom>
          <a:solidFill>
            <a:srgbClr val="141A45"/>
          </a:solidFill>
          <a:ln/>
        </p:spPr>
      </p:sp>
      <p:sp>
        <p:nvSpPr>
          <p:cNvPr id="9" name="Shape 6"/>
          <p:cNvSpPr/>
          <p:nvPr/>
        </p:nvSpPr>
        <p:spPr>
          <a:xfrm>
            <a:off x="6428232" y="1856232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0" name="Image 1" descr="/home/claude/shared_icon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2024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13448" y="169164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1.2.1 mewajibkan penguasaan 5 hukum aritmetik asas (Roman i–v) sebagai asas pengiraan efisien.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548640" y="3017520"/>
            <a:ext cx="5349240" cy="1261872"/>
          </a:xfrm>
          <a:prstGeom prst="roundRect">
            <a:avLst>
              <a:gd name="adj" fmla="val 5797"/>
            </a:avLst>
          </a:prstGeom>
          <a:solidFill>
            <a:srgbClr val="141A45"/>
          </a:solidFill>
          <a:ln/>
        </p:spPr>
      </p:sp>
      <p:sp>
        <p:nvSpPr>
          <p:cNvPr id="13" name="Shape 9"/>
          <p:cNvSpPr/>
          <p:nvPr/>
        </p:nvSpPr>
        <p:spPr>
          <a:xfrm>
            <a:off x="713232" y="3273552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4" name="Image 2" descr="/home/claude/shared_icons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98448" y="310896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Bar diperkenalkan secara rasmi dalam Nota SP 1.2.2 sebagai kaedah penyelesaian masalah.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6263640" y="3017520"/>
            <a:ext cx="5349240" cy="1261872"/>
          </a:xfrm>
          <a:prstGeom prst="roundRect">
            <a:avLst>
              <a:gd name="adj" fmla="val 5797"/>
            </a:avLst>
          </a:prstGeom>
          <a:solidFill>
            <a:srgbClr val="141A45"/>
          </a:solidFill>
          <a:ln/>
        </p:spPr>
      </p:sp>
      <p:sp>
        <p:nvSpPr>
          <p:cNvPr id="17" name="Shape 12"/>
          <p:cNvSpPr/>
          <p:nvPr/>
        </p:nvSpPr>
        <p:spPr>
          <a:xfrm>
            <a:off x="6428232" y="3273552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8" name="Image 3" descr="/home/claude/shared_icons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33756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3448" y="310896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&amp; Gandaan kini merangkumi FSTB (2.1) dan GSTK (2.2) sebagai subtajuk berasingan.</a:t>
            </a:r>
            <a:endParaRPr lang="en-US" sz="1080" dirty="0"/>
          </a:p>
        </p:txBody>
      </p:sp>
      <p:sp>
        <p:nvSpPr>
          <p:cNvPr id="20" name="Shape 14"/>
          <p:cNvSpPr/>
          <p:nvPr/>
        </p:nvSpPr>
        <p:spPr>
          <a:xfrm>
            <a:off x="548640" y="4434840"/>
            <a:ext cx="5349240" cy="1261872"/>
          </a:xfrm>
          <a:prstGeom prst="roundRect">
            <a:avLst>
              <a:gd name="adj" fmla="val 5797"/>
            </a:avLst>
          </a:prstGeom>
          <a:solidFill>
            <a:srgbClr val="141A45"/>
          </a:solidFill>
          <a:ln/>
        </p:spPr>
      </p:sp>
      <p:sp>
        <p:nvSpPr>
          <p:cNvPr id="21" name="Shape 15"/>
          <p:cNvSpPr/>
          <p:nvPr/>
        </p:nvSpPr>
        <p:spPr>
          <a:xfrm>
            <a:off x="713232" y="4690872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2" name="Image 4" descr="/home/claude/shared_icons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754880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98448" y="452628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Prestasi bagi setiap tajuk mempunyai 4 tahap tafsiran khusus (bukan wording umum TP1-4 sahaja).</a:t>
            </a:r>
            <a:endParaRPr lang="en-US" sz="1080" dirty="0"/>
          </a:p>
        </p:txBody>
      </p:sp>
      <p:sp>
        <p:nvSpPr>
          <p:cNvPr id="24" name="Shape 17"/>
          <p:cNvSpPr/>
          <p:nvPr/>
        </p:nvSpPr>
        <p:spPr>
          <a:xfrm>
            <a:off x="6263640" y="4434840"/>
            <a:ext cx="5349240" cy="1261872"/>
          </a:xfrm>
          <a:prstGeom prst="roundRect">
            <a:avLst>
              <a:gd name="adj" fmla="val 5797"/>
            </a:avLst>
          </a:prstGeom>
          <a:solidFill>
            <a:srgbClr val="141A45"/>
          </a:solidFill>
          <a:ln/>
        </p:spPr>
      </p:sp>
      <p:sp>
        <p:nvSpPr>
          <p:cNvPr id="25" name="Shape 18"/>
          <p:cNvSpPr/>
          <p:nvPr/>
        </p:nvSpPr>
        <p:spPr>
          <a:xfrm>
            <a:off x="6428232" y="4690872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6" name="Image 5" descr="/home/claude/shared_icons/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754880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013448" y="452628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pendekatan PdP disyorkan: Induktif, Bilik Darjah Fikrah, Modular, dan Pembelajaran Bermakna.</a:t>
            </a:r>
            <a:endParaRPr lang="en-US" sz="108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[SINTESIS] Slaid Sidang 4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KESILAPAN PERLU DIELAKKAN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Salah Faham Lazim dalam Pelaksanaan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700784"/>
            <a:ext cx="548640" cy="54864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6" name="Image 0" descr="/home/claude/shared_icons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777594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27632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Terus mengajar formula tanpa aktiviti induktif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97510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Murid kehilangan peluang menemui hukum aritmetik sendiri — pembelajaran jadi hafalan semata.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49631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4944" y="2642616"/>
            <a:ext cx="548640" cy="54864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11" name="Image 1" descr="/home/claude/shared_icons/icon_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2719426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569464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Mengabaikan Model Bar kerana “kelihatan seperti sekolah rendah”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291693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Bar wajib diperkenalkan mengikut Nota rasmi SP 1.2.2 sebagai jambatan CPA.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43814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4944" y="3584448"/>
            <a:ext cx="548640" cy="54864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16" name="Image 2" descr="/home/claude/shared_icons/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3661258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511296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Mengajar Faktor &amp; Gandaan tanpa kaitkan dengan FSTB/GSTK sebagai subtajuk formal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85876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dan 2.2 kini subtajuk berasingan dengan penekanan istilah khusus.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437997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4944" y="4526280"/>
            <a:ext cx="548640" cy="54864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21" name="Image 3" descr="/home/claude/shared_icons/icon_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4" y="460309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4453128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Terus guna latihan rutin buku teks di awal PdP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1417320" y="48006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Bilik Darjah Fikrah mengesyorkan tugasan mencabar &amp; menarik dahulu, bukan rutin.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532180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94944" y="5468112"/>
            <a:ext cx="548640" cy="54864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26" name="Image 4" descr="/home/claude/shared_icons/icon_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4" y="5544922"/>
            <a:ext cx="395021" cy="39502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5394960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Hanya mengajar peraturan tanda (+/−) tanpa penaakulan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1417320" y="574243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Pembelajaran Bermakna menuntut murid faham SEBAB, bukan hafal peraturan.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[SINTESIS] Slaid Sidang 4 + Analisis Rakaman Mental Calculation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IMPLIKASI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Implikasi kepada Guru dan Murid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0" descr="/home/claude/shared_icons/icon_bookR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" y="19184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KEPADA GURU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4892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sediakan aktiviti induktif (soalan mencongak) sebelum mengajar hukum aritmetik secara formal.</a:t>
            </a:r>
            <a:endParaRPr lang="en-US" sz="110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mahir mengajar &amp; melukis Model Bar untuk topik Nombor Nyata.</a:t>
            </a:r>
            <a:endParaRPr lang="en-US" sz="110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sediakan bahan konkrit (kaunter/cip) untuk pendekatan Pembelajaran Bermakna.</a:t>
            </a:r>
            <a:endParaRPr lang="en-US" sz="110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rancang penyepaduan modular (linear/bukan linear) merentas tajuk &amp; subjek.</a:t>
            </a:r>
            <a:endParaRPr lang="en-US" sz="110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rujuk Standard Prestasi khusus tajuk (bukan wording umum) untuk pentaksiran.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82880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1" name="Image 1" descr="/home/claude/shared_icons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131" y="191841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KEPADA MURID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468880"/>
            <a:ext cx="4892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Menemui hukum aritmetik sendiri melalui pengalaman mencongak — lebih bermakna daripada hafalan.</a:t>
            </a:r>
            <a:endParaRPr lang="en-US" sz="110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Mendapat alat visual (Model Bar) untuk memahami masalah berayat kompleks.</a:t>
            </a:r>
            <a:endParaRPr lang="en-US" sz="110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Faham SEBAB di sebalik peraturan matematik (cth. tanda negatif), bukan sekadar mengikut prosedur.</a:t>
            </a:r>
            <a:endParaRPr lang="en-US" sz="110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Terlibat aktif dalam penyelesaian masalah kolaboratif di papan putih mudah alih.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[SINTESIS] Slaid BPK + Analisis Bengkel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CADANGAN AMALAN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Keutamaan Pelaksanaan di Sekolah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914400" cy="914400"/>
          </a:xfrm>
          <a:prstGeom prst="ellipse">
            <a:avLst/>
          </a:prstGeom>
          <a:solidFill>
            <a:srgbClr val="E043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856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PENTING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1031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 Mencongak Induktif 5 Minit Sebelum Setiap Topik Baharu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468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Membina pengalaman “menemui” hukum aritmetik sendiri sebelum nama formal didedahkan.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429000"/>
            <a:ext cx="914400" cy="91440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429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364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0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611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Latihan Melukis Model Bar untuk Masalah Berayat Nombor Nyata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977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Jambatan visual CPA yang diwajibkan Nota rasmi bagi SP 1.2.2.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937760"/>
            <a:ext cx="914400" cy="9144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937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4873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SOKONGAN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5120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PLC Panitia: Rancang Modul Modular Merentas Tajuk &amp; Subjek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920240" y="5486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Kenal pasti SP yang boleh digabung secara mendatar/menegak untuk PdP lebih cekap.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[SINTESIS] Slaid Sidang 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PERBINCANGAN GURU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Aktiviti Berkumpulan: Bandingkan &amp; Bina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47672"/>
            <a:ext cx="822960" cy="82296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476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856232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perbandingan kandungan Matematik KSSM dan DKP2027 bagi bidang Nombor dan Operasi.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56032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jadual di Slaid 4 sebagai rujukan.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456432"/>
            <a:ext cx="822960" cy="82296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564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364992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Kenal pasti SATU subtajuk yang berpotensi tinggi untuk dimodularkan dengan tajuk lain.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406908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Rujuk konsep Paksi Mendatar/Menegak di Slaid 12.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965192"/>
            <a:ext cx="822960" cy="82296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9651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873752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 SATU soalan induktif (seperti contoh di Slaid 10) untuk topik Nombor Nyata atau Faktor &amp; Gandaan pilihan anda.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557784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Kongsikan dengan panitia untuk mendapat maklum balas.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Aktiviti Bengkel Sidang 4, m/s 59–62 (disesuaikan untuk PLC sekolah)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RINGKAS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Soalan Lazim Guru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hared_icons/icon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0034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83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Adakah tajuk Kuasa Dua/Kuasa Tiga hilang dalam DKP2027?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1945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Tidak hilang — digabung sebagai subtajuk 1.3 di bawah tajuk 1.0 Nombor Nyata.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0906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hared_icons/icon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" y="3173882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9535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Perlukah murid menghafal nama hukum aritmetik (Kalis Tukar Tertib, dsb.)?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36499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Tidak wajib menghafal nama; yang penting murid dapat MENGGUNAKANNYA untuk pengiraan efisien.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03250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4261104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shared_icons/icon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" y="4344314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12394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Adakah Model Bar wajib digunakan untuk semua soalan Nombor Nyata?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453542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Ia disyorkan sebagai satu kaedah (dalam Nota), bukan kaedah tunggal wajib untuk semua soalan.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520293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5431536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shared_icons/icon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" y="5514746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529437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Apa beza FSTB dan GSTK?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508760" y="570585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FSTB (Faktor Sepunya Terbesar) untuk faktor; GSTK (Gandaan Sepunya Terkecil) untuk gandaan — subtajuk 2.1 dan 2.2.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[SINTESIS] Ramalan Q&amp;A berdasarkan Slaid Sidang 4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Sidang 4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057400"/>
            <a:ext cx="731520" cy="7315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0" descr="/home/claude/shared_icons/icon_div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173" y="2159813"/>
            <a:ext cx="526694" cy="5266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290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Nombor Nyata (3 subtajuk) &amp; 2.0 Faktor dan Gandaan (2 subtajuk).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7373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2057400"/>
            <a:ext cx="731520" cy="7315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1" name="Image 1" descr="/home/claude/shared_icons/icon_scro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533" y="2159813"/>
            <a:ext cx="526694" cy="5266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Wajib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34290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hukum aritmetik (SP 1.2.1) &amp; Model Bar (SP 1.2.2) sebagai kaedah rasmi.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17373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7269480" y="2057400"/>
            <a:ext cx="731520" cy="7315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6" name="Image 2" descr="/home/claude/shared_icons/icon_chalk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893" y="2159813"/>
            <a:ext cx="526694" cy="52669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4652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Pedagogi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4290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pendekatan: Induktif, Bilik Darjah Fikrah, Modular, Pembelajaran Bermakna.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89720" y="17373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49840" y="2057400"/>
            <a:ext cx="731520" cy="7315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1" name="Image 3" descr="/home/claude/shared_icons/icon_balanceSc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2253" y="2159813"/>
            <a:ext cx="526694" cy="52669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Pentaksiran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9372600" y="34290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Prestasi khusus tajuk (4 tahap) untuk Nombor Nyata &amp; Faktor Gandaan.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Menguasai SP secara mendalam membolehkan guru menterjemah standard kepada pengalaman PdP yang bermakna untuk murid.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[SINTESIS] Slaid BPK + Analisis Bengkel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TINDAKAN GURU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Perlu Dibuat Selepas Sidang Ini?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8366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691640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 bank soalan mencongak induktif untuk tajuk Nombor Nyata (rujuk contoh Slaid 10).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633472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441448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 diri melukis &amp; mengajar Model Bar untuk sekurang-kurangnya 2 masalah berayat.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38328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191256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Sediakan bahan konkrit (kaunter/cip) untuk mengajar operasi nombor negatif secara bermakna.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33088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941064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Bincang dengan panitia peluang modularkan Nombor &amp; Operasi dengan tajuk/subjek lain.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9087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882896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4690872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 Standard Prestasi khusus tajuk untuk merancang pentaksiran berterusan.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63270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5440680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Kongsikan bahan ini kepada rakan sekolah yang tidak dapat hadir sidang asal.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[CADANGAN PEMBANGUN MODUL] Senarai semak tindakan susulan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4  |  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0058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Perkara Wajib Dibawa Pulang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7" name="Image 0" descr="/home/claude/shared_icon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299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tajuk KSSM dipadatkan kepada 8 tajuk DKP2027 di bawah 4 bidang.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2624328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0" name="Image 1" descr="/home/claude/shared_icon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68833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64261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1.2.1: 5 hukum aritmetik (Roman i–v) — turutan wajib dipatuhi.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2960" y="3282696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3" name="Image 2" descr="/home/claude/shared_icons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34670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30098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Bar wajib diperkenalkan (Nota SP 1.2.2) sebagai jambatan CPA.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22960" y="3941064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6" name="Image 3" descr="/home/claude/shared_icons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00507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39593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Pendekatan PdP: Induktif • Bilik Darjah Fikrah • Modular • Pembelajaran Bermakna.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822960" y="4599432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9" name="Image 4" descr="/home/claude/shared_icons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663440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63040" y="4617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Prestasi khusus tajuk — gunakan wording tepat, bukan TP umum sahaja.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9050">
            <a:solidFill>
              <a:srgbClr val="141A45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Bahagian Pembangunan Kurikulum (BPK)  |  bpk.moe.gov.my  |  #kurikulumkita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disintesis daripada Slaid Rasmi BPK Sidang 4, Analisis Rakaman Bengkel &amp; Dokumen Kurikulum Matematik. Perkara bertanda [CADANGAN PEMBANGUN MODUL] ialah cadangan penyampai, bukan arahan rasmi KPM.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2026-09-12T07:11:55Z</dcterms:created>
  <dcterms:modified xsi:type="dcterms:W3CDTF">2026-09-12T07:11:55Z</dcterms:modified>
</cp:coreProperties>
</file>