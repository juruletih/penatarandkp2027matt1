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image" Target="../media/image-19-1.png"/><Relationship Id="rId4" Type="http://schemas.openxmlformats.org/officeDocument/2006/relationships/image" Target="../media/image-19-1.png"/><Relationship Id="rId5" Type="http://schemas.openxmlformats.org/officeDocument/2006/relationships/image" Target="../media/image-19-1.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1.png"/><Relationship Id="rId3" Type="http://schemas.openxmlformats.org/officeDocument/2006/relationships/image" Target="../media/image-23-1.png"/><Relationship Id="rId4" Type="http://schemas.openxmlformats.org/officeDocument/2006/relationships/image" Target="../media/image-23-1.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image" Target="../media/image-26-1.png"/><Relationship Id="rId4" Type="http://schemas.openxmlformats.org/officeDocument/2006/relationships/image" Target="../media/image-26-1.png"/><Relationship Id="rId5" Type="http://schemas.openxmlformats.org/officeDocument/2006/relationships/image" Target="../media/image-26-1.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1280160"/>
            <a:ext cx="10515600" cy="365760"/>
          </a:xfrm>
          <a:prstGeom prst="rect">
            <a:avLst/>
          </a:prstGeom>
          <a:noFill/>
          <a:ln/>
        </p:spPr>
        <p:txBody>
          <a:bodyPr wrap="square" rtlCol="0" anchor="ctr"/>
          <a:lstStyle/>
          <a:p>
            <a:pPr indent="0" marL="0">
              <a:buNone/>
            </a:pPr>
            <a:r>
              <a:rPr lang="en-US" sz="1400" b="1" spc="200" kern="0" dirty="0">
                <a:solidFill>
                  <a:srgbClr val="F2B705"/>
                </a:solidFill>
                <a:latin typeface="Calibri" pitchFamily="34" charset="0"/>
                <a:ea typeface="Calibri" pitchFamily="34" charset="-122"/>
                <a:cs typeface="Calibri" pitchFamily="34" charset="-120"/>
              </a:rPr>
              <a:t>PENATARAN KURIKULUM PERSEKOLAHAN 2027  •  SIDANG 5</a:t>
            </a:r>
            <a:endParaRPr lang="en-US" sz="1400" dirty="0"/>
          </a:p>
        </p:txBody>
      </p:sp>
      <p:sp>
        <p:nvSpPr>
          <p:cNvPr id="5" name="Text 3"/>
          <p:cNvSpPr txBox="1"/>
          <p:nvPr/>
        </p:nvSpPr>
        <p:spPr>
          <a:xfrm>
            <a:off x="822960" y="1737360"/>
            <a:ext cx="10241280" cy="1737360"/>
          </a:xfrm>
          <a:prstGeom prst="rect">
            <a:avLst/>
          </a:prstGeom>
          <a:noFill/>
          <a:ln/>
        </p:spPr>
        <p:txBody>
          <a:bodyPr wrap="square" rtlCol="0" anchor="ctr"/>
          <a:lstStyle/>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Selam Intelektual: Menguasai SP &amp; SPi</a:t>
            </a:r>
            <a:endParaRPr lang="en-US" sz="3200" dirty="0"/>
          </a:p>
          <a:p>
            <a:pPr indent="0" marL="0">
              <a:lnSpc>
                <a:spcPct val="112000"/>
              </a:lnSpc>
              <a:buNone/>
            </a:pPr>
            <a:r>
              <a:rPr lang="en-US" sz="3200" b="1" dirty="0">
                <a:solidFill>
                  <a:srgbClr val="FFFFFF"/>
                </a:solidFill>
                <a:latin typeface="Cambria" pitchFamily="34" charset="0"/>
                <a:ea typeface="Cambria" pitchFamily="34" charset="-122"/>
                <a:cs typeface="Cambria" pitchFamily="34" charset="-120"/>
              </a:rPr>
              <a:t>Secara Mendalam — Perkaitan dan Algebra</a:t>
            </a:r>
            <a:endParaRPr lang="en-US" sz="3200" dirty="0"/>
          </a:p>
        </p:txBody>
      </p:sp>
      <p:sp>
        <p:nvSpPr>
          <p:cNvPr id="6" name="Shape 4"/>
          <p:cNvSpPr/>
          <p:nvPr/>
        </p:nvSpPr>
        <p:spPr>
          <a:xfrm>
            <a:off x="868680" y="3611880"/>
            <a:ext cx="2194560" cy="0"/>
          </a:xfrm>
          <a:prstGeom prst="line">
            <a:avLst/>
          </a:prstGeom>
          <a:noFill/>
          <a:ln w="38100">
            <a:solidFill>
              <a:srgbClr val="F2B705"/>
            </a:solidFill>
            <a:prstDash val="solid"/>
          </a:ln>
        </p:spPr>
      </p:sp>
      <p:sp>
        <p:nvSpPr>
          <p:cNvPr id="7" name="Text 5"/>
          <p:cNvSpPr txBox="1"/>
          <p:nvPr/>
        </p:nvSpPr>
        <p:spPr>
          <a:xfrm>
            <a:off x="822960" y="3767328"/>
            <a:ext cx="9144000" cy="45720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“Daripada Standard kepada Kefahaman Bermakna”</a:t>
            </a:r>
            <a:endParaRPr lang="en-US" sz="1500" dirty="0"/>
          </a:p>
        </p:txBody>
      </p:sp>
      <p:sp>
        <p:nvSpPr>
          <p:cNvPr id="8" name="Text 6"/>
          <p:cNvSpPr txBox="1"/>
          <p:nvPr/>
        </p:nvSpPr>
        <p:spPr>
          <a:xfrm>
            <a:off x="822960" y="4434840"/>
            <a:ext cx="9144000" cy="365760"/>
          </a:xfrm>
          <a:prstGeom prst="rect">
            <a:avLst/>
          </a:prstGeom>
          <a:noFill/>
          <a:ln/>
        </p:spPr>
        <p:txBody>
          <a:bodyPr wrap="square" rtlCol="0" anchor="ctr"/>
          <a:lstStyle/>
          <a:p>
            <a:pPr indent="0" marL="0">
              <a:buNone/>
            </a:pPr>
            <a:r>
              <a:rPr lang="en-US" sz="1400" b="1" dirty="0">
                <a:solidFill>
                  <a:srgbClr val="F2B705"/>
                </a:solidFill>
                <a:latin typeface="Calibri" pitchFamily="34" charset="0"/>
                <a:ea typeface="Calibri" pitchFamily="34" charset="-122"/>
                <a:cs typeface="Calibri" pitchFamily="34" charset="-120"/>
              </a:rPr>
              <a:t>Bidang Pembelajaran: Perkaitan dan Algebra</a:t>
            </a:r>
            <a:endParaRPr lang="en-US" sz="1400" dirty="0"/>
          </a:p>
        </p:txBody>
      </p:sp>
      <p:sp>
        <p:nvSpPr>
          <p:cNvPr id="9" name="Shape 7"/>
          <p:cNvSpPr/>
          <p:nvPr/>
        </p:nvSpPr>
        <p:spPr>
          <a:xfrm>
            <a:off x="822960" y="4892040"/>
            <a:ext cx="502920" cy="502920"/>
          </a:xfrm>
          <a:prstGeom prst="ellipse">
            <a:avLst/>
          </a:prstGeom>
          <a:solidFill>
            <a:srgbClr val="8E44AD"/>
          </a:solidFill>
          <a:ln/>
        </p:spPr>
      </p:sp>
      <p:pic>
        <p:nvPicPr>
          <p:cNvPr id="10" name="Image 0" descr="/home/claude/shared_icons/icon_percentage.png">    </p:cNvPr>
          <p:cNvPicPr>
            <a:picLocks noChangeAspect="1"/>
          </p:cNvPicPr>
          <p:nvPr/>
        </p:nvPicPr>
        <p:blipFill>
          <a:blip r:embed="rId1"/>
          <a:stretch>
            <a:fillRect/>
          </a:stretch>
        </p:blipFill>
        <p:spPr>
          <a:xfrm>
            <a:off x="893369" y="4962449"/>
            <a:ext cx="362102" cy="362102"/>
          </a:xfrm>
          <a:prstGeom prst="rect">
            <a:avLst/>
          </a:prstGeom>
        </p:spPr>
      </p:pic>
      <p:sp>
        <p:nvSpPr>
          <p:cNvPr id="11" name="Text 8"/>
          <p:cNvSpPr txBox="1"/>
          <p:nvPr/>
        </p:nvSpPr>
        <p:spPr>
          <a:xfrm>
            <a:off x="1417320" y="4956048"/>
            <a:ext cx="29260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3.0 Nisbah, Kadar &amp; Perkadaran</a:t>
            </a:r>
            <a:endParaRPr lang="en-US" sz="1050" dirty="0"/>
          </a:p>
        </p:txBody>
      </p:sp>
      <p:sp>
        <p:nvSpPr>
          <p:cNvPr id="12" name="Shape 9"/>
          <p:cNvSpPr/>
          <p:nvPr/>
        </p:nvSpPr>
        <p:spPr>
          <a:xfrm>
            <a:off x="4343400" y="4892040"/>
            <a:ext cx="502920" cy="502920"/>
          </a:xfrm>
          <a:prstGeom prst="ellipse">
            <a:avLst/>
          </a:prstGeom>
          <a:solidFill>
            <a:srgbClr val="8E44AD"/>
          </a:solidFill>
          <a:ln/>
        </p:spPr>
      </p:sp>
      <p:pic>
        <p:nvPicPr>
          <p:cNvPr id="13" name="Image 1" descr="/home/claude/shared_icons/icon_puzzle.png">    </p:cNvPr>
          <p:cNvPicPr>
            <a:picLocks noChangeAspect="1"/>
          </p:cNvPicPr>
          <p:nvPr/>
        </p:nvPicPr>
        <p:blipFill>
          <a:blip r:embed="rId2"/>
          <a:stretch>
            <a:fillRect/>
          </a:stretch>
        </p:blipFill>
        <p:spPr>
          <a:xfrm>
            <a:off x="4413809" y="4962449"/>
            <a:ext cx="362102" cy="362102"/>
          </a:xfrm>
          <a:prstGeom prst="rect">
            <a:avLst/>
          </a:prstGeom>
        </p:spPr>
      </p:pic>
      <p:sp>
        <p:nvSpPr>
          <p:cNvPr id="14" name="Text 10"/>
          <p:cNvSpPr txBox="1"/>
          <p:nvPr/>
        </p:nvSpPr>
        <p:spPr>
          <a:xfrm>
            <a:off x="4937760" y="4956048"/>
            <a:ext cx="29260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4.0 Ungkapan Algebra</a:t>
            </a:r>
            <a:endParaRPr lang="en-US" sz="1050" dirty="0"/>
          </a:p>
        </p:txBody>
      </p:sp>
      <p:sp>
        <p:nvSpPr>
          <p:cNvPr id="15" name="Shape 11"/>
          <p:cNvSpPr/>
          <p:nvPr/>
        </p:nvSpPr>
        <p:spPr>
          <a:xfrm>
            <a:off x="7863840" y="4892040"/>
            <a:ext cx="502920" cy="502920"/>
          </a:xfrm>
          <a:prstGeom prst="ellipse">
            <a:avLst/>
          </a:prstGeom>
          <a:solidFill>
            <a:srgbClr val="8E44AD"/>
          </a:solidFill>
          <a:ln/>
        </p:spPr>
      </p:sp>
      <p:pic>
        <p:nvPicPr>
          <p:cNvPr id="16" name="Image 2" descr="/home/claude/shared_icons/icon_balanceScale.png">    </p:cNvPr>
          <p:cNvPicPr>
            <a:picLocks noChangeAspect="1"/>
          </p:cNvPicPr>
          <p:nvPr/>
        </p:nvPicPr>
        <p:blipFill>
          <a:blip r:embed="rId3"/>
          <a:stretch>
            <a:fillRect/>
          </a:stretch>
        </p:blipFill>
        <p:spPr>
          <a:xfrm>
            <a:off x="7934249" y="4962449"/>
            <a:ext cx="362102" cy="362102"/>
          </a:xfrm>
          <a:prstGeom prst="rect">
            <a:avLst/>
          </a:prstGeom>
        </p:spPr>
      </p:pic>
      <p:sp>
        <p:nvSpPr>
          <p:cNvPr id="17" name="Text 12"/>
          <p:cNvSpPr txBox="1"/>
          <p:nvPr/>
        </p:nvSpPr>
        <p:spPr>
          <a:xfrm>
            <a:off x="8458200" y="4956048"/>
            <a:ext cx="2926080" cy="3657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5.0 Persamaan &amp; Ketaksamaan Linear</a:t>
            </a:r>
            <a:endParaRPr lang="en-US" sz="1050" dirty="0"/>
          </a:p>
        </p:txBody>
      </p:sp>
      <p:sp>
        <p:nvSpPr>
          <p:cNvPr id="18" name="Text 13"/>
          <p:cNvSpPr txBox="1"/>
          <p:nvPr/>
        </p:nvSpPr>
        <p:spPr>
          <a:xfrm>
            <a:off x="822960" y="6400800"/>
            <a:ext cx="105156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Bahan Perkongsian Peringkat Sekolah  |  Disintesis daripada Slaid Rasmi BPK &amp; Dokumen Kurikulum Matematik 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HASIL PEMBELAJARAN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Selepas Sidang Ini, Guru Dapat...</a:t>
            </a:r>
            <a:endParaRPr lang="en-US" sz="2600" dirty="0"/>
          </a:p>
        </p:txBody>
      </p:sp>
      <p:sp>
        <p:nvSpPr>
          <p:cNvPr id="4" name="Shape 2"/>
          <p:cNvSpPr/>
          <p:nvPr/>
        </p:nvSpPr>
        <p:spPr>
          <a:xfrm>
            <a:off x="548640" y="1828800"/>
            <a:ext cx="3520440" cy="3291840"/>
          </a:xfrm>
          <a:prstGeom prst="roundRect">
            <a:avLst>
              <a:gd name="adj" fmla="val 2222"/>
            </a:avLst>
          </a:prstGeom>
          <a:solidFill>
            <a:srgbClr val="F5F7FC"/>
          </a:solidFill>
          <a:ln w="12700">
            <a:solidFill>
              <a:srgbClr val="E7EAF2"/>
            </a:solidFill>
            <a:prstDash val="solid"/>
          </a:ln>
        </p:spPr>
      </p:sp>
      <p:sp>
        <p:nvSpPr>
          <p:cNvPr id="5" name="Shape 3"/>
          <p:cNvSpPr/>
          <p:nvPr/>
        </p:nvSpPr>
        <p:spPr>
          <a:xfrm>
            <a:off x="1897380" y="2194560"/>
            <a:ext cx="822960" cy="822960"/>
          </a:xfrm>
          <a:prstGeom prst="ellipse">
            <a:avLst/>
          </a:prstGeom>
          <a:solidFill>
            <a:srgbClr val="1E2761"/>
          </a:solidFill>
          <a:ln/>
        </p:spPr>
      </p:sp>
      <p:pic>
        <p:nvPicPr>
          <p:cNvPr id="6" name="Image 0" descr="/home/claude/shared_icons/icon_percentage.png">    </p:cNvPr>
          <p:cNvPicPr>
            <a:picLocks noChangeAspect="1"/>
          </p:cNvPicPr>
          <p:nvPr/>
        </p:nvPicPr>
        <p:blipFill>
          <a:blip r:embed="rId1"/>
          <a:stretch>
            <a:fillRect/>
          </a:stretch>
        </p:blipFill>
        <p:spPr>
          <a:xfrm>
            <a:off x="2012594" y="2309774"/>
            <a:ext cx="592531" cy="592531"/>
          </a:xfrm>
          <a:prstGeom prst="rect">
            <a:avLst/>
          </a:prstGeom>
        </p:spPr>
      </p:pic>
      <p:sp>
        <p:nvSpPr>
          <p:cNvPr id="7" name="Text 4"/>
          <p:cNvSpPr txBox="1"/>
          <p:nvPr/>
        </p:nvSpPr>
        <p:spPr>
          <a:xfrm>
            <a:off x="777240" y="3246120"/>
            <a:ext cx="306324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Nisbah, Kadar &amp; Perkadaran</a:t>
            </a:r>
            <a:endParaRPr lang="en-US" sz="1450" dirty="0"/>
          </a:p>
        </p:txBody>
      </p:sp>
      <p:sp>
        <p:nvSpPr>
          <p:cNvPr id="8" name="Text 5"/>
          <p:cNvSpPr txBox="1"/>
          <p:nvPr/>
        </p:nvSpPr>
        <p:spPr>
          <a:xfrm>
            <a:off x="868680" y="3977640"/>
            <a:ext cx="2880360" cy="1005840"/>
          </a:xfrm>
          <a:prstGeom prst="rect">
            <a:avLst/>
          </a:prstGeom>
          <a:noFill/>
          <a:ln/>
        </p:spPr>
        <p:txBody>
          <a:bodyPr wrap="square" rtlCol="0" anchor="ctr"/>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Mendalami SK, SP dan SPi bagi tajuk 3.0.</a:t>
            </a:r>
            <a:endParaRPr lang="en-US" sz="1150" dirty="0"/>
          </a:p>
        </p:txBody>
      </p:sp>
      <p:sp>
        <p:nvSpPr>
          <p:cNvPr id="9" name="Shape 6"/>
          <p:cNvSpPr/>
          <p:nvPr/>
        </p:nvSpPr>
        <p:spPr>
          <a:xfrm>
            <a:off x="4343400" y="1828800"/>
            <a:ext cx="3520440" cy="3291840"/>
          </a:xfrm>
          <a:prstGeom prst="roundRect">
            <a:avLst>
              <a:gd name="adj" fmla="val 2222"/>
            </a:avLst>
          </a:prstGeom>
          <a:solidFill>
            <a:srgbClr val="F5F7FC"/>
          </a:solidFill>
          <a:ln w="12700">
            <a:solidFill>
              <a:srgbClr val="E7EAF2"/>
            </a:solidFill>
            <a:prstDash val="solid"/>
          </a:ln>
        </p:spPr>
      </p:sp>
      <p:sp>
        <p:nvSpPr>
          <p:cNvPr id="10" name="Shape 7"/>
          <p:cNvSpPr/>
          <p:nvPr/>
        </p:nvSpPr>
        <p:spPr>
          <a:xfrm>
            <a:off x="5692140" y="2194560"/>
            <a:ext cx="822960" cy="822960"/>
          </a:xfrm>
          <a:prstGeom prst="ellipse">
            <a:avLst/>
          </a:prstGeom>
          <a:solidFill>
            <a:srgbClr val="1E2761"/>
          </a:solidFill>
          <a:ln/>
        </p:spPr>
      </p:sp>
      <p:pic>
        <p:nvPicPr>
          <p:cNvPr id="11" name="Image 1" descr="/home/claude/shared_icons/icon_puzzle.png">    </p:cNvPr>
          <p:cNvPicPr>
            <a:picLocks noChangeAspect="1"/>
          </p:cNvPicPr>
          <p:nvPr/>
        </p:nvPicPr>
        <p:blipFill>
          <a:blip r:embed="rId2"/>
          <a:stretch>
            <a:fillRect/>
          </a:stretch>
        </p:blipFill>
        <p:spPr>
          <a:xfrm>
            <a:off x="5807354" y="2309774"/>
            <a:ext cx="592531" cy="592531"/>
          </a:xfrm>
          <a:prstGeom prst="rect">
            <a:avLst/>
          </a:prstGeom>
        </p:spPr>
      </p:pic>
      <p:sp>
        <p:nvSpPr>
          <p:cNvPr id="12" name="Text 8"/>
          <p:cNvSpPr txBox="1"/>
          <p:nvPr/>
        </p:nvSpPr>
        <p:spPr>
          <a:xfrm>
            <a:off x="4572000" y="3246120"/>
            <a:ext cx="306324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Ungkapan Algebra</a:t>
            </a:r>
            <a:endParaRPr lang="en-US" sz="1450" dirty="0"/>
          </a:p>
        </p:txBody>
      </p:sp>
      <p:sp>
        <p:nvSpPr>
          <p:cNvPr id="13" name="Text 9"/>
          <p:cNvSpPr txBox="1"/>
          <p:nvPr/>
        </p:nvSpPr>
        <p:spPr>
          <a:xfrm>
            <a:off x="4663440" y="3977640"/>
            <a:ext cx="2880360" cy="1005840"/>
          </a:xfrm>
          <a:prstGeom prst="rect">
            <a:avLst/>
          </a:prstGeom>
          <a:noFill/>
          <a:ln/>
        </p:spPr>
        <p:txBody>
          <a:bodyPr wrap="square" rtlCol="0" anchor="ctr"/>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Mendalami SK, SP dan SPi bagi tajuk 4.0.</a:t>
            </a:r>
            <a:endParaRPr lang="en-US" sz="1150" dirty="0"/>
          </a:p>
        </p:txBody>
      </p:sp>
      <p:sp>
        <p:nvSpPr>
          <p:cNvPr id="14" name="Shape 10"/>
          <p:cNvSpPr/>
          <p:nvPr/>
        </p:nvSpPr>
        <p:spPr>
          <a:xfrm>
            <a:off x="8138160" y="1828800"/>
            <a:ext cx="3520440" cy="3291840"/>
          </a:xfrm>
          <a:prstGeom prst="roundRect">
            <a:avLst>
              <a:gd name="adj" fmla="val 2222"/>
            </a:avLst>
          </a:prstGeom>
          <a:solidFill>
            <a:srgbClr val="F5F7FC"/>
          </a:solidFill>
          <a:ln w="12700">
            <a:solidFill>
              <a:srgbClr val="E7EAF2"/>
            </a:solidFill>
            <a:prstDash val="solid"/>
          </a:ln>
        </p:spPr>
      </p:sp>
      <p:sp>
        <p:nvSpPr>
          <p:cNvPr id="15" name="Shape 11"/>
          <p:cNvSpPr/>
          <p:nvPr/>
        </p:nvSpPr>
        <p:spPr>
          <a:xfrm>
            <a:off x="9486900" y="2194560"/>
            <a:ext cx="822960" cy="822960"/>
          </a:xfrm>
          <a:prstGeom prst="ellipse">
            <a:avLst/>
          </a:prstGeom>
          <a:solidFill>
            <a:srgbClr val="1E2761"/>
          </a:solidFill>
          <a:ln/>
        </p:spPr>
      </p:sp>
      <p:pic>
        <p:nvPicPr>
          <p:cNvPr id="16" name="Image 2" descr="/home/claude/shared_icons/icon_balanceScale.png">    </p:cNvPr>
          <p:cNvPicPr>
            <a:picLocks noChangeAspect="1"/>
          </p:cNvPicPr>
          <p:nvPr/>
        </p:nvPicPr>
        <p:blipFill>
          <a:blip r:embed="rId3"/>
          <a:stretch>
            <a:fillRect/>
          </a:stretch>
        </p:blipFill>
        <p:spPr>
          <a:xfrm>
            <a:off x="9602114" y="2309774"/>
            <a:ext cx="592531" cy="592531"/>
          </a:xfrm>
          <a:prstGeom prst="rect">
            <a:avLst/>
          </a:prstGeom>
        </p:spPr>
      </p:pic>
      <p:sp>
        <p:nvSpPr>
          <p:cNvPr id="17" name="Text 12"/>
          <p:cNvSpPr txBox="1"/>
          <p:nvPr/>
        </p:nvSpPr>
        <p:spPr>
          <a:xfrm>
            <a:off x="8366760" y="3246120"/>
            <a:ext cx="306324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Persamaan &amp; Ketaksamaan Linear</a:t>
            </a:r>
            <a:endParaRPr lang="en-US" sz="1450" dirty="0"/>
          </a:p>
        </p:txBody>
      </p:sp>
      <p:sp>
        <p:nvSpPr>
          <p:cNvPr id="18" name="Text 13"/>
          <p:cNvSpPr txBox="1"/>
          <p:nvPr/>
        </p:nvSpPr>
        <p:spPr>
          <a:xfrm>
            <a:off x="8458200" y="3977640"/>
            <a:ext cx="2880360" cy="1005840"/>
          </a:xfrm>
          <a:prstGeom prst="rect">
            <a:avLst/>
          </a:prstGeom>
          <a:noFill/>
          <a:ln/>
        </p:spPr>
        <p:txBody>
          <a:bodyPr wrap="square" rtlCol="0" anchor="ctr"/>
          <a:lstStyle/>
          <a:p>
            <a:pPr algn="ctr" indent="0" marL="0">
              <a:lnSpc>
                <a:spcPct val="120000"/>
              </a:lnSpc>
              <a:buNone/>
            </a:pPr>
            <a:r>
              <a:rPr lang="en-US" sz="1150" dirty="0">
                <a:solidFill>
                  <a:srgbClr val="5B6472"/>
                </a:solidFill>
                <a:latin typeface="Calibri" pitchFamily="34" charset="0"/>
                <a:ea typeface="Calibri" pitchFamily="34" charset="-122"/>
                <a:cs typeface="Calibri" pitchFamily="34" charset="-120"/>
              </a:rPr>
              <a:t>Mendalami SK, SP dan SPi bagi tajuk 5.0.</a:t>
            </a:r>
            <a:endParaRPr lang="en-US" sz="1150" dirty="0"/>
          </a:p>
        </p:txBody>
      </p:sp>
      <p:sp>
        <p:nvSpPr>
          <p:cNvPr id="19" name="Text 14"/>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5, m/s 2</a:t>
            </a:r>
            <a:endParaRPr lang="en-US" sz="1000" dirty="0"/>
          </a:p>
        </p:txBody>
      </p:sp>
      <p:sp>
        <p:nvSpPr>
          <p:cNvPr id="20"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GAMBARAN KESELURUHAN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 Tajuk dalam Bidang Perkaitan dan Algebra</a:t>
            </a:r>
            <a:endParaRPr lang="en-US" sz="2600" dirty="0"/>
          </a:p>
        </p:txBody>
      </p:sp>
      <p:sp>
        <p:nvSpPr>
          <p:cNvPr id="4" name="Text 2"/>
          <p:cNvSpPr txBox="1"/>
          <p:nvPr/>
        </p:nvSpPr>
        <p:spPr>
          <a:xfrm>
            <a:off x="548640" y="1600200"/>
            <a:ext cx="11064240" cy="640080"/>
          </a:xfrm>
          <a:prstGeom prst="rect">
            <a:avLst/>
          </a:prstGeom>
          <a:noFill/>
          <a:ln/>
        </p:spPr>
        <p:txBody>
          <a:bodyPr wrap="square" rtlCol="0" anchor="ctr"/>
          <a:lstStyle/>
          <a:p>
            <a:pPr indent="0" marL="0">
              <a:lnSpc>
                <a:spcPct val="120000"/>
              </a:lnSpc>
              <a:buNone/>
            </a:pPr>
            <a:r>
              <a:rPr lang="en-US" sz="1300" dirty="0">
                <a:solidFill>
                  <a:srgbClr val="141A45"/>
                </a:solidFill>
                <a:latin typeface="Calibri" pitchFamily="34" charset="0"/>
                <a:ea typeface="Calibri" pitchFamily="34" charset="-122"/>
                <a:cs typeface="Calibri" pitchFamily="34" charset="-120"/>
              </a:rPr>
              <a:t>Sidang 5 menyelami bidang Perkaitan dan Algebra secara mendalam — daripada nisbah asas hinggalah ketaksamaan linear — dengan pelbagai strategi penyelesaian masalah, bukan satu kaedah tunggal.</a:t>
            </a:r>
            <a:endParaRPr lang="en-US" sz="1300" dirty="0"/>
          </a:p>
        </p:txBody>
      </p:sp>
      <p:sp>
        <p:nvSpPr>
          <p:cNvPr id="5" name="Shape 3"/>
          <p:cNvSpPr/>
          <p:nvPr/>
        </p:nvSpPr>
        <p:spPr>
          <a:xfrm>
            <a:off x="548640" y="2468880"/>
            <a:ext cx="3520440" cy="3200400"/>
          </a:xfrm>
          <a:prstGeom prst="roundRect">
            <a:avLst>
              <a:gd name="adj" fmla="val 2286"/>
            </a:avLst>
          </a:prstGeom>
          <a:solidFill>
            <a:srgbClr val="2E86AB"/>
          </a:solidFill>
          <a:ln/>
        </p:spPr>
      </p:sp>
      <p:sp>
        <p:nvSpPr>
          <p:cNvPr id="6" name="Text 4"/>
          <p:cNvSpPr txBox="1"/>
          <p:nvPr/>
        </p:nvSpPr>
        <p:spPr>
          <a:xfrm>
            <a:off x="731520" y="2651760"/>
            <a:ext cx="31546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3.0</a:t>
            </a:r>
            <a:endParaRPr lang="en-US" sz="2600" dirty="0"/>
          </a:p>
        </p:txBody>
      </p:sp>
      <p:sp>
        <p:nvSpPr>
          <p:cNvPr id="7" name="Text 5"/>
          <p:cNvSpPr txBox="1"/>
          <p:nvPr/>
        </p:nvSpPr>
        <p:spPr>
          <a:xfrm>
            <a:off x="731520" y="3291840"/>
            <a:ext cx="3154680" cy="822960"/>
          </a:xfrm>
          <a:prstGeom prst="rect">
            <a:avLst/>
          </a:prstGeom>
          <a:noFill/>
          <a:ln/>
        </p:spPr>
        <p:txBody>
          <a:bodyPr wrap="square" rtlCol="0" anchor="ctr"/>
          <a:lstStyle/>
          <a:p>
            <a:pPr indent="0" marL="0">
              <a:lnSpc>
                <a:spcPct val="115000"/>
              </a:lnSpc>
              <a:buNone/>
            </a:pPr>
            <a:r>
              <a:rPr lang="en-US" sz="1350" b="1" dirty="0">
                <a:solidFill>
                  <a:srgbClr val="FFFFFF"/>
                </a:solidFill>
                <a:latin typeface="Cambria" pitchFamily="34" charset="0"/>
                <a:ea typeface="Cambria" pitchFamily="34" charset="-122"/>
                <a:cs typeface="Cambria" pitchFamily="34" charset="-120"/>
              </a:rPr>
              <a:t>Nisbah, Kadar dan Perkadaran</a:t>
            </a:r>
            <a:endParaRPr lang="en-US" sz="1350" dirty="0"/>
          </a:p>
        </p:txBody>
      </p:sp>
      <p:sp>
        <p:nvSpPr>
          <p:cNvPr id="8" name="Text 6"/>
          <p:cNvSpPr txBox="1"/>
          <p:nvPr/>
        </p:nvSpPr>
        <p:spPr>
          <a:xfrm>
            <a:off x="777240" y="4297680"/>
            <a:ext cx="3063240" cy="118872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3.1 Nisbah</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3.2 Kadar dan Perkadaran</a:t>
            </a:r>
            <a:endParaRPr lang="en-US" sz="1100" dirty="0"/>
          </a:p>
        </p:txBody>
      </p:sp>
      <p:sp>
        <p:nvSpPr>
          <p:cNvPr id="9" name="Shape 7"/>
          <p:cNvSpPr/>
          <p:nvPr/>
        </p:nvSpPr>
        <p:spPr>
          <a:xfrm>
            <a:off x="4343400" y="2468880"/>
            <a:ext cx="3520440" cy="3200400"/>
          </a:xfrm>
          <a:prstGeom prst="roundRect">
            <a:avLst>
              <a:gd name="adj" fmla="val 2286"/>
            </a:avLst>
          </a:prstGeom>
          <a:solidFill>
            <a:srgbClr val="E67E22"/>
          </a:solidFill>
          <a:ln/>
        </p:spPr>
      </p:sp>
      <p:sp>
        <p:nvSpPr>
          <p:cNvPr id="10" name="Text 8"/>
          <p:cNvSpPr txBox="1"/>
          <p:nvPr/>
        </p:nvSpPr>
        <p:spPr>
          <a:xfrm>
            <a:off x="4526280" y="2651760"/>
            <a:ext cx="31546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4.0</a:t>
            </a:r>
            <a:endParaRPr lang="en-US" sz="2600" dirty="0"/>
          </a:p>
        </p:txBody>
      </p:sp>
      <p:sp>
        <p:nvSpPr>
          <p:cNvPr id="11" name="Text 9"/>
          <p:cNvSpPr txBox="1"/>
          <p:nvPr/>
        </p:nvSpPr>
        <p:spPr>
          <a:xfrm>
            <a:off x="4526280" y="3291840"/>
            <a:ext cx="3154680" cy="822960"/>
          </a:xfrm>
          <a:prstGeom prst="rect">
            <a:avLst/>
          </a:prstGeom>
          <a:noFill/>
          <a:ln/>
        </p:spPr>
        <p:txBody>
          <a:bodyPr wrap="square" rtlCol="0" anchor="ctr"/>
          <a:lstStyle/>
          <a:p>
            <a:pPr indent="0" marL="0">
              <a:lnSpc>
                <a:spcPct val="115000"/>
              </a:lnSpc>
              <a:buNone/>
            </a:pPr>
            <a:r>
              <a:rPr lang="en-US" sz="1350" b="1" dirty="0">
                <a:solidFill>
                  <a:srgbClr val="FFFFFF"/>
                </a:solidFill>
                <a:latin typeface="Cambria" pitchFamily="34" charset="0"/>
                <a:ea typeface="Cambria" pitchFamily="34" charset="-122"/>
                <a:cs typeface="Cambria" pitchFamily="34" charset="-120"/>
              </a:rPr>
              <a:t>Ungkapan Algebra</a:t>
            </a:r>
            <a:endParaRPr lang="en-US" sz="1350" dirty="0"/>
          </a:p>
        </p:txBody>
      </p:sp>
      <p:sp>
        <p:nvSpPr>
          <p:cNvPr id="12" name="Text 10"/>
          <p:cNvSpPr txBox="1"/>
          <p:nvPr/>
        </p:nvSpPr>
        <p:spPr>
          <a:xfrm>
            <a:off x="4572000" y="4297680"/>
            <a:ext cx="3063240" cy="118872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4.1 Pemboleh Ubah dan Ungkapan Algebra</a:t>
            </a:r>
            <a:endParaRPr lang="en-US" sz="1100" dirty="0"/>
          </a:p>
        </p:txBody>
      </p:sp>
      <p:sp>
        <p:nvSpPr>
          <p:cNvPr id="13" name="Shape 11"/>
          <p:cNvSpPr/>
          <p:nvPr/>
        </p:nvSpPr>
        <p:spPr>
          <a:xfrm>
            <a:off x="8138160" y="2468880"/>
            <a:ext cx="3520440" cy="3200400"/>
          </a:xfrm>
          <a:prstGeom prst="roundRect">
            <a:avLst>
              <a:gd name="adj" fmla="val 2286"/>
            </a:avLst>
          </a:prstGeom>
          <a:solidFill>
            <a:srgbClr val="8E44AD"/>
          </a:solidFill>
          <a:ln/>
        </p:spPr>
      </p:sp>
      <p:sp>
        <p:nvSpPr>
          <p:cNvPr id="14" name="Text 12"/>
          <p:cNvSpPr txBox="1"/>
          <p:nvPr/>
        </p:nvSpPr>
        <p:spPr>
          <a:xfrm>
            <a:off x="8321040" y="2651760"/>
            <a:ext cx="31546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5.0</a:t>
            </a:r>
            <a:endParaRPr lang="en-US" sz="2600" dirty="0"/>
          </a:p>
        </p:txBody>
      </p:sp>
      <p:sp>
        <p:nvSpPr>
          <p:cNvPr id="15" name="Text 13"/>
          <p:cNvSpPr txBox="1"/>
          <p:nvPr/>
        </p:nvSpPr>
        <p:spPr>
          <a:xfrm>
            <a:off x="8321040" y="3291840"/>
            <a:ext cx="3154680" cy="822960"/>
          </a:xfrm>
          <a:prstGeom prst="rect">
            <a:avLst/>
          </a:prstGeom>
          <a:noFill/>
          <a:ln/>
        </p:spPr>
        <p:txBody>
          <a:bodyPr wrap="square" rtlCol="0" anchor="ctr"/>
          <a:lstStyle/>
          <a:p>
            <a:pPr indent="0" marL="0">
              <a:lnSpc>
                <a:spcPct val="115000"/>
              </a:lnSpc>
              <a:buNone/>
            </a:pPr>
            <a:r>
              <a:rPr lang="en-US" sz="1350" b="1" dirty="0">
                <a:solidFill>
                  <a:srgbClr val="FFFFFF"/>
                </a:solidFill>
                <a:latin typeface="Cambria" pitchFamily="34" charset="0"/>
                <a:ea typeface="Cambria" pitchFamily="34" charset="-122"/>
                <a:cs typeface="Cambria" pitchFamily="34" charset="-120"/>
              </a:rPr>
              <a:t>Persamaan &amp; Ketaksamaan Linear (1 Pemboleh Ubah)</a:t>
            </a:r>
            <a:endParaRPr lang="en-US" sz="1350" dirty="0"/>
          </a:p>
        </p:txBody>
      </p:sp>
      <p:sp>
        <p:nvSpPr>
          <p:cNvPr id="16" name="Text 14"/>
          <p:cNvSpPr txBox="1"/>
          <p:nvPr/>
        </p:nvSpPr>
        <p:spPr>
          <a:xfrm>
            <a:off x="8366760" y="4297680"/>
            <a:ext cx="3063240" cy="1188720"/>
          </a:xfrm>
          <a:prstGeom prst="rect">
            <a:avLst/>
          </a:prstGeom>
          <a:noFill/>
          <a:ln/>
        </p:spPr>
        <p:txBody>
          <a:bodyPr wrap="square" rtlCol="0" anchor="ctr"/>
          <a:lstStyle/>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5.1 Persamaan Linear</a:t>
            </a:r>
            <a:endParaRPr lang="en-US" sz="1100" dirty="0"/>
          </a:p>
          <a:p>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5.2 Ketaksamaan Linear</a:t>
            </a:r>
            <a:endParaRPr lang="en-US" sz="1100" dirty="0"/>
          </a:p>
        </p:txBody>
      </p:sp>
      <p:sp>
        <p:nvSpPr>
          <p:cNvPr id="17" name="Text 1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5, m/s 4–29</a:t>
            </a:r>
            <a:endParaRPr lang="en-US" sz="1000" dirty="0"/>
          </a:p>
        </p:txBody>
      </p:sp>
      <p:sp>
        <p:nvSpPr>
          <p:cNvPr id="18" name="Text 1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3.0 Nisbah, Kadar dan Perkadaran</a:t>
            </a:r>
            <a:endParaRPr lang="en-US" sz="2600" dirty="0"/>
          </a:p>
        </p:txBody>
      </p:sp>
      <p:sp>
        <p:nvSpPr>
          <p:cNvPr id="4" name="Shape 2"/>
          <p:cNvSpPr/>
          <p:nvPr/>
        </p:nvSpPr>
        <p:spPr>
          <a:xfrm>
            <a:off x="548640" y="1691640"/>
            <a:ext cx="11064240" cy="1234440"/>
          </a:xfrm>
          <a:prstGeom prst="roundRect">
            <a:avLst>
              <a:gd name="adj" fmla="val 5926"/>
            </a:avLst>
          </a:prstGeom>
          <a:solidFill>
            <a:srgbClr val="F5F7FC"/>
          </a:solidFill>
          <a:ln w="19050">
            <a:solidFill>
              <a:srgbClr val="2E86AB"/>
            </a:solidFill>
            <a:prstDash val="solid"/>
          </a:ln>
        </p:spPr>
      </p:sp>
      <p:sp>
        <p:nvSpPr>
          <p:cNvPr id="5" name="Text 3"/>
          <p:cNvSpPr txBox="1"/>
          <p:nvPr/>
        </p:nvSpPr>
        <p:spPr>
          <a:xfrm>
            <a:off x="731520" y="1801368"/>
            <a:ext cx="5486400" cy="365760"/>
          </a:xfrm>
          <a:prstGeom prst="rect">
            <a:avLst/>
          </a:prstGeom>
          <a:noFill/>
          <a:ln/>
        </p:spPr>
        <p:txBody>
          <a:bodyPr wrap="square" rtlCol="0" anchor="ctr"/>
          <a:lstStyle/>
          <a:p>
            <a:pPr indent="0" marL="0">
              <a:buNone/>
            </a:pPr>
            <a:r>
              <a:rPr lang="en-US" sz="1350" b="1" dirty="0">
                <a:solidFill>
                  <a:srgbClr val="2E86AB"/>
                </a:solidFill>
                <a:latin typeface="Cambria" pitchFamily="34" charset="0"/>
                <a:ea typeface="Cambria" pitchFamily="34" charset="-122"/>
                <a:cs typeface="Cambria" pitchFamily="34" charset="-120"/>
              </a:rPr>
              <a:t>3.1 Nisbah</a:t>
            </a:r>
            <a:endParaRPr lang="en-US" sz="1350" dirty="0"/>
          </a:p>
        </p:txBody>
      </p:sp>
      <p:sp>
        <p:nvSpPr>
          <p:cNvPr id="6" name="Text 4"/>
          <p:cNvSpPr txBox="1"/>
          <p:nvPr/>
        </p:nvSpPr>
        <p:spPr>
          <a:xfrm>
            <a:off x="777240" y="2148840"/>
            <a:ext cx="10515600" cy="731520"/>
          </a:xfrm>
          <a:prstGeom prst="rect">
            <a:avLst/>
          </a:prstGeom>
          <a:noFill/>
          <a:ln/>
        </p:spPr>
        <p:txBody>
          <a:bodyPr wrap="square" rtlCol="0" anchor="t"/>
          <a:lstStyle/>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3.1.1  Mewakilkan perkaitan antara 3 kuantiti dalam bentuk a : b : c.</a:t>
            </a:r>
            <a:endParaRPr lang="en-US" sz="1100" dirty="0"/>
          </a:p>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3.1.2  Menentukan nisbah setara dan mengungkapkannya dalam bentuk termudah.</a:t>
            </a:r>
            <a:endParaRPr lang="en-US" sz="1100" dirty="0"/>
          </a:p>
        </p:txBody>
      </p:sp>
      <p:sp>
        <p:nvSpPr>
          <p:cNvPr id="7" name="Shape 5"/>
          <p:cNvSpPr/>
          <p:nvPr/>
        </p:nvSpPr>
        <p:spPr>
          <a:xfrm>
            <a:off x="548640" y="3063240"/>
            <a:ext cx="11064240" cy="1828800"/>
          </a:xfrm>
          <a:prstGeom prst="roundRect">
            <a:avLst>
              <a:gd name="adj" fmla="val 4000"/>
            </a:avLst>
          </a:prstGeom>
          <a:solidFill>
            <a:srgbClr val="F5F7FC"/>
          </a:solidFill>
          <a:ln w="19050">
            <a:solidFill>
              <a:srgbClr val="2E86AB"/>
            </a:solidFill>
            <a:prstDash val="solid"/>
          </a:ln>
        </p:spPr>
      </p:sp>
      <p:sp>
        <p:nvSpPr>
          <p:cNvPr id="8" name="Text 6"/>
          <p:cNvSpPr txBox="1"/>
          <p:nvPr/>
        </p:nvSpPr>
        <p:spPr>
          <a:xfrm>
            <a:off x="731520" y="3172968"/>
            <a:ext cx="5486400" cy="365760"/>
          </a:xfrm>
          <a:prstGeom prst="rect">
            <a:avLst/>
          </a:prstGeom>
          <a:noFill/>
          <a:ln/>
        </p:spPr>
        <p:txBody>
          <a:bodyPr wrap="square" rtlCol="0" anchor="ctr"/>
          <a:lstStyle/>
          <a:p>
            <a:pPr indent="0" marL="0">
              <a:buNone/>
            </a:pPr>
            <a:r>
              <a:rPr lang="en-US" sz="1350" b="1" dirty="0">
                <a:solidFill>
                  <a:srgbClr val="2E86AB"/>
                </a:solidFill>
                <a:latin typeface="Cambria" pitchFamily="34" charset="0"/>
                <a:ea typeface="Cambria" pitchFamily="34" charset="-122"/>
                <a:cs typeface="Cambria" pitchFamily="34" charset="-120"/>
              </a:rPr>
              <a:t>3.2 Kadar dan Perkadaran</a:t>
            </a:r>
            <a:endParaRPr lang="en-US" sz="1350" dirty="0"/>
          </a:p>
        </p:txBody>
      </p:sp>
      <p:sp>
        <p:nvSpPr>
          <p:cNvPr id="9" name="Text 7"/>
          <p:cNvSpPr txBox="1"/>
          <p:nvPr/>
        </p:nvSpPr>
        <p:spPr>
          <a:xfrm>
            <a:off x="777240" y="3520440"/>
            <a:ext cx="10515600" cy="1280160"/>
          </a:xfrm>
          <a:prstGeom prst="rect">
            <a:avLst/>
          </a:prstGeom>
          <a:noFill/>
          <a:ln/>
        </p:spPr>
        <p:txBody>
          <a:bodyPr wrap="square" rtlCol="0" anchor="t"/>
          <a:lstStyle/>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3.2.1  Menentukan perkaitan antara nisbah dan kadar.</a:t>
            </a:r>
            <a:endParaRPr lang="en-US" sz="1100" dirty="0"/>
          </a:p>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3.2.2  Menentukan perkaitan antara nisbah dan perkadaran.</a:t>
            </a:r>
            <a:endParaRPr lang="en-US" sz="1100" dirty="0"/>
          </a:p>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3.2.3  Menentukan nilai tidak diketahui dalam suatu perkadaran.</a:t>
            </a:r>
            <a:endParaRPr lang="en-US" sz="1100" dirty="0"/>
          </a:p>
          <a:p>
            <a:pPr marL="228600" indent="-228600">
              <a:spcAft>
                <a:spcPts val="400"/>
              </a:spcAft>
              <a:buSzPct val="100000"/>
              <a:buChar char="▪"/>
            </a:pPr>
            <a:r>
              <a:rPr lang="en-US" sz="1100" dirty="0">
                <a:solidFill>
                  <a:srgbClr val="141A45"/>
                </a:solidFill>
                <a:latin typeface="Calibri" pitchFamily="34" charset="0"/>
                <a:ea typeface="Calibri" pitchFamily="34" charset="-122"/>
                <a:cs typeface="Calibri" pitchFamily="34" charset="-120"/>
              </a:rPr>
              <a:t>3.2.4  Menyelesaikan masalah nisbah, kadar dan perkadaran.</a:t>
            </a:r>
            <a:endParaRPr lang="en-US" sz="1100" dirty="0"/>
          </a:p>
        </p:txBody>
      </p:sp>
      <p:sp>
        <p:nvSpPr>
          <p:cNvPr id="10" name="Shape 8"/>
          <p:cNvSpPr/>
          <p:nvPr/>
        </p:nvSpPr>
        <p:spPr>
          <a:xfrm>
            <a:off x="548640" y="5074920"/>
            <a:ext cx="11064240" cy="685800"/>
          </a:xfrm>
          <a:prstGeom prst="roundRect">
            <a:avLst>
              <a:gd name="adj" fmla="val 10667"/>
            </a:avLst>
          </a:prstGeom>
          <a:solidFill>
            <a:srgbClr val="1E2761"/>
          </a:solidFill>
          <a:ln/>
        </p:spPr>
      </p:sp>
      <p:sp>
        <p:nvSpPr>
          <p:cNvPr id="11" name="Text 9"/>
          <p:cNvSpPr txBox="1"/>
          <p:nvPr/>
        </p:nvSpPr>
        <p:spPr>
          <a:xfrm>
            <a:off x="777240" y="5074920"/>
            <a:ext cx="10607040" cy="68580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Skop: Nisbah/kadar/perkadaran melibatkan pecahan, perpuluhan &amp; peratusan sehingga 3 kuantiti sahaja.</a:t>
            </a:r>
            <a:endParaRPr lang="en-US" sz="1150" dirty="0"/>
          </a:p>
        </p:txBody>
      </p:sp>
      <p:sp>
        <p:nvSpPr>
          <p:cNvPr id="12"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4–8</a:t>
            </a:r>
            <a:endParaRPr lang="en-US" sz="1000" dirty="0"/>
          </a:p>
        </p:txBody>
      </p:sp>
      <p:sp>
        <p:nvSpPr>
          <p:cNvPr id="13"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NOTA RASMI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SP 3.2.3: Pelbagai Kaedah, Bukan Satu Kaedah Tunggal</a:t>
            </a:r>
            <a:endParaRPr lang="en-US" sz="2400" dirty="0"/>
          </a:p>
        </p:txBody>
      </p:sp>
      <p:sp>
        <p:nvSpPr>
          <p:cNvPr id="4" name="Shape 2"/>
          <p:cNvSpPr/>
          <p:nvPr/>
        </p:nvSpPr>
        <p:spPr>
          <a:xfrm>
            <a:off x="548640" y="1508760"/>
            <a:ext cx="11064240" cy="868680"/>
          </a:xfrm>
          <a:prstGeom prst="roundRect">
            <a:avLst>
              <a:gd name="adj" fmla="val 8421"/>
            </a:avLst>
          </a:prstGeom>
          <a:solidFill>
            <a:srgbClr val="141A45"/>
          </a:solidFill>
          <a:ln w="12700">
            <a:solidFill>
              <a:srgbClr val="F2B705"/>
            </a:solidFill>
            <a:prstDash val="solid"/>
          </a:ln>
        </p:spPr>
      </p:sp>
      <p:sp>
        <p:nvSpPr>
          <p:cNvPr id="5" name="Text 3"/>
          <p:cNvSpPr txBox="1"/>
          <p:nvPr/>
        </p:nvSpPr>
        <p:spPr>
          <a:xfrm>
            <a:off x="777240" y="1627632"/>
            <a:ext cx="1060704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3.2.3  Menentukan nilai yang tidak diketahui dalam suatu perkadaran.</a:t>
            </a:r>
            <a:endParaRPr lang="en-US" sz="1250" dirty="0"/>
          </a:p>
        </p:txBody>
      </p:sp>
      <p:sp>
        <p:nvSpPr>
          <p:cNvPr id="6" name="Text 4"/>
          <p:cNvSpPr txBox="1"/>
          <p:nvPr/>
        </p:nvSpPr>
        <p:spPr>
          <a:xfrm>
            <a:off x="777240" y="1965960"/>
            <a:ext cx="10607040" cy="365760"/>
          </a:xfrm>
          <a:prstGeom prst="rect">
            <a:avLst/>
          </a:prstGeom>
          <a:noFill/>
          <a:ln/>
        </p:spPr>
        <p:txBody>
          <a:bodyPr wrap="square" rtlCol="0" anchor="ctr"/>
          <a:lstStyle/>
          <a:p>
            <a:pPr indent="0" marL="0">
              <a:buNone/>
            </a:pPr>
            <a:r>
              <a:rPr lang="en-US" sz="1150" i="1" dirty="0">
                <a:solidFill>
                  <a:srgbClr val="F2B705"/>
                </a:solidFill>
                <a:latin typeface="Calibri" pitchFamily="34" charset="0"/>
                <a:ea typeface="Calibri" pitchFamily="34" charset="-122"/>
                <a:cs typeface="Calibri" pitchFamily="34" charset="-120"/>
              </a:rPr>
              <a:t>NOTA: “Gunakan pelbagai kaedah termasuk kaedah darab silang, kaedah unitari atau kaedah model bar.”</a:t>
            </a:r>
            <a:endParaRPr lang="en-US" sz="1150" dirty="0"/>
          </a:p>
        </p:txBody>
      </p:sp>
      <p:sp>
        <p:nvSpPr>
          <p:cNvPr id="7" name="Shape 5"/>
          <p:cNvSpPr/>
          <p:nvPr/>
        </p:nvSpPr>
        <p:spPr>
          <a:xfrm>
            <a:off x="548640" y="2651760"/>
            <a:ext cx="3520440" cy="3063240"/>
          </a:xfrm>
          <a:prstGeom prst="roundRect">
            <a:avLst>
              <a:gd name="adj" fmla="val 2388"/>
            </a:avLst>
          </a:prstGeom>
          <a:solidFill>
            <a:srgbClr val="141A45"/>
          </a:solidFill>
          <a:ln w="19050">
            <a:solidFill>
              <a:srgbClr val="8E44AD"/>
            </a:solidFill>
            <a:prstDash val="solid"/>
          </a:ln>
        </p:spPr>
      </p:sp>
      <p:sp>
        <p:nvSpPr>
          <p:cNvPr id="8" name="Shape 6"/>
          <p:cNvSpPr/>
          <p:nvPr/>
        </p:nvSpPr>
        <p:spPr>
          <a:xfrm>
            <a:off x="1988820" y="2926080"/>
            <a:ext cx="640080" cy="640080"/>
          </a:xfrm>
          <a:prstGeom prst="ellipse">
            <a:avLst/>
          </a:prstGeom>
          <a:solidFill>
            <a:srgbClr val="8E44AD"/>
          </a:solidFill>
          <a:ln/>
        </p:spPr>
      </p:sp>
      <p:pic>
        <p:nvPicPr>
          <p:cNvPr id="9" name="Image 0" descr="/home/claude/shared_icons/icon_exchange.png">    </p:cNvPr>
          <p:cNvPicPr>
            <a:picLocks noChangeAspect="1"/>
          </p:cNvPicPr>
          <p:nvPr/>
        </p:nvPicPr>
        <p:blipFill>
          <a:blip r:embed="rId1"/>
          <a:stretch>
            <a:fillRect/>
          </a:stretch>
        </p:blipFill>
        <p:spPr>
          <a:xfrm>
            <a:off x="2078431" y="3015691"/>
            <a:ext cx="460858" cy="460858"/>
          </a:xfrm>
          <a:prstGeom prst="rect">
            <a:avLst/>
          </a:prstGeom>
        </p:spPr>
      </p:pic>
      <p:sp>
        <p:nvSpPr>
          <p:cNvPr id="10" name="Text 7"/>
          <p:cNvSpPr txBox="1"/>
          <p:nvPr/>
        </p:nvSpPr>
        <p:spPr>
          <a:xfrm>
            <a:off x="685800" y="37490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Kaedah Darab Silang</a:t>
            </a:r>
            <a:endParaRPr lang="en-US" sz="1300" dirty="0"/>
          </a:p>
        </p:txBody>
      </p:sp>
      <p:sp>
        <p:nvSpPr>
          <p:cNvPr id="11" name="Text 8"/>
          <p:cNvSpPr txBox="1"/>
          <p:nvPr/>
        </p:nvSpPr>
        <p:spPr>
          <a:xfrm>
            <a:off x="777240" y="4343400"/>
            <a:ext cx="3063240" cy="1234440"/>
          </a:xfrm>
          <a:prstGeom prst="rect">
            <a:avLst/>
          </a:prstGeom>
          <a:noFill/>
          <a:ln/>
        </p:spPr>
        <p:txBody>
          <a:bodyPr wrap="square" rtlCol="0" anchor="ctr"/>
          <a:lstStyle/>
          <a:p>
            <a:pPr algn="ctr" indent="0" marL="0">
              <a:lnSpc>
                <a:spcPct val="125000"/>
              </a:lnSpc>
              <a:buNone/>
            </a:pPr>
            <a:r>
              <a:rPr lang="en-US" sz="1080" dirty="0">
                <a:solidFill>
                  <a:srgbClr val="CADCFC"/>
                </a:solidFill>
                <a:latin typeface="Calibri" pitchFamily="34" charset="0"/>
                <a:ea typeface="Calibri" pitchFamily="34" charset="-122"/>
                <a:cs typeface="Calibri" pitchFamily="34" charset="-120"/>
              </a:rPr>
              <a:t>Cross Multiplication — selesaikan perkadaran a/b = c/d secara algebra terus.</a:t>
            </a:r>
            <a:endParaRPr lang="en-US" sz="1080" dirty="0"/>
          </a:p>
        </p:txBody>
      </p:sp>
      <p:sp>
        <p:nvSpPr>
          <p:cNvPr id="12" name="Shape 9"/>
          <p:cNvSpPr/>
          <p:nvPr/>
        </p:nvSpPr>
        <p:spPr>
          <a:xfrm>
            <a:off x="4343400" y="2651760"/>
            <a:ext cx="3520440" cy="3063240"/>
          </a:xfrm>
          <a:prstGeom prst="roundRect">
            <a:avLst>
              <a:gd name="adj" fmla="val 2388"/>
            </a:avLst>
          </a:prstGeom>
          <a:solidFill>
            <a:srgbClr val="141A45"/>
          </a:solidFill>
          <a:ln w="19050">
            <a:solidFill>
              <a:srgbClr val="8E44AD"/>
            </a:solidFill>
            <a:prstDash val="solid"/>
          </a:ln>
        </p:spPr>
      </p:sp>
      <p:sp>
        <p:nvSpPr>
          <p:cNvPr id="13" name="Shape 10"/>
          <p:cNvSpPr/>
          <p:nvPr/>
        </p:nvSpPr>
        <p:spPr>
          <a:xfrm>
            <a:off x="5783580" y="2926080"/>
            <a:ext cx="640080" cy="640080"/>
          </a:xfrm>
          <a:prstGeom prst="ellipse">
            <a:avLst/>
          </a:prstGeom>
          <a:solidFill>
            <a:srgbClr val="8E44AD"/>
          </a:solidFill>
          <a:ln/>
        </p:spPr>
      </p:sp>
      <p:pic>
        <p:nvPicPr>
          <p:cNvPr id="14" name="Image 1" descr="/home/claude/shared_icons/icon_divide.png">    </p:cNvPr>
          <p:cNvPicPr>
            <a:picLocks noChangeAspect="1"/>
          </p:cNvPicPr>
          <p:nvPr/>
        </p:nvPicPr>
        <p:blipFill>
          <a:blip r:embed="rId2"/>
          <a:stretch>
            <a:fillRect/>
          </a:stretch>
        </p:blipFill>
        <p:spPr>
          <a:xfrm>
            <a:off x="5873191" y="3015691"/>
            <a:ext cx="460858" cy="460858"/>
          </a:xfrm>
          <a:prstGeom prst="rect">
            <a:avLst/>
          </a:prstGeom>
        </p:spPr>
      </p:pic>
      <p:sp>
        <p:nvSpPr>
          <p:cNvPr id="15" name="Text 11"/>
          <p:cNvSpPr txBox="1"/>
          <p:nvPr/>
        </p:nvSpPr>
        <p:spPr>
          <a:xfrm>
            <a:off x="4480560" y="37490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Kaedah Unitari</a:t>
            </a:r>
            <a:endParaRPr lang="en-US" sz="1300" dirty="0"/>
          </a:p>
        </p:txBody>
      </p:sp>
      <p:sp>
        <p:nvSpPr>
          <p:cNvPr id="16" name="Text 12"/>
          <p:cNvSpPr txBox="1"/>
          <p:nvPr/>
        </p:nvSpPr>
        <p:spPr>
          <a:xfrm>
            <a:off x="4572000" y="4343400"/>
            <a:ext cx="3063240" cy="1234440"/>
          </a:xfrm>
          <a:prstGeom prst="rect">
            <a:avLst/>
          </a:prstGeom>
          <a:noFill/>
          <a:ln/>
        </p:spPr>
        <p:txBody>
          <a:bodyPr wrap="square" rtlCol="0" anchor="ctr"/>
          <a:lstStyle/>
          <a:p>
            <a:pPr algn="ctr" indent="0" marL="0">
              <a:lnSpc>
                <a:spcPct val="125000"/>
              </a:lnSpc>
              <a:buNone/>
            </a:pPr>
            <a:r>
              <a:rPr lang="en-US" sz="1080" dirty="0">
                <a:solidFill>
                  <a:srgbClr val="CADCFC"/>
                </a:solidFill>
                <a:latin typeface="Calibri" pitchFamily="34" charset="0"/>
                <a:ea typeface="Calibri" pitchFamily="34" charset="-122"/>
                <a:cs typeface="Calibri" pitchFamily="34" charset="-120"/>
              </a:rPr>
              <a:t>Cari nilai SATU unit dahulu, kemudian darab untuk cari nilai yang ditanya.</a:t>
            </a:r>
            <a:endParaRPr lang="en-US" sz="1080" dirty="0"/>
          </a:p>
        </p:txBody>
      </p:sp>
      <p:sp>
        <p:nvSpPr>
          <p:cNvPr id="17" name="Shape 13"/>
          <p:cNvSpPr/>
          <p:nvPr/>
        </p:nvSpPr>
        <p:spPr>
          <a:xfrm>
            <a:off x="8138160" y="2651760"/>
            <a:ext cx="3520440" cy="3063240"/>
          </a:xfrm>
          <a:prstGeom prst="roundRect">
            <a:avLst>
              <a:gd name="adj" fmla="val 2388"/>
            </a:avLst>
          </a:prstGeom>
          <a:solidFill>
            <a:srgbClr val="141A45"/>
          </a:solidFill>
          <a:ln w="19050">
            <a:solidFill>
              <a:srgbClr val="8E44AD"/>
            </a:solidFill>
            <a:prstDash val="solid"/>
          </a:ln>
        </p:spPr>
      </p:sp>
      <p:sp>
        <p:nvSpPr>
          <p:cNvPr id="18" name="Shape 14"/>
          <p:cNvSpPr/>
          <p:nvPr/>
        </p:nvSpPr>
        <p:spPr>
          <a:xfrm>
            <a:off x="9578340" y="2926080"/>
            <a:ext cx="640080" cy="640080"/>
          </a:xfrm>
          <a:prstGeom prst="ellipse">
            <a:avLst/>
          </a:prstGeom>
          <a:solidFill>
            <a:srgbClr val="8E44AD"/>
          </a:solidFill>
          <a:ln/>
        </p:spPr>
      </p:sp>
      <p:pic>
        <p:nvPicPr>
          <p:cNvPr id="19" name="Image 2" descr="/home/claude/shared_icons/icon_cubes.png">    </p:cNvPr>
          <p:cNvPicPr>
            <a:picLocks noChangeAspect="1"/>
          </p:cNvPicPr>
          <p:nvPr/>
        </p:nvPicPr>
        <p:blipFill>
          <a:blip r:embed="rId3"/>
          <a:stretch>
            <a:fillRect/>
          </a:stretch>
        </p:blipFill>
        <p:spPr>
          <a:xfrm>
            <a:off x="9667951" y="3015691"/>
            <a:ext cx="460858" cy="460858"/>
          </a:xfrm>
          <a:prstGeom prst="rect">
            <a:avLst/>
          </a:prstGeom>
        </p:spPr>
      </p:pic>
      <p:sp>
        <p:nvSpPr>
          <p:cNvPr id="20" name="Text 15"/>
          <p:cNvSpPr txBox="1"/>
          <p:nvPr/>
        </p:nvSpPr>
        <p:spPr>
          <a:xfrm>
            <a:off x="8275320" y="3749040"/>
            <a:ext cx="32461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Kaedah Model Bar</a:t>
            </a:r>
            <a:endParaRPr lang="en-US" sz="1300" dirty="0"/>
          </a:p>
        </p:txBody>
      </p:sp>
      <p:sp>
        <p:nvSpPr>
          <p:cNvPr id="21" name="Text 16"/>
          <p:cNvSpPr txBox="1"/>
          <p:nvPr/>
        </p:nvSpPr>
        <p:spPr>
          <a:xfrm>
            <a:off x="8366760" y="4343400"/>
            <a:ext cx="3063240" cy="1234440"/>
          </a:xfrm>
          <a:prstGeom prst="rect">
            <a:avLst/>
          </a:prstGeom>
          <a:noFill/>
          <a:ln/>
        </p:spPr>
        <p:txBody>
          <a:bodyPr wrap="square" rtlCol="0" anchor="ctr"/>
          <a:lstStyle/>
          <a:p>
            <a:pPr algn="ctr" indent="0" marL="0">
              <a:lnSpc>
                <a:spcPct val="125000"/>
              </a:lnSpc>
              <a:buNone/>
            </a:pPr>
            <a:r>
              <a:rPr lang="en-US" sz="1080" dirty="0">
                <a:solidFill>
                  <a:srgbClr val="CADCFC"/>
                </a:solidFill>
                <a:latin typeface="Calibri" pitchFamily="34" charset="0"/>
                <a:ea typeface="Calibri" pitchFamily="34" charset="-122"/>
                <a:cs typeface="Calibri" pitchFamily="34" charset="-120"/>
              </a:rPr>
              <a:t>Wakilkan nisbah secara visual menggunakan bar/kotak untuk kanak-kanak yang belum sedia algebra formal.</a:t>
            </a:r>
            <a:endParaRPr lang="en-US" sz="1080" dirty="0"/>
          </a:p>
        </p:txBody>
      </p:sp>
      <p:sp>
        <p:nvSpPr>
          <p:cNvPr id="22" name="Text 17"/>
          <p:cNvSpPr txBox="1"/>
          <p:nvPr/>
        </p:nvSpPr>
        <p:spPr>
          <a:xfrm>
            <a:off x="548640" y="5897880"/>
            <a:ext cx="11064240" cy="365760"/>
          </a:xfrm>
          <a:prstGeom prst="rect">
            <a:avLst/>
          </a:prstGeom>
          <a:noFill/>
          <a:ln/>
        </p:spPr>
        <p:txBody>
          <a:bodyPr wrap="square" rtlCol="0" anchor="ctr"/>
          <a:lstStyle/>
          <a:p>
            <a:pPr algn="ctr" indent="0" marL="0">
              <a:buNone/>
            </a:pPr>
            <a:r>
              <a:rPr lang="en-US" sz="1150" b="1" i="1" dirty="0">
                <a:solidFill>
                  <a:srgbClr val="F2B705"/>
                </a:solidFill>
                <a:latin typeface="Calibri" pitchFamily="34" charset="0"/>
                <a:ea typeface="Calibri" pitchFamily="34" charset="-122"/>
                <a:cs typeface="Calibri" pitchFamily="34" charset="-120"/>
              </a:rPr>
              <a:t>Guru bebas memilih kaedah paling sesuai dengan tahap murid — Model Bar BUKAN kaedah wajib tunggal.</a:t>
            </a:r>
            <a:endParaRPr lang="en-US" sz="1150" dirty="0"/>
          </a:p>
        </p:txBody>
      </p:sp>
      <p:sp>
        <p:nvSpPr>
          <p:cNvPr id="23"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Petikan sebenar Nota, Slaid Sidang 5 m/s 7</a:t>
            </a:r>
            <a:endParaRPr lang="en-US" sz="1000" dirty="0"/>
          </a:p>
        </p:txBody>
      </p:sp>
      <p:sp>
        <p:nvSpPr>
          <p:cNvPr id="24"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Prestasi: 3.0 Nisbah, Kadar dan Perkadaran</a:t>
            </a:r>
            <a:endParaRPr lang="en-US" sz="2600" dirty="0"/>
          </a:p>
        </p:txBody>
      </p:sp>
      <p:sp>
        <p:nvSpPr>
          <p:cNvPr id="4" name="Shape 2"/>
          <p:cNvSpPr/>
          <p:nvPr/>
        </p:nvSpPr>
        <p:spPr>
          <a:xfrm>
            <a:off x="548640" y="1645920"/>
            <a:ext cx="11064240" cy="960120"/>
          </a:xfrm>
          <a:prstGeom prst="roundRect">
            <a:avLst>
              <a:gd name="adj" fmla="val 5714"/>
            </a:avLst>
          </a:prstGeom>
          <a:solidFill>
            <a:srgbClr val="F5F7FC"/>
          </a:solidFill>
          <a:ln w="19050">
            <a:solidFill>
              <a:srgbClr val="3A4374"/>
            </a:solidFill>
            <a:prstDash val="solid"/>
          </a:ln>
        </p:spPr>
      </p:sp>
      <p:sp>
        <p:nvSpPr>
          <p:cNvPr id="5" name="Shape 3"/>
          <p:cNvSpPr/>
          <p:nvPr/>
        </p:nvSpPr>
        <p:spPr>
          <a:xfrm>
            <a:off x="548640" y="1645920"/>
            <a:ext cx="109728" cy="960120"/>
          </a:xfrm>
          <a:prstGeom prst="rect">
            <a:avLst/>
          </a:prstGeom>
          <a:solidFill>
            <a:srgbClr val="3A4374"/>
          </a:solidFill>
          <a:ln/>
        </p:spPr>
      </p:sp>
      <p:sp>
        <p:nvSpPr>
          <p:cNvPr id="6" name="Text 4"/>
          <p:cNvSpPr txBox="1"/>
          <p:nvPr/>
        </p:nvSpPr>
        <p:spPr>
          <a:xfrm>
            <a:off x="822960" y="1645920"/>
            <a:ext cx="1280160" cy="960120"/>
          </a:xfrm>
          <a:prstGeom prst="rect">
            <a:avLst/>
          </a:prstGeom>
          <a:noFill/>
          <a:ln/>
        </p:spPr>
        <p:txBody>
          <a:bodyPr wrap="square" rtlCol="0" anchor="ctr"/>
          <a:lstStyle/>
          <a:p>
            <a:pPr indent="0" marL="0">
              <a:buNone/>
            </a:pPr>
            <a:r>
              <a:rPr lang="en-US" sz="1500" b="1" dirty="0">
                <a:solidFill>
                  <a:srgbClr val="3A4374"/>
                </a:solidFill>
                <a:latin typeface="Cambria" pitchFamily="34" charset="0"/>
                <a:ea typeface="Cambria" pitchFamily="34" charset="-122"/>
                <a:cs typeface="Cambria" pitchFamily="34" charset="-120"/>
              </a:rPr>
              <a:t>TP1</a:t>
            </a:r>
            <a:endParaRPr lang="en-US" sz="1500" dirty="0"/>
          </a:p>
        </p:txBody>
      </p:sp>
      <p:sp>
        <p:nvSpPr>
          <p:cNvPr id="7" name="Text 5"/>
          <p:cNvSpPr txBox="1"/>
          <p:nvPr/>
        </p:nvSpPr>
        <p:spPr>
          <a:xfrm>
            <a:off x="2103120" y="1645920"/>
            <a:ext cx="9326880" cy="96012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mengenal pasti nisbah dua kuantiti dan tiga kuantiti.</a:t>
            </a:r>
            <a:endParaRPr lang="en-US" sz="1150" dirty="0"/>
          </a:p>
        </p:txBody>
      </p:sp>
      <p:sp>
        <p:nvSpPr>
          <p:cNvPr id="8" name="Shape 6"/>
          <p:cNvSpPr/>
          <p:nvPr/>
        </p:nvSpPr>
        <p:spPr>
          <a:xfrm>
            <a:off x="548640" y="2724912"/>
            <a:ext cx="11064240" cy="960120"/>
          </a:xfrm>
          <a:prstGeom prst="roundRect">
            <a:avLst>
              <a:gd name="adj" fmla="val 5714"/>
            </a:avLst>
          </a:prstGeom>
          <a:solidFill>
            <a:srgbClr val="F5F7FC"/>
          </a:solidFill>
          <a:ln w="19050">
            <a:solidFill>
              <a:srgbClr val="5C6BAE"/>
            </a:solidFill>
            <a:prstDash val="solid"/>
          </a:ln>
        </p:spPr>
      </p:sp>
      <p:sp>
        <p:nvSpPr>
          <p:cNvPr id="9" name="Shape 7"/>
          <p:cNvSpPr/>
          <p:nvPr/>
        </p:nvSpPr>
        <p:spPr>
          <a:xfrm>
            <a:off x="548640" y="2724912"/>
            <a:ext cx="109728" cy="960120"/>
          </a:xfrm>
          <a:prstGeom prst="rect">
            <a:avLst/>
          </a:prstGeom>
          <a:solidFill>
            <a:srgbClr val="5C6BAE"/>
          </a:solidFill>
          <a:ln/>
        </p:spPr>
      </p:sp>
      <p:sp>
        <p:nvSpPr>
          <p:cNvPr id="10" name="Text 8"/>
          <p:cNvSpPr txBox="1"/>
          <p:nvPr/>
        </p:nvSpPr>
        <p:spPr>
          <a:xfrm>
            <a:off x="822960" y="2724912"/>
            <a:ext cx="1280160" cy="960120"/>
          </a:xfrm>
          <a:prstGeom prst="rect">
            <a:avLst/>
          </a:prstGeom>
          <a:noFill/>
          <a:ln/>
        </p:spPr>
        <p:txBody>
          <a:bodyPr wrap="square" rtlCol="0" anchor="ctr"/>
          <a:lstStyle/>
          <a:p>
            <a:pPr indent="0" marL="0">
              <a:buNone/>
            </a:pPr>
            <a:r>
              <a:rPr lang="en-US" sz="1500" b="1" dirty="0">
                <a:solidFill>
                  <a:srgbClr val="5C6BAE"/>
                </a:solidFill>
                <a:latin typeface="Cambria" pitchFamily="34" charset="0"/>
                <a:ea typeface="Cambria" pitchFamily="34" charset="-122"/>
                <a:cs typeface="Cambria" pitchFamily="34" charset="-120"/>
              </a:rPr>
              <a:t>TP2</a:t>
            </a:r>
            <a:endParaRPr lang="en-US" sz="1500" dirty="0"/>
          </a:p>
        </p:txBody>
      </p:sp>
      <p:sp>
        <p:nvSpPr>
          <p:cNvPr id="11" name="Text 9"/>
          <p:cNvSpPr txBox="1"/>
          <p:nvPr/>
        </p:nvSpPr>
        <p:spPr>
          <a:xfrm>
            <a:off x="2103120" y="2724912"/>
            <a:ext cx="9326880" cy="96012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menjelaskan perkaitan antara nisbah, kadar dan perkadaran serta menentukan nisbah setara dalam bentuk termudah.</a:t>
            </a:r>
            <a:endParaRPr lang="en-US" sz="1150" dirty="0"/>
          </a:p>
        </p:txBody>
      </p:sp>
      <p:sp>
        <p:nvSpPr>
          <p:cNvPr id="12" name="Shape 10"/>
          <p:cNvSpPr/>
          <p:nvPr/>
        </p:nvSpPr>
        <p:spPr>
          <a:xfrm>
            <a:off x="548640" y="3803904"/>
            <a:ext cx="11064240" cy="960120"/>
          </a:xfrm>
          <a:prstGeom prst="roundRect">
            <a:avLst>
              <a:gd name="adj" fmla="val 5714"/>
            </a:avLst>
          </a:prstGeom>
          <a:solidFill>
            <a:srgbClr val="F5F7FC"/>
          </a:solidFill>
          <a:ln w="19050">
            <a:solidFill>
              <a:srgbClr val="8593D4"/>
            </a:solidFill>
            <a:prstDash val="solid"/>
          </a:ln>
        </p:spPr>
      </p:sp>
      <p:sp>
        <p:nvSpPr>
          <p:cNvPr id="13" name="Shape 11"/>
          <p:cNvSpPr/>
          <p:nvPr/>
        </p:nvSpPr>
        <p:spPr>
          <a:xfrm>
            <a:off x="548640" y="3803904"/>
            <a:ext cx="109728" cy="960120"/>
          </a:xfrm>
          <a:prstGeom prst="rect">
            <a:avLst/>
          </a:prstGeom>
          <a:solidFill>
            <a:srgbClr val="8593D4"/>
          </a:solidFill>
          <a:ln/>
        </p:spPr>
      </p:sp>
      <p:sp>
        <p:nvSpPr>
          <p:cNvPr id="14" name="Text 12"/>
          <p:cNvSpPr txBox="1"/>
          <p:nvPr/>
        </p:nvSpPr>
        <p:spPr>
          <a:xfrm>
            <a:off x="822960" y="3803904"/>
            <a:ext cx="1280160" cy="960120"/>
          </a:xfrm>
          <a:prstGeom prst="rect">
            <a:avLst/>
          </a:prstGeom>
          <a:noFill/>
          <a:ln/>
        </p:spPr>
        <p:txBody>
          <a:bodyPr wrap="square" rtlCol="0" anchor="ctr"/>
          <a:lstStyle/>
          <a:p>
            <a:pPr indent="0" marL="0">
              <a:buNone/>
            </a:pPr>
            <a:r>
              <a:rPr lang="en-US" sz="1500" b="1" dirty="0">
                <a:solidFill>
                  <a:srgbClr val="8593D4"/>
                </a:solidFill>
                <a:latin typeface="Cambria" pitchFamily="34" charset="0"/>
                <a:ea typeface="Cambria" pitchFamily="34" charset="-122"/>
                <a:cs typeface="Cambria" pitchFamily="34" charset="-120"/>
              </a:rPr>
              <a:t>TP3</a:t>
            </a:r>
            <a:endParaRPr lang="en-US" sz="1500" dirty="0"/>
          </a:p>
        </p:txBody>
      </p:sp>
      <p:sp>
        <p:nvSpPr>
          <p:cNvPr id="15" name="Text 13"/>
          <p:cNvSpPr txBox="1"/>
          <p:nvPr/>
        </p:nvSpPr>
        <p:spPr>
          <a:xfrm>
            <a:off x="2103120" y="3803904"/>
            <a:ext cx="9326880" cy="96012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melaksanakan pengiraan untuk menentukan nisbah setara, kadar dan nilai tidak diketahui dalam suatu perkadaran menggunakan kaedah yang sesuai.</a:t>
            </a:r>
            <a:endParaRPr lang="en-US" sz="1150" dirty="0"/>
          </a:p>
        </p:txBody>
      </p:sp>
      <p:sp>
        <p:nvSpPr>
          <p:cNvPr id="16" name="Shape 14"/>
          <p:cNvSpPr/>
          <p:nvPr/>
        </p:nvSpPr>
        <p:spPr>
          <a:xfrm>
            <a:off x="548640" y="4882896"/>
            <a:ext cx="11064240" cy="960120"/>
          </a:xfrm>
          <a:prstGeom prst="roundRect">
            <a:avLst>
              <a:gd name="adj" fmla="val 5714"/>
            </a:avLst>
          </a:prstGeom>
          <a:solidFill>
            <a:srgbClr val="F5F7FC"/>
          </a:solidFill>
          <a:ln w="19050">
            <a:solidFill>
              <a:srgbClr val="F2B705"/>
            </a:solidFill>
            <a:prstDash val="solid"/>
          </a:ln>
        </p:spPr>
      </p:sp>
      <p:sp>
        <p:nvSpPr>
          <p:cNvPr id="17" name="Shape 15"/>
          <p:cNvSpPr/>
          <p:nvPr/>
        </p:nvSpPr>
        <p:spPr>
          <a:xfrm>
            <a:off x="548640" y="4882896"/>
            <a:ext cx="109728" cy="960120"/>
          </a:xfrm>
          <a:prstGeom prst="rect">
            <a:avLst/>
          </a:prstGeom>
          <a:solidFill>
            <a:srgbClr val="F2B705"/>
          </a:solidFill>
          <a:ln/>
        </p:spPr>
      </p:sp>
      <p:sp>
        <p:nvSpPr>
          <p:cNvPr id="18" name="Text 16"/>
          <p:cNvSpPr txBox="1"/>
          <p:nvPr/>
        </p:nvSpPr>
        <p:spPr>
          <a:xfrm>
            <a:off x="822960" y="4882896"/>
            <a:ext cx="1280160" cy="960120"/>
          </a:xfrm>
          <a:prstGeom prst="rect">
            <a:avLst/>
          </a:prstGeom>
          <a:noFill/>
          <a:ln/>
        </p:spPr>
        <p:txBody>
          <a:bodyPr wrap="square" rtlCol="0" anchor="ctr"/>
          <a:lstStyle/>
          <a:p>
            <a:pPr indent="0" marL="0">
              <a:buNone/>
            </a:pPr>
            <a:r>
              <a:rPr lang="en-US" sz="1500" b="1" dirty="0">
                <a:solidFill>
                  <a:srgbClr val="B08600"/>
                </a:solidFill>
                <a:latin typeface="Cambria" pitchFamily="34" charset="0"/>
                <a:ea typeface="Cambria" pitchFamily="34" charset="-122"/>
                <a:cs typeface="Cambria" pitchFamily="34" charset="-120"/>
              </a:rPr>
              <a:t>TP4</a:t>
            </a:r>
            <a:endParaRPr lang="en-US" sz="1500" dirty="0"/>
          </a:p>
        </p:txBody>
      </p:sp>
      <p:sp>
        <p:nvSpPr>
          <p:cNvPr id="19" name="Text 17"/>
          <p:cNvSpPr txBox="1"/>
          <p:nvPr/>
        </p:nvSpPr>
        <p:spPr>
          <a:xfrm>
            <a:off x="2103120" y="4882896"/>
            <a:ext cx="9326880" cy="96012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menyelesaikan masalah berkaitan nisbah, kadar dan perkadaran dalam kehidupan harian.</a:t>
            </a:r>
            <a:endParaRPr lang="en-US" sz="115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9</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4.0 Ungkapan Algebra</a:t>
            </a:r>
            <a:endParaRPr lang="en-US" sz="2600" dirty="0"/>
          </a:p>
        </p:txBody>
      </p:sp>
      <p:sp>
        <p:nvSpPr>
          <p:cNvPr id="4" name="Shape 2"/>
          <p:cNvSpPr/>
          <p:nvPr/>
        </p:nvSpPr>
        <p:spPr>
          <a:xfrm>
            <a:off x="548640" y="1645920"/>
            <a:ext cx="11064240" cy="502920"/>
          </a:xfrm>
          <a:prstGeom prst="roundRect">
            <a:avLst>
              <a:gd name="adj" fmla="val 10909"/>
            </a:avLst>
          </a:prstGeom>
          <a:solidFill>
            <a:srgbClr val="E67E22"/>
          </a:solidFill>
          <a:ln/>
        </p:spPr>
      </p:sp>
      <p:sp>
        <p:nvSpPr>
          <p:cNvPr id="5" name="Text 3"/>
          <p:cNvSpPr txBox="1"/>
          <p:nvPr/>
        </p:nvSpPr>
        <p:spPr>
          <a:xfrm>
            <a:off x="731520" y="1645920"/>
            <a:ext cx="10698480"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4.1  Pemboleh Ubah dan Ungkapan Algebra</a:t>
            </a:r>
            <a:endParaRPr lang="en-US" sz="1400" dirty="0"/>
          </a:p>
        </p:txBody>
      </p:sp>
      <p:sp>
        <p:nvSpPr>
          <p:cNvPr id="6" name="Shape 4"/>
          <p:cNvSpPr/>
          <p:nvPr/>
        </p:nvSpPr>
        <p:spPr>
          <a:xfrm>
            <a:off x="548640" y="2331720"/>
            <a:ext cx="11064240" cy="658368"/>
          </a:xfrm>
          <a:prstGeom prst="roundRect">
            <a:avLst>
              <a:gd name="adj" fmla="val 6944"/>
            </a:avLst>
          </a:prstGeom>
          <a:solidFill>
            <a:srgbClr val="F5F7FC"/>
          </a:solidFill>
          <a:ln w="12700">
            <a:solidFill>
              <a:srgbClr val="E7EAF2"/>
            </a:solidFill>
            <a:prstDash val="solid"/>
          </a:ln>
        </p:spPr>
      </p:sp>
      <p:sp>
        <p:nvSpPr>
          <p:cNvPr id="7" name="Text 5"/>
          <p:cNvSpPr txBox="1"/>
          <p:nvPr/>
        </p:nvSpPr>
        <p:spPr>
          <a:xfrm>
            <a:off x="777240" y="2331720"/>
            <a:ext cx="1005840" cy="658368"/>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4.1.1</a:t>
            </a:r>
            <a:endParaRPr lang="en-US" sz="1300" dirty="0"/>
          </a:p>
        </p:txBody>
      </p:sp>
      <p:sp>
        <p:nvSpPr>
          <p:cNvPr id="8" name="Text 6"/>
          <p:cNvSpPr txBox="1"/>
          <p:nvPr/>
        </p:nvSpPr>
        <p:spPr>
          <a:xfrm>
            <a:off x="1828800" y="233172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Menggunakan huruf atau simbol yang sesuai untuk mewakilkan kuantiti yang tidak diketahui nilainya.</a:t>
            </a:r>
            <a:endParaRPr lang="en-US" sz="1150" dirty="0"/>
          </a:p>
        </p:txBody>
      </p:sp>
      <p:sp>
        <p:nvSpPr>
          <p:cNvPr id="9" name="Shape 7"/>
          <p:cNvSpPr/>
          <p:nvPr/>
        </p:nvSpPr>
        <p:spPr>
          <a:xfrm>
            <a:off x="548640" y="3108960"/>
            <a:ext cx="11064240" cy="658368"/>
          </a:xfrm>
          <a:prstGeom prst="roundRect">
            <a:avLst>
              <a:gd name="adj" fmla="val 6944"/>
            </a:avLst>
          </a:prstGeom>
          <a:solidFill>
            <a:srgbClr val="F5F7FC"/>
          </a:solidFill>
          <a:ln w="12700">
            <a:solidFill>
              <a:srgbClr val="E7EAF2"/>
            </a:solidFill>
            <a:prstDash val="solid"/>
          </a:ln>
        </p:spPr>
      </p:sp>
      <p:sp>
        <p:nvSpPr>
          <p:cNvPr id="10" name="Text 8"/>
          <p:cNvSpPr txBox="1"/>
          <p:nvPr/>
        </p:nvSpPr>
        <p:spPr>
          <a:xfrm>
            <a:off x="777240" y="3108960"/>
            <a:ext cx="1005840" cy="658368"/>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4.1.2</a:t>
            </a:r>
            <a:endParaRPr lang="en-US" sz="1300" dirty="0"/>
          </a:p>
        </p:txBody>
      </p:sp>
      <p:sp>
        <p:nvSpPr>
          <p:cNvPr id="11" name="Text 9"/>
          <p:cNvSpPr txBox="1"/>
          <p:nvPr/>
        </p:nvSpPr>
        <p:spPr>
          <a:xfrm>
            <a:off x="1828800" y="310896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Membentuk ungkapan algebra berdasarkan suatu pernyataan atau situasi, dan sebaliknya.</a:t>
            </a:r>
            <a:endParaRPr lang="en-US" sz="1150" dirty="0"/>
          </a:p>
        </p:txBody>
      </p:sp>
      <p:sp>
        <p:nvSpPr>
          <p:cNvPr id="12" name="Shape 10"/>
          <p:cNvSpPr/>
          <p:nvPr/>
        </p:nvSpPr>
        <p:spPr>
          <a:xfrm>
            <a:off x="548640" y="3886200"/>
            <a:ext cx="11064240" cy="658368"/>
          </a:xfrm>
          <a:prstGeom prst="roundRect">
            <a:avLst>
              <a:gd name="adj" fmla="val 6944"/>
            </a:avLst>
          </a:prstGeom>
          <a:solidFill>
            <a:srgbClr val="F5F7FC"/>
          </a:solidFill>
          <a:ln w="12700">
            <a:solidFill>
              <a:srgbClr val="E7EAF2"/>
            </a:solidFill>
            <a:prstDash val="solid"/>
          </a:ln>
        </p:spPr>
      </p:sp>
      <p:sp>
        <p:nvSpPr>
          <p:cNvPr id="13" name="Text 11"/>
          <p:cNvSpPr txBox="1"/>
          <p:nvPr/>
        </p:nvSpPr>
        <p:spPr>
          <a:xfrm>
            <a:off x="777240" y="3886200"/>
            <a:ext cx="1005840" cy="658368"/>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4.1.3</a:t>
            </a:r>
            <a:endParaRPr lang="en-US" sz="1300" dirty="0"/>
          </a:p>
        </p:txBody>
      </p:sp>
      <p:sp>
        <p:nvSpPr>
          <p:cNvPr id="14" name="Text 12"/>
          <p:cNvSpPr txBox="1"/>
          <p:nvPr/>
        </p:nvSpPr>
        <p:spPr>
          <a:xfrm>
            <a:off x="1828800" y="388620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Melaksanakan operasi asas aritmetik bagi ungkapan algebra.</a:t>
            </a:r>
            <a:endParaRPr lang="en-US" sz="1150" dirty="0"/>
          </a:p>
        </p:txBody>
      </p:sp>
      <p:sp>
        <p:nvSpPr>
          <p:cNvPr id="15" name="Shape 13"/>
          <p:cNvSpPr/>
          <p:nvPr/>
        </p:nvSpPr>
        <p:spPr>
          <a:xfrm>
            <a:off x="548640" y="4663440"/>
            <a:ext cx="11064240" cy="658368"/>
          </a:xfrm>
          <a:prstGeom prst="roundRect">
            <a:avLst>
              <a:gd name="adj" fmla="val 6944"/>
            </a:avLst>
          </a:prstGeom>
          <a:solidFill>
            <a:srgbClr val="F5F7FC"/>
          </a:solidFill>
          <a:ln w="12700">
            <a:solidFill>
              <a:srgbClr val="E7EAF2"/>
            </a:solidFill>
            <a:prstDash val="solid"/>
          </a:ln>
        </p:spPr>
      </p:sp>
      <p:sp>
        <p:nvSpPr>
          <p:cNvPr id="16" name="Text 14"/>
          <p:cNvSpPr txBox="1"/>
          <p:nvPr/>
        </p:nvSpPr>
        <p:spPr>
          <a:xfrm>
            <a:off x="777240" y="4663440"/>
            <a:ext cx="1005840" cy="658368"/>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4.1.4</a:t>
            </a:r>
            <a:endParaRPr lang="en-US" sz="1300" dirty="0"/>
          </a:p>
        </p:txBody>
      </p:sp>
      <p:sp>
        <p:nvSpPr>
          <p:cNvPr id="17" name="Text 15"/>
          <p:cNvSpPr txBox="1"/>
          <p:nvPr/>
        </p:nvSpPr>
        <p:spPr>
          <a:xfrm>
            <a:off x="1828800" y="466344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Menyelesaikan masalah yang melibatkan ungkapan algebra.</a:t>
            </a:r>
            <a:endParaRPr lang="en-US" sz="1150" dirty="0"/>
          </a:p>
        </p:txBody>
      </p:sp>
      <p:sp>
        <p:nvSpPr>
          <p:cNvPr id="18" name="Shape 16"/>
          <p:cNvSpPr/>
          <p:nvPr/>
        </p:nvSpPr>
        <p:spPr>
          <a:xfrm>
            <a:off x="548640" y="5532120"/>
            <a:ext cx="11064240" cy="685800"/>
          </a:xfrm>
          <a:prstGeom prst="roundRect">
            <a:avLst>
              <a:gd name="adj" fmla="val 10667"/>
            </a:avLst>
          </a:prstGeom>
          <a:solidFill>
            <a:srgbClr val="1E2761"/>
          </a:solidFill>
          <a:ln/>
        </p:spPr>
      </p:sp>
      <p:sp>
        <p:nvSpPr>
          <p:cNvPr id="19" name="Text 17"/>
          <p:cNvSpPr txBox="1"/>
          <p:nvPr/>
        </p:nvSpPr>
        <p:spPr>
          <a:xfrm>
            <a:off x="777240" y="5532120"/>
            <a:ext cx="10607040" cy="6858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Nota merentas SP 4.1.3–4.1.4: “Gunakan pelbagai kaedah yang sesuai seperti gambar rajah, model bar atau jubin algebra.” Pendekatan gamifikasi turut digalakkan.</a:t>
            </a:r>
            <a:endParaRPr lang="en-US" sz="110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14–18</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MUDAH DIFAHAMI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Model Bar Digunakan Secara Sah untuk Algebra (SP 4.1.3)</a:t>
            </a:r>
            <a:endParaRPr lang="en-US" sz="2600" dirty="0"/>
          </a:p>
        </p:txBody>
      </p:sp>
      <p:sp>
        <p:nvSpPr>
          <p:cNvPr id="4" name="Text 2"/>
          <p:cNvSpPr txBox="1"/>
          <p:nvPr/>
        </p:nvSpPr>
        <p:spPr>
          <a:xfrm>
            <a:off x="548640" y="1554480"/>
            <a:ext cx="11064240" cy="50292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Di sinilah Model Bar diperuntukkan secara rasmi dalam Nota — sebagai satu wakilan visual untuk memahami struktur ungkapan algebra sebelum memanipulasinya secara simbolik.</a:t>
            </a:r>
            <a:endParaRPr lang="en-US" sz="1200" dirty="0"/>
          </a:p>
        </p:txBody>
      </p:sp>
      <p:sp>
        <p:nvSpPr>
          <p:cNvPr id="5" name="Shape 3"/>
          <p:cNvSpPr/>
          <p:nvPr/>
        </p:nvSpPr>
        <p:spPr>
          <a:xfrm>
            <a:off x="548640" y="2194560"/>
            <a:ext cx="5349240" cy="4023360"/>
          </a:xfrm>
          <a:prstGeom prst="roundRect">
            <a:avLst>
              <a:gd name="adj" fmla="val 1818"/>
            </a:avLst>
          </a:prstGeom>
          <a:solidFill>
            <a:srgbClr val="F5F7FC"/>
          </a:solidFill>
          <a:ln w="12700">
            <a:solidFill>
              <a:srgbClr val="E7EAF2"/>
            </a:solidFill>
            <a:prstDash val="solid"/>
          </a:ln>
        </p:spPr>
      </p:sp>
      <p:sp>
        <p:nvSpPr>
          <p:cNvPr id="6" name="Text 4"/>
          <p:cNvSpPr txBox="1"/>
          <p:nvPr/>
        </p:nvSpPr>
        <p:spPr>
          <a:xfrm>
            <a:off x="777240" y="2331720"/>
            <a:ext cx="49377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Contoh 6: Permudahkan 3(3x + 9)</a:t>
            </a:r>
            <a:endParaRPr lang="en-US" sz="1300" dirty="0"/>
          </a:p>
        </p:txBody>
      </p:sp>
      <p:sp>
        <p:nvSpPr>
          <p:cNvPr id="7" name="Text 5"/>
          <p:cNvSpPr txBox="1"/>
          <p:nvPr/>
        </p:nvSpPr>
        <p:spPr>
          <a:xfrm>
            <a:off x="777240" y="2788920"/>
            <a:ext cx="4937760" cy="320040"/>
          </a:xfrm>
          <a:prstGeom prst="rect">
            <a:avLst/>
          </a:prstGeom>
          <a:noFill/>
          <a:ln/>
        </p:spPr>
        <p:txBody>
          <a:bodyPr wrap="square" rtlCol="0" anchor="ctr"/>
          <a:lstStyle/>
          <a:p>
            <a:pPr indent="0" marL="0">
              <a:buNone/>
            </a:pPr>
            <a:r>
              <a:rPr lang="en-US" sz="1100" dirty="0">
                <a:solidFill>
                  <a:srgbClr val="5B6472"/>
                </a:solidFill>
                <a:latin typeface="Calibri" pitchFamily="34" charset="0"/>
                <a:ea typeface="Calibri" pitchFamily="34" charset="-122"/>
                <a:cs typeface="Calibri" pitchFamily="34" charset="-120"/>
              </a:rPr>
              <a:t>3x  |  9   →  3x + 9</a:t>
            </a:r>
            <a:endParaRPr lang="en-US" sz="1100" dirty="0"/>
          </a:p>
        </p:txBody>
      </p:sp>
      <p:sp>
        <p:nvSpPr>
          <p:cNvPr id="8" name="Shape 6"/>
          <p:cNvSpPr/>
          <p:nvPr/>
        </p:nvSpPr>
        <p:spPr>
          <a:xfrm>
            <a:off x="777240" y="3108960"/>
            <a:ext cx="2651760" cy="365760"/>
          </a:xfrm>
          <a:prstGeom prst="rect">
            <a:avLst/>
          </a:prstGeom>
          <a:solidFill>
            <a:srgbClr val="F2B705"/>
          </a:solidFill>
          <a:ln w="12700">
            <a:solidFill>
              <a:srgbClr val="141A45"/>
            </a:solidFill>
            <a:prstDash val="solid"/>
          </a:ln>
        </p:spPr>
      </p:sp>
      <p:sp>
        <p:nvSpPr>
          <p:cNvPr id="9" name="Shape 7"/>
          <p:cNvSpPr/>
          <p:nvPr/>
        </p:nvSpPr>
        <p:spPr>
          <a:xfrm>
            <a:off x="3429000" y="3108960"/>
            <a:ext cx="1371600" cy="365760"/>
          </a:xfrm>
          <a:prstGeom prst="rect">
            <a:avLst/>
          </a:prstGeom>
          <a:solidFill>
            <a:srgbClr val="CADCFC"/>
          </a:solidFill>
          <a:ln w="12700">
            <a:solidFill>
              <a:srgbClr val="141A45"/>
            </a:solidFill>
            <a:prstDash val="solid"/>
          </a:ln>
        </p:spPr>
      </p:sp>
      <p:sp>
        <p:nvSpPr>
          <p:cNvPr id="10" name="Shape 8"/>
          <p:cNvSpPr/>
          <p:nvPr/>
        </p:nvSpPr>
        <p:spPr>
          <a:xfrm>
            <a:off x="777240" y="3566160"/>
            <a:ext cx="2651760" cy="347472"/>
          </a:xfrm>
          <a:prstGeom prst="rect">
            <a:avLst/>
          </a:prstGeom>
          <a:solidFill>
            <a:srgbClr val="F2B705"/>
          </a:solidFill>
          <a:ln w="12700">
            <a:solidFill>
              <a:srgbClr val="141A45"/>
            </a:solidFill>
            <a:prstDash val="solid"/>
          </a:ln>
        </p:spPr>
      </p:sp>
      <p:sp>
        <p:nvSpPr>
          <p:cNvPr id="11" name="Shape 9"/>
          <p:cNvSpPr/>
          <p:nvPr/>
        </p:nvSpPr>
        <p:spPr>
          <a:xfrm>
            <a:off x="3429000" y="3566160"/>
            <a:ext cx="1371600" cy="347472"/>
          </a:xfrm>
          <a:prstGeom prst="rect">
            <a:avLst/>
          </a:prstGeom>
          <a:solidFill>
            <a:srgbClr val="CADCFC"/>
          </a:solidFill>
          <a:ln w="12700">
            <a:solidFill>
              <a:srgbClr val="141A45"/>
            </a:solidFill>
            <a:prstDash val="solid"/>
          </a:ln>
        </p:spPr>
      </p:sp>
      <p:sp>
        <p:nvSpPr>
          <p:cNvPr id="12" name="Shape 10"/>
          <p:cNvSpPr/>
          <p:nvPr/>
        </p:nvSpPr>
        <p:spPr>
          <a:xfrm>
            <a:off x="777240" y="3950208"/>
            <a:ext cx="2651760" cy="347472"/>
          </a:xfrm>
          <a:prstGeom prst="rect">
            <a:avLst/>
          </a:prstGeom>
          <a:solidFill>
            <a:srgbClr val="F2B705"/>
          </a:solidFill>
          <a:ln w="12700">
            <a:solidFill>
              <a:srgbClr val="141A45"/>
            </a:solidFill>
            <a:prstDash val="solid"/>
          </a:ln>
        </p:spPr>
      </p:sp>
      <p:sp>
        <p:nvSpPr>
          <p:cNvPr id="13" name="Shape 11"/>
          <p:cNvSpPr/>
          <p:nvPr/>
        </p:nvSpPr>
        <p:spPr>
          <a:xfrm>
            <a:off x="3429000" y="3950208"/>
            <a:ext cx="1371600" cy="347472"/>
          </a:xfrm>
          <a:prstGeom prst="rect">
            <a:avLst/>
          </a:prstGeom>
          <a:solidFill>
            <a:srgbClr val="CADCFC"/>
          </a:solidFill>
          <a:ln w="12700">
            <a:solidFill>
              <a:srgbClr val="141A45"/>
            </a:solidFill>
            <a:prstDash val="solid"/>
          </a:ln>
        </p:spPr>
      </p:sp>
      <p:sp>
        <p:nvSpPr>
          <p:cNvPr id="14" name="Shape 12"/>
          <p:cNvSpPr/>
          <p:nvPr/>
        </p:nvSpPr>
        <p:spPr>
          <a:xfrm>
            <a:off x="777240" y="4334256"/>
            <a:ext cx="2651760" cy="347472"/>
          </a:xfrm>
          <a:prstGeom prst="rect">
            <a:avLst/>
          </a:prstGeom>
          <a:solidFill>
            <a:srgbClr val="F2B705"/>
          </a:solidFill>
          <a:ln w="12700">
            <a:solidFill>
              <a:srgbClr val="141A45"/>
            </a:solidFill>
            <a:prstDash val="solid"/>
          </a:ln>
        </p:spPr>
      </p:sp>
      <p:sp>
        <p:nvSpPr>
          <p:cNvPr id="15" name="Shape 13"/>
          <p:cNvSpPr/>
          <p:nvPr/>
        </p:nvSpPr>
        <p:spPr>
          <a:xfrm>
            <a:off x="3429000" y="4334256"/>
            <a:ext cx="1371600" cy="347472"/>
          </a:xfrm>
          <a:prstGeom prst="rect">
            <a:avLst/>
          </a:prstGeom>
          <a:solidFill>
            <a:srgbClr val="CADCFC"/>
          </a:solidFill>
          <a:ln w="12700">
            <a:solidFill>
              <a:srgbClr val="141A45"/>
            </a:solidFill>
            <a:prstDash val="solid"/>
          </a:ln>
        </p:spPr>
      </p:sp>
      <p:sp>
        <p:nvSpPr>
          <p:cNvPr id="16" name="Text 14"/>
          <p:cNvSpPr txBox="1"/>
          <p:nvPr/>
        </p:nvSpPr>
        <p:spPr>
          <a:xfrm>
            <a:off x="4892040" y="3931920"/>
            <a:ext cx="822960" cy="36576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3(3x + 9)</a:t>
            </a:r>
            <a:endParaRPr lang="en-US" sz="1000" dirty="0"/>
          </a:p>
        </p:txBody>
      </p:sp>
      <p:sp>
        <p:nvSpPr>
          <p:cNvPr id="17" name="Shape 15"/>
          <p:cNvSpPr/>
          <p:nvPr/>
        </p:nvSpPr>
        <p:spPr>
          <a:xfrm>
            <a:off x="777240" y="4892040"/>
            <a:ext cx="3566160" cy="365760"/>
          </a:xfrm>
          <a:prstGeom prst="rect">
            <a:avLst/>
          </a:prstGeom>
          <a:solidFill>
            <a:srgbClr val="F2B705"/>
          </a:solidFill>
          <a:ln w="12700">
            <a:solidFill>
              <a:srgbClr val="141A45"/>
            </a:solidFill>
            <a:prstDash val="solid"/>
          </a:ln>
        </p:spPr>
      </p:sp>
      <p:sp>
        <p:nvSpPr>
          <p:cNvPr id="18" name="Shape 16"/>
          <p:cNvSpPr/>
          <p:nvPr/>
        </p:nvSpPr>
        <p:spPr>
          <a:xfrm>
            <a:off x="4434840" y="4892040"/>
            <a:ext cx="1051560" cy="365760"/>
          </a:xfrm>
          <a:prstGeom prst="rect">
            <a:avLst/>
          </a:prstGeom>
          <a:solidFill>
            <a:srgbClr val="CADCFC"/>
          </a:solidFill>
          <a:ln w="12700">
            <a:solidFill>
              <a:srgbClr val="141A45"/>
            </a:solidFill>
            <a:prstDash val="solid"/>
          </a:ln>
        </p:spPr>
      </p:sp>
      <p:sp>
        <p:nvSpPr>
          <p:cNvPr id="19" name="Text 17"/>
          <p:cNvSpPr txBox="1"/>
          <p:nvPr/>
        </p:nvSpPr>
        <p:spPr>
          <a:xfrm>
            <a:off x="777240" y="5303520"/>
            <a:ext cx="493776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9x + 27</a:t>
            </a:r>
            <a:endParaRPr lang="en-US" sz="1300" dirty="0"/>
          </a:p>
        </p:txBody>
      </p:sp>
      <p:sp>
        <p:nvSpPr>
          <p:cNvPr id="20" name="Text 18"/>
          <p:cNvSpPr txBox="1"/>
          <p:nvPr/>
        </p:nvSpPr>
        <p:spPr>
          <a:xfrm>
            <a:off x="777240" y="5669280"/>
            <a:ext cx="49377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3(3x + 9) = 9x + 27</a:t>
            </a:r>
            <a:endParaRPr lang="en-US" sz="1200" dirty="0"/>
          </a:p>
        </p:txBody>
      </p:sp>
      <p:sp>
        <p:nvSpPr>
          <p:cNvPr id="21" name="Shape 19"/>
          <p:cNvSpPr/>
          <p:nvPr/>
        </p:nvSpPr>
        <p:spPr>
          <a:xfrm>
            <a:off x="6263640" y="2194560"/>
            <a:ext cx="5349240" cy="4023360"/>
          </a:xfrm>
          <a:prstGeom prst="roundRect">
            <a:avLst>
              <a:gd name="adj" fmla="val 1818"/>
            </a:avLst>
          </a:prstGeom>
          <a:solidFill>
            <a:srgbClr val="F5F7FC"/>
          </a:solidFill>
          <a:ln w="12700">
            <a:solidFill>
              <a:srgbClr val="E7EAF2"/>
            </a:solidFill>
            <a:prstDash val="solid"/>
          </a:ln>
        </p:spPr>
      </p:sp>
      <p:sp>
        <p:nvSpPr>
          <p:cNvPr id="22" name="Text 20"/>
          <p:cNvSpPr txBox="1"/>
          <p:nvPr/>
        </p:nvSpPr>
        <p:spPr>
          <a:xfrm>
            <a:off x="6492240" y="2331720"/>
            <a:ext cx="4937760" cy="36576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Contoh 7: Permudahkan (3x + 9) ÷ 3</a:t>
            </a:r>
            <a:endParaRPr lang="en-US" sz="1300" dirty="0"/>
          </a:p>
        </p:txBody>
      </p:sp>
      <p:sp>
        <p:nvSpPr>
          <p:cNvPr id="23" name="Shape 21"/>
          <p:cNvSpPr/>
          <p:nvPr/>
        </p:nvSpPr>
        <p:spPr>
          <a:xfrm>
            <a:off x="6492240" y="2834640"/>
            <a:ext cx="3566160" cy="365760"/>
          </a:xfrm>
          <a:prstGeom prst="rect">
            <a:avLst/>
          </a:prstGeom>
          <a:solidFill>
            <a:srgbClr val="F2B705"/>
          </a:solidFill>
          <a:ln w="12700">
            <a:solidFill>
              <a:srgbClr val="141A45"/>
            </a:solidFill>
            <a:prstDash val="solid"/>
          </a:ln>
        </p:spPr>
      </p:sp>
      <p:sp>
        <p:nvSpPr>
          <p:cNvPr id="24" name="Shape 22"/>
          <p:cNvSpPr/>
          <p:nvPr/>
        </p:nvSpPr>
        <p:spPr>
          <a:xfrm>
            <a:off x="10058400" y="2834640"/>
            <a:ext cx="1051560" cy="365760"/>
          </a:xfrm>
          <a:prstGeom prst="rect">
            <a:avLst/>
          </a:prstGeom>
          <a:solidFill>
            <a:srgbClr val="CADCFC"/>
          </a:solidFill>
          <a:ln w="12700">
            <a:solidFill>
              <a:srgbClr val="141A45"/>
            </a:solidFill>
            <a:prstDash val="solid"/>
          </a:ln>
        </p:spPr>
      </p:sp>
      <p:sp>
        <p:nvSpPr>
          <p:cNvPr id="25" name="Text 23"/>
          <p:cNvSpPr txBox="1"/>
          <p:nvPr/>
        </p:nvSpPr>
        <p:spPr>
          <a:xfrm>
            <a:off x="6492240" y="3246120"/>
            <a:ext cx="4937760" cy="27432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3x + 9</a:t>
            </a:r>
            <a:endParaRPr lang="en-US" sz="1050" dirty="0"/>
          </a:p>
        </p:txBody>
      </p:sp>
      <p:sp>
        <p:nvSpPr>
          <p:cNvPr id="26" name="Shape 24"/>
          <p:cNvSpPr/>
          <p:nvPr/>
        </p:nvSpPr>
        <p:spPr>
          <a:xfrm>
            <a:off x="6492240" y="3749040"/>
            <a:ext cx="1097280" cy="365760"/>
          </a:xfrm>
          <a:prstGeom prst="rect">
            <a:avLst/>
          </a:prstGeom>
          <a:solidFill>
            <a:srgbClr val="F2B705"/>
          </a:solidFill>
          <a:ln w="12700">
            <a:solidFill>
              <a:srgbClr val="141A45"/>
            </a:solidFill>
            <a:prstDash val="solid"/>
          </a:ln>
        </p:spPr>
      </p:sp>
      <p:sp>
        <p:nvSpPr>
          <p:cNvPr id="27" name="Shape 25"/>
          <p:cNvSpPr/>
          <p:nvPr/>
        </p:nvSpPr>
        <p:spPr>
          <a:xfrm>
            <a:off x="7680960" y="3749040"/>
            <a:ext cx="1097280" cy="365760"/>
          </a:xfrm>
          <a:prstGeom prst="rect">
            <a:avLst/>
          </a:prstGeom>
          <a:solidFill>
            <a:srgbClr val="F2B705"/>
          </a:solidFill>
          <a:ln w="12700">
            <a:solidFill>
              <a:srgbClr val="141A45"/>
            </a:solidFill>
            <a:prstDash val="solid"/>
          </a:ln>
        </p:spPr>
      </p:sp>
      <p:sp>
        <p:nvSpPr>
          <p:cNvPr id="28" name="Shape 26"/>
          <p:cNvSpPr/>
          <p:nvPr/>
        </p:nvSpPr>
        <p:spPr>
          <a:xfrm>
            <a:off x="8869680" y="3749040"/>
            <a:ext cx="1097280" cy="365760"/>
          </a:xfrm>
          <a:prstGeom prst="rect">
            <a:avLst/>
          </a:prstGeom>
          <a:solidFill>
            <a:srgbClr val="F2B705"/>
          </a:solidFill>
          <a:ln w="12700">
            <a:solidFill>
              <a:srgbClr val="141A45"/>
            </a:solidFill>
            <a:prstDash val="solid"/>
          </a:ln>
        </p:spPr>
      </p:sp>
      <p:sp>
        <p:nvSpPr>
          <p:cNvPr id="29" name="Shape 27"/>
          <p:cNvSpPr/>
          <p:nvPr/>
        </p:nvSpPr>
        <p:spPr>
          <a:xfrm>
            <a:off x="9966960" y="3749040"/>
            <a:ext cx="320040" cy="365760"/>
          </a:xfrm>
          <a:prstGeom prst="rect">
            <a:avLst/>
          </a:prstGeom>
          <a:solidFill>
            <a:srgbClr val="CADCFC"/>
          </a:solidFill>
          <a:ln w="12700">
            <a:solidFill>
              <a:srgbClr val="141A45"/>
            </a:solidFill>
            <a:prstDash val="solid"/>
          </a:ln>
        </p:spPr>
      </p:sp>
      <p:sp>
        <p:nvSpPr>
          <p:cNvPr id="30" name="Shape 28"/>
          <p:cNvSpPr/>
          <p:nvPr/>
        </p:nvSpPr>
        <p:spPr>
          <a:xfrm>
            <a:off x="10332720" y="3749040"/>
            <a:ext cx="320040" cy="365760"/>
          </a:xfrm>
          <a:prstGeom prst="rect">
            <a:avLst/>
          </a:prstGeom>
          <a:solidFill>
            <a:srgbClr val="CADCFC"/>
          </a:solidFill>
          <a:ln w="12700">
            <a:solidFill>
              <a:srgbClr val="141A45"/>
            </a:solidFill>
            <a:prstDash val="solid"/>
          </a:ln>
        </p:spPr>
      </p:sp>
      <p:sp>
        <p:nvSpPr>
          <p:cNvPr id="31" name="Shape 29"/>
          <p:cNvSpPr/>
          <p:nvPr/>
        </p:nvSpPr>
        <p:spPr>
          <a:xfrm>
            <a:off x="10698480" y="3749040"/>
            <a:ext cx="320040" cy="365760"/>
          </a:xfrm>
          <a:prstGeom prst="rect">
            <a:avLst/>
          </a:prstGeom>
          <a:solidFill>
            <a:srgbClr val="CADCFC"/>
          </a:solidFill>
          <a:ln w="12700">
            <a:solidFill>
              <a:srgbClr val="141A45"/>
            </a:solidFill>
            <a:prstDash val="solid"/>
          </a:ln>
        </p:spPr>
      </p:sp>
      <p:sp>
        <p:nvSpPr>
          <p:cNvPr id="32" name="Text 30"/>
          <p:cNvSpPr txBox="1"/>
          <p:nvPr/>
        </p:nvSpPr>
        <p:spPr>
          <a:xfrm>
            <a:off x="6492240" y="4160520"/>
            <a:ext cx="493776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x  |  x  |  x  |  3  |  3  |  3   →  (3x+9)÷3</a:t>
            </a:r>
            <a:endParaRPr lang="en-US" sz="1000" dirty="0"/>
          </a:p>
        </p:txBody>
      </p:sp>
      <p:sp>
        <p:nvSpPr>
          <p:cNvPr id="33" name="Shape 31"/>
          <p:cNvSpPr/>
          <p:nvPr/>
        </p:nvSpPr>
        <p:spPr>
          <a:xfrm>
            <a:off x="6492240" y="4892040"/>
            <a:ext cx="1097280" cy="365760"/>
          </a:xfrm>
          <a:prstGeom prst="rect">
            <a:avLst/>
          </a:prstGeom>
          <a:solidFill>
            <a:srgbClr val="F2B705"/>
          </a:solidFill>
          <a:ln w="12700">
            <a:solidFill>
              <a:srgbClr val="141A45"/>
            </a:solidFill>
            <a:prstDash val="solid"/>
          </a:ln>
        </p:spPr>
      </p:sp>
      <p:sp>
        <p:nvSpPr>
          <p:cNvPr id="34" name="Shape 32"/>
          <p:cNvSpPr/>
          <p:nvPr/>
        </p:nvSpPr>
        <p:spPr>
          <a:xfrm>
            <a:off x="7635240" y="4892040"/>
            <a:ext cx="365760" cy="365760"/>
          </a:xfrm>
          <a:prstGeom prst="rect">
            <a:avLst/>
          </a:prstGeom>
          <a:solidFill>
            <a:srgbClr val="CADCFC"/>
          </a:solidFill>
          <a:ln w="12700">
            <a:solidFill>
              <a:srgbClr val="141A45"/>
            </a:solidFill>
            <a:prstDash val="solid"/>
          </a:ln>
        </p:spPr>
      </p:sp>
      <p:sp>
        <p:nvSpPr>
          <p:cNvPr id="35" name="Text 33"/>
          <p:cNvSpPr txBox="1"/>
          <p:nvPr/>
        </p:nvSpPr>
        <p:spPr>
          <a:xfrm>
            <a:off x="6492240" y="5303520"/>
            <a:ext cx="4937760" cy="320040"/>
          </a:xfrm>
          <a:prstGeom prst="rect">
            <a:avLst/>
          </a:prstGeom>
          <a:noFill/>
          <a:ln/>
        </p:spPr>
        <p:txBody>
          <a:bodyPr wrap="square"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x + 3</a:t>
            </a:r>
            <a:endParaRPr lang="en-US" sz="1300" dirty="0"/>
          </a:p>
        </p:txBody>
      </p:sp>
      <p:sp>
        <p:nvSpPr>
          <p:cNvPr id="36" name="Text 34"/>
          <p:cNvSpPr txBox="1"/>
          <p:nvPr/>
        </p:nvSpPr>
        <p:spPr>
          <a:xfrm>
            <a:off x="6492240" y="5669280"/>
            <a:ext cx="493776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 (3x + 9) ÷ 3 = x + 3</a:t>
            </a:r>
            <a:endParaRPr lang="en-US" sz="1200" dirty="0"/>
          </a:p>
        </p:txBody>
      </p:sp>
      <p:sp>
        <p:nvSpPr>
          <p:cNvPr id="37" name="Text 35"/>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Petikan sebenar Nota, Slaid Sidang 5 m/s 17–18</a:t>
            </a:r>
            <a:endParaRPr lang="en-US" sz="1000" dirty="0"/>
          </a:p>
        </p:txBody>
      </p:sp>
      <p:sp>
        <p:nvSpPr>
          <p:cNvPr id="38" name="Text 36"/>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Standard Prestasi: 4.0 Ungkapan Algebra</a:t>
            </a:r>
            <a:endParaRPr lang="en-US" sz="2600" dirty="0"/>
          </a:p>
        </p:txBody>
      </p:sp>
      <p:sp>
        <p:nvSpPr>
          <p:cNvPr id="4" name="Shape 2"/>
          <p:cNvSpPr/>
          <p:nvPr/>
        </p:nvSpPr>
        <p:spPr>
          <a:xfrm>
            <a:off x="548640" y="1600200"/>
            <a:ext cx="11064240" cy="1051560"/>
          </a:xfrm>
          <a:prstGeom prst="roundRect">
            <a:avLst>
              <a:gd name="adj" fmla="val 6957"/>
            </a:avLst>
          </a:prstGeom>
          <a:solidFill>
            <a:srgbClr val="3A4374"/>
          </a:solidFill>
          <a:ln/>
        </p:spPr>
      </p:sp>
      <p:sp>
        <p:nvSpPr>
          <p:cNvPr id="5" name="Text 3"/>
          <p:cNvSpPr txBox="1"/>
          <p:nvPr/>
        </p:nvSpPr>
        <p:spPr>
          <a:xfrm>
            <a:off x="777240" y="1600200"/>
            <a:ext cx="1280160" cy="10515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TP1</a:t>
            </a:r>
            <a:endParaRPr lang="en-US" sz="1800" dirty="0"/>
          </a:p>
        </p:txBody>
      </p:sp>
      <p:sp>
        <p:nvSpPr>
          <p:cNvPr id="6" name="Text 4"/>
          <p:cNvSpPr txBox="1"/>
          <p:nvPr/>
        </p:nvSpPr>
        <p:spPr>
          <a:xfrm>
            <a:off x="2103120" y="1600200"/>
            <a:ext cx="9326880" cy="10515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Murid boleh menyatakan perwakilan nilai yang tidak diketahui menggunakan huruf atau simbol yang sesuai dalam ungkapan algebra.</a:t>
            </a:r>
            <a:endParaRPr lang="en-US" sz="1150" dirty="0"/>
          </a:p>
        </p:txBody>
      </p:sp>
      <p:sp>
        <p:nvSpPr>
          <p:cNvPr id="7" name="Shape 5"/>
          <p:cNvSpPr/>
          <p:nvPr/>
        </p:nvSpPr>
        <p:spPr>
          <a:xfrm>
            <a:off x="548640" y="2788920"/>
            <a:ext cx="11064240" cy="1051560"/>
          </a:xfrm>
          <a:prstGeom prst="roundRect">
            <a:avLst>
              <a:gd name="adj" fmla="val 6957"/>
            </a:avLst>
          </a:prstGeom>
          <a:solidFill>
            <a:srgbClr val="5C6BAE"/>
          </a:solidFill>
          <a:ln/>
        </p:spPr>
      </p:sp>
      <p:sp>
        <p:nvSpPr>
          <p:cNvPr id="8" name="Text 6"/>
          <p:cNvSpPr txBox="1"/>
          <p:nvPr/>
        </p:nvSpPr>
        <p:spPr>
          <a:xfrm>
            <a:off x="777240" y="2788920"/>
            <a:ext cx="1280160" cy="10515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TP2</a:t>
            </a:r>
            <a:endParaRPr lang="en-US" sz="1800" dirty="0"/>
          </a:p>
        </p:txBody>
      </p:sp>
      <p:sp>
        <p:nvSpPr>
          <p:cNvPr id="9" name="Text 7"/>
          <p:cNvSpPr txBox="1"/>
          <p:nvPr/>
        </p:nvSpPr>
        <p:spPr>
          <a:xfrm>
            <a:off x="2103120" y="2788920"/>
            <a:ext cx="9326880" cy="10515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Murid boleh menjelaskan pembentukan ungkapan algebra berdasarkan suatu pernyataan atau situasi, dan sebaliknya.</a:t>
            </a:r>
            <a:endParaRPr lang="en-US" sz="1150" dirty="0"/>
          </a:p>
        </p:txBody>
      </p:sp>
      <p:sp>
        <p:nvSpPr>
          <p:cNvPr id="10" name="Shape 8"/>
          <p:cNvSpPr/>
          <p:nvPr/>
        </p:nvSpPr>
        <p:spPr>
          <a:xfrm>
            <a:off x="548640" y="3977640"/>
            <a:ext cx="11064240" cy="1051560"/>
          </a:xfrm>
          <a:prstGeom prst="roundRect">
            <a:avLst>
              <a:gd name="adj" fmla="val 6957"/>
            </a:avLst>
          </a:prstGeom>
          <a:solidFill>
            <a:srgbClr val="8593D4"/>
          </a:solidFill>
          <a:ln/>
        </p:spPr>
      </p:sp>
      <p:sp>
        <p:nvSpPr>
          <p:cNvPr id="11" name="Text 9"/>
          <p:cNvSpPr txBox="1"/>
          <p:nvPr/>
        </p:nvSpPr>
        <p:spPr>
          <a:xfrm>
            <a:off x="777240" y="3977640"/>
            <a:ext cx="1280160" cy="10515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TP3</a:t>
            </a:r>
            <a:endParaRPr lang="en-US" sz="1800" dirty="0"/>
          </a:p>
        </p:txBody>
      </p:sp>
      <p:sp>
        <p:nvSpPr>
          <p:cNvPr id="12" name="Text 10"/>
          <p:cNvSpPr txBox="1"/>
          <p:nvPr/>
        </p:nvSpPr>
        <p:spPr>
          <a:xfrm>
            <a:off x="2103120" y="3977640"/>
            <a:ext cx="9326880" cy="1051560"/>
          </a:xfrm>
          <a:prstGeom prst="rect">
            <a:avLst/>
          </a:prstGeom>
          <a:noFill/>
          <a:ln/>
        </p:spPr>
        <p:txBody>
          <a:bodyPr wrap="square" rtlCol="0" anchor="ctr"/>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Murid boleh menyelesaikan operasi asas aritmetik berkaitan ungkapan algebra.</a:t>
            </a:r>
            <a:endParaRPr lang="en-US" sz="1150" dirty="0"/>
          </a:p>
        </p:txBody>
      </p:sp>
      <p:sp>
        <p:nvSpPr>
          <p:cNvPr id="13" name="Shape 11"/>
          <p:cNvSpPr/>
          <p:nvPr/>
        </p:nvSpPr>
        <p:spPr>
          <a:xfrm>
            <a:off x="548640" y="5166360"/>
            <a:ext cx="11064240" cy="1051560"/>
          </a:xfrm>
          <a:prstGeom prst="roundRect">
            <a:avLst>
              <a:gd name="adj" fmla="val 6957"/>
            </a:avLst>
          </a:prstGeom>
          <a:solidFill>
            <a:srgbClr val="F2B705"/>
          </a:solidFill>
          <a:ln/>
        </p:spPr>
      </p:sp>
      <p:sp>
        <p:nvSpPr>
          <p:cNvPr id="14" name="Text 12"/>
          <p:cNvSpPr txBox="1"/>
          <p:nvPr/>
        </p:nvSpPr>
        <p:spPr>
          <a:xfrm>
            <a:off x="777240" y="5166360"/>
            <a:ext cx="1280160" cy="10515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TP4</a:t>
            </a:r>
            <a:endParaRPr lang="en-US" sz="1800" dirty="0"/>
          </a:p>
        </p:txBody>
      </p:sp>
      <p:sp>
        <p:nvSpPr>
          <p:cNvPr id="15" name="Text 13"/>
          <p:cNvSpPr txBox="1"/>
          <p:nvPr/>
        </p:nvSpPr>
        <p:spPr>
          <a:xfrm>
            <a:off x="2103120" y="5166360"/>
            <a:ext cx="9326880" cy="1051560"/>
          </a:xfrm>
          <a:prstGeom prst="rect">
            <a:avLst/>
          </a:prstGeom>
          <a:noFill/>
          <a:ln/>
        </p:spPr>
        <p:txBody>
          <a:bodyPr wrap="square" rtlCol="0" anchor="ctr"/>
          <a:lstStyle/>
          <a:p>
            <a:pPr indent="0" marL="0">
              <a:lnSpc>
                <a:spcPct val="115000"/>
              </a:lnSpc>
              <a:buNone/>
            </a:pPr>
            <a:r>
              <a:rPr lang="en-US" sz="1150" dirty="0">
                <a:solidFill>
                  <a:srgbClr val="141A45"/>
                </a:solidFill>
                <a:latin typeface="Calibri" pitchFamily="34" charset="0"/>
                <a:ea typeface="Calibri" pitchFamily="34" charset="-122"/>
                <a:cs typeface="Calibri" pitchFamily="34" charset="-120"/>
              </a:rPr>
              <a:t>Murid boleh menyelesaikan masalah berkaitan ungkapan algebra dalam kehidupan harian.</a:t>
            </a:r>
            <a:endParaRPr lang="en-US" sz="1150" dirty="0"/>
          </a:p>
        </p:txBody>
      </p:sp>
      <p:sp>
        <p:nvSpPr>
          <p:cNvPr id="16" name="Text 14"/>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19</a:t>
            </a:r>
            <a:endParaRPr lang="en-US" sz="1000" dirty="0"/>
          </a:p>
        </p:txBody>
      </p:sp>
      <p:sp>
        <p:nvSpPr>
          <p:cNvPr id="17" name="Text 15"/>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5.0 Persamaan Linear dalam Satu Pemboleh Ubah</a:t>
            </a:r>
            <a:endParaRPr lang="en-US" sz="2600" dirty="0"/>
          </a:p>
        </p:txBody>
      </p:sp>
      <p:sp>
        <p:nvSpPr>
          <p:cNvPr id="4" name="Shape 2"/>
          <p:cNvSpPr/>
          <p:nvPr/>
        </p:nvSpPr>
        <p:spPr>
          <a:xfrm>
            <a:off x="548640" y="1645920"/>
            <a:ext cx="11064240" cy="502920"/>
          </a:xfrm>
          <a:prstGeom prst="roundRect">
            <a:avLst>
              <a:gd name="adj" fmla="val 10909"/>
            </a:avLst>
          </a:prstGeom>
          <a:solidFill>
            <a:srgbClr val="8E44AD"/>
          </a:solidFill>
          <a:ln/>
        </p:spPr>
      </p:sp>
      <p:sp>
        <p:nvSpPr>
          <p:cNvPr id="5" name="Text 3"/>
          <p:cNvSpPr txBox="1"/>
          <p:nvPr/>
        </p:nvSpPr>
        <p:spPr>
          <a:xfrm>
            <a:off x="731520" y="1645920"/>
            <a:ext cx="10698480"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5.1  Persamaan Linear dalam Satu Pemboleh Ubah</a:t>
            </a:r>
            <a:endParaRPr lang="en-US" sz="1400" dirty="0"/>
          </a:p>
        </p:txBody>
      </p:sp>
      <p:sp>
        <p:nvSpPr>
          <p:cNvPr id="6" name="Shape 4"/>
          <p:cNvSpPr/>
          <p:nvPr/>
        </p:nvSpPr>
        <p:spPr>
          <a:xfrm>
            <a:off x="548640" y="2331720"/>
            <a:ext cx="11064240" cy="658368"/>
          </a:xfrm>
          <a:prstGeom prst="roundRect">
            <a:avLst>
              <a:gd name="adj" fmla="val 6944"/>
            </a:avLst>
          </a:prstGeom>
          <a:solidFill>
            <a:srgbClr val="F5F7FC"/>
          </a:solidFill>
          <a:ln w="12700">
            <a:solidFill>
              <a:srgbClr val="E7EAF2"/>
            </a:solidFill>
            <a:prstDash val="solid"/>
          </a:ln>
        </p:spPr>
      </p:sp>
      <p:sp>
        <p:nvSpPr>
          <p:cNvPr id="7" name="Text 5"/>
          <p:cNvSpPr txBox="1"/>
          <p:nvPr/>
        </p:nvSpPr>
        <p:spPr>
          <a:xfrm>
            <a:off x="777240" y="2331720"/>
            <a:ext cx="1005840" cy="658368"/>
          </a:xfrm>
          <a:prstGeom prst="rect">
            <a:avLst/>
          </a:prstGeom>
          <a:noFill/>
          <a:ln/>
        </p:spPr>
        <p:txBody>
          <a:bodyPr wrap="square" rtlCol="0" anchor="ctr"/>
          <a:lstStyle/>
          <a:p>
            <a:pPr indent="0" marL="0">
              <a:buNone/>
            </a:pPr>
            <a:r>
              <a:rPr lang="en-US" sz="1300" b="1" dirty="0">
                <a:solidFill>
                  <a:srgbClr val="8E44AD"/>
                </a:solidFill>
                <a:latin typeface="Cambria" pitchFamily="34" charset="0"/>
                <a:ea typeface="Cambria" pitchFamily="34" charset="-122"/>
                <a:cs typeface="Cambria" pitchFamily="34" charset="-120"/>
              </a:rPr>
              <a:t>5.1.1</a:t>
            </a:r>
            <a:endParaRPr lang="en-US" sz="1300" dirty="0"/>
          </a:p>
        </p:txBody>
      </p:sp>
      <p:sp>
        <p:nvSpPr>
          <p:cNvPr id="8" name="Text 6"/>
          <p:cNvSpPr txBox="1"/>
          <p:nvPr/>
        </p:nvSpPr>
        <p:spPr>
          <a:xfrm>
            <a:off x="1828800" y="233172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Mengenal pasti persamaan linear dalam satu pemboleh ubah dan menghuraikan ciri-ciri persamaan tersebut.</a:t>
            </a:r>
            <a:endParaRPr lang="en-US" sz="1150" dirty="0"/>
          </a:p>
        </p:txBody>
      </p:sp>
      <p:sp>
        <p:nvSpPr>
          <p:cNvPr id="9" name="Shape 7"/>
          <p:cNvSpPr/>
          <p:nvPr/>
        </p:nvSpPr>
        <p:spPr>
          <a:xfrm>
            <a:off x="548640" y="3108960"/>
            <a:ext cx="11064240" cy="658368"/>
          </a:xfrm>
          <a:prstGeom prst="roundRect">
            <a:avLst>
              <a:gd name="adj" fmla="val 6944"/>
            </a:avLst>
          </a:prstGeom>
          <a:solidFill>
            <a:srgbClr val="F5F7FC"/>
          </a:solidFill>
          <a:ln w="12700">
            <a:solidFill>
              <a:srgbClr val="E7EAF2"/>
            </a:solidFill>
            <a:prstDash val="solid"/>
          </a:ln>
        </p:spPr>
      </p:sp>
      <p:sp>
        <p:nvSpPr>
          <p:cNvPr id="10" name="Text 8"/>
          <p:cNvSpPr txBox="1"/>
          <p:nvPr/>
        </p:nvSpPr>
        <p:spPr>
          <a:xfrm>
            <a:off x="777240" y="3108960"/>
            <a:ext cx="1005840" cy="658368"/>
          </a:xfrm>
          <a:prstGeom prst="rect">
            <a:avLst/>
          </a:prstGeom>
          <a:noFill/>
          <a:ln/>
        </p:spPr>
        <p:txBody>
          <a:bodyPr wrap="square" rtlCol="0" anchor="ctr"/>
          <a:lstStyle/>
          <a:p>
            <a:pPr indent="0" marL="0">
              <a:buNone/>
            </a:pPr>
            <a:r>
              <a:rPr lang="en-US" sz="1300" b="1" dirty="0">
                <a:solidFill>
                  <a:srgbClr val="8E44AD"/>
                </a:solidFill>
                <a:latin typeface="Cambria" pitchFamily="34" charset="0"/>
                <a:ea typeface="Cambria" pitchFamily="34" charset="-122"/>
                <a:cs typeface="Cambria" pitchFamily="34" charset="-120"/>
              </a:rPr>
              <a:t>5.1.2</a:t>
            </a:r>
            <a:endParaRPr lang="en-US" sz="1300" dirty="0"/>
          </a:p>
        </p:txBody>
      </p:sp>
      <p:sp>
        <p:nvSpPr>
          <p:cNvPr id="11" name="Text 9"/>
          <p:cNvSpPr txBox="1"/>
          <p:nvPr/>
        </p:nvSpPr>
        <p:spPr>
          <a:xfrm>
            <a:off x="1828800" y="310896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Membentuk persamaan linear dalam satu pemboleh ubah berdasarkan suatu pernyataan atau situasi, dan sebaliknya.</a:t>
            </a:r>
            <a:endParaRPr lang="en-US" sz="1150" dirty="0"/>
          </a:p>
        </p:txBody>
      </p:sp>
      <p:sp>
        <p:nvSpPr>
          <p:cNvPr id="12" name="Shape 10"/>
          <p:cNvSpPr/>
          <p:nvPr/>
        </p:nvSpPr>
        <p:spPr>
          <a:xfrm>
            <a:off x="548640" y="3886200"/>
            <a:ext cx="11064240" cy="658368"/>
          </a:xfrm>
          <a:prstGeom prst="roundRect">
            <a:avLst>
              <a:gd name="adj" fmla="val 6944"/>
            </a:avLst>
          </a:prstGeom>
          <a:solidFill>
            <a:srgbClr val="F5F7FC"/>
          </a:solidFill>
          <a:ln w="12700">
            <a:solidFill>
              <a:srgbClr val="E7EAF2"/>
            </a:solidFill>
            <a:prstDash val="solid"/>
          </a:ln>
        </p:spPr>
      </p:sp>
      <p:sp>
        <p:nvSpPr>
          <p:cNvPr id="13" name="Text 11"/>
          <p:cNvSpPr txBox="1"/>
          <p:nvPr/>
        </p:nvSpPr>
        <p:spPr>
          <a:xfrm>
            <a:off x="777240" y="3886200"/>
            <a:ext cx="1005840" cy="658368"/>
          </a:xfrm>
          <a:prstGeom prst="rect">
            <a:avLst/>
          </a:prstGeom>
          <a:noFill/>
          <a:ln/>
        </p:spPr>
        <p:txBody>
          <a:bodyPr wrap="square" rtlCol="0" anchor="ctr"/>
          <a:lstStyle/>
          <a:p>
            <a:pPr indent="0" marL="0">
              <a:buNone/>
            </a:pPr>
            <a:r>
              <a:rPr lang="en-US" sz="1300" b="1" dirty="0">
                <a:solidFill>
                  <a:srgbClr val="8E44AD"/>
                </a:solidFill>
                <a:latin typeface="Cambria" pitchFamily="34" charset="0"/>
                <a:ea typeface="Cambria" pitchFamily="34" charset="-122"/>
                <a:cs typeface="Cambria" pitchFamily="34" charset="-120"/>
              </a:rPr>
              <a:t>5.1.3</a:t>
            </a:r>
            <a:endParaRPr lang="en-US" sz="1300" dirty="0"/>
          </a:p>
        </p:txBody>
      </p:sp>
      <p:sp>
        <p:nvSpPr>
          <p:cNvPr id="14" name="Text 12"/>
          <p:cNvSpPr txBox="1"/>
          <p:nvPr/>
        </p:nvSpPr>
        <p:spPr>
          <a:xfrm>
            <a:off x="1828800" y="388620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Menyelesaikan persamaan linear dalam satu pemboleh ubah.</a:t>
            </a:r>
            <a:endParaRPr lang="en-US" sz="1150" dirty="0"/>
          </a:p>
        </p:txBody>
      </p:sp>
      <p:sp>
        <p:nvSpPr>
          <p:cNvPr id="15" name="Shape 13"/>
          <p:cNvSpPr/>
          <p:nvPr/>
        </p:nvSpPr>
        <p:spPr>
          <a:xfrm>
            <a:off x="548640" y="4663440"/>
            <a:ext cx="11064240" cy="658368"/>
          </a:xfrm>
          <a:prstGeom prst="roundRect">
            <a:avLst>
              <a:gd name="adj" fmla="val 6944"/>
            </a:avLst>
          </a:prstGeom>
          <a:solidFill>
            <a:srgbClr val="F5F7FC"/>
          </a:solidFill>
          <a:ln w="12700">
            <a:solidFill>
              <a:srgbClr val="E7EAF2"/>
            </a:solidFill>
            <a:prstDash val="solid"/>
          </a:ln>
        </p:spPr>
      </p:sp>
      <p:sp>
        <p:nvSpPr>
          <p:cNvPr id="16" name="Text 14"/>
          <p:cNvSpPr txBox="1"/>
          <p:nvPr/>
        </p:nvSpPr>
        <p:spPr>
          <a:xfrm>
            <a:off x="777240" y="4663440"/>
            <a:ext cx="1005840" cy="658368"/>
          </a:xfrm>
          <a:prstGeom prst="rect">
            <a:avLst/>
          </a:prstGeom>
          <a:noFill/>
          <a:ln/>
        </p:spPr>
        <p:txBody>
          <a:bodyPr wrap="square" rtlCol="0" anchor="ctr"/>
          <a:lstStyle/>
          <a:p>
            <a:pPr indent="0" marL="0">
              <a:buNone/>
            </a:pPr>
            <a:r>
              <a:rPr lang="en-US" sz="1300" b="1" dirty="0">
                <a:solidFill>
                  <a:srgbClr val="8E44AD"/>
                </a:solidFill>
                <a:latin typeface="Cambria" pitchFamily="34" charset="0"/>
                <a:ea typeface="Cambria" pitchFamily="34" charset="-122"/>
                <a:cs typeface="Cambria" pitchFamily="34" charset="-120"/>
              </a:rPr>
              <a:t>5.1.4</a:t>
            </a:r>
            <a:endParaRPr lang="en-US" sz="1300" dirty="0"/>
          </a:p>
        </p:txBody>
      </p:sp>
      <p:sp>
        <p:nvSpPr>
          <p:cNvPr id="17" name="Text 15"/>
          <p:cNvSpPr txBox="1"/>
          <p:nvPr/>
        </p:nvSpPr>
        <p:spPr>
          <a:xfrm>
            <a:off x="1828800" y="4663440"/>
            <a:ext cx="9601200" cy="658368"/>
          </a:xfrm>
          <a:prstGeom prst="rect">
            <a:avLst/>
          </a:prstGeom>
          <a:noFill/>
          <a:ln/>
        </p:spPr>
        <p:txBody>
          <a:bodyPr wrap="square" rtlCol="0" anchor="ctr"/>
          <a:lstStyle/>
          <a:p>
            <a:pPr indent="0" marL="0">
              <a:lnSpc>
                <a:spcPct val="110000"/>
              </a:lnSpc>
              <a:buNone/>
            </a:pPr>
            <a:r>
              <a:rPr lang="en-US" sz="1150" dirty="0">
                <a:solidFill>
                  <a:srgbClr val="141A45"/>
                </a:solidFill>
                <a:latin typeface="Calibri" pitchFamily="34" charset="0"/>
                <a:ea typeface="Calibri" pitchFamily="34" charset="-122"/>
                <a:cs typeface="Calibri" pitchFamily="34" charset="-120"/>
              </a:rPr>
              <a:t>Menyelesaikan masalah yang melibatkan persamaan linear dalam satu pemboleh ubah.</a:t>
            </a:r>
            <a:endParaRPr lang="en-US" sz="1150" dirty="0"/>
          </a:p>
        </p:txBody>
      </p:sp>
      <p:sp>
        <p:nvSpPr>
          <p:cNvPr id="18" name="Text 16"/>
          <p:cNvSpPr txBox="1"/>
          <p:nvPr/>
        </p:nvSpPr>
        <p:spPr>
          <a:xfrm>
            <a:off x="548640" y="5532120"/>
            <a:ext cx="11064240" cy="365760"/>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Nota SP 5.1.4: Libatkan situasi kehidupan harian seperti dalam bidang kewangan, kejuruteraan dan sukan.</a:t>
            </a:r>
            <a:endParaRPr lang="en-US" sz="1100" dirty="0"/>
          </a:p>
        </p:txBody>
      </p:sp>
      <p:sp>
        <p:nvSpPr>
          <p:cNvPr id="19" name="Text 17"/>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24–25</a:t>
            </a:r>
            <a:endParaRPr lang="en-US" sz="1000" dirty="0"/>
          </a:p>
        </p:txBody>
      </p:sp>
      <p:sp>
        <p:nvSpPr>
          <p:cNvPr id="20"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5.2 Ketaksamaan Linear dalam Satu Pemboleh Ubah</a:t>
            </a:r>
            <a:endParaRPr lang="en-US" sz="2600" dirty="0"/>
          </a:p>
        </p:txBody>
      </p:sp>
      <p:sp>
        <p:nvSpPr>
          <p:cNvPr id="4" name="Shape 2"/>
          <p:cNvSpPr/>
          <p:nvPr/>
        </p:nvSpPr>
        <p:spPr>
          <a:xfrm>
            <a:off x="548640" y="1645920"/>
            <a:ext cx="5349240" cy="914400"/>
          </a:xfrm>
          <a:prstGeom prst="roundRect">
            <a:avLst>
              <a:gd name="adj" fmla="val 5000"/>
            </a:avLst>
          </a:prstGeom>
          <a:solidFill>
            <a:srgbClr val="F5F7FC"/>
          </a:solidFill>
          <a:ln w="12700">
            <a:solidFill>
              <a:srgbClr val="E7EAF2"/>
            </a:solidFill>
            <a:prstDash val="solid"/>
          </a:ln>
        </p:spPr>
      </p:sp>
      <p:sp>
        <p:nvSpPr>
          <p:cNvPr id="5" name="Text 3"/>
          <p:cNvSpPr txBox="1"/>
          <p:nvPr/>
        </p:nvSpPr>
        <p:spPr>
          <a:xfrm>
            <a:off x="685800" y="1719072"/>
            <a:ext cx="1188720" cy="365760"/>
          </a:xfrm>
          <a:prstGeom prst="rect">
            <a:avLst/>
          </a:prstGeom>
          <a:noFill/>
          <a:ln/>
        </p:spPr>
        <p:txBody>
          <a:bodyPr wrap="square" rtlCol="0" anchor="ctr"/>
          <a:lstStyle/>
          <a:p>
            <a:pPr indent="0" marL="0">
              <a:buNone/>
            </a:pPr>
            <a:r>
              <a:rPr lang="en-US" sz="1200" b="1" dirty="0">
                <a:solidFill>
                  <a:srgbClr val="8E44AD"/>
                </a:solidFill>
                <a:latin typeface="Cambria" pitchFamily="34" charset="0"/>
                <a:ea typeface="Cambria" pitchFamily="34" charset="-122"/>
                <a:cs typeface="Cambria" pitchFamily="34" charset="-120"/>
              </a:rPr>
              <a:t>5.2.1</a:t>
            </a:r>
            <a:endParaRPr lang="en-US" sz="1200" dirty="0"/>
          </a:p>
        </p:txBody>
      </p:sp>
      <p:sp>
        <p:nvSpPr>
          <p:cNvPr id="6" name="Text 4"/>
          <p:cNvSpPr txBox="1"/>
          <p:nvPr/>
        </p:nvSpPr>
        <p:spPr>
          <a:xfrm>
            <a:off x="685800" y="2029968"/>
            <a:ext cx="5120640" cy="502920"/>
          </a:xfrm>
          <a:prstGeom prst="rect">
            <a:avLst/>
          </a:prstGeom>
          <a:noFill/>
          <a:ln/>
        </p:spPr>
        <p:txBody>
          <a:bodyPr wrap="square" rtlCol="0" anchor="ctr"/>
          <a:lstStyle/>
          <a:p>
            <a:pPr indent="0" marL="0">
              <a:lnSpc>
                <a:spcPct val="110000"/>
              </a:lnSpc>
              <a:buNone/>
            </a:pPr>
            <a:r>
              <a:rPr lang="en-US" sz="1000" dirty="0">
                <a:solidFill>
                  <a:srgbClr val="141A45"/>
                </a:solidFill>
                <a:latin typeface="Calibri" pitchFamily="34" charset="0"/>
                <a:ea typeface="Calibri" pitchFamily="34" charset="-122"/>
                <a:cs typeface="Calibri" pitchFamily="34" charset="-120"/>
              </a:rPr>
              <a:t>Membanding nilai nombor, memerihal ketaksamaan dan membentuk ketaksamaan algebra.</a:t>
            </a:r>
            <a:endParaRPr lang="en-US" sz="1000" dirty="0"/>
          </a:p>
        </p:txBody>
      </p:sp>
      <p:sp>
        <p:nvSpPr>
          <p:cNvPr id="7" name="Shape 5"/>
          <p:cNvSpPr/>
          <p:nvPr/>
        </p:nvSpPr>
        <p:spPr>
          <a:xfrm>
            <a:off x="548640" y="2679192"/>
            <a:ext cx="5349240" cy="914400"/>
          </a:xfrm>
          <a:prstGeom prst="roundRect">
            <a:avLst>
              <a:gd name="adj" fmla="val 5000"/>
            </a:avLst>
          </a:prstGeom>
          <a:solidFill>
            <a:srgbClr val="F5F7FC"/>
          </a:solidFill>
          <a:ln w="12700">
            <a:solidFill>
              <a:srgbClr val="E7EAF2"/>
            </a:solidFill>
            <a:prstDash val="solid"/>
          </a:ln>
        </p:spPr>
      </p:sp>
      <p:sp>
        <p:nvSpPr>
          <p:cNvPr id="8" name="Text 6"/>
          <p:cNvSpPr txBox="1"/>
          <p:nvPr/>
        </p:nvSpPr>
        <p:spPr>
          <a:xfrm>
            <a:off x="685800" y="2752344"/>
            <a:ext cx="1188720" cy="365760"/>
          </a:xfrm>
          <a:prstGeom prst="rect">
            <a:avLst/>
          </a:prstGeom>
          <a:noFill/>
          <a:ln/>
        </p:spPr>
        <p:txBody>
          <a:bodyPr wrap="square" rtlCol="0" anchor="ctr"/>
          <a:lstStyle/>
          <a:p>
            <a:pPr indent="0" marL="0">
              <a:buNone/>
            </a:pPr>
            <a:r>
              <a:rPr lang="en-US" sz="1200" b="1" dirty="0">
                <a:solidFill>
                  <a:srgbClr val="8E44AD"/>
                </a:solidFill>
                <a:latin typeface="Cambria" pitchFamily="34" charset="0"/>
                <a:ea typeface="Cambria" pitchFamily="34" charset="-122"/>
                <a:cs typeface="Cambria" pitchFamily="34" charset="-120"/>
              </a:rPr>
              <a:t>5.2.2–2.5</a:t>
            </a:r>
            <a:endParaRPr lang="en-US" sz="1200" dirty="0"/>
          </a:p>
        </p:txBody>
      </p:sp>
      <p:sp>
        <p:nvSpPr>
          <p:cNvPr id="9" name="Text 7"/>
          <p:cNvSpPr txBox="1"/>
          <p:nvPr/>
        </p:nvSpPr>
        <p:spPr>
          <a:xfrm>
            <a:off x="685800" y="3063240"/>
            <a:ext cx="5120640" cy="502920"/>
          </a:xfrm>
          <a:prstGeom prst="rect">
            <a:avLst/>
          </a:prstGeom>
          <a:noFill/>
          <a:ln/>
        </p:spPr>
        <p:txBody>
          <a:bodyPr wrap="square" rtlCol="0" anchor="ctr"/>
          <a:lstStyle/>
          <a:p>
            <a:pPr indent="0" marL="0">
              <a:lnSpc>
                <a:spcPct val="110000"/>
              </a:lnSpc>
              <a:buNone/>
            </a:pPr>
            <a:r>
              <a:rPr lang="en-US" sz="1000" dirty="0">
                <a:solidFill>
                  <a:srgbClr val="141A45"/>
                </a:solidFill>
                <a:latin typeface="Calibri" pitchFamily="34" charset="0"/>
                <a:ea typeface="Calibri" pitchFamily="34" charset="-122"/>
                <a:cs typeface="Calibri" pitchFamily="34" charset="-120"/>
              </a:rPr>
              <a:t>Operasi asas aritmetik, membentuk, dan menyelesaikan ketaksamaan (termasuk serentak).</a:t>
            </a:r>
            <a:endParaRPr lang="en-US" sz="1000" dirty="0"/>
          </a:p>
        </p:txBody>
      </p:sp>
      <p:sp>
        <p:nvSpPr>
          <p:cNvPr id="10" name="Shape 8"/>
          <p:cNvSpPr/>
          <p:nvPr/>
        </p:nvSpPr>
        <p:spPr>
          <a:xfrm>
            <a:off x="548640" y="3758184"/>
            <a:ext cx="5349240" cy="1417320"/>
          </a:xfrm>
          <a:prstGeom prst="roundRect">
            <a:avLst>
              <a:gd name="adj" fmla="val 3871"/>
            </a:avLst>
          </a:prstGeom>
          <a:solidFill>
            <a:srgbClr val="1E2761"/>
          </a:solidFill>
          <a:ln/>
        </p:spPr>
      </p:sp>
      <p:sp>
        <p:nvSpPr>
          <p:cNvPr id="11" name="Text 9"/>
          <p:cNvSpPr txBox="1"/>
          <p:nvPr/>
        </p:nvSpPr>
        <p:spPr>
          <a:xfrm>
            <a:off x="731520" y="3849624"/>
            <a:ext cx="4937760" cy="274320"/>
          </a:xfrm>
          <a:prstGeom prst="rect">
            <a:avLst/>
          </a:prstGeom>
          <a:noFill/>
          <a:ln/>
        </p:spPr>
        <p:txBody>
          <a:bodyPr wrap="square" rtlCol="0" anchor="ctr"/>
          <a:lstStyle/>
          <a:p>
            <a:pPr indent="0" marL="0">
              <a:buNone/>
            </a:pPr>
            <a:r>
              <a:rPr lang="en-US" sz="1150" b="1" dirty="0">
                <a:solidFill>
                  <a:srgbClr val="F2B705"/>
                </a:solidFill>
                <a:latin typeface="Cambria" pitchFamily="34" charset="0"/>
                <a:ea typeface="Cambria" pitchFamily="34" charset="-122"/>
                <a:cs typeface="Cambria" pitchFamily="34" charset="-120"/>
              </a:rPr>
              <a:t>Nota Penting</a:t>
            </a:r>
            <a:endParaRPr lang="en-US" sz="1150" dirty="0"/>
          </a:p>
        </p:txBody>
      </p:sp>
      <p:sp>
        <p:nvSpPr>
          <p:cNvPr id="12" name="Text 10"/>
          <p:cNvSpPr txBox="1"/>
          <p:nvPr/>
        </p:nvSpPr>
        <p:spPr>
          <a:xfrm>
            <a:off x="731520" y="4151376"/>
            <a:ext cx="5029200" cy="960120"/>
          </a:xfrm>
          <a:prstGeom prst="rect">
            <a:avLst/>
          </a:prstGeom>
          <a:noFill/>
          <a:ln/>
        </p:spPr>
        <p:txBody>
          <a:bodyPr wrap="square" rtlCol="0" anchor="ctr"/>
          <a:lstStyle/>
          <a:p>
            <a:pPr indent="0" marL="0">
              <a:lnSpc>
                <a:spcPct val="125000"/>
              </a:lnSpc>
              <a:buNone/>
            </a:pPr>
            <a:r>
              <a:rPr lang="en-US" sz="1000" dirty="0">
                <a:solidFill>
                  <a:srgbClr val="CADCFC"/>
                </a:solidFill>
                <a:latin typeface="Calibri" pitchFamily="34" charset="0"/>
                <a:ea typeface="Calibri" pitchFamily="34" charset="-122"/>
                <a:cs typeface="Calibri" pitchFamily="34" charset="-120"/>
              </a:rPr>
              <a:t>• Guna garis nombor untuk simbol &gt;, &lt;, ≥, ≤.</a:t>
            </a:r>
            <a:endParaRPr lang="en-US" sz="1000" dirty="0"/>
          </a:p>
          <a:p>
            <a:pPr indent="0" marL="0">
              <a:lnSpc>
                <a:spcPct val="125000"/>
              </a:lnSpc>
              <a:buNone/>
            </a:pPr>
            <a:r>
              <a:rPr lang="en-US" sz="1000" dirty="0">
                <a:solidFill>
                  <a:srgbClr val="CADCFC"/>
                </a:solidFill>
                <a:latin typeface="Calibri" pitchFamily="34" charset="0"/>
                <a:ea typeface="Calibri" pitchFamily="34" charset="-122"/>
                <a:cs typeface="Calibri" pitchFamily="34" charset="-120"/>
              </a:rPr>
              <a:t>• Libatkan nombor negatif.</a:t>
            </a:r>
            <a:endParaRPr lang="en-US" sz="1000" dirty="0"/>
          </a:p>
          <a:p>
            <a:pPr indent="0" marL="0">
              <a:lnSpc>
                <a:spcPct val="125000"/>
              </a:lnSpc>
              <a:buNone/>
            </a:pPr>
            <a:r>
              <a:rPr lang="en-US" sz="1000" dirty="0">
                <a:solidFill>
                  <a:srgbClr val="CADCFC"/>
                </a:solidFill>
                <a:latin typeface="Calibri" pitchFamily="34" charset="0"/>
                <a:ea typeface="Calibri" pitchFamily="34" charset="-122"/>
                <a:cs typeface="Calibri" pitchFamily="34" charset="-120"/>
              </a:rPr>
              <a:t>• Maksud tatatanda dalam PKJR perlu dibincangkan.</a:t>
            </a:r>
            <a:endParaRPr lang="en-US" sz="1000" dirty="0"/>
          </a:p>
        </p:txBody>
      </p:sp>
      <p:sp>
        <p:nvSpPr>
          <p:cNvPr id="13" name="Shape 11"/>
          <p:cNvSpPr/>
          <p:nvPr/>
        </p:nvSpPr>
        <p:spPr>
          <a:xfrm>
            <a:off x="6263640" y="1645920"/>
            <a:ext cx="5349240" cy="4434840"/>
          </a:xfrm>
          <a:prstGeom prst="roundRect">
            <a:avLst>
              <a:gd name="adj" fmla="val 1237"/>
            </a:avLst>
          </a:prstGeom>
          <a:solidFill>
            <a:srgbClr val="F5F7FC"/>
          </a:solidFill>
          <a:ln w="12700">
            <a:solidFill>
              <a:srgbClr val="E7EAF2"/>
            </a:solidFill>
            <a:prstDash val="solid"/>
          </a:ln>
        </p:spPr>
      </p:sp>
      <p:sp>
        <p:nvSpPr>
          <p:cNvPr id="14" name="Text 12"/>
          <p:cNvSpPr txBox="1"/>
          <p:nvPr/>
        </p:nvSpPr>
        <p:spPr>
          <a:xfrm>
            <a:off x="6446520" y="1755648"/>
            <a:ext cx="4937760" cy="457200"/>
          </a:xfrm>
          <a:prstGeom prst="rect">
            <a:avLst/>
          </a:prstGeom>
          <a:noFill/>
          <a:ln/>
        </p:spPr>
        <p:txBody>
          <a:bodyPr wrap="square" rtlCol="0" anchor="ctr"/>
          <a:lstStyle/>
          <a:p>
            <a:pPr indent="0" marL="0">
              <a:lnSpc>
                <a:spcPct val="110000"/>
              </a:lnSpc>
              <a:buNone/>
            </a:pPr>
            <a:r>
              <a:rPr lang="en-US" sz="1250" b="1" dirty="0">
                <a:solidFill>
                  <a:srgbClr val="1E2761"/>
                </a:solidFill>
                <a:latin typeface="Cambria" pitchFamily="34" charset="0"/>
                <a:ea typeface="Cambria" pitchFamily="34" charset="-122"/>
                <a:cs typeface="Cambria" pitchFamily="34" charset="-120"/>
              </a:rPr>
              <a:t>6 Sifat Ketaksamaan (Roman i–vi) — Wajib Turutan</a:t>
            </a:r>
            <a:endParaRPr lang="en-US" sz="1250" dirty="0"/>
          </a:p>
        </p:txBody>
      </p:sp>
      <p:sp>
        <p:nvSpPr>
          <p:cNvPr id="15" name="Text 13"/>
          <p:cNvSpPr txBox="1"/>
          <p:nvPr/>
        </p:nvSpPr>
        <p:spPr>
          <a:xfrm>
            <a:off x="6446520" y="2286000"/>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i.  Jika a &lt; b, maka b &gt; a.</a:t>
            </a:r>
            <a:endParaRPr lang="en-US" sz="1030" dirty="0"/>
          </a:p>
        </p:txBody>
      </p:sp>
      <p:sp>
        <p:nvSpPr>
          <p:cNvPr id="16" name="Text 14"/>
          <p:cNvSpPr txBox="1"/>
          <p:nvPr/>
        </p:nvSpPr>
        <p:spPr>
          <a:xfrm>
            <a:off x="6446520" y="2761488"/>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ii.  Jika a &lt; b &lt; c, maka a &lt; c.</a:t>
            </a:r>
            <a:endParaRPr lang="en-US" sz="1030" dirty="0"/>
          </a:p>
        </p:txBody>
      </p:sp>
      <p:sp>
        <p:nvSpPr>
          <p:cNvPr id="17" name="Text 15"/>
          <p:cNvSpPr txBox="1"/>
          <p:nvPr/>
        </p:nvSpPr>
        <p:spPr>
          <a:xfrm>
            <a:off x="6446520" y="3236976"/>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iii.  Jika a &lt; b, maka −a &gt; −b.</a:t>
            </a:r>
            <a:endParaRPr lang="en-US" sz="1030" dirty="0"/>
          </a:p>
        </p:txBody>
      </p:sp>
      <p:sp>
        <p:nvSpPr>
          <p:cNvPr id="18" name="Text 16"/>
          <p:cNvSpPr txBox="1"/>
          <p:nvPr/>
        </p:nvSpPr>
        <p:spPr>
          <a:xfrm>
            <a:off x="6446520" y="3712464"/>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iv.  Jika a &lt; b, maka 1/a &gt; 1/b (a,b &gt; 0 atau a,b &lt; 0).</a:t>
            </a:r>
            <a:endParaRPr lang="en-US" sz="1030" dirty="0"/>
          </a:p>
        </p:txBody>
      </p:sp>
      <p:sp>
        <p:nvSpPr>
          <p:cNvPr id="19" name="Text 17"/>
          <p:cNvSpPr txBox="1"/>
          <p:nvPr/>
        </p:nvSpPr>
        <p:spPr>
          <a:xfrm>
            <a:off x="6446520" y="4187952"/>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v.  Jika a &lt; b, maka 0 &lt; b − a.</a:t>
            </a:r>
            <a:endParaRPr lang="en-US" sz="1030" dirty="0"/>
          </a:p>
        </p:txBody>
      </p:sp>
      <p:sp>
        <p:nvSpPr>
          <p:cNvPr id="20" name="Text 18"/>
          <p:cNvSpPr txBox="1"/>
          <p:nvPr/>
        </p:nvSpPr>
        <p:spPr>
          <a:xfrm>
            <a:off x="6446520" y="4663440"/>
            <a:ext cx="5029200" cy="411480"/>
          </a:xfrm>
          <a:prstGeom prst="rect">
            <a:avLst/>
          </a:prstGeom>
          <a:noFill/>
          <a:ln/>
        </p:spPr>
        <p:txBody>
          <a:bodyPr wrap="square" rtlCol="0" anchor="t"/>
          <a:lstStyle/>
          <a:p>
            <a:pPr indent="0" marL="0">
              <a:buNone/>
            </a:pPr>
            <a:r>
              <a:rPr lang="en-US" sz="1030" dirty="0">
                <a:solidFill>
                  <a:srgbClr val="141A45"/>
                </a:solidFill>
                <a:latin typeface="Calibri" pitchFamily="34" charset="0"/>
                <a:ea typeface="Calibri" pitchFamily="34" charset="-122"/>
                <a:cs typeface="Calibri" pitchFamily="34" charset="-120"/>
              </a:rPr>
              <a:t>vi.  Jika a &lt; b, maka ca &lt; cb (c &gt; 0).</a:t>
            </a:r>
            <a:endParaRPr lang="en-US" sz="1030" dirty="0"/>
          </a:p>
        </p:txBody>
      </p:sp>
      <p:sp>
        <p:nvSpPr>
          <p:cNvPr id="21"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26–28</a:t>
            </a:r>
            <a:endParaRPr lang="en-US" sz="1000" dirty="0"/>
          </a:p>
        </p:txBody>
      </p:sp>
      <p:sp>
        <p:nvSpPr>
          <p:cNvPr id="22"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FAKTA RASMI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Standard Prestasi: 5.0 Persamaan &amp; Ketaksamaan Linear</a:t>
            </a:r>
            <a:endParaRPr lang="en-US" sz="2600" dirty="0"/>
          </a:p>
        </p:txBody>
      </p:sp>
      <p:sp>
        <p:nvSpPr>
          <p:cNvPr id="4" name="Shape 2"/>
          <p:cNvSpPr/>
          <p:nvPr/>
        </p:nvSpPr>
        <p:spPr>
          <a:xfrm>
            <a:off x="548640" y="1645920"/>
            <a:ext cx="11064240" cy="960120"/>
          </a:xfrm>
          <a:prstGeom prst="roundRect">
            <a:avLst>
              <a:gd name="adj" fmla="val 5714"/>
            </a:avLst>
          </a:prstGeom>
          <a:solidFill>
            <a:srgbClr val="F5F7FC"/>
          </a:solidFill>
          <a:ln w="19050">
            <a:solidFill>
              <a:srgbClr val="3A4374"/>
            </a:solidFill>
            <a:prstDash val="solid"/>
          </a:ln>
        </p:spPr>
      </p:sp>
      <p:sp>
        <p:nvSpPr>
          <p:cNvPr id="5" name="Shape 3"/>
          <p:cNvSpPr/>
          <p:nvPr/>
        </p:nvSpPr>
        <p:spPr>
          <a:xfrm>
            <a:off x="548640" y="1645920"/>
            <a:ext cx="109728" cy="960120"/>
          </a:xfrm>
          <a:prstGeom prst="rect">
            <a:avLst/>
          </a:prstGeom>
          <a:solidFill>
            <a:srgbClr val="3A4374"/>
          </a:solidFill>
          <a:ln/>
        </p:spPr>
      </p:sp>
      <p:sp>
        <p:nvSpPr>
          <p:cNvPr id="6" name="Text 4"/>
          <p:cNvSpPr txBox="1"/>
          <p:nvPr/>
        </p:nvSpPr>
        <p:spPr>
          <a:xfrm>
            <a:off x="822960" y="1645920"/>
            <a:ext cx="1280160" cy="960120"/>
          </a:xfrm>
          <a:prstGeom prst="rect">
            <a:avLst/>
          </a:prstGeom>
          <a:noFill/>
          <a:ln/>
        </p:spPr>
        <p:txBody>
          <a:bodyPr wrap="square" rtlCol="0" anchor="ctr"/>
          <a:lstStyle/>
          <a:p>
            <a:pPr indent="0" marL="0">
              <a:buNone/>
            </a:pPr>
            <a:r>
              <a:rPr lang="en-US" sz="1500" b="1" dirty="0">
                <a:solidFill>
                  <a:srgbClr val="3A4374"/>
                </a:solidFill>
                <a:latin typeface="Cambria" pitchFamily="34" charset="0"/>
                <a:ea typeface="Cambria" pitchFamily="34" charset="-122"/>
                <a:cs typeface="Cambria" pitchFamily="34" charset="-120"/>
              </a:rPr>
              <a:t>TP1</a:t>
            </a:r>
            <a:endParaRPr lang="en-US" sz="1500" dirty="0"/>
          </a:p>
        </p:txBody>
      </p:sp>
      <p:sp>
        <p:nvSpPr>
          <p:cNvPr id="7" name="Text 5"/>
          <p:cNvSpPr txBox="1"/>
          <p:nvPr/>
        </p:nvSpPr>
        <p:spPr>
          <a:xfrm>
            <a:off x="2103120" y="1645920"/>
            <a:ext cx="9326880" cy="960120"/>
          </a:xfrm>
          <a:prstGeom prst="rect">
            <a:avLst/>
          </a:prstGeom>
          <a:noFill/>
          <a:ln/>
        </p:spPr>
        <p:txBody>
          <a:bodyPr wrap="square" rtlCol="0" anchor="ctr"/>
          <a:lstStyle/>
          <a:p>
            <a:pPr indent="0" marL="0">
              <a:lnSpc>
                <a:spcPct val="112000"/>
              </a:lnSpc>
              <a:buNone/>
            </a:pPr>
            <a:r>
              <a:rPr lang="en-US" sz="1100" dirty="0">
                <a:solidFill>
                  <a:srgbClr val="141A45"/>
                </a:solidFill>
                <a:latin typeface="Calibri" pitchFamily="34" charset="0"/>
                <a:ea typeface="Calibri" pitchFamily="34" charset="-122"/>
                <a:cs typeface="Calibri" pitchFamily="34" charset="-120"/>
              </a:rPr>
              <a:t>Murid boleh menyatakan huruf atau simbol yang sesuai bagi persamaan dan ketaksamaan linear dalam satu pemboleh ubah.</a:t>
            </a:r>
            <a:endParaRPr lang="en-US" sz="1100" dirty="0"/>
          </a:p>
        </p:txBody>
      </p:sp>
      <p:sp>
        <p:nvSpPr>
          <p:cNvPr id="8" name="Shape 6"/>
          <p:cNvSpPr/>
          <p:nvPr/>
        </p:nvSpPr>
        <p:spPr>
          <a:xfrm>
            <a:off x="548640" y="2724912"/>
            <a:ext cx="11064240" cy="960120"/>
          </a:xfrm>
          <a:prstGeom prst="roundRect">
            <a:avLst>
              <a:gd name="adj" fmla="val 5714"/>
            </a:avLst>
          </a:prstGeom>
          <a:solidFill>
            <a:srgbClr val="F5F7FC"/>
          </a:solidFill>
          <a:ln w="19050">
            <a:solidFill>
              <a:srgbClr val="5C6BAE"/>
            </a:solidFill>
            <a:prstDash val="solid"/>
          </a:ln>
        </p:spPr>
      </p:sp>
      <p:sp>
        <p:nvSpPr>
          <p:cNvPr id="9" name="Shape 7"/>
          <p:cNvSpPr/>
          <p:nvPr/>
        </p:nvSpPr>
        <p:spPr>
          <a:xfrm>
            <a:off x="548640" y="2724912"/>
            <a:ext cx="109728" cy="960120"/>
          </a:xfrm>
          <a:prstGeom prst="rect">
            <a:avLst/>
          </a:prstGeom>
          <a:solidFill>
            <a:srgbClr val="5C6BAE"/>
          </a:solidFill>
          <a:ln/>
        </p:spPr>
      </p:sp>
      <p:sp>
        <p:nvSpPr>
          <p:cNvPr id="10" name="Text 8"/>
          <p:cNvSpPr txBox="1"/>
          <p:nvPr/>
        </p:nvSpPr>
        <p:spPr>
          <a:xfrm>
            <a:off x="822960" y="2724912"/>
            <a:ext cx="1280160" cy="960120"/>
          </a:xfrm>
          <a:prstGeom prst="rect">
            <a:avLst/>
          </a:prstGeom>
          <a:noFill/>
          <a:ln/>
        </p:spPr>
        <p:txBody>
          <a:bodyPr wrap="square" rtlCol="0" anchor="ctr"/>
          <a:lstStyle/>
          <a:p>
            <a:pPr indent="0" marL="0">
              <a:buNone/>
            </a:pPr>
            <a:r>
              <a:rPr lang="en-US" sz="1500" b="1" dirty="0">
                <a:solidFill>
                  <a:srgbClr val="5C6BAE"/>
                </a:solidFill>
                <a:latin typeface="Cambria" pitchFamily="34" charset="0"/>
                <a:ea typeface="Cambria" pitchFamily="34" charset="-122"/>
                <a:cs typeface="Cambria" pitchFamily="34" charset="-120"/>
              </a:rPr>
              <a:t>TP2</a:t>
            </a:r>
            <a:endParaRPr lang="en-US" sz="1500" dirty="0"/>
          </a:p>
        </p:txBody>
      </p:sp>
      <p:sp>
        <p:nvSpPr>
          <p:cNvPr id="11" name="Text 9"/>
          <p:cNvSpPr txBox="1"/>
          <p:nvPr/>
        </p:nvSpPr>
        <p:spPr>
          <a:xfrm>
            <a:off x="2103120" y="2724912"/>
            <a:ext cx="9326880" cy="960120"/>
          </a:xfrm>
          <a:prstGeom prst="rect">
            <a:avLst/>
          </a:prstGeom>
          <a:noFill/>
          <a:ln/>
        </p:spPr>
        <p:txBody>
          <a:bodyPr wrap="square" rtlCol="0" anchor="ctr"/>
          <a:lstStyle/>
          <a:p>
            <a:pPr indent="0" marL="0">
              <a:lnSpc>
                <a:spcPct val="112000"/>
              </a:lnSpc>
              <a:buNone/>
            </a:pPr>
            <a:r>
              <a:rPr lang="en-US" sz="1100" dirty="0">
                <a:solidFill>
                  <a:srgbClr val="141A45"/>
                </a:solidFill>
                <a:latin typeface="Calibri" pitchFamily="34" charset="0"/>
                <a:ea typeface="Calibri" pitchFamily="34" charset="-122"/>
                <a:cs typeface="Calibri" pitchFamily="34" charset="-120"/>
              </a:rPr>
              <a:t>Murid boleh menjelaskan ciri-ciri persamaan linear dan perbandingan nilai nombor bagi membentuk ketaksamaan algebra.</a:t>
            </a:r>
            <a:endParaRPr lang="en-US" sz="1100" dirty="0"/>
          </a:p>
        </p:txBody>
      </p:sp>
      <p:sp>
        <p:nvSpPr>
          <p:cNvPr id="12" name="Shape 10"/>
          <p:cNvSpPr/>
          <p:nvPr/>
        </p:nvSpPr>
        <p:spPr>
          <a:xfrm>
            <a:off x="548640" y="3803904"/>
            <a:ext cx="11064240" cy="960120"/>
          </a:xfrm>
          <a:prstGeom prst="roundRect">
            <a:avLst>
              <a:gd name="adj" fmla="val 5714"/>
            </a:avLst>
          </a:prstGeom>
          <a:solidFill>
            <a:srgbClr val="F5F7FC"/>
          </a:solidFill>
          <a:ln w="19050">
            <a:solidFill>
              <a:srgbClr val="8593D4"/>
            </a:solidFill>
            <a:prstDash val="solid"/>
          </a:ln>
        </p:spPr>
      </p:sp>
      <p:sp>
        <p:nvSpPr>
          <p:cNvPr id="13" name="Shape 11"/>
          <p:cNvSpPr/>
          <p:nvPr/>
        </p:nvSpPr>
        <p:spPr>
          <a:xfrm>
            <a:off x="548640" y="3803904"/>
            <a:ext cx="109728" cy="960120"/>
          </a:xfrm>
          <a:prstGeom prst="rect">
            <a:avLst/>
          </a:prstGeom>
          <a:solidFill>
            <a:srgbClr val="8593D4"/>
          </a:solidFill>
          <a:ln/>
        </p:spPr>
      </p:sp>
      <p:sp>
        <p:nvSpPr>
          <p:cNvPr id="14" name="Text 12"/>
          <p:cNvSpPr txBox="1"/>
          <p:nvPr/>
        </p:nvSpPr>
        <p:spPr>
          <a:xfrm>
            <a:off x="822960" y="3803904"/>
            <a:ext cx="1280160" cy="960120"/>
          </a:xfrm>
          <a:prstGeom prst="rect">
            <a:avLst/>
          </a:prstGeom>
          <a:noFill/>
          <a:ln/>
        </p:spPr>
        <p:txBody>
          <a:bodyPr wrap="square" rtlCol="0" anchor="ctr"/>
          <a:lstStyle/>
          <a:p>
            <a:pPr indent="0" marL="0">
              <a:buNone/>
            </a:pPr>
            <a:r>
              <a:rPr lang="en-US" sz="1500" b="1" dirty="0">
                <a:solidFill>
                  <a:srgbClr val="8593D4"/>
                </a:solidFill>
                <a:latin typeface="Cambria" pitchFamily="34" charset="0"/>
                <a:ea typeface="Cambria" pitchFamily="34" charset="-122"/>
                <a:cs typeface="Cambria" pitchFamily="34" charset="-120"/>
              </a:rPr>
              <a:t>TP3</a:t>
            </a:r>
            <a:endParaRPr lang="en-US" sz="1500" dirty="0"/>
          </a:p>
        </p:txBody>
      </p:sp>
      <p:sp>
        <p:nvSpPr>
          <p:cNvPr id="15" name="Text 13"/>
          <p:cNvSpPr txBox="1"/>
          <p:nvPr/>
        </p:nvSpPr>
        <p:spPr>
          <a:xfrm>
            <a:off x="2103120" y="3803904"/>
            <a:ext cx="9326880" cy="960120"/>
          </a:xfrm>
          <a:prstGeom prst="rect">
            <a:avLst/>
          </a:prstGeom>
          <a:noFill/>
          <a:ln/>
        </p:spPr>
        <p:txBody>
          <a:bodyPr wrap="square" rtlCol="0" anchor="ctr"/>
          <a:lstStyle/>
          <a:p>
            <a:pPr indent="0" marL="0">
              <a:lnSpc>
                <a:spcPct val="112000"/>
              </a:lnSpc>
              <a:buNone/>
            </a:pPr>
            <a:r>
              <a:rPr lang="en-US" sz="1100" dirty="0">
                <a:solidFill>
                  <a:srgbClr val="141A45"/>
                </a:solidFill>
                <a:latin typeface="Calibri" pitchFamily="34" charset="0"/>
                <a:ea typeface="Calibri" pitchFamily="34" charset="-122"/>
                <a:cs typeface="Calibri" pitchFamily="34" charset="-120"/>
              </a:rPr>
              <a:t>Murid boleh melaksanakan pengiraan bagi persamaan dan ketaksamaan linear dalam satu pemboleh ubah.</a:t>
            </a:r>
            <a:endParaRPr lang="en-US" sz="1100" dirty="0"/>
          </a:p>
        </p:txBody>
      </p:sp>
      <p:sp>
        <p:nvSpPr>
          <p:cNvPr id="16" name="Shape 14"/>
          <p:cNvSpPr/>
          <p:nvPr/>
        </p:nvSpPr>
        <p:spPr>
          <a:xfrm>
            <a:off x="548640" y="4882896"/>
            <a:ext cx="11064240" cy="960120"/>
          </a:xfrm>
          <a:prstGeom prst="roundRect">
            <a:avLst>
              <a:gd name="adj" fmla="val 5714"/>
            </a:avLst>
          </a:prstGeom>
          <a:solidFill>
            <a:srgbClr val="F5F7FC"/>
          </a:solidFill>
          <a:ln w="19050">
            <a:solidFill>
              <a:srgbClr val="F2B705"/>
            </a:solidFill>
            <a:prstDash val="solid"/>
          </a:ln>
        </p:spPr>
      </p:sp>
      <p:sp>
        <p:nvSpPr>
          <p:cNvPr id="17" name="Shape 15"/>
          <p:cNvSpPr/>
          <p:nvPr/>
        </p:nvSpPr>
        <p:spPr>
          <a:xfrm>
            <a:off x="548640" y="4882896"/>
            <a:ext cx="109728" cy="960120"/>
          </a:xfrm>
          <a:prstGeom prst="rect">
            <a:avLst/>
          </a:prstGeom>
          <a:solidFill>
            <a:srgbClr val="F2B705"/>
          </a:solidFill>
          <a:ln/>
        </p:spPr>
      </p:sp>
      <p:sp>
        <p:nvSpPr>
          <p:cNvPr id="18" name="Text 16"/>
          <p:cNvSpPr txBox="1"/>
          <p:nvPr/>
        </p:nvSpPr>
        <p:spPr>
          <a:xfrm>
            <a:off x="822960" y="4882896"/>
            <a:ext cx="1280160" cy="960120"/>
          </a:xfrm>
          <a:prstGeom prst="rect">
            <a:avLst/>
          </a:prstGeom>
          <a:noFill/>
          <a:ln/>
        </p:spPr>
        <p:txBody>
          <a:bodyPr wrap="square" rtlCol="0" anchor="ctr"/>
          <a:lstStyle/>
          <a:p>
            <a:pPr indent="0" marL="0">
              <a:buNone/>
            </a:pPr>
            <a:r>
              <a:rPr lang="en-US" sz="1500" b="1" dirty="0">
                <a:solidFill>
                  <a:srgbClr val="B08600"/>
                </a:solidFill>
                <a:latin typeface="Cambria" pitchFamily="34" charset="0"/>
                <a:ea typeface="Cambria" pitchFamily="34" charset="-122"/>
                <a:cs typeface="Cambria" pitchFamily="34" charset="-120"/>
              </a:rPr>
              <a:t>TP4</a:t>
            </a:r>
            <a:endParaRPr lang="en-US" sz="1500" dirty="0"/>
          </a:p>
        </p:txBody>
      </p:sp>
      <p:sp>
        <p:nvSpPr>
          <p:cNvPr id="19" name="Text 17"/>
          <p:cNvSpPr txBox="1"/>
          <p:nvPr/>
        </p:nvSpPr>
        <p:spPr>
          <a:xfrm>
            <a:off x="2103120" y="4882896"/>
            <a:ext cx="9326880" cy="960120"/>
          </a:xfrm>
          <a:prstGeom prst="rect">
            <a:avLst/>
          </a:prstGeom>
          <a:noFill/>
          <a:ln/>
        </p:spPr>
        <p:txBody>
          <a:bodyPr wrap="square" rtlCol="0" anchor="ctr"/>
          <a:lstStyle/>
          <a:p>
            <a:pPr indent="0" marL="0">
              <a:lnSpc>
                <a:spcPct val="112000"/>
              </a:lnSpc>
              <a:buNone/>
            </a:pPr>
            <a:r>
              <a:rPr lang="en-US" sz="1100" dirty="0">
                <a:solidFill>
                  <a:srgbClr val="141A45"/>
                </a:solidFill>
                <a:latin typeface="Calibri" pitchFamily="34" charset="0"/>
                <a:ea typeface="Calibri" pitchFamily="34" charset="-122"/>
                <a:cs typeface="Calibri" pitchFamily="34" charset="-120"/>
              </a:rPr>
              <a:t>Murid boleh menyelesaikan masalah berkaitan persamaan dan ketaksamaan linear dalam satu pemboleh ubah yang melibatkan kehidupan harian.</a:t>
            </a:r>
            <a:endParaRPr lang="en-US" sz="110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 Wording rasmi, Slaid Sidang 5 m/s 29</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PENDEKATAN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Strategi Heuristik Penyelesaian Masalah</a:t>
            </a:r>
            <a:endParaRPr lang="en-US" sz="2600" dirty="0"/>
          </a:p>
        </p:txBody>
      </p:sp>
      <p:sp>
        <p:nvSpPr>
          <p:cNvPr id="4" name="Shape 2"/>
          <p:cNvSpPr/>
          <p:nvPr/>
        </p:nvSpPr>
        <p:spPr>
          <a:xfrm>
            <a:off x="548640" y="1600200"/>
            <a:ext cx="11064240" cy="777240"/>
          </a:xfrm>
          <a:prstGeom prst="roundRect">
            <a:avLst>
              <a:gd name="adj" fmla="val 9412"/>
            </a:avLst>
          </a:prstGeom>
          <a:solidFill>
            <a:srgbClr val="F5F7FC"/>
          </a:solidFill>
          <a:ln w="12700">
            <a:solidFill>
              <a:srgbClr val="E7EAF2"/>
            </a:solidFill>
            <a:prstDash val="solid"/>
          </a:ln>
        </p:spPr>
      </p:sp>
      <p:sp>
        <p:nvSpPr>
          <p:cNvPr id="5" name="Text 3"/>
          <p:cNvSpPr txBox="1"/>
          <p:nvPr/>
        </p:nvSpPr>
        <p:spPr>
          <a:xfrm>
            <a:off x="777240" y="1600200"/>
            <a:ext cx="10607040" cy="77724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Rangka kerja 4 langkah (berdasarkan Polya) untuk menyelesaikan sebarang masalah matematik bukan rutin — Model Bar hanyalah SATU strategi yang boleh digunakan pada Langkah 3.</a:t>
            </a:r>
            <a:endParaRPr lang="en-US" sz="1200" dirty="0"/>
          </a:p>
        </p:txBody>
      </p:sp>
      <p:sp>
        <p:nvSpPr>
          <p:cNvPr id="6" name="Shape 4"/>
          <p:cNvSpPr/>
          <p:nvPr/>
        </p:nvSpPr>
        <p:spPr>
          <a:xfrm>
            <a:off x="548640" y="2651760"/>
            <a:ext cx="2651760" cy="3017520"/>
          </a:xfrm>
          <a:prstGeom prst="roundRect">
            <a:avLst>
              <a:gd name="adj" fmla="val 2759"/>
            </a:avLst>
          </a:prstGeom>
          <a:solidFill>
            <a:srgbClr val="1E2761"/>
          </a:solidFill>
          <a:ln/>
        </p:spPr>
      </p:sp>
      <p:sp>
        <p:nvSpPr>
          <p:cNvPr id="7" name="Shape 5"/>
          <p:cNvSpPr/>
          <p:nvPr/>
        </p:nvSpPr>
        <p:spPr>
          <a:xfrm>
            <a:off x="1554480" y="2926080"/>
            <a:ext cx="640080" cy="640080"/>
          </a:xfrm>
          <a:prstGeom prst="ellipse">
            <a:avLst/>
          </a:prstGeom>
          <a:solidFill>
            <a:srgbClr val="F2B705"/>
          </a:solidFill>
          <a:ln/>
        </p:spPr>
      </p:sp>
      <p:pic>
        <p:nvPicPr>
          <p:cNvPr id="8" name="Image 0" descr="/home/claude/shared_icons/icon_question.png">    </p:cNvPr>
          <p:cNvPicPr>
            <a:picLocks noChangeAspect="1"/>
          </p:cNvPicPr>
          <p:nvPr/>
        </p:nvPicPr>
        <p:blipFill>
          <a:blip r:embed="rId1"/>
          <a:stretch>
            <a:fillRect/>
          </a:stretch>
        </p:blipFill>
        <p:spPr>
          <a:xfrm>
            <a:off x="1644091" y="3015691"/>
            <a:ext cx="460858" cy="460858"/>
          </a:xfrm>
          <a:prstGeom prst="rect">
            <a:avLst/>
          </a:prstGeom>
        </p:spPr>
      </p:pic>
      <p:sp>
        <p:nvSpPr>
          <p:cNvPr id="9" name="Text 6"/>
          <p:cNvSpPr txBox="1"/>
          <p:nvPr/>
        </p:nvSpPr>
        <p:spPr>
          <a:xfrm>
            <a:off x="685800" y="3749040"/>
            <a:ext cx="2377440" cy="5943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 Apakah yang Perlu Dicari?</a:t>
            </a:r>
            <a:endParaRPr lang="en-US" sz="1200" dirty="0"/>
          </a:p>
        </p:txBody>
      </p:sp>
      <p:sp>
        <p:nvSpPr>
          <p:cNvPr id="10" name="Text 7"/>
          <p:cNvSpPr txBox="1"/>
          <p:nvPr/>
        </p:nvSpPr>
        <p:spPr>
          <a:xfrm>
            <a:off x="731520" y="4434840"/>
            <a:ext cx="2286000" cy="1097280"/>
          </a:xfrm>
          <a:prstGeom prst="rect">
            <a:avLst/>
          </a:prstGeom>
          <a:noFill/>
          <a:ln/>
        </p:spPr>
        <p:txBody>
          <a:bodyPr wrap="square" rtlCol="0" anchor="ctr"/>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Kenal pasti soalan sebenar yang ditanya.</a:t>
            </a:r>
            <a:endParaRPr lang="en-US" sz="1000" dirty="0"/>
          </a:p>
        </p:txBody>
      </p:sp>
      <p:sp>
        <p:nvSpPr>
          <p:cNvPr id="11" name="Text 8"/>
          <p:cNvSpPr txBox="1"/>
          <p:nvPr/>
        </p:nvSpPr>
        <p:spPr>
          <a:xfrm>
            <a:off x="3182112" y="402336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2" name="Shape 9"/>
          <p:cNvSpPr/>
          <p:nvPr/>
        </p:nvSpPr>
        <p:spPr>
          <a:xfrm>
            <a:off x="3429000" y="2651760"/>
            <a:ext cx="2651760" cy="3017520"/>
          </a:xfrm>
          <a:prstGeom prst="roundRect">
            <a:avLst>
              <a:gd name="adj" fmla="val 2759"/>
            </a:avLst>
          </a:prstGeom>
          <a:solidFill>
            <a:srgbClr val="1E2761"/>
          </a:solidFill>
          <a:ln/>
        </p:spPr>
      </p:sp>
      <p:sp>
        <p:nvSpPr>
          <p:cNvPr id="13" name="Shape 10"/>
          <p:cNvSpPr/>
          <p:nvPr/>
        </p:nvSpPr>
        <p:spPr>
          <a:xfrm>
            <a:off x="4434840" y="2926080"/>
            <a:ext cx="640080" cy="640080"/>
          </a:xfrm>
          <a:prstGeom prst="ellipse">
            <a:avLst/>
          </a:prstGeom>
          <a:solidFill>
            <a:srgbClr val="F2B705"/>
          </a:solidFill>
          <a:ln/>
        </p:spPr>
      </p:sp>
      <p:pic>
        <p:nvPicPr>
          <p:cNvPr id="14" name="Image 1" descr="/home/claude/shared_icons/icon_microscope.png">    </p:cNvPr>
          <p:cNvPicPr>
            <a:picLocks noChangeAspect="1"/>
          </p:cNvPicPr>
          <p:nvPr/>
        </p:nvPicPr>
        <p:blipFill>
          <a:blip r:embed="rId2"/>
          <a:stretch>
            <a:fillRect/>
          </a:stretch>
        </p:blipFill>
        <p:spPr>
          <a:xfrm>
            <a:off x="4524451" y="3015691"/>
            <a:ext cx="460858" cy="460858"/>
          </a:xfrm>
          <a:prstGeom prst="rect">
            <a:avLst/>
          </a:prstGeom>
        </p:spPr>
      </p:pic>
      <p:sp>
        <p:nvSpPr>
          <p:cNvPr id="15" name="Text 11"/>
          <p:cNvSpPr txBox="1"/>
          <p:nvPr/>
        </p:nvSpPr>
        <p:spPr>
          <a:xfrm>
            <a:off x="3566160" y="3749040"/>
            <a:ext cx="2377440" cy="5943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 Apakah yang Diketahui?</a:t>
            </a:r>
            <a:endParaRPr lang="en-US" sz="1200" dirty="0"/>
          </a:p>
        </p:txBody>
      </p:sp>
      <p:sp>
        <p:nvSpPr>
          <p:cNvPr id="16" name="Text 12"/>
          <p:cNvSpPr txBox="1"/>
          <p:nvPr/>
        </p:nvSpPr>
        <p:spPr>
          <a:xfrm>
            <a:off x="3611880" y="4434840"/>
            <a:ext cx="2286000" cy="1097280"/>
          </a:xfrm>
          <a:prstGeom prst="rect">
            <a:avLst/>
          </a:prstGeom>
          <a:noFill/>
          <a:ln/>
        </p:spPr>
        <p:txBody>
          <a:bodyPr wrap="square" rtlCol="0" anchor="ctr"/>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Senaraikan maklumat &amp; data yang diberikan.</a:t>
            </a:r>
            <a:endParaRPr lang="en-US" sz="1000" dirty="0"/>
          </a:p>
        </p:txBody>
      </p:sp>
      <p:sp>
        <p:nvSpPr>
          <p:cNvPr id="17" name="Text 13"/>
          <p:cNvSpPr txBox="1"/>
          <p:nvPr/>
        </p:nvSpPr>
        <p:spPr>
          <a:xfrm>
            <a:off x="6062472" y="402336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18" name="Shape 14"/>
          <p:cNvSpPr/>
          <p:nvPr/>
        </p:nvSpPr>
        <p:spPr>
          <a:xfrm>
            <a:off x="6309360" y="2651760"/>
            <a:ext cx="2651760" cy="3017520"/>
          </a:xfrm>
          <a:prstGeom prst="roundRect">
            <a:avLst>
              <a:gd name="adj" fmla="val 2759"/>
            </a:avLst>
          </a:prstGeom>
          <a:solidFill>
            <a:srgbClr val="1E2761"/>
          </a:solidFill>
          <a:ln/>
        </p:spPr>
      </p:sp>
      <p:sp>
        <p:nvSpPr>
          <p:cNvPr id="19" name="Shape 15"/>
          <p:cNvSpPr/>
          <p:nvPr/>
        </p:nvSpPr>
        <p:spPr>
          <a:xfrm>
            <a:off x="7315200" y="2926080"/>
            <a:ext cx="640080" cy="640080"/>
          </a:xfrm>
          <a:prstGeom prst="ellipse">
            <a:avLst/>
          </a:prstGeom>
          <a:solidFill>
            <a:srgbClr val="F2B705"/>
          </a:solidFill>
          <a:ln/>
        </p:spPr>
      </p:sp>
      <p:pic>
        <p:nvPicPr>
          <p:cNvPr id="20" name="Image 2" descr="/home/claude/shared_icons/icon_chalkboard.png">    </p:cNvPr>
          <p:cNvPicPr>
            <a:picLocks noChangeAspect="1"/>
          </p:cNvPicPr>
          <p:nvPr/>
        </p:nvPicPr>
        <p:blipFill>
          <a:blip r:embed="rId3"/>
          <a:stretch>
            <a:fillRect/>
          </a:stretch>
        </p:blipFill>
        <p:spPr>
          <a:xfrm>
            <a:off x="7404811" y="3015691"/>
            <a:ext cx="460858" cy="460858"/>
          </a:xfrm>
          <a:prstGeom prst="rect">
            <a:avLst/>
          </a:prstGeom>
        </p:spPr>
      </p:pic>
      <p:sp>
        <p:nvSpPr>
          <p:cNvPr id="21" name="Text 16"/>
          <p:cNvSpPr txBox="1"/>
          <p:nvPr/>
        </p:nvSpPr>
        <p:spPr>
          <a:xfrm>
            <a:off x="6446520" y="3749040"/>
            <a:ext cx="2377440" cy="5943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 Melaksanakan Strategi (Bertindak)</a:t>
            </a:r>
            <a:endParaRPr lang="en-US" sz="1200" dirty="0"/>
          </a:p>
        </p:txBody>
      </p:sp>
      <p:sp>
        <p:nvSpPr>
          <p:cNvPr id="22" name="Text 17"/>
          <p:cNvSpPr txBox="1"/>
          <p:nvPr/>
        </p:nvSpPr>
        <p:spPr>
          <a:xfrm>
            <a:off x="6492240" y="4434840"/>
            <a:ext cx="2286000" cy="1097280"/>
          </a:xfrm>
          <a:prstGeom prst="rect">
            <a:avLst/>
          </a:prstGeom>
          <a:noFill/>
          <a:ln/>
        </p:spPr>
        <p:txBody>
          <a:bodyPr wrap="square" rtlCol="0" anchor="ctr"/>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Pilih &amp; laksana strategi sesuai: model bar, jadual, cuba jaya, gambar rajah, dsb.</a:t>
            </a:r>
            <a:endParaRPr lang="en-US" sz="1000" dirty="0"/>
          </a:p>
        </p:txBody>
      </p:sp>
      <p:sp>
        <p:nvSpPr>
          <p:cNvPr id="23" name="Text 18"/>
          <p:cNvSpPr txBox="1"/>
          <p:nvPr/>
        </p:nvSpPr>
        <p:spPr>
          <a:xfrm>
            <a:off x="8942832" y="4023360"/>
            <a:ext cx="256032" cy="365760"/>
          </a:xfrm>
          <a:prstGeom prst="rect">
            <a:avLst/>
          </a:prstGeom>
          <a:noFill/>
          <a:ln/>
        </p:spPr>
        <p:txBody>
          <a:bodyPr wrap="square" rtlCol="0" anchor="ctr"/>
          <a:lstStyle/>
          <a:p>
            <a:pPr algn="ctr" indent="0" marL="0">
              <a:buNone/>
            </a:pPr>
            <a:r>
              <a:rPr lang="en-US" sz="2000" b="1" dirty="0">
                <a:solidFill>
                  <a:srgbClr val="5B6472"/>
                </a:solidFill>
                <a:latin typeface="Cambria" pitchFamily="34" charset="0"/>
                <a:ea typeface="Cambria" pitchFamily="34" charset="-122"/>
                <a:cs typeface="Cambria" pitchFamily="34" charset="-120"/>
              </a:rPr>
              <a:t>›</a:t>
            </a:r>
            <a:endParaRPr lang="en-US" sz="2000" dirty="0"/>
          </a:p>
        </p:txBody>
      </p:sp>
      <p:sp>
        <p:nvSpPr>
          <p:cNvPr id="24" name="Shape 19"/>
          <p:cNvSpPr/>
          <p:nvPr/>
        </p:nvSpPr>
        <p:spPr>
          <a:xfrm>
            <a:off x="9189720" y="2651760"/>
            <a:ext cx="2651760" cy="3017520"/>
          </a:xfrm>
          <a:prstGeom prst="roundRect">
            <a:avLst>
              <a:gd name="adj" fmla="val 2759"/>
            </a:avLst>
          </a:prstGeom>
          <a:solidFill>
            <a:srgbClr val="1E2761"/>
          </a:solidFill>
          <a:ln/>
        </p:spPr>
      </p:sp>
      <p:sp>
        <p:nvSpPr>
          <p:cNvPr id="25" name="Shape 20"/>
          <p:cNvSpPr/>
          <p:nvPr/>
        </p:nvSpPr>
        <p:spPr>
          <a:xfrm>
            <a:off x="10195560" y="2926080"/>
            <a:ext cx="640080" cy="640080"/>
          </a:xfrm>
          <a:prstGeom prst="ellipse">
            <a:avLst/>
          </a:prstGeom>
          <a:solidFill>
            <a:srgbClr val="F2B705"/>
          </a:solidFill>
          <a:ln/>
        </p:spPr>
      </p:sp>
      <p:pic>
        <p:nvPicPr>
          <p:cNvPr id="26" name="Image 3" descr="/home/claude/shared_icons/icon_check.png">    </p:cNvPr>
          <p:cNvPicPr>
            <a:picLocks noChangeAspect="1"/>
          </p:cNvPicPr>
          <p:nvPr/>
        </p:nvPicPr>
        <p:blipFill>
          <a:blip r:embed="rId4"/>
          <a:stretch>
            <a:fillRect/>
          </a:stretch>
        </p:blipFill>
        <p:spPr>
          <a:xfrm>
            <a:off x="10285171" y="3015691"/>
            <a:ext cx="460858" cy="460858"/>
          </a:xfrm>
          <a:prstGeom prst="rect">
            <a:avLst/>
          </a:prstGeom>
        </p:spPr>
      </p:pic>
      <p:sp>
        <p:nvSpPr>
          <p:cNvPr id="27" name="Text 21"/>
          <p:cNvSpPr txBox="1"/>
          <p:nvPr/>
        </p:nvSpPr>
        <p:spPr>
          <a:xfrm>
            <a:off x="9326880" y="3749040"/>
            <a:ext cx="2377440" cy="5943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 Menyemak Jawapan</a:t>
            </a:r>
            <a:endParaRPr lang="en-US" sz="1200" dirty="0"/>
          </a:p>
        </p:txBody>
      </p:sp>
      <p:sp>
        <p:nvSpPr>
          <p:cNvPr id="28" name="Text 22"/>
          <p:cNvSpPr txBox="1"/>
          <p:nvPr/>
        </p:nvSpPr>
        <p:spPr>
          <a:xfrm>
            <a:off x="9372600" y="4434840"/>
            <a:ext cx="2286000" cy="1097280"/>
          </a:xfrm>
          <a:prstGeom prst="rect">
            <a:avLst/>
          </a:prstGeom>
          <a:noFill/>
          <a:ln/>
        </p:spPr>
        <p:txBody>
          <a:bodyPr wrap="square" rtlCol="0" anchor="ctr"/>
          <a:lstStyle/>
          <a:p>
            <a:pPr algn="ctr" indent="0" marL="0">
              <a:lnSpc>
                <a:spcPct val="120000"/>
              </a:lnSpc>
              <a:buNone/>
            </a:pPr>
            <a:r>
              <a:rPr lang="en-US" sz="1000" dirty="0">
                <a:solidFill>
                  <a:srgbClr val="CADCFC"/>
                </a:solidFill>
                <a:latin typeface="Calibri" pitchFamily="34" charset="0"/>
                <a:ea typeface="Calibri" pitchFamily="34" charset="-122"/>
                <a:cs typeface="Calibri" pitchFamily="34" charset="-120"/>
              </a:rPr>
              <a:t>Sahkan jawapan munasabah &amp; memenuhi syarat soalan.</a:t>
            </a:r>
            <a:endParaRPr lang="en-US" sz="1000" dirty="0"/>
          </a:p>
        </p:txBody>
      </p:sp>
      <p:sp>
        <p:nvSpPr>
          <p:cNvPr id="29" name="Text 23"/>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5, m/s 52–53 (rangka Polya)</a:t>
            </a:r>
            <a:endParaRPr lang="en-US" sz="1000" dirty="0"/>
          </a:p>
        </p:txBody>
      </p:sp>
      <p:sp>
        <p:nvSpPr>
          <p:cNvPr id="30" name="Text 2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PERJELASAN PENTING</a:t>
            </a:r>
            <a:endParaRPr lang="en-US" sz="1300" dirty="0"/>
          </a:p>
        </p:txBody>
      </p:sp>
      <p:sp>
        <p:nvSpPr>
          <p:cNvPr id="3" name="Text 1"/>
          <p:cNvSpPr txBox="1"/>
          <p:nvPr/>
        </p:nvSpPr>
        <p:spPr>
          <a:xfrm>
            <a:off x="548640" y="658368"/>
            <a:ext cx="11247120" cy="685800"/>
          </a:xfrm>
          <a:prstGeom prst="rect">
            <a:avLst/>
          </a:prstGeom>
          <a:noFill/>
          <a:ln/>
        </p:spPr>
        <p:txBody>
          <a:bodyPr wrap="square"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Model Bar: Satu Strategi Heuristik, Bukan Segala-galanya</a:t>
            </a:r>
            <a:endParaRPr lang="en-US" sz="2300" dirty="0"/>
          </a:p>
        </p:txBody>
      </p:sp>
      <p:sp>
        <p:nvSpPr>
          <p:cNvPr id="4" name="Text 2"/>
          <p:cNvSpPr txBox="1"/>
          <p:nvPr/>
        </p:nvSpPr>
        <p:spPr>
          <a:xfrm>
            <a:off x="548640" y="1508760"/>
            <a:ext cx="11064240" cy="640080"/>
          </a:xfrm>
          <a:prstGeom prst="rect">
            <a:avLst/>
          </a:prstGeom>
          <a:noFill/>
          <a:ln/>
        </p:spPr>
        <p:txBody>
          <a:bodyPr wrap="square"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Apakah itu Model Bar? Lakaran ringkas menggunakan bar segi empat tepat untuk menunjukkan nombor dan cara nombor-nombor berkait — bar yang lebih panjang mewakili nombor yang lebih besar.</a:t>
            </a:r>
            <a:endParaRPr lang="en-US" sz="1250" dirty="0"/>
          </a:p>
        </p:txBody>
      </p:sp>
      <p:sp>
        <p:nvSpPr>
          <p:cNvPr id="5" name="Text 3"/>
          <p:cNvSpPr txBox="1"/>
          <p:nvPr/>
        </p:nvSpPr>
        <p:spPr>
          <a:xfrm>
            <a:off x="548640" y="2286000"/>
            <a:ext cx="11064240" cy="365760"/>
          </a:xfrm>
          <a:prstGeom prst="rect">
            <a:avLst/>
          </a:prstGeom>
          <a:noFill/>
          <a:ln/>
        </p:spPr>
        <p:txBody>
          <a:bodyPr wrap="square"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Model Bar sesuai digunakan bersama strategi heuristik LAIN mengikut konteks tajuk:</a:t>
            </a:r>
            <a:endParaRPr lang="en-US" sz="1250" dirty="0"/>
          </a:p>
        </p:txBody>
      </p:sp>
      <p:sp>
        <p:nvSpPr>
          <p:cNvPr id="6" name="Shape 4"/>
          <p:cNvSpPr/>
          <p:nvPr/>
        </p:nvSpPr>
        <p:spPr>
          <a:xfrm>
            <a:off x="548640" y="2834640"/>
            <a:ext cx="3520440" cy="1737360"/>
          </a:xfrm>
          <a:prstGeom prst="roundRect">
            <a:avLst>
              <a:gd name="adj" fmla="val 4211"/>
            </a:avLst>
          </a:prstGeom>
          <a:solidFill>
            <a:srgbClr val="141A45"/>
          </a:solidFill>
          <a:ln w="12700">
            <a:solidFill>
              <a:srgbClr val="8E44AD"/>
            </a:solidFill>
            <a:prstDash val="solid"/>
          </a:ln>
        </p:spPr>
      </p:sp>
      <p:sp>
        <p:nvSpPr>
          <p:cNvPr id="7" name="Shape 5"/>
          <p:cNvSpPr/>
          <p:nvPr/>
        </p:nvSpPr>
        <p:spPr>
          <a:xfrm>
            <a:off x="713232" y="3017520"/>
            <a:ext cx="502920" cy="502920"/>
          </a:xfrm>
          <a:prstGeom prst="ellipse">
            <a:avLst/>
          </a:prstGeom>
          <a:solidFill>
            <a:srgbClr val="8E44AD"/>
          </a:solidFill>
          <a:ln/>
        </p:spPr>
      </p:sp>
      <p:pic>
        <p:nvPicPr>
          <p:cNvPr id="8" name="Image 0" descr="/home/claude/shared_icons/icon_percentage.png">    </p:cNvPr>
          <p:cNvPicPr>
            <a:picLocks noChangeAspect="1"/>
          </p:cNvPicPr>
          <p:nvPr/>
        </p:nvPicPr>
        <p:blipFill>
          <a:blip r:embed="rId1"/>
          <a:stretch>
            <a:fillRect/>
          </a:stretch>
        </p:blipFill>
        <p:spPr>
          <a:xfrm>
            <a:off x="783641" y="3087929"/>
            <a:ext cx="362102" cy="362102"/>
          </a:xfrm>
          <a:prstGeom prst="rect">
            <a:avLst/>
          </a:prstGeom>
        </p:spPr>
      </p:pic>
      <p:sp>
        <p:nvSpPr>
          <p:cNvPr id="9" name="Text 6"/>
          <p:cNvSpPr txBox="1"/>
          <p:nvPr/>
        </p:nvSpPr>
        <p:spPr>
          <a:xfrm>
            <a:off x="1325880" y="2971800"/>
            <a:ext cx="2606040" cy="502920"/>
          </a:xfrm>
          <a:prstGeom prst="rect">
            <a:avLst/>
          </a:prstGeom>
          <a:noFill/>
          <a:ln/>
        </p:spPr>
        <p:txBody>
          <a:bodyPr wrap="square"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3.0 Nisbah/Kadar</a:t>
            </a:r>
            <a:endParaRPr lang="en-US" sz="1150" dirty="0"/>
          </a:p>
        </p:txBody>
      </p:sp>
      <p:sp>
        <p:nvSpPr>
          <p:cNvPr id="10" name="Text 7"/>
          <p:cNvSpPr txBox="1"/>
          <p:nvPr/>
        </p:nvSpPr>
        <p:spPr>
          <a:xfrm>
            <a:off x="731520" y="3703320"/>
            <a:ext cx="3154680" cy="777240"/>
          </a:xfrm>
          <a:prstGeom prst="rect">
            <a:avLst/>
          </a:prstGeom>
          <a:noFill/>
          <a:ln/>
        </p:spPr>
        <p:txBody>
          <a:bodyPr wrap="square" rtlCol="0" anchor="ctr"/>
          <a:lstStyle/>
          <a:p>
            <a:pPr indent="0" marL="0">
              <a:lnSpc>
                <a:spcPct val="120000"/>
              </a:lnSpc>
              <a:buNone/>
            </a:pPr>
            <a:r>
              <a:rPr lang="en-US" sz="1000" dirty="0">
                <a:solidFill>
                  <a:srgbClr val="CADCFC"/>
                </a:solidFill>
                <a:latin typeface="Calibri" pitchFamily="34" charset="0"/>
                <a:ea typeface="Calibri" pitchFamily="34" charset="-122"/>
                <a:cs typeface="Calibri" pitchFamily="34" charset="-120"/>
              </a:rPr>
              <a:t>SATU daripada 3 pilihan (bersama darab silang &amp; unitari).</a:t>
            </a:r>
            <a:endParaRPr lang="en-US" sz="1000" dirty="0"/>
          </a:p>
        </p:txBody>
      </p:sp>
      <p:sp>
        <p:nvSpPr>
          <p:cNvPr id="11" name="Shape 8"/>
          <p:cNvSpPr/>
          <p:nvPr/>
        </p:nvSpPr>
        <p:spPr>
          <a:xfrm>
            <a:off x="4343400" y="2834640"/>
            <a:ext cx="3520440" cy="1737360"/>
          </a:xfrm>
          <a:prstGeom prst="roundRect">
            <a:avLst>
              <a:gd name="adj" fmla="val 4211"/>
            </a:avLst>
          </a:prstGeom>
          <a:solidFill>
            <a:srgbClr val="141A45"/>
          </a:solidFill>
          <a:ln w="12700">
            <a:solidFill>
              <a:srgbClr val="8E44AD"/>
            </a:solidFill>
            <a:prstDash val="solid"/>
          </a:ln>
        </p:spPr>
      </p:sp>
      <p:sp>
        <p:nvSpPr>
          <p:cNvPr id="12" name="Shape 9"/>
          <p:cNvSpPr/>
          <p:nvPr/>
        </p:nvSpPr>
        <p:spPr>
          <a:xfrm>
            <a:off x="4507992" y="3017520"/>
            <a:ext cx="502920" cy="502920"/>
          </a:xfrm>
          <a:prstGeom prst="ellipse">
            <a:avLst/>
          </a:prstGeom>
          <a:solidFill>
            <a:srgbClr val="8E44AD"/>
          </a:solidFill>
          <a:ln/>
        </p:spPr>
      </p:sp>
      <p:pic>
        <p:nvPicPr>
          <p:cNvPr id="13" name="Image 1" descr="/home/claude/shared_icons/icon_puzzle.png">    </p:cNvPr>
          <p:cNvPicPr>
            <a:picLocks noChangeAspect="1"/>
          </p:cNvPicPr>
          <p:nvPr/>
        </p:nvPicPr>
        <p:blipFill>
          <a:blip r:embed="rId2"/>
          <a:stretch>
            <a:fillRect/>
          </a:stretch>
        </p:blipFill>
        <p:spPr>
          <a:xfrm>
            <a:off x="4578401" y="3087929"/>
            <a:ext cx="362102" cy="362102"/>
          </a:xfrm>
          <a:prstGeom prst="rect">
            <a:avLst/>
          </a:prstGeom>
        </p:spPr>
      </p:pic>
      <p:sp>
        <p:nvSpPr>
          <p:cNvPr id="14" name="Text 10"/>
          <p:cNvSpPr txBox="1"/>
          <p:nvPr/>
        </p:nvSpPr>
        <p:spPr>
          <a:xfrm>
            <a:off x="5120640" y="2971800"/>
            <a:ext cx="2606040" cy="502920"/>
          </a:xfrm>
          <a:prstGeom prst="rect">
            <a:avLst/>
          </a:prstGeom>
          <a:noFill/>
          <a:ln/>
        </p:spPr>
        <p:txBody>
          <a:bodyPr wrap="square"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4.0 Ungkapan Algebra</a:t>
            </a:r>
            <a:endParaRPr lang="en-US" sz="1150" dirty="0"/>
          </a:p>
        </p:txBody>
      </p:sp>
      <p:sp>
        <p:nvSpPr>
          <p:cNvPr id="15" name="Text 11"/>
          <p:cNvSpPr txBox="1"/>
          <p:nvPr/>
        </p:nvSpPr>
        <p:spPr>
          <a:xfrm>
            <a:off x="4526280" y="3703320"/>
            <a:ext cx="3154680" cy="777240"/>
          </a:xfrm>
          <a:prstGeom prst="rect">
            <a:avLst/>
          </a:prstGeom>
          <a:noFill/>
          <a:ln/>
        </p:spPr>
        <p:txBody>
          <a:bodyPr wrap="square" rtlCol="0" anchor="ctr"/>
          <a:lstStyle/>
          <a:p>
            <a:pPr indent="0" marL="0">
              <a:lnSpc>
                <a:spcPct val="120000"/>
              </a:lnSpc>
              <a:buNone/>
            </a:pPr>
            <a:r>
              <a:rPr lang="en-US" sz="1000" dirty="0">
                <a:solidFill>
                  <a:srgbClr val="CADCFC"/>
                </a:solidFill>
                <a:latin typeface="Calibri" pitchFamily="34" charset="0"/>
                <a:ea typeface="Calibri" pitchFamily="34" charset="-122"/>
                <a:cs typeface="Calibri" pitchFamily="34" charset="-120"/>
              </a:rPr>
              <a:t>SATU daripada pelbagai wakilan (bersama gambar rajah &amp; jubin algebra).</a:t>
            </a:r>
            <a:endParaRPr lang="en-US" sz="1000" dirty="0"/>
          </a:p>
        </p:txBody>
      </p:sp>
      <p:sp>
        <p:nvSpPr>
          <p:cNvPr id="16" name="Shape 12"/>
          <p:cNvSpPr/>
          <p:nvPr/>
        </p:nvSpPr>
        <p:spPr>
          <a:xfrm>
            <a:off x="8138160" y="2834640"/>
            <a:ext cx="3520440" cy="1737360"/>
          </a:xfrm>
          <a:prstGeom prst="roundRect">
            <a:avLst>
              <a:gd name="adj" fmla="val 4211"/>
            </a:avLst>
          </a:prstGeom>
          <a:solidFill>
            <a:srgbClr val="141A45"/>
          </a:solidFill>
          <a:ln w="12700">
            <a:solidFill>
              <a:srgbClr val="8E44AD"/>
            </a:solidFill>
            <a:prstDash val="solid"/>
          </a:ln>
        </p:spPr>
      </p:sp>
      <p:sp>
        <p:nvSpPr>
          <p:cNvPr id="17" name="Shape 13"/>
          <p:cNvSpPr/>
          <p:nvPr/>
        </p:nvSpPr>
        <p:spPr>
          <a:xfrm>
            <a:off x="8302752" y="3017520"/>
            <a:ext cx="502920" cy="502920"/>
          </a:xfrm>
          <a:prstGeom prst="ellipse">
            <a:avLst/>
          </a:prstGeom>
          <a:solidFill>
            <a:srgbClr val="8E44AD"/>
          </a:solidFill>
          <a:ln/>
        </p:spPr>
      </p:sp>
      <p:pic>
        <p:nvPicPr>
          <p:cNvPr id="18" name="Image 2" descr="/home/claude/shared_icons/icon_balanceScale.png">    </p:cNvPr>
          <p:cNvPicPr>
            <a:picLocks noChangeAspect="1"/>
          </p:cNvPicPr>
          <p:nvPr/>
        </p:nvPicPr>
        <p:blipFill>
          <a:blip r:embed="rId3"/>
          <a:stretch>
            <a:fillRect/>
          </a:stretch>
        </p:blipFill>
        <p:spPr>
          <a:xfrm>
            <a:off x="8373161" y="3087929"/>
            <a:ext cx="362102" cy="362102"/>
          </a:xfrm>
          <a:prstGeom prst="rect">
            <a:avLst/>
          </a:prstGeom>
        </p:spPr>
      </p:pic>
      <p:sp>
        <p:nvSpPr>
          <p:cNvPr id="19" name="Text 14"/>
          <p:cNvSpPr txBox="1"/>
          <p:nvPr/>
        </p:nvSpPr>
        <p:spPr>
          <a:xfrm>
            <a:off x="8915400" y="2971800"/>
            <a:ext cx="2606040" cy="502920"/>
          </a:xfrm>
          <a:prstGeom prst="rect">
            <a:avLst/>
          </a:prstGeom>
          <a:noFill/>
          <a:ln/>
        </p:spPr>
        <p:txBody>
          <a:bodyPr wrap="square"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5.0 Persamaan/Ketaksamaan</a:t>
            </a:r>
            <a:endParaRPr lang="en-US" sz="1150" dirty="0"/>
          </a:p>
        </p:txBody>
      </p:sp>
      <p:sp>
        <p:nvSpPr>
          <p:cNvPr id="20" name="Text 15"/>
          <p:cNvSpPr txBox="1"/>
          <p:nvPr/>
        </p:nvSpPr>
        <p:spPr>
          <a:xfrm>
            <a:off x="8321040" y="3703320"/>
            <a:ext cx="3154680" cy="777240"/>
          </a:xfrm>
          <a:prstGeom prst="rect">
            <a:avLst/>
          </a:prstGeom>
          <a:noFill/>
          <a:ln/>
        </p:spPr>
        <p:txBody>
          <a:bodyPr wrap="square" rtlCol="0" anchor="ctr"/>
          <a:lstStyle/>
          <a:p>
            <a:pPr indent="0" marL="0">
              <a:lnSpc>
                <a:spcPct val="120000"/>
              </a:lnSpc>
              <a:buNone/>
            </a:pPr>
            <a:r>
              <a:rPr lang="en-US" sz="1000" dirty="0">
                <a:solidFill>
                  <a:srgbClr val="CADCFC"/>
                </a:solidFill>
                <a:latin typeface="Calibri" pitchFamily="34" charset="0"/>
                <a:ea typeface="Calibri" pitchFamily="34" charset="-122"/>
                <a:cs typeface="Calibri" pitchFamily="34" charset="-120"/>
              </a:rPr>
              <a:t>Boleh digunakan sebagai sokongan visual awal sebelum kaedah algebra formal.</a:t>
            </a:r>
            <a:endParaRPr lang="en-US" sz="1000" dirty="0"/>
          </a:p>
        </p:txBody>
      </p:sp>
      <p:sp>
        <p:nvSpPr>
          <p:cNvPr id="21" name="Shape 16"/>
          <p:cNvSpPr/>
          <p:nvPr/>
        </p:nvSpPr>
        <p:spPr>
          <a:xfrm>
            <a:off x="548640" y="4846320"/>
            <a:ext cx="11064240" cy="1280160"/>
          </a:xfrm>
          <a:prstGeom prst="roundRect">
            <a:avLst>
              <a:gd name="adj" fmla="val 5714"/>
            </a:avLst>
          </a:prstGeom>
          <a:solidFill>
            <a:srgbClr val="F2B705"/>
          </a:solidFill>
          <a:ln/>
        </p:spPr>
      </p:sp>
      <p:sp>
        <p:nvSpPr>
          <p:cNvPr id="22" name="Text 17"/>
          <p:cNvSpPr txBox="1"/>
          <p:nvPr/>
        </p:nvSpPr>
        <p:spPr>
          <a:xfrm>
            <a:off x="777240" y="4937760"/>
            <a:ext cx="10607040" cy="1097280"/>
          </a:xfrm>
          <a:prstGeom prst="rect">
            <a:avLst/>
          </a:prstGeom>
          <a:noFill/>
          <a:ln/>
        </p:spPr>
        <p:txBody>
          <a:bodyPr wrap="square" rtlCol="0" anchor="ctr"/>
          <a:lstStyle/>
          <a:p>
            <a:pPr indent="0" marL="0">
              <a:lnSpc>
                <a:spcPct val="120000"/>
              </a:lnSpc>
              <a:buNone/>
            </a:pPr>
            <a:r>
              <a:rPr lang="en-US" sz="1150" b="1" dirty="0">
                <a:solidFill>
                  <a:srgbClr val="1E2761"/>
                </a:solidFill>
                <a:latin typeface="Calibri" pitchFamily="34" charset="0"/>
                <a:ea typeface="Calibri" pitchFamily="34" charset="-122"/>
                <a:cs typeface="Calibri" pitchFamily="34" charset="-120"/>
              </a:rPr>
              <a:t>AMARAN GURU: Elakkan anggapan bahawa Model Bar mewakili KESELURUHAN pendekatan pengajaran Algebra. Ia SATU alat dalam pelbagai strategi heuristik (darab silang, unitari, jubin algebra, cuba jaya, penyenaraian sistematik) yang perlu dipelbagaikan mengikut kesesuaian SP dan tahap murid.</a:t>
            </a:r>
            <a:endParaRPr lang="en-US" sz="1150" dirty="0"/>
          </a:p>
        </p:txBody>
      </p:sp>
      <p:sp>
        <p:nvSpPr>
          <p:cNvPr id="23"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Rumusan Nota SP 3.2.3, 4.1.3 &amp; rangka Heuristik, Slaid Sidang 5</a:t>
            </a:r>
            <a:endParaRPr lang="en-US" sz="1000" dirty="0"/>
          </a:p>
        </p:txBody>
      </p:sp>
      <p:sp>
        <p:nvSpPr>
          <p:cNvPr id="24"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APLIKASI DALAM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Contoh Praktis: Model Bar untuk Nisbah</a:t>
            </a:r>
            <a:endParaRPr lang="en-US" sz="2600" dirty="0"/>
          </a:p>
        </p:txBody>
      </p:sp>
      <p:sp>
        <p:nvSpPr>
          <p:cNvPr id="4" name="Text 2"/>
          <p:cNvSpPr txBox="1"/>
          <p:nvPr/>
        </p:nvSpPr>
        <p:spPr>
          <a:xfrm>
            <a:off x="548640" y="1600200"/>
            <a:ext cx="11064240" cy="685800"/>
          </a:xfrm>
          <a:prstGeom prst="rect">
            <a:avLst/>
          </a:prstGeom>
          <a:noFill/>
          <a:ln/>
        </p:spPr>
        <p:txBody>
          <a:bodyPr wrap="square" rtlCol="0" anchor="ctr"/>
          <a:lstStyle/>
          <a:p>
            <a:pPr indent="0" marL="0">
              <a:lnSpc>
                <a:spcPct val="125000"/>
              </a:lnSpc>
              <a:buNone/>
            </a:pPr>
            <a:r>
              <a:rPr lang="en-US" sz="1350" dirty="0">
                <a:solidFill>
                  <a:srgbClr val="141A45"/>
                </a:solidFill>
                <a:latin typeface="Calibri" pitchFamily="34" charset="0"/>
                <a:ea typeface="Calibri" pitchFamily="34" charset="-122"/>
                <a:cs typeface="Calibri" pitchFamily="34" charset="-120"/>
              </a:rPr>
              <a:t>Janah dan Zila berkongsi sejumlah wang dalam nisbah 5 : 3. Janah mempunyai RM160 lebih daripada Zila. Berapakah jumlah wang yang diterima oleh setiap orang?</a:t>
            </a:r>
            <a:endParaRPr lang="en-US" sz="1350" dirty="0"/>
          </a:p>
        </p:txBody>
      </p:sp>
      <p:sp>
        <p:nvSpPr>
          <p:cNvPr id="5" name="Shape 3"/>
          <p:cNvSpPr/>
          <p:nvPr/>
        </p:nvSpPr>
        <p:spPr>
          <a:xfrm>
            <a:off x="548640" y="2423160"/>
            <a:ext cx="11064240" cy="1828800"/>
          </a:xfrm>
          <a:prstGeom prst="roundRect">
            <a:avLst>
              <a:gd name="adj" fmla="val 3000"/>
            </a:avLst>
          </a:prstGeom>
          <a:solidFill>
            <a:srgbClr val="F5F7FC"/>
          </a:solidFill>
          <a:ln w="12700">
            <a:solidFill>
              <a:srgbClr val="E7EAF2"/>
            </a:solidFill>
            <a:prstDash val="solid"/>
          </a:ln>
        </p:spPr>
      </p:sp>
      <p:sp>
        <p:nvSpPr>
          <p:cNvPr id="6" name="Text 4"/>
          <p:cNvSpPr txBox="1"/>
          <p:nvPr/>
        </p:nvSpPr>
        <p:spPr>
          <a:xfrm>
            <a:off x="777240" y="2606040"/>
            <a:ext cx="9144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Janah</a:t>
            </a:r>
            <a:endParaRPr lang="en-US" sz="1200" dirty="0"/>
          </a:p>
        </p:txBody>
      </p:sp>
      <p:sp>
        <p:nvSpPr>
          <p:cNvPr id="7" name="Shape 5"/>
          <p:cNvSpPr/>
          <p:nvPr/>
        </p:nvSpPr>
        <p:spPr>
          <a:xfrm>
            <a:off x="1828800" y="2606040"/>
            <a:ext cx="822960" cy="457200"/>
          </a:xfrm>
          <a:prstGeom prst="rect">
            <a:avLst/>
          </a:prstGeom>
          <a:solidFill>
            <a:srgbClr val="E67E22"/>
          </a:solidFill>
          <a:ln w="12700">
            <a:solidFill>
              <a:srgbClr val="141A45"/>
            </a:solidFill>
            <a:prstDash val="solid"/>
          </a:ln>
        </p:spPr>
      </p:sp>
      <p:sp>
        <p:nvSpPr>
          <p:cNvPr id="8" name="Shape 6"/>
          <p:cNvSpPr/>
          <p:nvPr/>
        </p:nvSpPr>
        <p:spPr>
          <a:xfrm>
            <a:off x="2697480" y="2606040"/>
            <a:ext cx="822960" cy="457200"/>
          </a:xfrm>
          <a:prstGeom prst="rect">
            <a:avLst/>
          </a:prstGeom>
          <a:solidFill>
            <a:srgbClr val="E67E22"/>
          </a:solidFill>
          <a:ln w="12700">
            <a:solidFill>
              <a:srgbClr val="141A45"/>
            </a:solidFill>
            <a:prstDash val="solid"/>
          </a:ln>
        </p:spPr>
      </p:sp>
      <p:sp>
        <p:nvSpPr>
          <p:cNvPr id="9" name="Shape 7"/>
          <p:cNvSpPr/>
          <p:nvPr/>
        </p:nvSpPr>
        <p:spPr>
          <a:xfrm>
            <a:off x="3566160" y="2606040"/>
            <a:ext cx="822960" cy="457200"/>
          </a:xfrm>
          <a:prstGeom prst="rect">
            <a:avLst/>
          </a:prstGeom>
          <a:solidFill>
            <a:srgbClr val="E67E22"/>
          </a:solidFill>
          <a:ln w="12700">
            <a:solidFill>
              <a:srgbClr val="141A45"/>
            </a:solidFill>
            <a:prstDash val="solid"/>
          </a:ln>
        </p:spPr>
      </p:sp>
      <p:sp>
        <p:nvSpPr>
          <p:cNvPr id="10" name="Shape 8"/>
          <p:cNvSpPr/>
          <p:nvPr/>
        </p:nvSpPr>
        <p:spPr>
          <a:xfrm>
            <a:off x="4434840" y="2606040"/>
            <a:ext cx="822960" cy="457200"/>
          </a:xfrm>
          <a:prstGeom prst="rect">
            <a:avLst/>
          </a:prstGeom>
          <a:solidFill>
            <a:srgbClr val="E67E22"/>
          </a:solidFill>
          <a:ln w="12700">
            <a:solidFill>
              <a:srgbClr val="141A45"/>
            </a:solidFill>
            <a:prstDash val="solid"/>
          </a:ln>
        </p:spPr>
      </p:sp>
      <p:sp>
        <p:nvSpPr>
          <p:cNvPr id="11" name="Shape 9"/>
          <p:cNvSpPr/>
          <p:nvPr/>
        </p:nvSpPr>
        <p:spPr>
          <a:xfrm>
            <a:off x="5303520" y="2606040"/>
            <a:ext cx="822960" cy="457200"/>
          </a:xfrm>
          <a:prstGeom prst="rect">
            <a:avLst/>
          </a:prstGeom>
          <a:solidFill>
            <a:srgbClr val="E67E22"/>
          </a:solidFill>
          <a:ln w="12700">
            <a:solidFill>
              <a:srgbClr val="141A45"/>
            </a:solidFill>
            <a:prstDash val="solid"/>
          </a:ln>
        </p:spPr>
      </p:sp>
      <p:sp>
        <p:nvSpPr>
          <p:cNvPr id="12" name="Text 10"/>
          <p:cNvSpPr txBox="1"/>
          <p:nvPr/>
        </p:nvSpPr>
        <p:spPr>
          <a:xfrm>
            <a:off x="777240" y="3246120"/>
            <a:ext cx="91440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Zila</a:t>
            </a:r>
            <a:endParaRPr lang="en-US" sz="1200" dirty="0"/>
          </a:p>
        </p:txBody>
      </p:sp>
      <p:sp>
        <p:nvSpPr>
          <p:cNvPr id="13" name="Shape 11"/>
          <p:cNvSpPr/>
          <p:nvPr/>
        </p:nvSpPr>
        <p:spPr>
          <a:xfrm>
            <a:off x="1828800" y="3246120"/>
            <a:ext cx="822960" cy="457200"/>
          </a:xfrm>
          <a:prstGeom prst="rect">
            <a:avLst/>
          </a:prstGeom>
          <a:solidFill>
            <a:srgbClr val="1E2761"/>
          </a:solidFill>
          <a:ln w="12700">
            <a:solidFill>
              <a:srgbClr val="141A45"/>
            </a:solidFill>
            <a:prstDash val="solid"/>
          </a:ln>
        </p:spPr>
      </p:sp>
      <p:sp>
        <p:nvSpPr>
          <p:cNvPr id="14" name="Shape 12"/>
          <p:cNvSpPr/>
          <p:nvPr/>
        </p:nvSpPr>
        <p:spPr>
          <a:xfrm>
            <a:off x="2697480" y="3246120"/>
            <a:ext cx="822960" cy="457200"/>
          </a:xfrm>
          <a:prstGeom prst="rect">
            <a:avLst/>
          </a:prstGeom>
          <a:solidFill>
            <a:srgbClr val="1E2761"/>
          </a:solidFill>
          <a:ln w="12700">
            <a:solidFill>
              <a:srgbClr val="141A45"/>
            </a:solidFill>
            <a:prstDash val="solid"/>
          </a:ln>
        </p:spPr>
      </p:sp>
      <p:sp>
        <p:nvSpPr>
          <p:cNvPr id="15" name="Shape 13"/>
          <p:cNvSpPr/>
          <p:nvPr/>
        </p:nvSpPr>
        <p:spPr>
          <a:xfrm>
            <a:off x="3566160" y="3246120"/>
            <a:ext cx="822960" cy="457200"/>
          </a:xfrm>
          <a:prstGeom prst="rect">
            <a:avLst/>
          </a:prstGeom>
          <a:solidFill>
            <a:srgbClr val="1E2761"/>
          </a:solidFill>
          <a:ln w="12700">
            <a:solidFill>
              <a:srgbClr val="141A45"/>
            </a:solidFill>
            <a:prstDash val="solid"/>
          </a:ln>
        </p:spPr>
      </p:sp>
      <p:sp>
        <p:nvSpPr>
          <p:cNvPr id="16" name="Text 14"/>
          <p:cNvSpPr txBox="1"/>
          <p:nvPr/>
        </p:nvSpPr>
        <p:spPr>
          <a:xfrm>
            <a:off x="5394960" y="2743200"/>
            <a:ext cx="1371600" cy="32004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RM160</a:t>
            </a:r>
            <a:endParaRPr lang="en-US" sz="1100" dirty="0"/>
          </a:p>
        </p:txBody>
      </p:sp>
      <p:sp>
        <p:nvSpPr>
          <p:cNvPr id="17" name="Text 15"/>
          <p:cNvSpPr txBox="1"/>
          <p:nvPr/>
        </p:nvSpPr>
        <p:spPr>
          <a:xfrm>
            <a:off x="777240" y="3840480"/>
            <a:ext cx="5486400" cy="320040"/>
          </a:xfrm>
          <a:prstGeom prst="rect">
            <a:avLst/>
          </a:prstGeom>
          <a:noFill/>
          <a:ln/>
        </p:spPr>
        <p:txBody>
          <a:bodyPr wrap="square"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(beza 2 kotak = RM160)</a:t>
            </a:r>
            <a:endParaRPr lang="en-US" sz="1050" dirty="0"/>
          </a:p>
        </p:txBody>
      </p:sp>
      <p:sp>
        <p:nvSpPr>
          <p:cNvPr id="18" name="Text 16"/>
          <p:cNvSpPr txBox="1"/>
          <p:nvPr/>
        </p:nvSpPr>
        <p:spPr>
          <a:xfrm>
            <a:off x="6858000" y="2606040"/>
            <a:ext cx="4480560" cy="1554480"/>
          </a:xfrm>
          <a:prstGeom prst="rect">
            <a:avLst/>
          </a:prstGeom>
          <a:noFill/>
          <a:ln/>
        </p:spPr>
        <p:txBody>
          <a:bodyPr wrap="square" rtlCol="0" anchor="t"/>
          <a:lstStyle/>
          <a:p>
            <a:pPr marL="228600" indent="-228600">
              <a:spcAft>
                <a:spcPts val="800"/>
              </a:spcAft>
              <a:buSzPct val="100000"/>
              <a:buChar char="▪"/>
            </a:pPr>
            <a:r>
              <a:rPr lang="en-US" sz="1200" b="1" dirty="0">
                <a:solidFill>
                  <a:srgbClr val="141A45"/>
                </a:solidFill>
                <a:latin typeface="Calibri" pitchFamily="34" charset="0"/>
                <a:ea typeface="Calibri" pitchFamily="34" charset="-122"/>
                <a:cs typeface="Calibri" pitchFamily="34" charset="-120"/>
              </a:rPr>
              <a:t>2 unit → RM160,  maka 1 unit → RM80</a:t>
            </a:r>
            <a:endParaRPr lang="en-US" sz="1200" dirty="0"/>
          </a:p>
          <a:p>
            <a:pPr marL="228600" indent="-228600">
              <a:spcAft>
                <a:spcPts val="800"/>
              </a:spcAft>
              <a:buSzPct val="100000"/>
              <a:buChar char="▪"/>
            </a:pPr>
            <a:r>
              <a:rPr lang="en-US" sz="1200" b="1" dirty="0">
                <a:solidFill>
                  <a:srgbClr val="141A45"/>
                </a:solidFill>
                <a:latin typeface="Calibri" pitchFamily="34" charset="0"/>
                <a:ea typeface="Calibri" pitchFamily="34" charset="-122"/>
                <a:cs typeface="Calibri" pitchFamily="34" charset="-120"/>
              </a:rPr>
              <a:t>Wang Janah = 5 unit = 5 × RM80 = RM400</a:t>
            </a:r>
            <a:endParaRPr lang="en-US" sz="1200" dirty="0"/>
          </a:p>
          <a:p>
            <a:pPr marL="228600" indent="-228600">
              <a:spcAft>
                <a:spcPts val="800"/>
              </a:spcAft>
              <a:buSzPct val="100000"/>
              <a:buChar char="▪"/>
            </a:pPr>
            <a:r>
              <a:rPr lang="en-US" sz="1200" b="1" dirty="0">
                <a:solidFill>
                  <a:srgbClr val="141A45"/>
                </a:solidFill>
                <a:latin typeface="Calibri" pitchFamily="34" charset="0"/>
                <a:ea typeface="Calibri" pitchFamily="34" charset="-122"/>
                <a:cs typeface="Calibri" pitchFamily="34" charset="-120"/>
              </a:rPr>
              <a:t>Wang Zila = 3 unit = 3 × RM80 = RM240</a:t>
            </a:r>
            <a:endParaRPr lang="en-US" sz="1200" dirty="0"/>
          </a:p>
        </p:txBody>
      </p:sp>
      <p:sp>
        <p:nvSpPr>
          <p:cNvPr id="19" name="Text 17"/>
          <p:cNvSpPr txBox="1"/>
          <p:nvPr/>
        </p:nvSpPr>
        <p:spPr>
          <a:xfrm>
            <a:off x="548640" y="4526280"/>
            <a:ext cx="11064240" cy="457200"/>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Nota: Kaedah unitari (“1 unit → ?”) dan kaedah darab silang turut boleh digunakan untuk soalan sama — lihat Slaid 5.</a:t>
            </a:r>
            <a:endParaRPr lang="en-US" sz="1100" dirty="0"/>
          </a:p>
        </p:txBody>
      </p:sp>
      <p:sp>
        <p:nvSpPr>
          <p:cNvPr id="20"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5, m/s 41</a:t>
            </a:r>
            <a:endParaRPr lang="en-US" sz="1000" dirty="0"/>
          </a:p>
        </p:txBody>
      </p:sp>
      <p:sp>
        <p:nvSpPr>
          <p:cNvPr id="21"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APLIKASI DALAM PDP</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Strategi Heuristik Lain (Bukan Model Bar)</a:t>
            </a:r>
            <a:endParaRPr lang="en-US" sz="2600" dirty="0"/>
          </a:p>
        </p:txBody>
      </p:sp>
      <p:sp>
        <p:nvSpPr>
          <p:cNvPr id="4" name="Shape 2"/>
          <p:cNvSpPr/>
          <p:nvPr/>
        </p:nvSpPr>
        <p:spPr>
          <a:xfrm>
            <a:off x="548640" y="1691640"/>
            <a:ext cx="5349240" cy="4297680"/>
          </a:xfrm>
          <a:prstGeom prst="roundRect">
            <a:avLst>
              <a:gd name="adj" fmla="val 1702"/>
            </a:avLst>
          </a:prstGeom>
          <a:solidFill>
            <a:srgbClr val="F5F7FC"/>
          </a:solidFill>
          <a:ln w="19050">
            <a:solidFill>
              <a:srgbClr val="27AE60"/>
            </a:solidFill>
            <a:prstDash val="solid"/>
          </a:ln>
        </p:spPr>
      </p:sp>
      <p:sp>
        <p:nvSpPr>
          <p:cNvPr id="5" name="Shape 3"/>
          <p:cNvSpPr/>
          <p:nvPr/>
        </p:nvSpPr>
        <p:spPr>
          <a:xfrm>
            <a:off x="731520" y="1874520"/>
            <a:ext cx="594360" cy="594360"/>
          </a:xfrm>
          <a:prstGeom prst="ellipse">
            <a:avLst/>
          </a:prstGeom>
          <a:solidFill>
            <a:srgbClr val="27AE60"/>
          </a:solidFill>
          <a:ln/>
        </p:spPr>
      </p:sp>
      <p:pic>
        <p:nvPicPr>
          <p:cNvPr id="6" name="Image 0" descr="/home/claude/shared_icons/icon_microscope.png">    </p:cNvPr>
          <p:cNvPicPr>
            <a:picLocks noChangeAspect="1"/>
          </p:cNvPicPr>
          <p:nvPr/>
        </p:nvPicPr>
        <p:blipFill>
          <a:blip r:embed="rId1"/>
          <a:stretch>
            <a:fillRect/>
          </a:stretch>
        </p:blipFill>
        <p:spPr>
          <a:xfrm>
            <a:off x="814730" y="1957730"/>
            <a:ext cx="427939" cy="427939"/>
          </a:xfrm>
          <a:prstGeom prst="rect">
            <a:avLst/>
          </a:prstGeom>
        </p:spPr>
      </p:pic>
      <p:sp>
        <p:nvSpPr>
          <p:cNvPr id="7" name="Text 4"/>
          <p:cNvSpPr txBox="1"/>
          <p:nvPr/>
        </p:nvSpPr>
        <p:spPr>
          <a:xfrm>
            <a:off x="1463040" y="1828800"/>
            <a:ext cx="4251960" cy="685800"/>
          </a:xfrm>
          <a:prstGeom prst="rect">
            <a:avLst/>
          </a:prstGeom>
          <a:noFill/>
          <a:ln/>
        </p:spPr>
        <p:txBody>
          <a:bodyPr wrap="square" rtlCol="0" anchor="t"/>
          <a:lstStyle/>
          <a:p>
            <a:pPr indent="0" marL="0">
              <a:lnSpc>
                <a:spcPct val="115000"/>
              </a:lnSpc>
              <a:buNone/>
            </a:pPr>
            <a:r>
              <a:rPr lang="en-US" sz="1300" b="1" dirty="0">
                <a:solidFill>
                  <a:srgbClr val="1E2761"/>
                </a:solidFill>
                <a:latin typeface="Cambria" pitchFamily="34" charset="0"/>
                <a:ea typeface="Cambria" pitchFamily="34" charset="-122"/>
                <a:cs typeface="Cambria" pitchFamily="34" charset="-120"/>
              </a:rPr>
              <a:t>Cuba Jaya &amp; Semak (Trial &amp; Improvement)</a:t>
            </a:r>
            <a:endParaRPr lang="en-US" sz="1300" dirty="0"/>
          </a:p>
        </p:txBody>
      </p:sp>
      <p:sp>
        <p:nvSpPr>
          <p:cNvPr id="8" name="Text 5"/>
          <p:cNvSpPr txBox="1"/>
          <p:nvPr/>
        </p:nvSpPr>
        <p:spPr>
          <a:xfrm>
            <a:off x="777240" y="2697480"/>
            <a:ext cx="4892040" cy="3108960"/>
          </a:xfrm>
          <a:prstGeom prst="rect">
            <a:avLst/>
          </a:prstGeom>
          <a:noFill/>
          <a:ln/>
        </p:spPr>
        <p:txBody>
          <a:bodyPr wrap="square" rtlCol="0" anchor="t"/>
          <a:lstStyle/>
          <a:p>
            <a:pPr indent="0" marL="0">
              <a:lnSpc>
                <a:spcPct val="130000"/>
              </a:lnSpc>
              <a:buNone/>
            </a:pPr>
            <a:r>
              <a:rPr lang="en-US" sz="1100" dirty="0">
                <a:solidFill>
                  <a:srgbClr val="141A45"/>
                </a:solidFill>
                <a:latin typeface="Calibri" pitchFamily="34" charset="0"/>
                <a:ea typeface="Calibri" pitchFamily="34" charset="-122"/>
                <a:cs typeface="Calibri" pitchFamily="34" charset="-120"/>
              </a:rPr>
              <a:t>Ben memotong kek kepada 5 bahagian sama besar. Pecahan yang dimakan &lt; pecahan yang tinggal. Cuba 1/5, 2/5, 3/5 — semak syarat — jawapan: 2/5 (pecahan terbesar yang mungkin).</a:t>
            </a:r>
            <a:endParaRPr lang="en-US" sz="1100" dirty="0"/>
          </a:p>
        </p:txBody>
      </p:sp>
      <p:sp>
        <p:nvSpPr>
          <p:cNvPr id="9" name="Shape 6"/>
          <p:cNvSpPr/>
          <p:nvPr/>
        </p:nvSpPr>
        <p:spPr>
          <a:xfrm>
            <a:off x="6263640" y="1691640"/>
            <a:ext cx="5349240" cy="4297680"/>
          </a:xfrm>
          <a:prstGeom prst="roundRect">
            <a:avLst>
              <a:gd name="adj" fmla="val 1702"/>
            </a:avLst>
          </a:prstGeom>
          <a:solidFill>
            <a:srgbClr val="F5F7FC"/>
          </a:solidFill>
          <a:ln w="19050">
            <a:solidFill>
              <a:srgbClr val="2E86AB"/>
            </a:solidFill>
            <a:prstDash val="solid"/>
          </a:ln>
        </p:spPr>
      </p:sp>
      <p:sp>
        <p:nvSpPr>
          <p:cNvPr id="10" name="Shape 7"/>
          <p:cNvSpPr/>
          <p:nvPr/>
        </p:nvSpPr>
        <p:spPr>
          <a:xfrm>
            <a:off x="6446520" y="1874520"/>
            <a:ext cx="594360" cy="594360"/>
          </a:xfrm>
          <a:prstGeom prst="ellipse">
            <a:avLst/>
          </a:prstGeom>
          <a:solidFill>
            <a:srgbClr val="2E86AB"/>
          </a:solidFill>
          <a:ln/>
        </p:spPr>
      </p:sp>
      <p:pic>
        <p:nvPicPr>
          <p:cNvPr id="11" name="Image 1" descr="/home/claude/shared_icons/icon_sitemap.png">    </p:cNvPr>
          <p:cNvPicPr>
            <a:picLocks noChangeAspect="1"/>
          </p:cNvPicPr>
          <p:nvPr/>
        </p:nvPicPr>
        <p:blipFill>
          <a:blip r:embed="rId2"/>
          <a:stretch>
            <a:fillRect/>
          </a:stretch>
        </p:blipFill>
        <p:spPr>
          <a:xfrm>
            <a:off x="6529730" y="1957730"/>
            <a:ext cx="427939" cy="427939"/>
          </a:xfrm>
          <a:prstGeom prst="rect">
            <a:avLst/>
          </a:prstGeom>
        </p:spPr>
      </p:pic>
      <p:sp>
        <p:nvSpPr>
          <p:cNvPr id="12" name="Text 8"/>
          <p:cNvSpPr txBox="1"/>
          <p:nvPr/>
        </p:nvSpPr>
        <p:spPr>
          <a:xfrm>
            <a:off x="7178040" y="1828800"/>
            <a:ext cx="4251960" cy="685800"/>
          </a:xfrm>
          <a:prstGeom prst="rect">
            <a:avLst/>
          </a:prstGeom>
          <a:noFill/>
          <a:ln/>
        </p:spPr>
        <p:txBody>
          <a:bodyPr wrap="square" rtlCol="0" anchor="t"/>
          <a:lstStyle/>
          <a:p>
            <a:pPr indent="0" marL="0">
              <a:lnSpc>
                <a:spcPct val="115000"/>
              </a:lnSpc>
              <a:buNone/>
            </a:pPr>
            <a:r>
              <a:rPr lang="en-US" sz="1300" b="1" dirty="0">
                <a:solidFill>
                  <a:srgbClr val="1E2761"/>
                </a:solidFill>
                <a:latin typeface="Cambria" pitchFamily="34" charset="0"/>
                <a:ea typeface="Cambria" pitchFamily="34" charset="-122"/>
                <a:cs typeface="Cambria" pitchFamily="34" charset="-120"/>
              </a:rPr>
              <a:t>Penyenaraian Sistematik (Jadual)</a:t>
            </a:r>
            <a:endParaRPr lang="en-US" sz="1300" dirty="0"/>
          </a:p>
        </p:txBody>
      </p:sp>
      <p:sp>
        <p:nvSpPr>
          <p:cNvPr id="13" name="Text 9"/>
          <p:cNvSpPr txBox="1"/>
          <p:nvPr/>
        </p:nvSpPr>
        <p:spPr>
          <a:xfrm>
            <a:off x="6492240" y="2697480"/>
            <a:ext cx="4892040" cy="3108960"/>
          </a:xfrm>
          <a:prstGeom prst="rect">
            <a:avLst/>
          </a:prstGeom>
          <a:noFill/>
          <a:ln/>
        </p:spPr>
        <p:txBody>
          <a:bodyPr wrap="square" rtlCol="0" anchor="t"/>
          <a:lstStyle/>
          <a:p>
            <a:pPr indent="0" marL="0">
              <a:lnSpc>
                <a:spcPct val="130000"/>
              </a:lnSpc>
              <a:buNone/>
            </a:pPr>
            <a:r>
              <a:rPr lang="en-US" sz="1100" dirty="0">
                <a:solidFill>
                  <a:srgbClr val="141A45"/>
                </a:solidFill>
                <a:latin typeface="Calibri" pitchFamily="34" charset="0"/>
                <a:ea typeface="Calibri" pitchFamily="34" charset="-122"/>
                <a:cs typeface="Calibri" pitchFamily="34" charset="-120"/>
              </a:rPr>
              <a:t>15 keping duit syiling (20 sen &amp; 50 sen) bernilai tertentu. Senaraikan SEMUA kombinasi bilangan yang mungkin dalam jadual sehingga jumpa jawapan yang memenuhi syarat.</a:t>
            </a:r>
            <a:endParaRPr lang="en-US" sz="1100" dirty="0"/>
          </a:p>
        </p:txBody>
      </p:sp>
      <p:sp>
        <p:nvSpPr>
          <p:cNvPr id="14" name="Text 10"/>
          <p:cNvSpPr txBox="1"/>
          <p:nvPr/>
        </p:nvSpPr>
        <p:spPr>
          <a:xfrm>
            <a:off x="548640" y="6080760"/>
            <a:ext cx="11064240" cy="365760"/>
          </a:xfrm>
          <a:prstGeom prst="rect">
            <a:avLst/>
          </a:prstGeom>
          <a:noFill/>
          <a:ln/>
        </p:spPr>
        <p:txBody>
          <a:bodyPr wrap="square" rtlCol="0" anchor="ctr"/>
          <a:lstStyle/>
          <a:p>
            <a:pPr algn="ctr" indent="0" marL="0">
              <a:buNone/>
            </a:pPr>
            <a:r>
              <a:rPr lang="en-US" sz="1050" i="1" dirty="0">
                <a:solidFill>
                  <a:srgbClr val="5B6472"/>
                </a:solidFill>
                <a:latin typeface="Calibri" pitchFamily="34" charset="0"/>
                <a:ea typeface="Calibri" pitchFamily="34" charset="-122"/>
                <a:cs typeface="Calibri" pitchFamily="34" charset="-120"/>
              </a:rPr>
              <a:t>Kedua-dua contoh ini diambil daripada soalan pengukuhan rasmi Sidang 5 — diselesaikan TANPA Model Bar, menggunakan rangka heuristik 4 langkah di Slaid 13.</a:t>
            </a:r>
            <a:endParaRPr lang="en-US" sz="1050" dirty="0"/>
          </a:p>
        </p:txBody>
      </p:sp>
      <p:sp>
        <p:nvSpPr>
          <p:cNvPr id="15" name="Text 11"/>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[BPK] Slaid Sidang 5, m/s 51–53, 57–58</a:t>
            </a:r>
            <a:endParaRPr lang="en-US" sz="1000" dirty="0"/>
          </a:p>
        </p:txBody>
      </p:sp>
      <p:sp>
        <p:nvSpPr>
          <p:cNvPr id="16" name="Text 12"/>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CONTOH TAMBAHAN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Model Bar: Teknik “Kerja ke Belakang” (Working Backwards)</a:t>
            </a:r>
            <a:endParaRPr lang="en-US" sz="2600" dirty="0"/>
          </a:p>
        </p:txBody>
      </p:sp>
      <p:sp>
        <p:nvSpPr>
          <p:cNvPr id="4" name="Text 2"/>
          <p:cNvSpPr txBox="1"/>
          <p:nvPr/>
        </p:nvSpPr>
        <p:spPr>
          <a:xfrm>
            <a:off x="548640" y="1554480"/>
            <a:ext cx="11064240" cy="502920"/>
          </a:xfrm>
          <a:prstGeom prst="rect">
            <a:avLst/>
          </a:prstGeom>
          <a:noFill/>
          <a:ln/>
        </p:spPr>
        <p:txBody>
          <a:bodyPr wrap="square" rtlCol="0" anchor="ctr"/>
          <a:lstStyle/>
          <a:p>
            <a:pPr indent="0" marL="0">
              <a:lnSpc>
                <a:spcPct val="120000"/>
              </a:lnSpc>
              <a:buNone/>
            </a:pPr>
            <a:r>
              <a:rPr lang="en-US" sz="1200" dirty="0">
                <a:solidFill>
                  <a:srgbClr val="141A45"/>
                </a:solidFill>
                <a:latin typeface="Calibri" pitchFamily="34" charset="0"/>
                <a:ea typeface="Calibri" pitchFamily="34" charset="-122"/>
                <a:cs typeface="Calibri" pitchFamily="34" charset="-120"/>
              </a:rPr>
              <a:t>Selain nisbah (Slaid 15), Model Bar turut berkesan untuk masalah yang memerlukan murid “undur ke belakang” daripada keadaan akhir bagi mencari nilai asal.</a:t>
            </a:r>
            <a:endParaRPr lang="en-US" sz="1200" dirty="0"/>
          </a:p>
        </p:txBody>
      </p:sp>
      <p:sp>
        <p:nvSpPr>
          <p:cNvPr id="5" name="Shape 3"/>
          <p:cNvSpPr/>
          <p:nvPr/>
        </p:nvSpPr>
        <p:spPr>
          <a:xfrm>
            <a:off x="548640" y="2148840"/>
            <a:ext cx="5349240" cy="4160520"/>
          </a:xfrm>
          <a:prstGeom prst="roundRect">
            <a:avLst>
              <a:gd name="adj" fmla="val 1758"/>
            </a:avLst>
          </a:prstGeom>
          <a:solidFill>
            <a:srgbClr val="F5F7FC"/>
          </a:solidFill>
          <a:ln w="19050">
            <a:solidFill>
              <a:srgbClr val="E67E22"/>
            </a:solidFill>
            <a:prstDash val="solid"/>
          </a:ln>
        </p:spPr>
      </p:sp>
      <p:sp>
        <p:nvSpPr>
          <p:cNvPr id="6" name="Text 4"/>
          <p:cNvSpPr txBox="1"/>
          <p:nvPr/>
        </p:nvSpPr>
        <p:spPr>
          <a:xfrm>
            <a:off x="777240" y="2286000"/>
            <a:ext cx="4937760" cy="365760"/>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Contoh: Belon Tam &amp; Jana</a:t>
            </a:r>
            <a:endParaRPr lang="en-US" sz="1300" dirty="0"/>
          </a:p>
        </p:txBody>
      </p:sp>
      <p:sp>
        <p:nvSpPr>
          <p:cNvPr id="7" name="Text 5"/>
          <p:cNvSpPr txBox="1"/>
          <p:nvPr/>
        </p:nvSpPr>
        <p:spPr>
          <a:xfrm>
            <a:off x="777240" y="2697480"/>
            <a:ext cx="4892040" cy="1005840"/>
          </a:xfrm>
          <a:prstGeom prst="rect">
            <a:avLst/>
          </a:prstGeom>
          <a:noFill/>
          <a:ln/>
        </p:spPr>
        <p:txBody>
          <a:bodyPr wrap="square" rtlCol="0" anchor="ctr"/>
          <a:lstStyle/>
          <a:p>
            <a:pPr indent="0" marL="0">
              <a:lnSpc>
                <a:spcPct val="120000"/>
              </a:lnSpc>
              <a:buNone/>
            </a:pPr>
            <a:r>
              <a:rPr lang="en-US" sz="1080" dirty="0">
                <a:solidFill>
                  <a:srgbClr val="141A45"/>
                </a:solidFill>
                <a:latin typeface="Calibri" pitchFamily="34" charset="0"/>
                <a:ea typeface="Calibri" pitchFamily="34" charset="-122"/>
                <a:cs typeface="Calibri" pitchFamily="34" charset="-120"/>
              </a:rPr>
              <a:t>Tam dan Jana mempunyai bilangan belon yang SAMA pada mulanya. Selepas Tam guna 16 biji, Jana mempunyai 3 kali ganda bilangan belon Tam. Cari bilangan belon Tam pada mulanya.</a:t>
            </a:r>
            <a:endParaRPr lang="en-US" sz="1080" dirty="0"/>
          </a:p>
        </p:txBody>
      </p:sp>
      <p:sp>
        <p:nvSpPr>
          <p:cNvPr id="8" name="Text 6"/>
          <p:cNvSpPr txBox="1"/>
          <p:nvPr/>
        </p:nvSpPr>
        <p:spPr>
          <a:xfrm>
            <a:off x="822960" y="3749040"/>
            <a:ext cx="4846320" cy="1463040"/>
          </a:xfrm>
          <a:prstGeom prst="rect">
            <a:avLst/>
          </a:prstGeom>
          <a:noFill/>
          <a:ln/>
        </p:spPr>
        <p:txBody>
          <a:bodyPr wrap="square" rtlCol="0" anchor="t"/>
          <a:lstStyle/>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Keadaan akhir: Jana = 3 kotak, Tam = 1 kotak.</a:t>
            </a:r>
            <a:endParaRPr lang="en-US" sz="1030" dirty="0"/>
          </a:p>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Beza 2 kotak = 16 belon (yang telah digunakan Tam) → 1 unit = 8 belon.</a:t>
            </a:r>
            <a:endParaRPr lang="en-US" sz="1030" dirty="0"/>
          </a:p>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Bilangan asal Tam = Jana sekarang = 3 unit = 3 × 8 = 24 belon.</a:t>
            </a:r>
            <a:endParaRPr lang="en-US" sz="1030" dirty="0"/>
          </a:p>
        </p:txBody>
      </p:sp>
      <p:sp>
        <p:nvSpPr>
          <p:cNvPr id="9" name="Text 7"/>
          <p:cNvSpPr txBox="1"/>
          <p:nvPr/>
        </p:nvSpPr>
        <p:spPr>
          <a:xfrm>
            <a:off x="777240" y="5486400"/>
            <a:ext cx="4937760" cy="54864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Jawapan: Tam mempunyai 24 biji belon pada mulanya.</a:t>
            </a:r>
            <a:endParaRPr lang="en-US" sz="1100" dirty="0"/>
          </a:p>
        </p:txBody>
      </p:sp>
      <p:sp>
        <p:nvSpPr>
          <p:cNvPr id="10" name="Shape 8"/>
          <p:cNvSpPr/>
          <p:nvPr/>
        </p:nvSpPr>
        <p:spPr>
          <a:xfrm>
            <a:off x="6263640" y="2148840"/>
            <a:ext cx="5349240" cy="4160520"/>
          </a:xfrm>
          <a:prstGeom prst="roundRect">
            <a:avLst>
              <a:gd name="adj" fmla="val 1758"/>
            </a:avLst>
          </a:prstGeom>
          <a:solidFill>
            <a:srgbClr val="F5F7FC"/>
          </a:solidFill>
          <a:ln w="19050">
            <a:solidFill>
              <a:srgbClr val="E67E22"/>
            </a:solidFill>
            <a:prstDash val="solid"/>
          </a:ln>
        </p:spPr>
      </p:sp>
      <p:sp>
        <p:nvSpPr>
          <p:cNvPr id="11" name="Text 9"/>
          <p:cNvSpPr txBox="1"/>
          <p:nvPr/>
        </p:nvSpPr>
        <p:spPr>
          <a:xfrm>
            <a:off x="6492240" y="2286000"/>
            <a:ext cx="4937760" cy="365760"/>
          </a:xfrm>
          <a:prstGeom prst="rect">
            <a:avLst/>
          </a:prstGeom>
          <a:noFill/>
          <a:ln/>
        </p:spPr>
        <p:txBody>
          <a:bodyPr wrap="square"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Contoh: Gula-Gula Jana &amp; Zila</a:t>
            </a:r>
            <a:endParaRPr lang="en-US" sz="1300" dirty="0"/>
          </a:p>
        </p:txBody>
      </p:sp>
      <p:sp>
        <p:nvSpPr>
          <p:cNvPr id="12" name="Text 10"/>
          <p:cNvSpPr txBox="1"/>
          <p:nvPr/>
        </p:nvSpPr>
        <p:spPr>
          <a:xfrm>
            <a:off x="6492240" y="2697480"/>
            <a:ext cx="4892040" cy="1005840"/>
          </a:xfrm>
          <a:prstGeom prst="rect">
            <a:avLst/>
          </a:prstGeom>
          <a:noFill/>
          <a:ln/>
        </p:spPr>
        <p:txBody>
          <a:bodyPr wrap="square" rtlCol="0" anchor="ctr"/>
          <a:lstStyle/>
          <a:p>
            <a:pPr indent="0" marL="0">
              <a:lnSpc>
                <a:spcPct val="120000"/>
              </a:lnSpc>
              <a:buNone/>
            </a:pPr>
            <a:r>
              <a:rPr lang="en-US" sz="1080" dirty="0">
                <a:solidFill>
                  <a:srgbClr val="141A45"/>
                </a:solidFill>
                <a:latin typeface="Calibri" pitchFamily="34" charset="0"/>
                <a:ea typeface="Calibri" pitchFamily="34" charset="-122"/>
                <a:cs typeface="Calibri" pitchFamily="34" charset="-120"/>
              </a:rPr>
              <a:t>Jana &amp; Zila berkongsi 120 biji gula-gula. Selepas Jana memberikan 10 biji kepada Zila, Jana mempunyai 2 kali ganda bilangan gula-gula Zila. Cari bilangan asal masing-masing.</a:t>
            </a:r>
            <a:endParaRPr lang="en-US" sz="1080" dirty="0"/>
          </a:p>
        </p:txBody>
      </p:sp>
      <p:sp>
        <p:nvSpPr>
          <p:cNvPr id="13" name="Text 11"/>
          <p:cNvSpPr txBox="1"/>
          <p:nvPr/>
        </p:nvSpPr>
        <p:spPr>
          <a:xfrm>
            <a:off x="6537960" y="3749040"/>
            <a:ext cx="4846320" cy="1463040"/>
          </a:xfrm>
          <a:prstGeom prst="rect">
            <a:avLst/>
          </a:prstGeom>
          <a:noFill/>
          <a:ln/>
        </p:spPr>
        <p:txBody>
          <a:bodyPr wrap="square" rtlCol="0" anchor="t"/>
          <a:lstStyle/>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Keadaan akhir: Jana = 2 kotak, Zila = 1 kotak (jumlah 3 kotak = 120) → 1 unit = 40.</a:t>
            </a:r>
            <a:endParaRPr lang="en-US" sz="1030" dirty="0"/>
          </a:p>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Selepas pemberian: Jana = 2×40 = 80, Zila = 1×40 = 40.</a:t>
            </a:r>
            <a:endParaRPr lang="en-US" sz="1030" dirty="0"/>
          </a:p>
          <a:p>
            <a:pPr marL="228600" indent="-228600">
              <a:spcAft>
                <a:spcPts val="600"/>
              </a:spcAft>
              <a:buSzPct val="100000"/>
              <a:buChar char="▪"/>
            </a:pPr>
            <a:r>
              <a:rPr lang="en-US" sz="1030" dirty="0">
                <a:solidFill>
                  <a:srgbClr val="141A45"/>
                </a:solidFill>
                <a:latin typeface="Calibri" pitchFamily="34" charset="0"/>
                <a:ea typeface="Calibri" pitchFamily="34" charset="-122"/>
                <a:cs typeface="Calibri" pitchFamily="34" charset="-120"/>
              </a:rPr>
              <a:t>Undur balik: Jana asal = 80 + 10 = 90. Zila asal = 40 − 10 = 30.</a:t>
            </a:r>
            <a:endParaRPr lang="en-US" sz="1030" dirty="0"/>
          </a:p>
        </p:txBody>
      </p:sp>
      <p:sp>
        <p:nvSpPr>
          <p:cNvPr id="14" name="Text 12"/>
          <p:cNvSpPr txBox="1"/>
          <p:nvPr/>
        </p:nvSpPr>
        <p:spPr>
          <a:xfrm>
            <a:off x="6492240" y="5486400"/>
            <a:ext cx="4937760" cy="548640"/>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Jawapan: Jana = 90 biji, Zila = 30 biji (asal).</a:t>
            </a:r>
            <a:endParaRPr lang="en-US" sz="1100" dirty="0"/>
          </a:p>
        </p:txBody>
      </p:sp>
      <p:sp>
        <p:nvSpPr>
          <p:cNvPr id="15" name="Text 13"/>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[BENGKEL] Analisis Pengendalian Data (Rakaman Model Bar &amp; Geometri), ISI 4</a:t>
            </a:r>
            <a:endParaRPr lang="en-US" sz="1000" dirty="0"/>
          </a:p>
        </p:txBody>
      </p:sp>
      <p:sp>
        <p:nvSpPr>
          <p:cNvPr id="16" name="Text 14"/>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PERKARA PENTING</a:t>
            </a:r>
            <a:endParaRPr lang="en-US" sz="1300" dirty="0"/>
          </a:p>
        </p:txBody>
      </p:sp>
      <p:sp>
        <p:nvSpPr>
          <p:cNvPr id="3" name="Text 1"/>
          <p:cNvSpPr txBox="1"/>
          <p:nvPr/>
        </p:nvSpPr>
        <p:spPr>
          <a:xfrm>
            <a:off x="548640" y="658368"/>
            <a:ext cx="1097280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Perkara yang Guru WAJIB Faham</a:t>
            </a:r>
            <a:endParaRPr lang="en-US" sz="2700" dirty="0"/>
          </a:p>
        </p:txBody>
      </p:sp>
      <p:sp>
        <p:nvSpPr>
          <p:cNvPr id="4" name="Shape 2"/>
          <p:cNvSpPr/>
          <p:nvPr/>
        </p:nvSpPr>
        <p:spPr>
          <a:xfrm>
            <a:off x="548640" y="1600200"/>
            <a:ext cx="5349240" cy="1261872"/>
          </a:xfrm>
          <a:prstGeom prst="roundRect">
            <a:avLst>
              <a:gd name="adj" fmla="val 5797"/>
            </a:avLst>
          </a:prstGeom>
          <a:solidFill>
            <a:srgbClr val="141A45"/>
          </a:solidFill>
          <a:ln/>
        </p:spPr>
      </p:sp>
      <p:sp>
        <p:nvSpPr>
          <p:cNvPr id="5" name="Shape 3"/>
          <p:cNvSpPr/>
          <p:nvPr/>
        </p:nvSpPr>
        <p:spPr>
          <a:xfrm>
            <a:off x="713232" y="1856232"/>
            <a:ext cx="457200" cy="457200"/>
          </a:xfrm>
          <a:prstGeom prst="ellipse">
            <a:avLst/>
          </a:prstGeom>
          <a:solidFill>
            <a:srgbClr val="F2B705"/>
          </a:solidFill>
          <a:ln/>
        </p:spPr>
      </p:sp>
      <p:pic>
        <p:nvPicPr>
          <p:cNvPr id="6" name="Image 0" descr="/home/claude/shared_icons/icon_check.png">    </p:cNvPr>
          <p:cNvPicPr>
            <a:picLocks noChangeAspect="1"/>
          </p:cNvPicPr>
          <p:nvPr/>
        </p:nvPicPr>
        <p:blipFill>
          <a:blip r:embed="rId1"/>
          <a:stretch>
            <a:fillRect/>
          </a:stretch>
        </p:blipFill>
        <p:spPr>
          <a:xfrm>
            <a:off x="777240" y="1920240"/>
            <a:ext cx="329184" cy="329184"/>
          </a:xfrm>
          <a:prstGeom prst="rect">
            <a:avLst/>
          </a:prstGeom>
        </p:spPr>
      </p:pic>
      <p:sp>
        <p:nvSpPr>
          <p:cNvPr id="7" name="Text 4"/>
          <p:cNvSpPr txBox="1"/>
          <p:nvPr/>
        </p:nvSpPr>
        <p:spPr>
          <a:xfrm>
            <a:off x="1298448" y="169164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SP 3.2.3 secara rasmi membenarkan 3 kaedah: darab silang, unitari, ATAU model bar — bukan model bar sahaja.</a:t>
            </a:r>
            <a:endParaRPr lang="en-US" sz="1050" dirty="0"/>
          </a:p>
        </p:txBody>
      </p:sp>
      <p:sp>
        <p:nvSpPr>
          <p:cNvPr id="8" name="Shape 5"/>
          <p:cNvSpPr/>
          <p:nvPr/>
        </p:nvSpPr>
        <p:spPr>
          <a:xfrm>
            <a:off x="6263640" y="1600200"/>
            <a:ext cx="5349240" cy="1261872"/>
          </a:xfrm>
          <a:prstGeom prst="roundRect">
            <a:avLst>
              <a:gd name="adj" fmla="val 5797"/>
            </a:avLst>
          </a:prstGeom>
          <a:solidFill>
            <a:srgbClr val="141A45"/>
          </a:solidFill>
          <a:ln/>
        </p:spPr>
      </p:sp>
      <p:sp>
        <p:nvSpPr>
          <p:cNvPr id="9" name="Shape 6"/>
          <p:cNvSpPr/>
          <p:nvPr/>
        </p:nvSpPr>
        <p:spPr>
          <a:xfrm>
            <a:off x="6428232" y="1856232"/>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6492240" y="1920240"/>
            <a:ext cx="329184" cy="329184"/>
          </a:xfrm>
          <a:prstGeom prst="rect">
            <a:avLst/>
          </a:prstGeom>
        </p:spPr>
      </p:pic>
      <p:sp>
        <p:nvSpPr>
          <p:cNvPr id="11" name="Text 7"/>
          <p:cNvSpPr txBox="1"/>
          <p:nvPr/>
        </p:nvSpPr>
        <p:spPr>
          <a:xfrm>
            <a:off x="7013448" y="169164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SP 4.1.3 membenarkan gambar rajah, model bar, ATAU jubin algebra sebagai wakilan ungkapan algebra.</a:t>
            </a:r>
            <a:endParaRPr lang="en-US" sz="1050" dirty="0"/>
          </a:p>
        </p:txBody>
      </p:sp>
      <p:sp>
        <p:nvSpPr>
          <p:cNvPr id="12" name="Shape 8"/>
          <p:cNvSpPr/>
          <p:nvPr/>
        </p:nvSpPr>
        <p:spPr>
          <a:xfrm>
            <a:off x="548640" y="3017520"/>
            <a:ext cx="5349240" cy="1261872"/>
          </a:xfrm>
          <a:prstGeom prst="roundRect">
            <a:avLst>
              <a:gd name="adj" fmla="val 5797"/>
            </a:avLst>
          </a:prstGeom>
          <a:solidFill>
            <a:srgbClr val="141A45"/>
          </a:solidFill>
          <a:ln/>
        </p:spPr>
      </p:sp>
      <p:sp>
        <p:nvSpPr>
          <p:cNvPr id="13" name="Shape 9"/>
          <p:cNvSpPr/>
          <p:nvPr/>
        </p:nvSpPr>
        <p:spPr>
          <a:xfrm>
            <a:off x="713232" y="3273552"/>
            <a:ext cx="457200" cy="457200"/>
          </a:xfrm>
          <a:prstGeom prst="ellipse">
            <a:avLst/>
          </a:prstGeom>
          <a:solidFill>
            <a:srgbClr val="F2B705"/>
          </a:solidFill>
          <a:ln/>
        </p:spPr>
      </p:sp>
      <p:pic>
        <p:nvPicPr>
          <p:cNvPr id="14" name="Image 2" descr="/home/claude/shared_icons/icon_check.png">    </p:cNvPr>
          <p:cNvPicPr>
            <a:picLocks noChangeAspect="1"/>
          </p:cNvPicPr>
          <p:nvPr/>
        </p:nvPicPr>
        <p:blipFill>
          <a:blip r:embed="rId3"/>
          <a:stretch>
            <a:fillRect/>
          </a:stretch>
        </p:blipFill>
        <p:spPr>
          <a:xfrm>
            <a:off x="777240" y="3337560"/>
            <a:ext cx="329184" cy="329184"/>
          </a:xfrm>
          <a:prstGeom prst="rect">
            <a:avLst/>
          </a:prstGeom>
        </p:spPr>
      </p:pic>
      <p:sp>
        <p:nvSpPr>
          <p:cNvPr id="15" name="Text 10"/>
          <p:cNvSpPr txBox="1"/>
          <p:nvPr/>
        </p:nvSpPr>
        <p:spPr>
          <a:xfrm>
            <a:off x="1298448" y="310896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6 sifat ketaksamaan (Roman i–vi) wajib diajar mengikut turutan yang ditetapkan.</a:t>
            </a:r>
            <a:endParaRPr lang="en-US" sz="1050" dirty="0"/>
          </a:p>
        </p:txBody>
      </p:sp>
      <p:sp>
        <p:nvSpPr>
          <p:cNvPr id="16" name="Shape 11"/>
          <p:cNvSpPr/>
          <p:nvPr/>
        </p:nvSpPr>
        <p:spPr>
          <a:xfrm>
            <a:off x="6263640" y="3017520"/>
            <a:ext cx="5349240" cy="1261872"/>
          </a:xfrm>
          <a:prstGeom prst="roundRect">
            <a:avLst>
              <a:gd name="adj" fmla="val 5797"/>
            </a:avLst>
          </a:prstGeom>
          <a:solidFill>
            <a:srgbClr val="141A45"/>
          </a:solidFill>
          <a:ln/>
        </p:spPr>
      </p:sp>
      <p:sp>
        <p:nvSpPr>
          <p:cNvPr id="17" name="Shape 12"/>
          <p:cNvSpPr/>
          <p:nvPr/>
        </p:nvSpPr>
        <p:spPr>
          <a:xfrm>
            <a:off x="6428232" y="3273552"/>
            <a:ext cx="457200" cy="457200"/>
          </a:xfrm>
          <a:prstGeom prst="ellipse">
            <a:avLst/>
          </a:prstGeom>
          <a:solidFill>
            <a:srgbClr val="F2B705"/>
          </a:solidFill>
          <a:ln/>
        </p:spPr>
      </p:sp>
      <p:pic>
        <p:nvPicPr>
          <p:cNvPr id="18" name="Image 3" descr="/home/claude/shared_icons/icon_check.png">    </p:cNvPr>
          <p:cNvPicPr>
            <a:picLocks noChangeAspect="1"/>
          </p:cNvPicPr>
          <p:nvPr/>
        </p:nvPicPr>
        <p:blipFill>
          <a:blip r:embed="rId4"/>
          <a:stretch>
            <a:fillRect/>
          </a:stretch>
        </p:blipFill>
        <p:spPr>
          <a:xfrm>
            <a:off x="6492240" y="3337560"/>
            <a:ext cx="329184" cy="329184"/>
          </a:xfrm>
          <a:prstGeom prst="rect">
            <a:avLst/>
          </a:prstGeom>
        </p:spPr>
      </p:pic>
      <p:sp>
        <p:nvSpPr>
          <p:cNvPr id="19" name="Text 13"/>
          <p:cNvSpPr txBox="1"/>
          <p:nvPr/>
        </p:nvSpPr>
        <p:spPr>
          <a:xfrm>
            <a:off x="7013448" y="310896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Maksud tatatanda ketaksamaan dalam PKJR wajib dibincangkan semasa mengajar simbol &gt;, &lt;, ≥, ≤.</a:t>
            </a:r>
            <a:endParaRPr lang="en-US" sz="1050" dirty="0"/>
          </a:p>
        </p:txBody>
      </p:sp>
      <p:sp>
        <p:nvSpPr>
          <p:cNvPr id="20" name="Shape 14"/>
          <p:cNvSpPr/>
          <p:nvPr/>
        </p:nvSpPr>
        <p:spPr>
          <a:xfrm>
            <a:off x="548640" y="4434840"/>
            <a:ext cx="5349240" cy="1261872"/>
          </a:xfrm>
          <a:prstGeom prst="roundRect">
            <a:avLst>
              <a:gd name="adj" fmla="val 5797"/>
            </a:avLst>
          </a:prstGeom>
          <a:solidFill>
            <a:srgbClr val="141A45"/>
          </a:solidFill>
          <a:ln/>
        </p:spPr>
      </p:sp>
      <p:sp>
        <p:nvSpPr>
          <p:cNvPr id="21" name="Shape 15"/>
          <p:cNvSpPr/>
          <p:nvPr/>
        </p:nvSpPr>
        <p:spPr>
          <a:xfrm>
            <a:off x="713232" y="4690872"/>
            <a:ext cx="457200" cy="457200"/>
          </a:xfrm>
          <a:prstGeom prst="ellipse">
            <a:avLst/>
          </a:prstGeom>
          <a:solidFill>
            <a:srgbClr val="F2B705"/>
          </a:solidFill>
          <a:ln/>
        </p:spPr>
      </p:sp>
      <p:pic>
        <p:nvPicPr>
          <p:cNvPr id="22" name="Image 4" descr="/home/claude/shared_icons/icon_check.png">    </p:cNvPr>
          <p:cNvPicPr>
            <a:picLocks noChangeAspect="1"/>
          </p:cNvPicPr>
          <p:nvPr/>
        </p:nvPicPr>
        <p:blipFill>
          <a:blip r:embed="rId5"/>
          <a:stretch>
            <a:fillRect/>
          </a:stretch>
        </p:blipFill>
        <p:spPr>
          <a:xfrm>
            <a:off x="777240" y="4754880"/>
            <a:ext cx="329184" cy="329184"/>
          </a:xfrm>
          <a:prstGeom prst="rect">
            <a:avLst/>
          </a:prstGeom>
        </p:spPr>
      </p:pic>
      <p:sp>
        <p:nvSpPr>
          <p:cNvPr id="23" name="Text 16"/>
          <p:cNvSpPr txBox="1"/>
          <p:nvPr/>
        </p:nvSpPr>
        <p:spPr>
          <a:xfrm>
            <a:off x="1298448" y="452628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Rangka Heuristik 4-Langkah (Polya) ialah struktur menyeluruh; Model Bar hanya satu pilihan pada Langkah 3.</a:t>
            </a:r>
            <a:endParaRPr lang="en-US" sz="1050" dirty="0"/>
          </a:p>
        </p:txBody>
      </p:sp>
      <p:sp>
        <p:nvSpPr>
          <p:cNvPr id="24" name="Shape 17"/>
          <p:cNvSpPr/>
          <p:nvPr/>
        </p:nvSpPr>
        <p:spPr>
          <a:xfrm>
            <a:off x="6263640" y="4434840"/>
            <a:ext cx="5349240" cy="1261872"/>
          </a:xfrm>
          <a:prstGeom prst="roundRect">
            <a:avLst>
              <a:gd name="adj" fmla="val 5797"/>
            </a:avLst>
          </a:prstGeom>
          <a:solidFill>
            <a:srgbClr val="141A45"/>
          </a:solidFill>
          <a:ln/>
        </p:spPr>
      </p:sp>
      <p:sp>
        <p:nvSpPr>
          <p:cNvPr id="25" name="Shape 18"/>
          <p:cNvSpPr/>
          <p:nvPr/>
        </p:nvSpPr>
        <p:spPr>
          <a:xfrm>
            <a:off x="6428232" y="4690872"/>
            <a:ext cx="457200" cy="457200"/>
          </a:xfrm>
          <a:prstGeom prst="ellipse">
            <a:avLst/>
          </a:prstGeom>
          <a:solidFill>
            <a:srgbClr val="F2B705"/>
          </a:solidFill>
          <a:ln/>
        </p:spPr>
      </p:sp>
      <p:pic>
        <p:nvPicPr>
          <p:cNvPr id="26" name="Image 5" descr="/home/claude/shared_icons/icon_check.png">    </p:cNvPr>
          <p:cNvPicPr>
            <a:picLocks noChangeAspect="1"/>
          </p:cNvPicPr>
          <p:nvPr/>
        </p:nvPicPr>
        <p:blipFill>
          <a:blip r:embed="rId6"/>
          <a:stretch>
            <a:fillRect/>
          </a:stretch>
        </p:blipFill>
        <p:spPr>
          <a:xfrm>
            <a:off x="6492240" y="4754880"/>
            <a:ext cx="329184" cy="329184"/>
          </a:xfrm>
          <a:prstGeom prst="rect">
            <a:avLst/>
          </a:prstGeom>
        </p:spPr>
      </p:pic>
      <p:sp>
        <p:nvSpPr>
          <p:cNvPr id="27" name="Text 19"/>
          <p:cNvSpPr txBox="1"/>
          <p:nvPr/>
        </p:nvSpPr>
        <p:spPr>
          <a:xfrm>
            <a:off x="7013448" y="4526280"/>
            <a:ext cx="4434840" cy="1051560"/>
          </a:xfrm>
          <a:prstGeom prst="rect">
            <a:avLst/>
          </a:prstGeom>
          <a:noFill/>
          <a:ln/>
        </p:spPr>
        <p:txBody>
          <a:bodyPr wrap="square" rtlCol="0" anchor="ctr"/>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Pendekatan gamifikasi digalakkan khusus untuk tajuk Ungkapan Algebra (SP 4.1.3).</a:t>
            </a:r>
            <a:endParaRPr lang="en-US" sz="1050" dirty="0"/>
          </a:p>
        </p:txBody>
      </p:sp>
      <p:sp>
        <p:nvSpPr>
          <p:cNvPr id="28"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[DKP/BPK] Slaid Sidang 5</a:t>
            </a:r>
            <a:endParaRPr lang="en-US" sz="1000" dirty="0"/>
          </a:p>
        </p:txBody>
      </p:sp>
      <p:sp>
        <p:nvSpPr>
          <p:cNvPr id="29"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KESILAPAN PERLU DIELAKKAN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Salah Faham Lazim dalam Pelaksanaan</a:t>
            </a:r>
            <a:endParaRPr lang="en-US" sz="2600" dirty="0"/>
          </a:p>
        </p:txBody>
      </p:sp>
      <p:sp>
        <p:nvSpPr>
          <p:cNvPr id="4" name="Shape 2"/>
          <p:cNvSpPr/>
          <p:nvPr/>
        </p:nvSpPr>
        <p:spPr>
          <a:xfrm>
            <a:off x="548640" y="1536192"/>
            <a:ext cx="11064240" cy="841248"/>
          </a:xfrm>
          <a:prstGeom prst="roundRect">
            <a:avLst>
              <a:gd name="adj" fmla="val 6522"/>
            </a:avLst>
          </a:prstGeom>
          <a:solidFill>
            <a:srgbClr val="F5F7FC"/>
          </a:solidFill>
          <a:ln w="12700">
            <a:solidFill>
              <a:srgbClr val="E7EAF2"/>
            </a:solidFill>
            <a:prstDash val="solid"/>
          </a:ln>
        </p:spPr>
      </p:sp>
      <p:sp>
        <p:nvSpPr>
          <p:cNvPr id="5" name="Shape 3"/>
          <p:cNvSpPr/>
          <p:nvPr/>
        </p:nvSpPr>
        <p:spPr>
          <a:xfrm>
            <a:off x="694944" y="1682496"/>
            <a:ext cx="548640" cy="548640"/>
          </a:xfrm>
          <a:prstGeom prst="ellipse">
            <a:avLst/>
          </a:prstGeom>
          <a:solidFill>
            <a:srgbClr val="E0435A"/>
          </a:solidFill>
          <a:ln/>
        </p:spPr>
      </p:sp>
      <p:pic>
        <p:nvPicPr>
          <p:cNvPr id="6" name="Image 0" descr="/home/claude/shared_icons/icon_warning.png">    </p:cNvPr>
          <p:cNvPicPr>
            <a:picLocks noChangeAspect="1"/>
          </p:cNvPicPr>
          <p:nvPr/>
        </p:nvPicPr>
        <p:blipFill>
          <a:blip r:embed="rId1"/>
          <a:stretch>
            <a:fillRect/>
          </a:stretch>
        </p:blipFill>
        <p:spPr>
          <a:xfrm>
            <a:off x="771754" y="1759306"/>
            <a:ext cx="395021" cy="395021"/>
          </a:xfrm>
          <a:prstGeom prst="rect">
            <a:avLst/>
          </a:prstGeom>
        </p:spPr>
      </p:pic>
      <p:sp>
        <p:nvSpPr>
          <p:cNvPr id="7" name="Text 4"/>
          <p:cNvSpPr txBox="1"/>
          <p:nvPr/>
        </p:nvSpPr>
        <p:spPr>
          <a:xfrm>
            <a:off x="1417320" y="1609344"/>
            <a:ext cx="9966960" cy="329184"/>
          </a:xfrm>
          <a:prstGeom prst="rect">
            <a:avLst/>
          </a:prstGeom>
          <a:noFill/>
          <a:ln/>
        </p:spPr>
        <p:txBody>
          <a:bodyPr wrap="square" rtlCol="0" anchor="ctr"/>
          <a:lstStyle/>
          <a:p>
            <a:pPr indent="0" marL="0">
              <a:buNone/>
            </a:pPr>
            <a:r>
              <a:rPr lang="en-US" sz="1130" b="1" dirty="0">
                <a:solidFill>
                  <a:srgbClr val="1E2761"/>
                </a:solidFill>
                <a:latin typeface="Calibri" pitchFamily="34" charset="0"/>
                <a:ea typeface="Calibri" pitchFamily="34" charset="-122"/>
                <a:cs typeface="Calibri" pitchFamily="34" charset="-120"/>
              </a:rPr>
              <a:t>❌  Menganggap Model Bar SATU-SATUNYA kaedah untuk seluruh topik Algebra</a:t>
            </a:r>
            <a:endParaRPr lang="en-US" sz="1130" dirty="0"/>
          </a:p>
        </p:txBody>
      </p:sp>
      <p:sp>
        <p:nvSpPr>
          <p:cNvPr id="8" name="Text 5"/>
          <p:cNvSpPr txBox="1"/>
          <p:nvPr/>
        </p:nvSpPr>
        <p:spPr>
          <a:xfrm>
            <a:off x="1417320" y="1956816"/>
            <a:ext cx="9966960" cy="36576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Model Bar cuma satu daripada beberapa kaedah rasmi (darab silang, unitari, jubin algebra, dsb.) mengikut SP.</a:t>
            </a:r>
            <a:endParaRPr lang="en-US" sz="980" dirty="0"/>
          </a:p>
        </p:txBody>
      </p:sp>
      <p:sp>
        <p:nvSpPr>
          <p:cNvPr id="9" name="Shape 6"/>
          <p:cNvSpPr/>
          <p:nvPr/>
        </p:nvSpPr>
        <p:spPr>
          <a:xfrm>
            <a:off x="548640" y="2478024"/>
            <a:ext cx="11064240" cy="841248"/>
          </a:xfrm>
          <a:prstGeom prst="roundRect">
            <a:avLst>
              <a:gd name="adj" fmla="val 6522"/>
            </a:avLst>
          </a:prstGeom>
          <a:solidFill>
            <a:srgbClr val="F5F7FC"/>
          </a:solidFill>
          <a:ln w="12700">
            <a:solidFill>
              <a:srgbClr val="E7EAF2"/>
            </a:solidFill>
            <a:prstDash val="solid"/>
          </a:ln>
        </p:spPr>
      </p:sp>
      <p:sp>
        <p:nvSpPr>
          <p:cNvPr id="10" name="Shape 7"/>
          <p:cNvSpPr/>
          <p:nvPr/>
        </p:nvSpPr>
        <p:spPr>
          <a:xfrm>
            <a:off x="694944" y="2624328"/>
            <a:ext cx="548640" cy="548640"/>
          </a:xfrm>
          <a:prstGeom prst="ellipse">
            <a:avLst/>
          </a:prstGeom>
          <a:solidFill>
            <a:srgbClr val="E0435A"/>
          </a:solidFill>
          <a:ln/>
        </p:spPr>
      </p:sp>
      <p:pic>
        <p:nvPicPr>
          <p:cNvPr id="11" name="Image 1" descr="/home/claude/shared_icons/icon_warning.png">    </p:cNvPr>
          <p:cNvPicPr>
            <a:picLocks noChangeAspect="1"/>
          </p:cNvPicPr>
          <p:nvPr/>
        </p:nvPicPr>
        <p:blipFill>
          <a:blip r:embed="rId2"/>
          <a:stretch>
            <a:fillRect/>
          </a:stretch>
        </p:blipFill>
        <p:spPr>
          <a:xfrm>
            <a:off x="771754" y="2701138"/>
            <a:ext cx="395021" cy="395021"/>
          </a:xfrm>
          <a:prstGeom prst="rect">
            <a:avLst/>
          </a:prstGeom>
        </p:spPr>
      </p:pic>
      <p:sp>
        <p:nvSpPr>
          <p:cNvPr id="12" name="Text 8"/>
          <p:cNvSpPr txBox="1"/>
          <p:nvPr/>
        </p:nvSpPr>
        <p:spPr>
          <a:xfrm>
            <a:off x="1417320" y="2551176"/>
            <a:ext cx="9966960" cy="329184"/>
          </a:xfrm>
          <a:prstGeom prst="rect">
            <a:avLst/>
          </a:prstGeom>
          <a:noFill/>
          <a:ln/>
        </p:spPr>
        <p:txBody>
          <a:bodyPr wrap="square" rtlCol="0" anchor="ctr"/>
          <a:lstStyle/>
          <a:p>
            <a:pPr indent="0" marL="0">
              <a:buNone/>
            </a:pPr>
            <a:r>
              <a:rPr lang="en-US" sz="1130" b="1" dirty="0">
                <a:solidFill>
                  <a:srgbClr val="1E2761"/>
                </a:solidFill>
                <a:latin typeface="Calibri" pitchFamily="34" charset="0"/>
                <a:ea typeface="Calibri" pitchFamily="34" charset="-122"/>
                <a:cs typeface="Calibri" pitchFamily="34" charset="-120"/>
              </a:rPr>
              <a:t>❌  Mengabaikan kaedah darab silang &amp; unitari kerana lebih fokus kepada Model Bar</a:t>
            </a:r>
            <a:endParaRPr lang="en-US" sz="1130" dirty="0"/>
          </a:p>
        </p:txBody>
      </p:sp>
      <p:sp>
        <p:nvSpPr>
          <p:cNvPr id="13" name="Text 9"/>
          <p:cNvSpPr txBox="1"/>
          <p:nvPr/>
        </p:nvSpPr>
        <p:spPr>
          <a:xfrm>
            <a:off x="1417320" y="2898648"/>
            <a:ext cx="9966960" cy="36576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Ketiga-tiga kaedah sah mengikut Nota SP 3.2.3 — guru perlu dedahkan murid kepada pelbagai pilihan.</a:t>
            </a:r>
            <a:endParaRPr lang="en-US" sz="980" dirty="0"/>
          </a:p>
        </p:txBody>
      </p:sp>
      <p:sp>
        <p:nvSpPr>
          <p:cNvPr id="14" name="Shape 10"/>
          <p:cNvSpPr/>
          <p:nvPr/>
        </p:nvSpPr>
        <p:spPr>
          <a:xfrm>
            <a:off x="548640" y="3419856"/>
            <a:ext cx="11064240" cy="841248"/>
          </a:xfrm>
          <a:prstGeom prst="roundRect">
            <a:avLst>
              <a:gd name="adj" fmla="val 6522"/>
            </a:avLst>
          </a:prstGeom>
          <a:solidFill>
            <a:srgbClr val="F5F7FC"/>
          </a:solidFill>
          <a:ln w="12700">
            <a:solidFill>
              <a:srgbClr val="E7EAF2"/>
            </a:solidFill>
            <a:prstDash val="solid"/>
          </a:ln>
        </p:spPr>
      </p:sp>
      <p:sp>
        <p:nvSpPr>
          <p:cNvPr id="15" name="Shape 11"/>
          <p:cNvSpPr/>
          <p:nvPr/>
        </p:nvSpPr>
        <p:spPr>
          <a:xfrm>
            <a:off x="694944" y="3566160"/>
            <a:ext cx="548640" cy="548640"/>
          </a:xfrm>
          <a:prstGeom prst="ellipse">
            <a:avLst/>
          </a:prstGeom>
          <a:solidFill>
            <a:srgbClr val="E0435A"/>
          </a:solidFill>
          <a:ln/>
        </p:spPr>
      </p:sp>
      <p:pic>
        <p:nvPicPr>
          <p:cNvPr id="16" name="Image 2" descr="/home/claude/shared_icons/icon_warning.png">    </p:cNvPr>
          <p:cNvPicPr>
            <a:picLocks noChangeAspect="1"/>
          </p:cNvPicPr>
          <p:nvPr/>
        </p:nvPicPr>
        <p:blipFill>
          <a:blip r:embed="rId3"/>
          <a:stretch>
            <a:fillRect/>
          </a:stretch>
        </p:blipFill>
        <p:spPr>
          <a:xfrm>
            <a:off x="771754" y="3642970"/>
            <a:ext cx="395021" cy="395021"/>
          </a:xfrm>
          <a:prstGeom prst="rect">
            <a:avLst/>
          </a:prstGeom>
        </p:spPr>
      </p:pic>
      <p:sp>
        <p:nvSpPr>
          <p:cNvPr id="17" name="Text 12"/>
          <p:cNvSpPr txBox="1"/>
          <p:nvPr/>
        </p:nvSpPr>
        <p:spPr>
          <a:xfrm>
            <a:off x="1417320" y="3493008"/>
            <a:ext cx="9966960" cy="329184"/>
          </a:xfrm>
          <a:prstGeom prst="rect">
            <a:avLst/>
          </a:prstGeom>
          <a:noFill/>
          <a:ln/>
        </p:spPr>
        <p:txBody>
          <a:bodyPr wrap="square" rtlCol="0" anchor="ctr"/>
          <a:lstStyle/>
          <a:p>
            <a:pPr indent="0" marL="0">
              <a:buNone/>
            </a:pPr>
            <a:r>
              <a:rPr lang="en-US" sz="1130" b="1" dirty="0">
                <a:solidFill>
                  <a:srgbClr val="1E2761"/>
                </a:solidFill>
                <a:latin typeface="Calibri" pitchFamily="34" charset="0"/>
                <a:ea typeface="Calibri" pitchFamily="34" charset="-122"/>
                <a:cs typeface="Calibri" pitchFamily="34" charset="-120"/>
              </a:rPr>
              <a:t>❌  Mengajar simbol ketaksamaan tanpa kaitkan dengan tatatanda PKJR</a:t>
            </a:r>
            <a:endParaRPr lang="en-US" sz="1130" dirty="0"/>
          </a:p>
        </p:txBody>
      </p:sp>
      <p:sp>
        <p:nvSpPr>
          <p:cNvPr id="18" name="Text 13"/>
          <p:cNvSpPr txBox="1"/>
          <p:nvPr/>
        </p:nvSpPr>
        <p:spPr>
          <a:xfrm>
            <a:off x="1417320" y="3840480"/>
            <a:ext cx="9966960" cy="36576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Nota SP 5.2.1 secara eksplisit mewajibkan perbincangan makna tatatanda dalam konteks PKJR.</a:t>
            </a:r>
            <a:endParaRPr lang="en-US" sz="980" dirty="0"/>
          </a:p>
        </p:txBody>
      </p:sp>
      <p:sp>
        <p:nvSpPr>
          <p:cNvPr id="19" name="Shape 14"/>
          <p:cNvSpPr/>
          <p:nvPr/>
        </p:nvSpPr>
        <p:spPr>
          <a:xfrm>
            <a:off x="548640" y="4361688"/>
            <a:ext cx="11064240" cy="841248"/>
          </a:xfrm>
          <a:prstGeom prst="roundRect">
            <a:avLst>
              <a:gd name="adj" fmla="val 6522"/>
            </a:avLst>
          </a:prstGeom>
          <a:solidFill>
            <a:srgbClr val="F5F7FC"/>
          </a:solidFill>
          <a:ln w="12700">
            <a:solidFill>
              <a:srgbClr val="E7EAF2"/>
            </a:solidFill>
            <a:prstDash val="solid"/>
          </a:ln>
        </p:spPr>
      </p:sp>
      <p:sp>
        <p:nvSpPr>
          <p:cNvPr id="20" name="Shape 15"/>
          <p:cNvSpPr/>
          <p:nvPr/>
        </p:nvSpPr>
        <p:spPr>
          <a:xfrm>
            <a:off x="694944" y="4507992"/>
            <a:ext cx="548640" cy="548640"/>
          </a:xfrm>
          <a:prstGeom prst="ellipse">
            <a:avLst/>
          </a:prstGeom>
          <a:solidFill>
            <a:srgbClr val="E0435A"/>
          </a:solidFill>
          <a:ln/>
        </p:spPr>
      </p:sp>
      <p:pic>
        <p:nvPicPr>
          <p:cNvPr id="21" name="Image 3" descr="/home/claude/shared_icons/icon_warning.png">    </p:cNvPr>
          <p:cNvPicPr>
            <a:picLocks noChangeAspect="1"/>
          </p:cNvPicPr>
          <p:nvPr/>
        </p:nvPicPr>
        <p:blipFill>
          <a:blip r:embed="rId4"/>
          <a:stretch>
            <a:fillRect/>
          </a:stretch>
        </p:blipFill>
        <p:spPr>
          <a:xfrm>
            <a:off x="771754" y="4584802"/>
            <a:ext cx="395021" cy="395021"/>
          </a:xfrm>
          <a:prstGeom prst="rect">
            <a:avLst/>
          </a:prstGeom>
        </p:spPr>
      </p:pic>
      <p:sp>
        <p:nvSpPr>
          <p:cNvPr id="22" name="Text 16"/>
          <p:cNvSpPr txBox="1"/>
          <p:nvPr/>
        </p:nvSpPr>
        <p:spPr>
          <a:xfrm>
            <a:off x="1417320" y="4434840"/>
            <a:ext cx="9966960" cy="329184"/>
          </a:xfrm>
          <a:prstGeom prst="rect">
            <a:avLst/>
          </a:prstGeom>
          <a:noFill/>
          <a:ln/>
        </p:spPr>
        <p:txBody>
          <a:bodyPr wrap="square" rtlCol="0" anchor="ctr"/>
          <a:lstStyle/>
          <a:p>
            <a:pPr indent="0" marL="0">
              <a:buNone/>
            </a:pPr>
            <a:r>
              <a:rPr lang="en-US" sz="1130" b="1" dirty="0">
                <a:solidFill>
                  <a:srgbClr val="1E2761"/>
                </a:solidFill>
                <a:latin typeface="Calibri" pitchFamily="34" charset="0"/>
                <a:ea typeface="Calibri" pitchFamily="34" charset="-122"/>
                <a:cs typeface="Calibri" pitchFamily="34" charset="-120"/>
              </a:rPr>
              <a:t>❌  Mengajar sifat ketaksamaan (i–vi) tanpa ikut turutan rasmi</a:t>
            </a:r>
            <a:endParaRPr lang="en-US" sz="1130" dirty="0"/>
          </a:p>
        </p:txBody>
      </p:sp>
      <p:sp>
        <p:nvSpPr>
          <p:cNvPr id="23" name="Text 17"/>
          <p:cNvSpPr txBox="1"/>
          <p:nvPr/>
        </p:nvSpPr>
        <p:spPr>
          <a:xfrm>
            <a:off x="1417320" y="4782312"/>
            <a:ext cx="9966960" cy="36576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Roman numeral menandakan turutan MANDATORI, bukan senarai bebas.</a:t>
            </a:r>
            <a:endParaRPr lang="en-US" sz="980" dirty="0"/>
          </a:p>
        </p:txBody>
      </p:sp>
      <p:sp>
        <p:nvSpPr>
          <p:cNvPr id="24" name="Shape 18"/>
          <p:cNvSpPr/>
          <p:nvPr/>
        </p:nvSpPr>
        <p:spPr>
          <a:xfrm>
            <a:off x="548640" y="5303520"/>
            <a:ext cx="11064240" cy="841248"/>
          </a:xfrm>
          <a:prstGeom prst="roundRect">
            <a:avLst>
              <a:gd name="adj" fmla="val 6522"/>
            </a:avLst>
          </a:prstGeom>
          <a:solidFill>
            <a:srgbClr val="F5F7FC"/>
          </a:solidFill>
          <a:ln w="12700">
            <a:solidFill>
              <a:srgbClr val="E7EAF2"/>
            </a:solidFill>
            <a:prstDash val="solid"/>
          </a:ln>
        </p:spPr>
      </p:sp>
      <p:sp>
        <p:nvSpPr>
          <p:cNvPr id="25" name="Shape 19"/>
          <p:cNvSpPr/>
          <p:nvPr/>
        </p:nvSpPr>
        <p:spPr>
          <a:xfrm>
            <a:off x="694944" y="5449824"/>
            <a:ext cx="548640" cy="548640"/>
          </a:xfrm>
          <a:prstGeom prst="ellipse">
            <a:avLst/>
          </a:prstGeom>
          <a:solidFill>
            <a:srgbClr val="E0435A"/>
          </a:solidFill>
          <a:ln/>
        </p:spPr>
      </p:sp>
      <p:pic>
        <p:nvPicPr>
          <p:cNvPr id="26" name="Image 4" descr="/home/claude/shared_icons/icon_warning.png">    </p:cNvPr>
          <p:cNvPicPr>
            <a:picLocks noChangeAspect="1"/>
          </p:cNvPicPr>
          <p:nvPr/>
        </p:nvPicPr>
        <p:blipFill>
          <a:blip r:embed="rId5"/>
          <a:stretch>
            <a:fillRect/>
          </a:stretch>
        </p:blipFill>
        <p:spPr>
          <a:xfrm>
            <a:off x="771754" y="5526634"/>
            <a:ext cx="395021" cy="395021"/>
          </a:xfrm>
          <a:prstGeom prst="rect">
            <a:avLst/>
          </a:prstGeom>
        </p:spPr>
      </p:pic>
      <p:sp>
        <p:nvSpPr>
          <p:cNvPr id="27" name="Text 20"/>
          <p:cNvSpPr txBox="1"/>
          <p:nvPr/>
        </p:nvSpPr>
        <p:spPr>
          <a:xfrm>
            <a:off x="1417320" y="5376672"/>
            <a:ext cx="9966960" cy="329184"/>
          </a:xfrm>
          <a:prstGeom prst="rect">
            <a:avLst/>
          </a:prstGeom>
          <a:noFill/>
          <a:ln/>
        </p:spPr>
        <p:txBody>
          <a:bodyPr wrap="square" rtlCol="0" anchor="ctr"/>
          <a:lstStyle/>
          <a:p>
            <a:pPr indent="0" marL="0">
              <a:buNone/>
            </a:pPr>
            <a:r>
              <a:rPr lang="en-US" sz="1130" b="1" dirty="0">
                <a:solidFill>
                  <a:srgbClr val="1E2761"/>
                </a:solidFill>
                <a:latin typeface="Calibri" pitchFamily="34" charset="0"/>
                <a:ea typeface="Calibri" pitchFamily="34" charset="-122"/>
                <a:cs typeface="Calibri" pitchFamily="34" charset="-120"/>
              </a:rPr>
              <a:t>❌  Terus mengajar kaedah formal tanpa membenarkan murid cuba jaya/menyenaraikan secara sistematik</a:t>
            </a:r>
            <a:endParaRPr lang="en-US" sz="1130" dirty="0"/>
          </a:p>
        </p:txBody>
      </p:sp>
      <p:sp>
        <p:nvSpPr>
          <p:cNvPr id="28" name="Text 21"/>
          <p:cNvSpPr txBox="1"/>
          <p:nvPr/>
        </p:nvSpPr>
        <p:spPr>
          <a:xfrm>
            <a:off x="1417320" y="5724144"/>
            <a:ext cx="9966960" cy="365760"/>
          </a:xfrm>
          <a:prstGeom prst="rect">
            <a:avLst/>
          </a:prstGeom>
          <a:noFill/>
          <a:ln/>
        </p:spPr>
        <p:txBody>
          <a:bodyPr wrap="square" rtlCol="0" anchor="ctr"/>
          <a:lstStyle/>
          <a:p>
            <a:pPr indent="0" marL="0">
              <a:lnSpc>
                <a:spcPct val="110000"/>
              </a:lnSpc>
              <a:buNone/>
            </a:pPr>
            <a:r>
              <a:rPr lang="en-US" sz="980" dirty="0">
                <a:solidFill>
                  <a:srgbClr val="5B6472"/>
                </a:solidFill>
                <a:latin typeface="Calibri" pitchFamily="34" charset="0"/>
                <a:ea typeface="Calibri" pitchFamily="34" charset="-122"/>
                <a:cs typeface="Calibri" pitchFamily="34" charset="-120"/>
              </a:rPr>
              <a:t>Rangka Heuristik menggalakkan pelbagai strategi — bukan hanya satu laluan penyelesaian.</a:t>
            </a:r>
            <a:endParaRPr lang="en-US" sz="980" dirty="0"/>
          </a:p>
        </p:txBody>
      </p:sp>
      <p:sp>
        <p:nvSpPr>
          <p:cNvPr id="29" name="Text 22"/>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Berdasarkan Nota rasmi Slaid Sidang 5</a:t>
            </a:r>
            <a:endParaRPr lang="en-US" sz="1000" dirty="0"/>
          </a:p>
        </p:txBody>
      </p:sp>
      <p:sp>
        <p:nvSpPr>
          <p:cNvPr id="30" name="Text 23"/>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IMPLIKASI</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Implikasi kepada Guru dan Murid</a:t>
            </a:r>
            <a:endParaRPr lang="en-US" sz="2600" dirty="0"/>
          </a:p>
        </p:txBody>
      </p:sp>
      <p:sp>
        <p:nvSpPr>
          <p:cNvPr id="4" name="Shape 2"/>
          <p:cNvSpPr/>
          <p:nvPr/>
        </p:nvSpPr>
        <p:spPr>
          <a:xfrm>
            <a:off x="548640" y="1645920"/>
            <a:ext cx="5394960" cy="4389120"/>
          </a:xfrm>
          <a:prstGeom prst="roundRect">
            <a:avLst>
              <a:gd name="adj" fmla="val 1667"/>
            </a:avLst>
          </a:prstGeom>
          <a:solidFill>
            <a:srgbClr val="1E2761"/>
          </a:solidFill>
          <a:ln/>
        </p:spPr>
      </p:sp>
      <p:sp>
        <p:nvSpPr>
          <p:cNvPr id="5" name="Shape 3"/>
          <p:cNvSpPr/>
          <p:nvPr/>
        </p:nvSpPr>
        <p:spPr>
          <a:xfrm>
            <a:off x="777240" y="1828800"/>
            <a:ext cx="640080" cy="640080"/>
          </a:xfrm>
          <a:prstGeom prst="ellipse">
            <a:avLst/>
          </a:prstGeom>
          <a:solidFill>
            <a:srgbClr val="F2B705"/>
          </a:solidFill>
          <a:ln/>
        </p:spPr>
      </p:sp>
      <p:pic>
        <p:nvPicPr>
          <p:cNvPr id="6" name="Image 0" descr="/home/claude/shared_icons/icon_bookReader.png">    </p:cNvPr>
          <p:cNvPicPr>
            <a:picLocks noChangeAspect="1"/>
          </p:cNvPicPr>
          <p:nvPr/>
        </p:nvPicPr>
        <p:blipFill>
          <a:blip r:embed="rId1"/>
          <a:stretch>
            <a:fillRect/>
          </a:stretch>
        </p:blipFill>
        <p:spPr>
          <a:xfrm>
            <a:off x="866851" y="1918411"/>
            <a:ext cx="460858" cy="460858"/>
          </a:xfrm>
          <a:prstGeom prst="rect">
            <a:avLst/>
          </a:prstGeom>
        </p:spPr>
      </p:pic>
      <p:sp>
        <p:nvSpPr>
          <p:cNvPr id="7" name="Text 4"/>
          <p:cNvSpPr txBox="1"/>
          <p:nvPr/>
        </p:nvSpPr>
        <p:spPr>
          <a:xfrm>
            <a:off x="1554480" y="1965960"/>
            <a:ext cx="42062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KEPADA GURU</a:t>
            </a:r>
            <a:endParaRPr lang="en-US" sz="1500" dirty="0"/>
          </a:p>
        </p:txBody>
      </p:sp>
      <p:sp>
        <p:nvSpPr>
          <p:cNvPr id="8" name="Text 5"/>
          <p:cNvSpPr txBox="1"/>
          <p:nvPr/>
        </p:nvSpPr>
        <p:spPr>
          <a:xfrm>
            <a:off x="822960" y="2468880"/>
            <a:ext cx="4892040" cy="3429000"/>
          </a:xfrm>
          <a:prstGeom prst="rect">
            <a:avLst/>
          </a:prstGeom>
          <a:noFill/>
          <a:ln/>
        </p:spPr>
        <p:txBody>
          <a:bodyPr wrap="square" rtlCol="0" anchor="t"/>
          <a:lstStyle/>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kuasai &amp; ajar SEKURANG-KURANGNYA 2 daripada 3 kaedah bagi topik Nisbah/Kadar/Perkadaran.</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sediakan bahan konkrit (jubin algebra) selain Model Bar untuk Ungkapan Algebra.</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kaitkan simbol ketaksamaan dengan tatatanda PKJR semasa PdP.</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patuhi turutan pengajaran 6 sifat ketaksamaan mengikut Roman.</a:t>
            </a:r>
            <a:endParaRPr lang="en-US" sz="1080" dirty="0"/>
          </a:p>
          <a:p>
            <a:pPr marL="228600" indent="-228600">
              <a:spcAft>
                <a:spcPts val="800"/>
              </a:spcAft>
              <a:buSzPct val="100000"/>
              <a:buChar char="▪"/>
            </a:pPr>
            <a:r>
              <a:rPr lang="en-US" sz="1080" dirty="0">
                <a:solidFill>
                  <a:srgbClr val="FFFFFF"/>
                </a:solidFill>
                <a:latin typeface="Calibri" pitchFamily="34" charset="0"/>
                <a:ea typeface="Calibri" pitchFamily="34" charset="-122"/>
                <a:cs typeface="Calibri" pitchFamily="34" charset="-120"/>
              </a:rPr>
              <a:t>Perlu galakkan murid meneroka strategi heuristik pelbagai (bukan hanya satu kaedah) semasa penyelesaian masalah.</a:t>
            </a:r>
            <a:endParaRPr lang="en-US" sz="1080" dirty="0"/>
          </a:p>
        </p:txBody>
      </p:sp>
      <p:sp>
        <p:nvSpPr>
          <p:cNvPr id="9" name="Shape 6"/>
          <p:cNvSpPr/>
          <p:nvPr/>
        </p:nvSpPr>
        <p:spPr>
          <a:xfrm>
            <a:off x="6217920" y="1645920"/>
            <a:ext cx="5394960" cy="4389120"/>
          </a:xfrm>
          <a:prstGeom prst="roundRect">
            <a:avLst>
              <a:gd name="adj" fmla="val 1667"/>
            </a:avLst>
          </a:prstGeom>
          <a:solidFill>
            <a:srgbClr val="F5F7FC"/>
          </a:solidFill>
          <a:ln w="12700">
            <a:solidFill>
              <a:srgbClr val="E7EAF2"/>
            </a:solidFill>
            <a:prstDash val="solid"/>
          </a:ln>
        </p:spPr>
      </p:sp>
      <p:sp>
        <p:nvSpPr>
          <p:cNvPr id="10" name="Shape 7"/>
          <p:cNvSpPr/>
          <p:nvPr/>
        </p:nvSpPr>
        <p:spPr>
          <a:xfrm>
            <a:off x="6446520" y="1828800"/>
            <a:ext cx="640080" cy="640080"/>
          </a:xfrm>
          <a:prstGeom prst="ellipse">
            <a:avLst/>
          </a:prstGeom>
          <a:solidFill>
            <a:srgbClr val="8E44AD"/>
          </a:solidFill>
          <a:ln/>
        </p:spPr>
      </p:sp>
      <p:pic>
        <p:nvPicPr>
          <p:cNvPr id="11" name="Image 1" descr="/home/claude/shared_icons/icon_users.png">    </p:cNvPr>
          <p:cNvPicPr>
            <a:picLocks noChangeAspect="1"/>
          </p:cNvPicPr>
          <p:nvPr/>
        </p:nvPicPr>
        <p:blipFill>
          <a:blip r:embed="rId2"/>
          <a:stretch>
            <a:fillRect/>
          </a:stretch>
        </p:blipFill>
        <p:spPr>
          <a:xfrm>
            <a:off x="6536131" y="1918411"/>
            <a:ext cx="460858" cy="460858"/>
          </a:xfrm>
          <a:prstGeom prst="rect">
            <a:avLst/>
          </a:prstGeom>
        </p:spPr>
      </p:pic>
      <p:sp>
        <p:nvSpPr>
          <p:cNvPr id="12" name="Text 8"/>
          <p:cNvSpPr txBox="1"/>
          <p:nvPr/>
        </p:nvSpPr>
        <p:spPr>
          <a:xfrm>
            <a:off x="7223760" y="1965960"/>
            <a:ext cx="4206240" cy="36576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KEPADA MURID</a:t>
            </a:r>
            <a:endParaRPr lang="en-US" sz="1500" dirty="0"/>
          </a:p>
        </p:txBody>
      </p:sp>
      <p:sp>
        <p:nvSpPr>
          <p:cNvPr id="13" name="Text 9"/>
          <p:cNvSpPr txBox="1"/>
          <p:nvPr/>
        </p:nvSpPr>
        <p:spPr>
          <a:xfrm>
            <a:off x="6446520" y="2468880"/>
            <a:ext cx="4892040" cy="3429000"/>
          </a:xfrm>
          <a:prstGeom prst="rect">
            <a:avLst/>
          </a:prstGeom>
          <a:noFill/>
          <a:ln/>
        </p:spPr>
        <p:txBody>
          <a:bodyPr wrap="square" rtlCol="0" anchor="t"/>
          <a:lstStyle/>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Diberi kebebasan memilih kaedah paling selesa (darab silang/unitari/model bar) untuk soalan perkadaran.</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Membina kefahaman konkrit ungkapan algebra melalui gambar rajah/jubin sebelum manipulasi simbolik.</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Faham kaitan matematik ketaksamaan dengan situasi sebenar (had laju, PKJR).</a:t>
            </a:r>
            <a:endParaRPr lang="en-US" sz="1080" dirty="0"/>
          </a:p>
          <a:p>
            <a:pPr marL="228600" indent="-228600">
              <a:spcAft>
                <a:spcPts val="800"/>
              </a:spcAft>
              <a:buSzPct val="100000"/>
              <a:buChar char="▪"/>
            </a:pPr>
            <a:r>
              <a:rPr lang="en-US" sz="1080" dirty="0">
                <a:solidFill>
                  <a:srgbClr val="141A45"/>
                </a:solidFill>
                <a:latin typeface="Calibri" pitchFamily="34" charset="0"/>
                <a:ea typeface="Calibri" pitchFamily="34" charset="-122"/>
                <a:cs typeface="Calibri" pitchFamily="34" charset="-120"/>
              </a:rPr>
              <a:t>Terdedah kepada rangka penyelesaian masalah sistematik (4 langkah) yang boleh digunakan sepanjang hayat.</a:t>
            </a:r>
            <a:endParaRPr lang="en-US" sz="1080" dirty="0"/>
          </a:p>
        </p:txBody>
      </p:sp>
      <p:sp>
        <p:nvSpPr>
          <p:cNvPr id="14" name="Text 1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Sidang 5</a:t>
            </a:r>
            <a:endParaRPr lang="en-US" sz="1000" dirty="0"/>
          </a:p>
        </p:txBody>
      </p:sp>
      <p:sp>
        <p:nvSpPr>
          <p:cNvPr id="15" name="Text 1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CADANGAN AMALAN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Keutamaan Pelaksanaan di Sekolah</a:t>
            </a:r>
            <a:endParaRPr lang="en-US" sz="2600" dirty="0"/>
          </a:p>
        </p:txBody>
      </p:sp>
      <p:sp>
        <p:nvSpPr>
          <p:cNvPr id="4" name="Shape 2"/>
          <p:cNvSpPr/>
          <p:nvPr/>
        </p:nvSpPr>
        <p:spPr>
          <a:xfrm>
            <a:off x="548640" y="1691640"/>
            <a:ext cx="11064240" cy="1371600"/>
          </a:xfrm>
          <a:prstGeom prst="roundRect">
            <a:avLst>
              <a:gd name="adj" fmla="val 5333"/>
            </a:avLst>
          </a:prstGeom>
          <a:solidFill>
            <a:srgbClr val="F5F7FC"/>
          </a:solidFill>
          <a:ln w="12700">
            <a:solidFill>
              <a:srgbClr val="E7EAF2"/>
            </a:solidFill>
            <a:prstDash val="solid"/>
          </a:ln>
        </p:spPr>
      </p:sp>
      <p:sp>
        <p:nvSpPr>
          <p:cNvPr id="5" name="Shape 3"/>
          <p:cNvSpPr/>
          <p:nvPr/>
        </p:nvSpPr>
        <p:spPr>
          <a:xfrm>
            <a:off x="777240" y="1920240"/>
            <a:ext cx="914400" cy="914400"/>
          </a:xfrm>
          <a:prstGeom prst="ellipse">
            <a:avLst/>
          </a:prstGeom>
          <a:solidFill>
            <a:srgbClr val="E0435A"/>
          </a:solidFill>
          <a:ln/>
        </p:spPr>
      </p:sp>
      <p:sp>
        <p:nvSpPr>
          <p:cNvPr id="6" name="Text 4"/>
          <p:cNvSpPr txBox="1"/>
          <p:nvPr/>
        </p:nvSpPr>
        <p:spPr>
          <a:xfrm>
            <a:off x="777240" y="192024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1920240" y="1856232"/>
            <a:ext cx="2743200" cy="274320"/>
          </a:xfrm>
          <a:prstGeom prst="rect">
            <a:avLst/>
          </a:prstGeom>
          <a:noFill/>
          <a:ln/>
        </p:spPr>
        <p:txBody>
          <a:bodyPr wrap="square" rtlCol="0" anchor="ctr"/>
          <a:lstStyle/>
          <a:p>
            <a:pPr indent="0" marL="0">
              <a:buNone/>
            </a:pPr>
            <a:r>
              <a:rPr lang="en-US" sz="1000" b="1" spc="100" kern="0" dirty="0">
                <a:solidFill>
                  <a:srgbClr val="E0435A"/>
                </a:solidFill>
                <a:latin typeface="Calibri" pitchFamily="34" charset="0"/>
                <a:ea typeface="Calibri" pitchFamily="34" charset="-122"/>
                <a:cs typeface="Calibri" pitchFamily="34" charset="-120"/>
              </a:rPr>
              <a:t>PALING PENTING</a:t>
            </a:r>
            <a:endParaRPr lang="en-US" sz="1000" dirty="0"/>
          </a:p>
        </p:txBody>
      </p:sp>
      <p:sp>
        <p:nvSpPr>
          <p:cNvPr id="8" name="Text 6"/>
          <p:cNvSpPr txBox="1"/>
          <p:nvPr/>
        </p:nvSpPr>
        <p:spPr>
          <a:xfrm>
            <a:off x="1920240" y="210312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Dedahkan Murid kepada Pelbagai Kaedah, Bukan Model Bar Sahaja</a:t>
            </a:r>
            <a:endParaRPr lang="en-US" sz="1350" dirty="0"/>
          </a:p>
        </p:txBody>
      </p:sp>
      <p:sp>
        <p:nvSpPr>
          <p:cNvPr id="9" name="Text 7"/>
          <p:cNvSpPr txBox="1"/>
          <p:nvPr/>
        </p:nvSpPr>
        <p:spPr>
          <a:xfrm>
            <a:off x="1920240" y="246888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Ajar darab silang &amp; unitari bersama Model Bar supaya murid ada pilihan strategi mengikut keselesaan.</a:t>
            </a:r>
            <a:endParaRPr lang="en-US" sz="1050" dirty="0"/>
          </a:p>
        </p:txBody>
      </p:sp>
      <p:sp>
        <p:nvSpPr>
          <p:cNvPr id="10" name="Shape 8"/>
          <p:cNvSpPr/>
          <p:nvPr/>
        </p:nvSpPr>
        <p:spPr>
          <a:xfrm>
            <a:off x="548640" y="3200400"/>
            <a:ext cx="11064240" cy="1371600"/>
          </a:xfrm>
          <a:prstGeom prst="roundRect">
            <a:avLst>
              <a:gd name="adj" fmla="val 5333"/>
            </a:avLst>
          </a:prstGeom>
          <a:solidFill>
            <a:srgbClr val="F5F7FC"/>
          </a:solidFill>
          <a:ln w="12700">
            <a:solidFill>
              <a:srgbClr val="E7EAF2"/>
            </a:solidFill>
            <a:prstDash val="solid"/>
          </a:ln>
        </p:spPr>
      </p:sp>
      <p:sp>
        <p:nvSpPr>
          <p:cNvPr id="11" name="Shape 9"/>
          <p:cNvSpPr/>
          <p:nvPr/>
        </p:nvSpPr>
        <p:spPr>
          <a:xfrm>
            <a:off x="777240" y="3429000"/>
            <a:ext cx="914400" cy="914400"/>
          </a:xfrm>
          <a:prstGeom prst="ellipse">
            <a:avLst/>
          </a:prstGeom>
          <a:solidFill>
            <a:srgbClr val="F2B705"/>
          </a:solidFill>
          <a:ln/>
        </p:spPr>
      </p:sp>
      <p:sp>
        <p:nvSpPr>
          <p:cNvPr id="12" name="Text 10"/>
          <p:cNvSpPr txBox="1"/>
          <p:nvPr/>
        </p:nvSpPr>
        <p:spPr>
          <a:xfrm>
            <a:off x="777240" y="3429000"/>
            <a:ext cx="914400" cy="914400"/>
          </a:xfrm>
          <a:prstGeom prst="rect">
            <a:avLst/>
          </a:prstGeom>
          <a:noFill/>
          <a:ln/>
        </p:spPr>
        <p:txBody>
          <a:bodyPr wrap="square"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1920240" y="3364992"/>
            <a:ext cx="2743200" cy="274320"/>
          </a:xfrm>
          <a:prstGeom prst="rect">
            <a:avLst/>
          </a:prstGeom>
          <a:noFill/>
          <a:ln/>
        </p:spPr>
        <p:txBody>
          <a:bodyPr wrap="square" rtlCol="0" anchor="ctr"/>
          <a:lstStyle/>
          <a:p>
            <a:pPr indent="0" marL="0">
              <a:buNone/>
            </a:pPr>
            <a:r>
              <a:rPr lang="en-US" sz="1000" b="1" spc="100" kern="0" dirty="0">
                <a:solidFill>
                  <a:srgbClr val="B08600"/>
                </a:solidFill>
                <a:latin typeface="Calibri" pitchFamily="34" charset="0"/>
                <a:ea typeface="Calibri" pitchFamily="34" charset="-122"/>
                <a:cs typeface="Calibri" pitchFamily="34" charset="-120"/>
              </a:rPr>
              <a:t>PENTING</a:t>
            </a:r>
            <a:endParaRPr lang="en-US" sz="1000" dirty="0"/>
          </a:p>
        </p:txBody>
      </p:sp>
      <p:sp>
        <p:nvSpPr>
          <p:cNvPr id="14" name="Text 12"/>
          <p:cNvSpPr txBox="1"/>
          <p:nvPr/>
        </p:nvSpPr>
        <p:spPr>
          <a:xfrm>
            <a:off x="1920240" y="361188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Latih Rangka Heuristik 4-Langkah untuk Semua Masalah Bukan Rutin</a:t>
            </a:r>
            <a:endParaRPr lang="en-US" sz="1350" dirty="0"/>
          </a:p>
        </p:txBody>
      </p:sp>
      <p:sp>
        <p:nvSpPr>
          <p:cNvPr id="15" name="Text 13"/>
          <p:cNvSpPr txBox="1"/>
          <p:nvPr/>
        </p:nvSpPr>
        <p:spPr>
          <a:xfrm>
            <a:off x="1920240" y="397764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Bina tabiat sistematik (Apa dicari? Apa diketahui? Bertindak. Semak.) merentas topik Algebra.</a:t>
            </a:r>
            <a:endParaRPr lang="en-US" sz="1050" dirty="0"/>
          </a:p>
        </p:txBody>
      </p:sp>
      <p:sp>
        <p:nvSpPr>
          <p:cNvPr id="16" name="Shape 14"/>
          <p:cNvSpPr/>
          <p:nvPr/>
        </p:nvSpPr>
        <p:spPr>
          <a:xfrm>
            <a:off x="548640" y="4709160"/>
            <a:ext cx="11064240" cy="1371600"/>
          </a:xfrm>
          <a:prstGeom prst="roundRect">
            <a:avLst>
              <a:gd name="adj" fmla="val 5333"/>
            </a:avLst>
          </a:prstGeom>
          <a:solidFill>
            <a:srgbClr val="F5F7FC"/>
          </a:solidFill>
          <a:ln w="12700">
            <a:solidFill>
              <a:srgbClr val="E7EAF2"/>
            </a:solidFill>
            <a:prstDash val="solid"/>
          </a:ln>
        </p:spPr>
      </p:sp>
      <p:sp>
        <p:nvSpPr>
          <p:cNvPr id="17" name="Shape 15"/>
          <p:cNvSpPr/>
          <p:nvPr/>
        </p:nvSpPr>
        <p:spPr>
          <a:xfrm>
            <a:off x="777240" y="4937760"/>
            <a:ext cx="914400" cy="914400"/>
          </a:xfrm>
          <a:prstGeom prst="ellipse">
            <a:avLst/>
          </a:prstGeom>
          <a:solidFill>
            <a:srgbClr val="8E44AD"/>
          </a:solidFill>
          <a:ln/>
        </p:spPr>
      </p:sp>
      <p:sp>
        <p:nvSpPr>
          <p:cNvPr id="18" name="Text 16"/>
          <p:cNvSpPr txBox="1"/>
          <p:nvPr/>
        </p:nvSpPr>
        <p:spPr>
          <a:xfrm>
            <a:off x="777240" y="4937760"/>
            <a:ext cx="914400" cy="91440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1920240" y="4873752"/>
            <a:ext cx="2743200" cy="274320"/>
          </a:xfrm>
          <a:prstGeom prst="rect">
            <a:avLst/>
          </a:prstGeom>
          <a:noFill/>
          <a:ln/>
        </p:spPr>
        <p:txBody>
          <a:bodyPr wrap="square" rtlCol="0" anchor="ctr"/>
          <a:lstStyle/>
          <a:p>
            <a:pPr indent="0" marL="0">
              <a:buNone/>
            </a:pPr>
            <a:r>
              <a:rPr lang="en-US" sz="1000" b="1" spc="100" kern="0" dirty="0">
                <a:solidFill>
                  <a:srgbClr val="8E44AD"/>
                </a:solidFill>
                <a:latin typeface="Calibri" pitchFamily="34" charset="0"/>
                <a:ea typeface="Calibri" pitchFamily="34" charset="-122"/>
                <a:cs typeface="Calibri" pitchFamily="34" charset="-120"/>
              </a:rPr>
              <a:t>SOKONGAN</a:t>
            </a:r>
            <a:endParaRPr lang="en-US" sz="1000" dirty="0"/>
          </a:p>
        </p:txBody>
      </p:sp>
      <p:sp>
        <p:nvSpPr>
          <p:cNvPr id="20" name="Text 18"/>
          <p:cNvSpPr txBox="1"/>
          <p:nvPr/>
        </p:nvSpPr>
        <p:spPr>
          <a:xfrm>
            <a:off x="1920240" y="5120640"/>
            <a:ext cx="8595360" cy="365760"/>
          </a:xfrm>
          <a:prstGeom prst="rect">
            <a:avLst/>
          </a:prstGeom>
          <a:noFill/>
          <a:ln/>
        </p:spPr>
        <p:txBody>
          <a:bodyPr wrap="square"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PLC Panitia: Kongsi Bank Soalan Cuba Jaya &amp; Penyenaraian Sistematik</a:t>
            </a:r>
            <a:endParaRPr lang="en-US" sz="1350" dirty="0"/>
          </a:p>
        </p:txBody>
      </p:sp>
      <p:sp>
        <p:nvSpPr>
          <p:cNvPr id="21" name="Text 19"/>
          <p:cNvSpPr txBox="1"/>
          <p:nvPr/>
        </p:nvSpPr>
        <p:spPr>
          <a:xfrm>
            <a:off x="1920240" y="5486400"/>
            <a:ext cx="8595360" cy="502920"/>
          </a:xfrm>
          <a:prstGeom prst="rect">
            <a:avLst/>
          </a:prstGeom>
          <a:noFill/>
          <a:ln/>
        </p:spPr>
        <p:txBody>
          <a:bodyPr wrap="square" rtlCol="0" anchor="ctr"/>
          <a:lstStyle/>
          <a:p>
            <a:pPr indent="0" marL="0">
              <a:lnSpc>
                <a:spcPct val="115000"/>
              </a:lnSpc>
              <a:buNone/>
            </a:pPr>
            <a:r>
              <a:rPr lang="en-US" sz="1050" dirty="0">
                <a:solidFill>
                  <a:srgbClr val="5B6472"/>
                </a:solidFill>
                <a:latin typeface="Calibri" pitchFamily="34" charset="0"/>
                <a:ea typeface="Calibri" pitchFamily="34" charset="-122"/>
                <a:cs typeface="Calibri" pitchFamily="34" charset="-120"/>
              </a:rPr>
              <a:t>Perkaya repositori soalan bukan-Model-Bar untuk mengelakkan kebergantungan tunggal.</a:t>
            </a:r>
            <a:endParaRPr lang="en-US" sz="10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Sidang 5</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PERBINCANGAN GURU</a:t>
            </a:r>
            <a:endParaRPr lang="en-US" sz="1300" dirty="0"/>
          </a:p>
        </p:txBody>
      </p:sp>
      <p:sp>
        <p:nvSpPr>
          <p:cNvPr id="3" name="Text 1"/>
          <p:cNvSpPr txBox="1"/>
          <p:nvPr/>
        </p:nvSpPr>
        <p:spPr>
          <a:xfrm>
            <a:off x="548640" y="658368"/>
            <a:ext cx="11155680" cy="68580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Aktiviti Refleksi Panitia</a:t>
            </a:r>
            <a:endParaRPr lang="en-US" sz="2700" dirty="0"/>
          </a:p>
        </p:txBody>
      </p:sp>
      <p:sp>
        <p:nvSpPr>
          <p:cNvPr id="4" name="Shape 2"/>
          <p:cNvSpPr/>
          <p:nvPr/>
        </p:nvSpPr>
        <p:spPr>
          <a:xfrm>
            <a:off x="548640" y="1691640"/>
            <a:ext cx="11064240" cy="1371600"/>
          </a:xfrm>
          <a:prstGeom prst="roundRect">
            <a:avLst>
              <a:gd name="adj" fmla="val 5333"/>
            </a:avLst>
          </a:prstGeom>
          <a:solidFill>
            <a:srgbClr val="141A45"/>
          </a:solidFill>
          <a:ln w="12700">
            <a:solidFill>
              <a:srgbClr val="F2B705"/>
            </a:solidFill>
            <a:prstDash val="solid"/>
          </a:ln>
        </p:spPr>
      </p:sp>
      <p:sp>
        <p:nvSpPr>
          <p:cNvPr id="5" name="Shape 3"/>
          <p:cNvSpPr/>
          <p:nvPr/>
        </p:nvSpPr>
        <p:spPr>
          <a:xfrm>
            <a:off x="777240" y="1947672"/>
            <a:ext cx="822960" cy="822960"/>
          </a:xfrm>
          <a:prstGeom prst="ellipse">
            <a:avLst/>
          </a:prstGeom>
          <a:solidFill>
            <a:srgbClr val="F2B705"/>
          </a:solidFill>
          <a:ln/>
        </p:spPr>
      </p:sp>
      <p:sp>
        <p:nvSpPr>
          <p:cNvPr id="6" name="Text 4"/>
          <p:cNvSpPr txBox="1"/>
          <p:nvPr/>
        </p:nvSpPr>
        <p:spPr>
          <a:xfrm>
            <a:off x="777240" y="194767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874520" y="1828800"/>
            <a:ext cx="9509760" cy="731520"/>
          </a:xfrm>
          <a:prstGeom prst="rect">
            <a:avLst/>
          </a:prstGeom>
          <a:noFill/>
          <a:ln/>
        </p:spPr>
        <p:txBody>
          <a:bodyPr wrap="square" rtlCol="0" anchor="t"/>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Bagi tajuk Nisbah/Kadar/Perkadaran, bina SATU soalan yang sama diselesaikan dengan 3 kaedah berbeza (darab silang, unitari, model bar).</a:t>
            </a:r>
            <a:endParaRPr lang="en-US" sz="1150" dirty="0"/>
          </a:p>
        </p:txBody>
      </p:sp>
      <p:sp>
        <p:nvSpPr>
          <p:cNvPr id="8" name="Text 6"/>
          <p:cNvSpPr txBox="1"/>
          <p:nvPr/>
        </p:nvSpPr>
        <p:spPr>
          <a:xfrm>
            <a:off x="1874520" y="2587752"/>
            <a:ext cx="9509760" cy="411480"/>
          </a:xfrm>
          <a:prstGeom prst="rect">
            <a:avLst/>
          </a:prstGeom>
          <a:noFill/>
          <a:ln/>
        </p:spPr>
        <p:txBody>
          <a:bodyPr wrap="square"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Bandingkan tahap kesukaran &amp; kesesuaian setiap kaedah untuk murid berbeza tahap.</a:t>
            </a:r>
            <a:endParaRPr lang="en-US" sz="1000" dirty="0"/>
          </a:p>
        </p:txBody>
      </p:sp>
      <p:sp>
        <p:nvSpPr>
          <p:cNvPr id="9" name="Shape 7"/>
          <p:cNvSpPr/>
          <p:nvPr/>
        </p:nvSpPr>
        <p:spPr>
          <a:xfrm>
            <a:off x="548640" y="3200400"/>
            <a:ext cx="11064240" cy="1371600"/>
          </a:xfrm>
          <a:prstGeom prst="roundRect">
            <a:avLst>
              <a:gd name="adj" fmla="val 5333"/>
            </a:avLst>
          </a:prstGeom>
          <a:solidFill>
            <a:srgbClr val="141A45"/>
          </a:solidFill>
          <a:ln w="12700">
            <a:solidFill>
              <a:srgbClr val="F2B705"/>
            </a:solidFill>
            <a:prstDash val="solid"/>
          </a:ln>
        </p:spPr>
      </p:sp>
      <p:sp>
        <p:nvSpPr>
          <p:cNvPr id="10" name="Shape 8"/>
          <p:cNvSpPr/>
          <p:nvPr/>
        </p:nvSpPr>
        <p:spPr>
          <a:xfrm>
            <a:off x="777240" y="3456432"/>
            <a:ext cx="822960" cy="822960"/>
          </a:xfrm>
          <a:prstGeom prst="ellipse">
            <a:avLst/>
          </a:prstGeom>
          <a:solidFill>
            <a:srgbClr val="F2B705"/>
          </a:solidFill>
          <a:ln/>
        </p:spPr>
      </p:sp>
      <p:sp>
        <p:nvSpPr>
          <p:cNvPr id="11" name="Text 9"/>
          <p:cNvSpPr txBox="1"/>
          <p:nvPr/>
        </p:nvSpPr>
        <p:spPr>
          <a:xfrm>
            <a:off x="777240" y="345643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1874520" y="3337560"/>
            <a:ext cx="9509760" cy="731520"/>
          </a:xfrm>
          <a:prstGeom prst="rect">
            <a:avLst/>
          </a:prstGeom>
          <a:noFill/>
          <a:ln/>
        </p:spPr>
        <p:txBody>
          <a:bodyPr wrap="square" rtlCol="0" anchor="t"/>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Kenal pasti SATU tajuk Algebra yang sesuai menggunakan jubin algebra sebagai alternatif kepada Model Bar.</a:t>
            </a:r>
            <a:endParaRPr lang="en-US" sz="1150" dirty="0"/>
          </a:p>
        </p:txBody>
      </p:sp>
      <p:sp>
        <p:nvSpPr>
          <p:cNvPr id="13" name="Text 11"/>
          <p:cNvSpPr txBox="1"/>
          <p:nvPr/>
        </p:nvSpPr>
        <p:spPr>
          <a:xfrm>
            <a:off x="1874520" y="4096512"/>
            <a:ext cx="9509760" cy="411480"/>
          </a:xfrm>
          <a:prstGeom prst="rect">
            <a:avLst/>
          </a:prstGeom>
          <a:noFill/>
          <a:ln/>
        </p:spPr>
        <p:txBody>
          <a:bodyPr wrap="square"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Rujuk Nota SP 4.1.3 di Slaid 7 sebagai panduan.</a:t>
            </a:r>
            <a:endParaRPr lang="en-US" sz="1000" dirty="0"/>
          </a:p>
        </p:txBody>
      </p:sp>
      <p:sp>
        <p:nvSpPr>
          <p:cNvPr id="14" name="Shape 12"/>
          <p:cNvSpPr/>
          <p:nvPr/>
        </p:nvSpPr>
        <p:spPr>
          <a:xfrm>
            <a:off x="548640" y="4709160"/>
            <a:ext cx="11064240" cy="1371600"/>
          </a:xfrm>
          <a:prstGeom prst="roundRect">
            <a:avLst>
              <a:gd name="adj" fmla="val 5333"/>
            </a:avLst>
          </a:prstGeom>
          <a:solidFill>
            <a:srgbClr val="141A45"/>
          </a:solidFill>
          <a:ln w="12700">
            <a:solidFill>
              <a:srgbClr val="F2B705"/>
            </a:solidFill>
            <a:prstDash val="solid"/>
          </a:ln>
        </p:spPr>
      </p:sp>
      <p:sp>
        <p:nvSpPr>
          <p:cNvPr id="15" name="Shape 13"/>
          <p:cNvSpPr/>
          <p:nvPr/>
        </p:nvSpPr>
        <p:spPr>
          <a:xfrm>
            <a:off x="777240" y="4965192"/>
            <a:ext cx="822960" cy="822960"/>
          </a:xfrm>
          <a:prstGeom prst="ellipse">
            <a:avLst/>
          </a:prstGeom>
          <a:solidFill>
            <a:srgbClr val="F2B705"/>
          </a:solidFill>
          <a:ln/>
        </p:spPr>
      </p:sp>
      <p:sp>
        <p:nvSpPr>
          <p:cNvPr id="16" name="Text 14"/>
          <p:cNvSpPr txBox="1"/>
          <p:nvPr/>
        </p:nvSpPr>
        <p:spPr>
          <a:xfrm>
            <a:off x="777240" y="4965192"/>
            <a:ext cx="822960" cy="822960"/>
          </a:xfrm>
          <a:prstGeom prst="rect">
            <a:avLst/>
          </a:prstGeom>
          <a:noFill/>
          <a:ln/>
        </p:spPr>
        <p:txBody>
          <a:bodyPr wrap="square" rtlCol="0" anchor="ctr"/>
          <a:lstStyle/>
          <a:p>
            <a:pPr algn="ctr" indent="0" marL="0">
              <a:buNone/>
            </a:pPr>
            <a:r>
              <a:rPr lang="en-US" sz="2600" b="1" dirty="0">
                <a:solidFill>
                  <a:srgbClr val="1E2761"/>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1874520" y="4846320"/>
            <a:ext cx="9509760" cy="731520"/>
          </a:xfrm>
          <a:prstGeom prst="rect">
            <a:avLst/>
          </a:prstGeom>
          <a:noFill/>
          <a:ln/>
        </p:spPr>
        <p:txBody>
          <a:bodyPr wrap="square" rtlCol="0" anchor="t"/>
          <a:lstStyle/>
          <a:p>
            <a:pPr indent="0" marL="0">
              <a:lnSpc>
                <a:spcPct val="120000"/>
              </a:lnSpc>
              <a:buNone/>
            </a:pPr>
            <a:r>
              <a:rPr lang="en-US" sz="1150" b="1" dirty="0">
                <a:solidFill>
                  <a:srgbClr val="FFFFFF"/>
                </a:solidFill>
                <a:latin typeface="Calibri" pitchFamily="34" charset="0"/>
                <a:ea typeface="Calibri" pitchFamily="34" charset="-122"/>
                <a:cs typeface="Calibri" pitchFamily="34" charset="-120"/>
              </a:rPr>
              <a:t>Bina SATU soalan bukan rutin yang diselesaikan menggunakan strategi cuba jaya ATAU penyenaraian sistematik (bukan Model Bar).</a:t>
            </a:r>
            <a:endParaRPr lang="en-US" sz="1150" dirty="0"/>
          </a:p>
        </p:txBody>
      </p:sp>
      <p:sp>
        <p:nvSpPr>
          <p:cNvPr id="18" name="Text 16"/>
          <p:cNvSpPr txBox="1"/>
          <p:nvPr/>
        </p:nvSpPr>
        <p:spPr>
          <a:xfrm>
            <a:off x="1874520" y="5605272"/>
            <a:ext cx="9509760" cy="411480"/>
          </a:xfrm>
          <a:prstGeom prst="rect">
            <a:avLst/>
          </a:prstGeom>
          <a:noFill/>
          <a:ln/>
        </p:spPr>
        <p:txBody>
          <a:bodyPr wrap="square"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Gunakan rangka Heuristik 4-Langkah di Slaid 13 sebagai panduan.</a:t>
            </a:r>
            <a:endParaRPr lang="en-US" sz="1000" dirty="0"/>
          </a:p>
        </p:txBody>
      </p:sp>
      <p:sp>
        <p:nvSpPr>
          <p:cNvPr id="19" name="Text 17"/>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[CADANGAN PEMBANGUN MODUL] Aktiviti PLC berdasarkan struktur Slaid Sidang 5</a:t>
            </a:r>
            <a:endParaRPr lang="en-US" sz="1000" dirty="0"/>
          </a:p>
        </p:txBody>
      </p:sp>
      <p:sp>
        <p:nvSpPr>
          <p:cNvPr id="20" name="Text 18"/>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FAQ RINGKAS</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Soalan Lazim Guru</a:t>
            </a:r>
            <a:endParaRPr lang="en-US" sz="2600" dirty="0"/>
          </a:p>
        </p:txBody>
      </p:sp>
      <p:sp>
        <p:nvSpPr>
          <p:cNvPr id="4" name="Shape 2"/>
          <p:cNvSpPr/>
          <p:nvPr/>
        </p:nvSpPr>
        <p:spPr>
          <a:xfrm>
            <a:off x="548640" y="1691640"/>
            <a:ext cx="11064240" cy="1051560"/>
          </a:xfrm>
          <a:prstGeom prst="roundRect">
            <a:avLst>
              <a:gd name="adj" fmla="val 6957"/>
            </a:avLst>
          </a:prstGeom>
          <a:solidFill>
            <a:srgbClr val="F5F7FC"/>
          </a:solidFill>
          <a:ln w="12700">
            <a:solidFill>
              <a:srgbClr val="E7EAF2"/>
            </a:solidFill>
            <a:prstDash val="solid"/>
          </a:ln>
        </p:spPr>
      </p:sp>
      <p:sp>
        <p:nvSpPr>
          <p:cNvPr id="5" name="Shape 3"/>
          <p:cNvSpPr/>
          <p:nvPr/>
        </p:nvSpPr>
        <p:spPr>
          <a:xfrm>
            <a:off x="731520" y="1920240"/>
            <a:ext cx="594360" cy="594360"/>
          </a:xfrm>
          <a:prstGeom prst="ellipse">
            <a:avLst/>
          </a:prstGeom>
          <a:solidFill>
            <a:srgbClr val="1E2761"/>
          </a:solidFill>
          <a:ln/>
        </p:spPr>
      </p:sp>
      <p:pic>
        <p:nvPicPr>
          <p:cNvPr id="6" name="Image 0" descr="/home/claude/shared_icons/icon_question.png">    </p:cNvPr>
          <p:cNvPicPr>
            <a:picLocks noChangeAspect="1"/>
          </p:cNvPicPr>
          <p:nvPr/>
        </p:nvPicPr>
        <p:blipFill>
          <a:blip r:embed="rId1"/>
          <a:stretch>
            <a:fillRect/>
          </a:stretch>
        </p:blipFill>
        <p:spPr>
          <a:xfrm>
            <a:off x="814730" y="2003450"/>
            <a:ext cx="427939" cy="427939"/>
          </a:xfrm>
          <a:prstGeom prst="rect">
            <a:avLst/>
          </a:prstGeom>
        </p:spPr>
      </p:pic>
      <p:sp>
        <p:nvSpPr>
          <p:cNvPr id="7" name="Text 4"/>
          <p:cNvSpPr txBox="1"/>
          <p:nvPr/>
        </p:nvSpPr>
        <p:spPr>
          <a:xfrm>
            <a:off x="1508760" y="1783080"/>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Perlukah semua soalan perkadaran diajar menggunakan Model Bar?</a:t>
            </a:r>
            <a:endParaRPr lang="en-US" sz="1200" dirty="0"/>
          </a:p>
        </p:txBody>
      </p:sp>
      <p:sp>
        <p:nvSpPr>
          <p:cNvPr id="8" name="Text 5"/>
          <p:cNvSpPr txBox="1"/>
          <p:nvPr/>
        </p:nvSpPr>
        <p:spPr>
          <a:xfrm>
            <a:off x="1508760" y="2194560"/>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Tidak. Nota rasmi membenarkan darab silang, unitari, ATAU model bar — guru pilih mengikut kesesuaian murid.</a:t>
            </a:r>
            <a:endParaRPr lang="en-US" sz="1100" dirty="0"/>
          </a:p>
        </p:txBody>
      </p:sp>
      <p:sp>
        <p:nvSpPr>
          <p:cNvPr id="9" name="Shape 6"/>
          <p:cNvSpPr/>
          <p:nvPr/>
        </p:nvSpPr>
        <p:spPr>
          <a:xfrm>
            <a:off x="548640" y="2862072"/>
            <a:ext cx="11064240" cy="1051560"/>
          </a:xfrm>
          <a:prstGeom prst="roundRect">
            <a:avLst>
              <a:gd name="adj" fmla="val 6957"/>
            </a:avLst>
          </a:prstGeom>
          <a:solidFill>
            <a:srgbClr val="F5F7FC"/>
          </a:solidFill>
          <a:ln w="12700">
            <a:solidFill>
              <a:srgbClr val="E7EAF2"/>
            </a:solidFill>
            <a:prstDash val="solid"/>
          </a:ln>
        </p:spPr>
      </p:sp>
      <p:sp>
        <p:nvSpPr>
          <p:cNvPr id="10" name="Shape 7"/>
          <p:cNvSpPr/>
          <p:nvPr/>
        </p:nvSpPr>
        <p:spPr>
          <a:xfrm>
            <a:off x="731520" y="3090672"/>
            <a:ext cx="594360" cy="594360"/>
          </a:xfrm>
          <a:prstGeom prst="ellipse">
            <a:avLst/>
          </a:prstGeom>
          <a:solidFill>
            <a:srgbClr val="1E2761"/>
          </a:solidFill>
          <a:ln/>
        </p:spPr>
      </p:sp>
      <p:pic>
        <p:nvPicPr>
          <p:cNvPr id="11" name="Image 1" descr="/home/claude/shared_icons/icon_question.png">    </p:cNvPr>
          <p:cNvPicPr>
            <a:picLocks noChangeAspect="1"/>
          </p:cNvPicPr>
          <p:nvPr/>
        </p:nvPicPr>
        <p:blipFill>
          <a:blip r:embed="rId2"/>
          <a:stretch>
            <a:fillRect/>
          </a:stretch>
        </p:blipFill>
        <p:spPr>
          <a:xfrm>
            <a:off x="814730" y="3173882"/>
            <a:ext cx="427939" cy="427939"/>
          </a:xfrm>
          <a:prstGeom prst="rect">
            <a:avLst/>
          </a:prstGeom>
        </p:spPr>
      </p:pic>
      <p:sp>
        <p:nvSpPr>
          <p:cNvPr id="12" name="Text 8"/>
          <p:cNvSpPr txBox="1"/>
          <p:nvPr/>
        </p:nvSpPr>
        <p:spPr>
          <a:xfrm>
            <a:off x="1508760" y="2953512"/>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Bolehkah guru guna jubin algebra sebagai ganti Model Bar untuk Ungkapan Algebra?</a:t>
            </a:r>
            <a:endParaRPr lang="en-US" sz="1200" dirty="0"/>
          </a:p>
        </p:txBody>
      </p:sp>
      <p:sp>
        <p:nvSpPr>
          <p:cNvPr id="13" name="Text 9"/>
          <p:cNvSpPr txBox="1"/>
          <p:nvPr/>
        </p:nvSpPr>
        <p:spPr>
          <a:xfrm>
            <a:off x="1508760" y="3364992"/>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Boleh. Nota SP 4.1.3 secara eksplisit membenarkan gambar rajah, model bar, atau jubin algebra.</a:t>
            </a:r>
            <a:endParaRPr lang="en-US" sz="1100" dirty="0"/>
          </a:p>
        </p:txBody>
      </p:sp>
      <p:sp>
        <p:nvSpPr>
          <p:cNvPr id="14" name="Shape 10"/>
          <p:cNvSpPr/>
          <p:nvPr/>
        </p:nvSpPr>
        <p:spPr>
          <a:xfrm>
            <a:off x="548640" y="4032504"/>
            <a:ext cx="11064240" cy="1051560"/>
          </a:xfrm>
          <a:prstGeom prst="roundRect">
            <a:avLst>
              <a:gd name="adj" fmla="val 6957"/>
            </a:avLst>
          </a:prstGeom>
          <a:solidFill>
            <a:srgbClr val="F5F7FC"/>
          </a:solidFill>
          <a:ln w="12700">
            <a:solidFill>
              <a:srgbClr val="E7EAF2"/>
            </a:solidFill>
            <a:prstDash val="solid"/>
          </a:ln>
        </p:spPr>
      </p:sp>
      <p:sp>
        <p:nvSpPr>
          <p:cNvPr id="15" name="Shape 11"/>
          <p:cNvSpPr/>
          <p:nvPr/>
        </p:nvSpPr>
        <p:spPr>
          <a:xfrm>
            <a:off x="731520" y="4261104"/>
            <a:ext cx="594360" cy="594360"/>
          </a:xfrm>
          <a:prstGeom prst="ellipse">
            <a:avLst/>
          </a:prstGeom>
          <a:solidFill>
            <a:srgbClr val="1E2761"/>
          </a:solidFill>
          <a:ln/>
        </p:spPr>
      </p:sp>
      <p:pic>
        <p:nvPicPr>
          <p:cNvPr id="16" name="Image 2" descr="/home/claude/shared_icons/icon_question.png">    </p:cNvPr>
          <p:cNvPicPr>
            <a:picLocks noChangeAspect="1"/>
          </p:cNvPicPr>
          <p:nvPr/>
        </p:nvPicPr>
        <p:blipFill>
          <a:blip r:embed="rId3"/>
          <a:stretch>
            <a:fillRect/>
          </a:stretch>
        </p:blipFill>
        <p:spPr>
          <a:xfrm>
            <a:off x="814730" y="4344314"/>
            <a:ext cx="427939" cy="427939"/>
          </a:xfrm>
          <a:prstGeom prst="rect">
            <a:avLst/>
          </a:prstGeom>
        </p:spPr>
      </p:pic>
      <p:sp>
        <p:nvSpPr>
          <p:cNvPr id="17" name="Text 12"/>
          <p:cNvSpPr txBox="1"/>
          <p:nvPr/>
        </p:nvSpPr>
        <p:spPr>
          <a:xfrm>
            <a:off x="1508760" y="4123944"/>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Perlukah 6 sifat ketaksamaan diajar dalam turutan tertentu?</a:t>
            </a:r>
            <a:endParaRPr lang="en-US" sz="1200" dirty="0"/>
          </a:p>
        </p:txBody>
      </p:sp>
      <p:sp>
        <p:nvSpPr>
          <p:cNvPr id="18" name="Text 13"/>
          <p:cNvSpPr txBox="1"/>
          <p:nvPr/>
        </p:nvSpPr>
        <p:spPr>
          <a:xfrm>
            <a:off x="1508760" y="4535424"/>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Ya. Simbol Roman (i–vi) menandakan turutan wajib yang perlu dipatuhi.</a:t>
            </a:r>
            <a:endParaRPr lang="en-US" sz="1100" dirty="0"/>
          </a:p>
        </p:txBody>
      </p:sp>
      <p:sp>
        <p:nvSpPr>
          <p:cNvPr id="19" name="Shape 14"/>
          <p:cNvSpPr/>
          <p:nvPr/>
        </p:nvSpPr>
        <p:spPr>
          <a:xfrm>
            <a:off x="548640" y="5202936"/>
            <a:ext cx="11064240" cy="1051560"/>
          </a:xfrm>
          <a:prstGeom prst="roundRect">
            <a:avLst>
              <a:gd name="adj" fmla="val 6957"/>
            </a:avLst>
          </a:prstGeom>
          <a:solidFill>
            <a:srgbClr val="F5F7FC"/>
          </a:solidFill>
          <a:ln w="12700">
            <a:solidFill>
              <a:srgbClr val="E7EAF2"/>
            </a:solidFill>
            <a:prstDash val="solid"/>
          </a:ln>
        </p:spPr>
      </p:sp>
      <p:sp>
        <p:nvSpPr>
          <p:cNvPr id="20" name="Shape 15"/>
          <p:cNvSpPr/>
          <p:nvPr/>
        </p:nvSpPr>
        <p:spPr>
          <a:xfrm>
            <a:off x="731520" y="5431536"/>
            <a:ext cx="594360" cy="594360"/>
          </a:xfrm>
          <a:prstGeom prst="ellipse">
            <a:avLst/>
          </a:prstGeom>
          <a:solidFill>
            <a:srgbClr val="1E2761"/>
          </a:solidFill>
          <a:ln/>
        </p:spPr>
      </p:sp>
      <p:pic>
        <p:nvPicPr>
          <p:cNvPr id="21" name="Image 3" descr="/home/claude/shared_icons/icon_question.png">    </p:cNvPr>
          <p:cNvPicPr>
            <a:picLocks noChangeAspect="1"/>
          </p:cNvPicPr>
          <p:nvPr/>
        </p:nvPicPr>
        <p:blipFill>
          <a:blip r:embed="rId4"/>
          <a:stretch>
            <a:fillRect/>
          </a:stretch>
        </p:blipFill>
        <p:spPr>
          <a:xfrm>
            <a:off x="814730" y="5514746"/>
            <a:ext cx="427939" cy="427939"/>
          </a:xfrm>
          <a:prstGeom prst="rect">
            <a:avLst/>
          </a:prstGeom>
        </p:spPr>
      </p:pic>
      <p:sp>
        <p:nvSpPr>
          <p:cNvPr id="22" name="Text 16"/>
          <p:cNvSpPr txBox="1"/>
          <p:nvPr/>
        </p:nvSpPr>
        <p:spPr>
          <a:xfrm>
            <a:off x="1508760" y="5294376"/>
            <a:ext cx="9875520" cy="36576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 Apakah kaitan ketaksamaan dengan PKJR?</a:t>
            </a:r>
            <a:endParaRPr lang="en-US" sz="1200" dirty="0"/>
          </a:p>
        </p:txBody>
      </p:sp>
      <p:sp>
        <p:nvSpPr>
          <p:cNvPr id="23" name="Text 17"/>
          <p:cNvSpPr txBox="1"/>
          <p:nvPr/>
        </p:nvSpPr>
        <p:spPr>
          <a:xfrm>
            <a:off x="1508760" y="5705856"/>
            <a:ext cx="9875520" cy="502920"/>
          </a:xfrm>
          <a:prstGeom prst="rect">
            <a:avLst/>
          </a:prstGeom>
          <a:noFill/>
          <a:ln/>
        </p:spPr>
        <p:txBody>
          <a:bodyPr wrap="square" rtlCol="0" anchor="ctr"/>
          <a:lstStyle/>
          <a:p>
            <a:pPr indent="0" marL="0">
              <a:lnSpc>
                <a:spcPct val="115000"/>
              </a:lnSpc>
              <a:buNone/>
            </a:pPr>
            <a:r>
              <a:rPr lang="en-US" sz="1100" dirty="0">
                <a:solidFill>
                  <a:srgbClr val="5B6472"/>
                </a:solidFill>
                <a:latin typeface="Calibri" pitchFamily="34" charset="0"/>
                <a:ea typeface="Calibri" pitchFamily="34" charset="-122"/>
                <a:cs typeface="Calibri" pitchFamily="34" charset="-120"/>
              </a:rPr>
              <a:t>J: Nota SP 5.2.1 mewajibkan perbincangan makna tatatanda ketaksamaan dalam konteks tanda jalan raya (PKJR).</a:t>
            </a:r>
            <a:endParaRPr lang="en-US" sz="1100" dirty="0"/>
          </a:p>
        </p:txBody>
      </p:sp>
      <p:sp>
        <p:nvSpPr>
          <p:cNvPr id="24" name="Text 18"/>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Ramalan Q&amp;A berdasarkan Slaid Sidang 5</a:t>
            </a:r>
            <a:endParaRPr lang="en-US" sz="1000" dirty="0"/>
          </a:p>
        </p:txBody>
      </p:sp>
      <p:sp>
        <p:nvSpPr>
          <p:cNvPr id="25" name="Text 19"/>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RUMUSAN</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Rumusan Sidang 5</a:t>
            </a:r>
            <a:endParaRPr lang="en-US" sz="2600" dirty="0"/>
          </a:p>
        </p:txBody>
      </p:sp>
      <p:sp>
        <p:nvSpPr>
          <p:cNvPr id="4" name="Shape 2"/>
          <p:cNvSpPr/>
          <p:nvPr/>
        </p:nvSpPr>
        <p:spPr>
          <a:xfrm>
            <a:off x="548640" y="1737360"/>
            <a:ext cx="2651760" cy="3566160"/>
          </a:xfrm>
          <a:prstGeom prst="roundRect">
            <a:avLst>
              <a:gd name="adj" fmla="val 2759"/>
            </a:avLst>
          </a:prstGeom>
          <a:solidFill>
            <a:srgbClr val="1E2761"/>
          </a:solidFill>
          <a:ln/>
        </p:spPr>
      </p:sp>
      <p:sp>
        <p:nvSpPr>
          <p:cNvPr id="5" name="Shape 3"/>
          <p:cNvSpPr/>
          <p:nvPr/>
        </p:nvSpPr>
        <p:spPr>
          <a:xfrm>
            <a:off x="1508760" y="2057400"/>
            <a:ext cx="731520" cy="731520"/>
          </a:xfrm>
          <a:prstGeom prst="ellipse">
            <a:avLst/>
          </a:prstGeom>
          <a:solidFill>
            <a:srgbClr val="F2B705"/>
          </a:solidFill>
          <a:ln/>
        </p:spPr>
      </p:sp>
      <p:pic>
        <p:nvPicPr>
          <p:cNvPr id="6" name="Image 0" descr="/home/claude/shared_icons/icon_percentage.png">    </p:cNvPr>
          <p:cNvPicPr>
            <a:picLocks noChangeAspect="1"/>
          </p:cNvPicPr>
          <p:nvPr/>
        </p:nvPicPr>
        <p:blipFill>
          <a:blip r:embed="rId1"/>
          <a:stretch>
            <a:fillRect/>
          </a:stretch>
        </p:blipFill>
        <p:spPr>
          <a:xfrm>
            <a:off x="1611173" y="2159813"/>
            <a:ext cx="526694" cy="526694"/>
          </a:xfrm>
          <a:prstGeom prst="rect">
            <a:avLst/>
          </a:prstGeom>
        </p:spPr>
      </p:pic>
      <p:sp>
        <p:nvSpPr>
          <p:cNvPr id="7" name="Text 4"/>
          <p:cNvSpPr txBox="1"/>
          <p:nvPr/>
        </p:nvSpPr>
        <p:spPr>
          <a:xfrm>
            <a:off x="685800" y="2971800"/>
            <a:ext cx="237744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3.0 Nisbah/Kadar</a:t>
            </a:r>
            <a:endParaRPr lang="en-US" sz="1300" dirty="0"/>
          </a:p>
        </p:txBody>
      </p:sp>
      <p:sp>
        <p:nvSpPr>
          <p:cNvPr id="8" name="Text 5"/>
          <p:cNvSpPr txBox="1"/>
          <p:nvPr/>
        </p:nvSpPr>
        <p:spPr>
          <a:xfrm>
            <a:off x="731520" y="3520440"/>
            <a:ext cx="2286000" cy="164592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3 kaedah sah: darab silang, unitari, model bar.</a:t>
            </a:r>
            <a:endParaRPr lang="en-US" sz="1030" dirty="0"/>
          </a:p>
        </p:txBody>
      </p:sp>
      <p:sp>
        <p:nvSpPr>
          <p:cNvPr id="9" name="Shape 6"/>
          <p:cNvSpPr/>
          <p:nvPr/>
        </p:nvSpPr>
        <p:spPr>
          <a:xfrm>
            <a:off x="3429000" y="1737360"/>
            <a:ext cx="2651760" cy="3566160"/>
          </a:xfrm>
          <a:prstGeom prst="roundRect">
            <a:avLst>
              <a:gd name="adj" fmla="val 2759"/>
            </a:avLst>
          </a:prstGeom>
          <a:solidFill>
            <a:srgbClr val="1E2761"/>
          </a:solidFill>
          <a:ln/>
        </p:spPr>
      </p:sp>
      <p:sp>
        <p:nvSpPr>
          <p:cNvPr id="10" name="Shape 7"/>
          <p:cNvSpPr/>
          <p:nvPr/>
        </p:nvSpPr>
        <p:spPr>
          <a:xfrm>
            <a:off x="4389120" y="2057400"/>
            <a:ext cx="731520" cy="731520"/>
          </a:xfrm>
          <a:prstGeom prst="ellipse">
            <a:avLst/>
          </a:prstGeom>
          <a:solidFill>
            <a:srgbClr val="F2B705"/>
          </a:solidFill>
          <a:ln/>
        </p:spPr>
      </p:sp>
      <p:pic>
        <p:nvPicPr>
          <p:cNvPr id="11" name="Image 1" descr="/home/claude/shared_icons/icon_puzzle.png">    </p:cNvPr>
          <p:cNvPicPr>
            <a:picLocks noChangeAspect="1"/>
          </p:cNvPicPr>
          <p:nvPr/>
        </p:nvPicPr>
        <p:blipFill>
          <a:blip r:embed="rId2"/>
          <a:stretch>
            <a:fillRect/>
          </a:stretch>
        </p:blipFill>
        <p:spPr>
          <a:xfrm>
            <a:off x="4491533" y="2159813"/>
            <a:ext cx="526694" cy="526694"/>
          </a:xfrm>
          <a:prstGeom prst="rect">
            <a:avLst/>
          </a:prstGeom>
        </p:spPr>
      </p:pic>
      <p:sp>
        <p:nvSpPr>
          <p:cNvPr id="12" name="Text 8"/>
          <p:cNvSpPr txBox="1"/>
          <p:nvPr/>
        </p:nvSpPr>
        <p:spPr>
          <a:xfrm>
            <a:off x="3566160" y="2971800"/>
            <a:ext cx="237744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4.0 Ungkapan Algebra</a:t>
            </a:r>
            <a:endParaRPr lang="en-US" sz="1300" dirty="0"/>
          </a:p>
        </p:txBody>
      </p:sp>
      <p:sp>
        <p:nvSpPr>
          <p:cNvPr id="13" name="Text 9"/>
          <p:cNvSpPr txBox="1"/>
          <p:nvPr/>
        </p:nvSpPr>
        <p:spPr>
          <a:xfrm>
            <a:off x="3611880" y="3520440"/>
            <a:ext cx="2286000" cy="164592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Pelbagai wakilan: gambar rajah, model bar, jubin algebra + gamifikasi.</a:t>
            </a:r>
            <a:endParaRPr lang="en-US" sz="1030" dirty="0"/>
          </a:p>
        </p:txBody>
      </p:sp>
      <p:sp>
        <p:nvSpPr>
          <p:cNvPr id="14" name="Shape 10"/>
          <p:cNvSpPr/>
          <p:nvPr/>
        </p:nvSpPr>
        <p:spPr>
          <a:xfrm>
            <a:off x="6309360" y="1737360"/>
            <a:ext cx="2651760" cy="3566160"/>
          </a:xfrm>
          <a:prstGeom prst="roundRect">
            <a:avLst>
              <a:gd name="adj" fmla="val 2759"/>
            </a:avLst>
          </a:prstGeom>
          <a:solidFill>
            <a:srgbClr val="1E2761"/>
          </a:solidFill>
          <a:ln/>
        </p:spPr>
      </p:sp>
      <p:sp>
        <p:nvSpPr>
          <p:cNvPr id="15" name="Shape 11"/>
          <p:cNvSpPr/>
          <p:nvPr/>
        </p:nvSpPr>
        <p:spPr>
          <a:xfrm>
            <a:off x="7269480" y="2057400"/>
            <a:ext cx="731520" cy="731520"/>
          </a:xfrm>
          <a:prstGeom prst="ellipse">
            <a:avLst/>
          </a:prstGeom>
          <a:solidFill>
            <a:srgbClr val="F2B705"/>
          </a:solidFill>
          <a:ln/>
        </p:spPr>
      </p:sp>
      <p:pic>
        <p:nvPicPr>
          <p:cNvPr id="16" name="Image 2" descr="/home/claude/shared_icons/icon_balanceScale.png">    </p:cNvPr>
          <p:cNvPicPr>
            <a:picLocks noChangeAspect="1"/>
          </p:cNvPicPr>
          <p:nvPr/>
        </p:nvPicPr>
        <p:blipFill>
          <a:blip r:embed="rId3"/>
          <a:stretch>
            <a:fillRect/>
          </a:stretch>
        </p:blipFill>
        <p:spPr>
          <a:xfrm>
            <a:off x="7371893" y="2159813"/>
            <a:ext cx="526694" cy="526694"/>
          </a:xfrm>
          <a:prstGeom prst="rect">
            <a:avLst/>
          </a:prstGeom>
        </p:spPr>
      </p:pic>
      <p:sp>
        <p:nvSpPr>
          <p:cNvPr id="17" name="Text 12"/>
          <p:cNvSpPr txBox="1"/>
          <p:nvPr/>
        </p:nvSpPr>
        <p:spPr>
          <a:xfrm>
            <a:off x="6446520" y="2971800"/>
            <a:ext cx="237744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5.0 Persamaan/Ketaksamaan</a:t>
            </a:r>
            <a:endParaRPr lang="en-US" sz="1300" dirty="0"/>
          </a:p>
        </p:txBody>
      </p:sp>
      <p:sp>
        <p:nvSpPr>
          <p:cNvPr id="18" name="Text 13"/>
          <p:cNvSpPr txBox="1"/>
          <p:nvPr/>
        </p:nvSpPr>
        <p:spPr>
          <a:xfrm>
            <a:off x="6492240" y="3520440"/>
            <a:ext cx="2286000" cy="164592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6 sifat ketaksamaan wajib turutan + kaitan PKJR.</a:t>
            </a:r>
            <a:endParaRPr lang="en-US" sz="1030" dirty="0"/>
          </a:p>
        </p:txBody>
      </p:sp>
      <p:sp>
        <p:nvSpPr>
          <p:cNvPr id="19" name="Shape 14"/>
          <p:cNvSpPr/>
          <p:nvPr/>
        </p:nvSpPr>
        <p:spPr>
          <a:xfrm>
            <a:off x="9189720" y="1737360"/>
            <a:ext cx="2651760" cy="3566160"/>
          </a:xfrm>
          <a:prstGeom prst="roundRect">
            <a:avLst>
              <a:gd name="adj" fmla="val 2759"/>
            </a:avLst>
          </a:prstGeom>
          <a:solidFill>
            <a:srgbClr val="1E2761"/>
          </a:solidFill>
          <a:ln/>
        </p:spPr>
      </p:sp>
      <p:sp>
        <p:nvSpPr>
          <p:cNvPr id="20" name="Shape 15"/>
          <p:cNvSpPr/>
          <p:nvPr/>
        </p:nvSpPr>
        <p:spPr>
          <a:xfrm>
            <a:off x="10149840" y="2057400"/>
            <a:ext cx="731520" cy="731520"/>
          </a:xfrm>
          <a:prstGeom prst="ellipse">
            <a:avLst/>
          </a:prstGeom>
          <a:solidFill>
            <a:srgbClr val="F2B705"/>
          </a:solidFill>
          <a:ln/>
        </p:spPr>
      </p:sp>
      <p:pic>
        <p:nvPicPr>
          <p:cNvPr id="21" name="Image 3" descr="/home/claude/shared_icons/icon_chalkboard.png">    </p:cNvPr>
          <p:cNvPicPr>
            <a:picLocks noChangeAspect="1"/>
          </p:cNvPicPr>
          <p:nvPr/>
        </p:nvPicPr>
        <p:blipFill>
          <a:blip r:embed="rId4"/>
          <a:stretch>
            <a:fillRect/>
          </a:stretch>
        </p:blipFill>
        <p:spPr>
          <a:xfrm>
            <a:off x="10252253" y="2159813"/>
            <a:ext cx="526694" cy="526694"/>
          </a:xfrm>
          <a:prstGeom prst="rect">
            <a:avLst/>
          </a:prstGeom>
        </p:spPr>
      </p:pic>
      <p:sp>
        <p:nvSpPr>
          <p:cNvPr id="22" name="Text 16"/>
          <p:cNvSpPr txBox="1"/>
          <p:nvPr/>
        </p:nvSpPr>
        <p:spPr>
          <a:xfrm>
            <a:off x="9326880" y="2971800"/>
            <a:ext cx="237744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Pendekatan PdP</a:t>
            </a:r>
            <a:endParaRPr lang="en-US" sz="1300" dirty="0"/>
          </a:p>
        </p:txBody>
      </p:sp>
      <p:sp>
        <p:nvSpPr>
          <p:cNvPr id="23" name="Text 17"/>
          <p:cNvSpPr txBox="1"/>
          <p:nvPr/>
        </p:nvSpPr>
        <p:spPr>
          <a:xfrm>
            <a:off x="9372600" y="3520440"/>
            <a:ext cx="2286000" cy="1645920"/>
          </a:xfrm>
          <a:prstGeom prst="rect">
            <a:avLst/>
          </a:prstGeom>
          <a:noFill/>
          <a:ln/>
        </p:spPr>
        <p:txBody>
          <a:bodyPr wrap="square" rtlCol="0" anchor="t"/>
          <a:lstStyle/>
          <a:p>
            <a:pPr algn="ctr" indent="0" marL="0">
              <a:lnSpc>
                <a:spcPct val="120000"/>
              </a:lnSpc>
              <a:buNone/>
            </a:pPr>
            <a:r>
              <a:rPr lang="en-US" sz="1030" dirty="0">
                <a:solidFill>
                  <a:srgbClr val="CADCFC"/>
                </a:solidFill>
                <a:latin typeface="Calibri" pitchFamily="34" charset="0"/>
                <a:ea typeface="Calibri" pitchFamily="34" charset="-122"/>
                <a:cs typeface="Calibri" pitchFamily="34" charset="-120"/>
              </a:rPr>
              <a:t>Rangka Heuristik 4-Langkah — Model Bar satu strategi sahaja.</a:t>
            </a:r>
            <a:endParaRPr lang="en-US" sz="1030" dirty="0"/>
          </a:p>
        </p:txBody>
      </p:sp>
      <p:sp>
        <p:nvSpPr>
          <p:cNvPr id="24" name="Text 18"/>
          <p:cNvSpPr txBox="1"/>
          <p:nvPr/>
        </p:nvSpPr>
        <p:spPr>
          <a:xfrm>
            <a:off x="548640" y="5486400"/>
            <a:ext cx="11064240" cy="457200"/>
          </a:xfrm>
          <a:prstGeom prst="rect">
            <a:avLst/>
          </a:prstGeom>
          <a:noFill/>
          <a:ln/>
        </p:spPr>
        <p:txBody>
          <a:bodyPr wrap="square" rtlCol="0" anchor="ctr"/>
          <a:lstStyle/>
          <a:p>
            <a:pPr algn="ctr" indent="0" marL="0">
              <a:buNone/>
            </a:pPr>
            <a:r>
              <a:rPr lang="en-US" sz="1150" i="1" dirty="0">
                <a:solidFill>
                  <a:srgbClr val="5B6472"/>
                </a:solidFill>
                <a:latin typeface="Calibri" pitchFamily="34" charset="0"/>
                <a:ea typeface="Calibri" pitchFamily="34" charset="-122"/>
                <a:cs typeface="Calibri" pitchFamily="34" charset="-120"/>
              </a:rPr>
              <a:t>Pelbagaikan strategi PdP mengikut Nota rasmi — jangan biarkan satu kaedah (Model Bar) mewakili keseluruhan pendekatan Algebra.</a:t>
            </a:r>
            <a:endParaRPr lang="en-US" sz="1150" dirty="0"/>
          </a:p>
        </p:txBody>
      </p:sp>
      <p:sp>
        <p:nvSpPr>
          <p:cNvPr id="25" name="Text 19"/>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[SINTESIS] Slaid BPK Sidang 5</a:t>
            </a:r>
            <a:endParaRPr lang="en-US" sz="1000" dirty="0"/>
          </a:p>
        </p:txBody>
      </p:sp>
      <p:sp>
        <p:nvSpPr>
          <p:cNvPr id="26" name="Text 20"/>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rtlCol="0" anchor="ctr"/>
          <a:lstStyle/>
          <a:p>
            <a:pPr indent="0" marL="0">
              <a:buNone/>
            </a:pPr>
            <a:r>
              <a:rPr lang="en-US" sz="1300" b="1" spc="200" kern="0" dirty="0">
                <a:solidFill>
                  <a:srgbClr val="F2B705"/>
                </a:solidFill>
                <a:latin typeface="Calibri" pitchFamily="34" charset="0"/>
                <a:ea typeface="Calibri" pitchFamily="34" charset="-122"/>
                <a:cs typeface="Calibri" pitchFamily="34" charset="-120"/>
              </a:rPr>
              <a:t>TINDAKAN GURU</a:t>
            </a:r>
            <a:endParaRPr lang="en-US" sz="1300" dirty="0"/>
          </a:p>
        </p:txBody>
      </p:sp>
      <p:sp>
        <p:nvSpPr>
          <p:cNvPr id="3" name="Text 1"/>
          <p:cNvSpPr txBox="1"/>
          <p:nvPr/>
        </p:nvSpPr>
        <p:spPr>
          <a:xfrm>
            <a:off x="548640" y="658368"/>
            <a:ext cx="11064240" cy="68580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Apa Perlu Dibuat Selepas Sidang Ini?</a:t>
            </a:r>
            <a:endParaRPr lang="en-US" sz="2600" dirty="0"/>
          </a:p>
        </p:txBody>
      </p:sp>
      <p:sp>
        <p:nvSpPr>
          <p:cNvPr id="4" name="Shape 2"/>
          <p:cNvSpPr/>
          <p:nvPr/>
        </p:nvSpPr>
        <p:spPr>
          <a:xfrm>
            <a:off x="548640" y="1691640"/>
            <a:ext cx="11064240" cy="658368"/>
          </a:xfrm>
          <a:prstGeom prst="roundRect">
            <a:avLst>
              <a:gd name="adj" fmla="val 8333"/>
            </a:avLst>
          </a:prstGeom>
          <a:solidFill>
            <a:srgbClr val="F5F7FC"/>
          </a:solidFill>
          <a:ln w="12700">
            <a:solidFill>
              <a:srgbClr val="E7EAF2"/>
            </a:solidFill>
            <a:prstDash val="solid"/>
          </a:ln>
        </p:spPr>
      </p:sp>
      <p:sp>
        <p:nvSpPr>
          <p:cNvPr id="5" name="Shape 3"/>
          <p:cNvSpPr/>
          <p:nvPr/>
        </p:nvSpPr>
        <p:spPr>
          <a:xfrm>
            <a:off x="777240" y="1883664"/>
            <a:ext cx="274320" cy="274320"/>
          </a:xfrm>
          <a:prstGeom prst="rect">
            <a:avLst/>
          </a:prstGeom>
          <a:solidFill>
            <a:srgbClr val="FFFFFF"/>
          </a:solidFill>
          <a:ln w="19050">
            <a:solidFill>
              <a:srgbClr val="1E2761"/>
            </a:solidFill>
            <a:prstDash val="solid"/>
          </a:ln>
        </p:spPr>
      </p:sp>
      <p:sp>
        <p:nvSpPr>
          <p:cNvPr id="6" name="Text 4"/>
          <p:cNvSpPr txBox="1"/>
          <p:nvPr/>
        </p:nvSpPr>
        <p:spPr>
          <a:xfrm>
            <a:off x="1234440" y="169164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Bina koleksi soalan Nisbah/Kadar yang diselesaikan dengan 3 kaedah berbeza (darab silang, unitari, model bar).</a:t>
            </a:r>
            <a:endParaRPr lang="en-US" sz="1150" dirty="0"/>
          </a:p>
        </p:txBody>
      </p:sp>
      <p:sp>
        <p:nvSpPr>
          <p:cNvPr id="7" name="Shape 5"/>
          <p:cNvSpPr/>
          <p:nvPr/>
        </p:nvSpPr>
        <p:spPr>
          <a:xfrm>
            <a:off x="548640" y="2441448"/>
            <a:ext cx="11064240" cy="658368"/>
          </a:xfrm>
          <a:prstGeom prst="roundRect">
            <a:avLst>
              <a:gd name="adj" fmla="val 8333"/>
            </a:avLst>
          </a:prstGeom>
          <a:solidFill>
            <a:srgbClr val="F5F7FC"/>
          </a:solidFill>
          <a:ln w="12700">
            <a:solidFill>
              <a:srgbClr val="E7EAF2"/>
            </a:solidFill>
            <a:prstDash val="solid"/>
          </a:ln>
        </p:spPr>
      </p:sp>
      <p:sp>
        <p:nvSpPr>
          <p:cNvPr id="8" name="Shape 6"/>
          <p:cNvSpPr/>
          <p:nvPr/>
        </p:nvSpPr>
        <p:spPr>
          <a:xfrm>
            <a:off x="777240" y="2633472"/>
            <a:ext cx="274320" cy="274320"/>
          </a:xfrm>
          <a:prstGeom prst="rect">
            <a:avLst/>
          </a:prstGeom>
          <a:solidFill>
            <a:srgbClr val="FFFFFF"/>
          </a:solidFill>
          <a:ln w="19050">
            <a:solidFill>
              <a:srgbClr val="1E2761"/>
            </a:solidFill>
            <a:prstDash val="solid"/>
          </a:ln>
        </p:spPr>
      </p:sp>
      <p:sp>
        <p:nvSpPr>
          <p:cNvPr id="9" name="Text 7"/>
          <p:cNvSpPr txBox="1"/>
          <p:nvPr/>
        </p:nvSpPr>
        <p:spPr>
          <a:xfrm>
            <a:off x="1234440" y="2441448"/>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Sediakan set jubin algebra (fizikal/digital) sebagai alternatif Model Bar untuk Ungkapan Algebra.</a:t>
            </a:r>
            <a:endParaRPr lang="en-US" sz="1150" dirty="0"/>
          </a:p>
        </p:txBody>
      </p:sp>
      <p:sp>
        <p:nvSpPr>
          <p:cNvPr id="10" name="Shape 8"/>
          <p:cNvSpPr/>
          <p:nvPr/>
        </p:nvSpPr>
        <p:spPr>
          <a:xfrm>
            <a:off x="548640" y="3191256"/>
            <a:ext cx="11064240" cy="658368"/>
          </a:xfrm>
          <a:prstGeom prst="roundRect">
            <a:avLst>
              <a:gd name="adj" fmla="val 8333"/>
            </a:avLst>
          </a:prstGeom>
          <a:solidFill>
            <a:srgbClr val="F5F7FC"/>
          </a:solidFill>
          <a:ln w="12700">
            <a:solidFill>
              <a:srgbClr val="E7EAF2"/>
            </a:solidFill>
            <a:prstDash val="solid"/>
          </a:ln>
        </p:spPr>
      </p:sp>
      <p:sp>
        <p:nvSpPr>
          <p:cNvPr id="11" name="Shape 9"/>
          <p:cNvSpPr/>
          <p:nvPr/>
        </p:nvSpPr>
        <p:spPr>
          <a:xfrm>
            <a:off x="777240" y="3383280"/>
            <a:ext cx="274320" cy="274320"/>
          </a:xfrm>
          <a:prstGeom prst="rect">
            <a:avLst/>
          </a:prstGeom>
          <a:solidFill>
            <a:srgbClr val="FFFFFF"/>
          </a:solidFill>
          <a:ln w="19050">
            <a:solidFill>
              <a:srgbClr val="1E2761"/>
            </a:solidFill>
            <a:prstDash val="solid"/>
          </a:ln>
        </p:spPr>
      </p:sp>
      <p:sp>
        <p:nvSpPr>
          <p:cNvPr id="12" name="Text 10"/>
          <p:cNvSpPr txBox="1"/>
          <p:nvPr/>
        </p:nvSpPr>
        <p:spPr>
          <a:xfrm>
            <a:off x="1234440" y="3191256"/>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Rancang PdP simbol ketaksamaan dengan kaitan PKJR sebagai konteks induksi.</a:t>
            </a:r>
            <a:endParaRPr lang="en-US" sz="1150" dirty="0"/>
          </a:p>
        </p:txBody>
      </p:sp>
      <p:sp>
        <p:nvSpPr>
          <p:cNvPr id="13" name="Shape 11"/>
          <p:cNvSpPr/>
          <p:nvPr/>
        </p:nvSpPr>
        <p:spPr>
          <a:xfrm>
            <a:off x="548640" y="3941064"/>
            <a:ext cx="11064240" cy="658368"/>
          </a:xfrm>
          <a:prstGeom prst="roundRect">
            <a:avLst>
              <a:gd name="adj" fmla="val 8333"/>
            </a:avLst>
          </a:prstGeom>
          <a:solidFill>
            <a:srgbClr val="F5F7FC"/>
          </a:solidFill>
          <a:ln w="12700">
            <a:solidFill>
              <a:srgbClr val="E7EAF2"/>
            </a:solidFill>
            <a:prstDash val="solid"/>
          </a:ln>
        </p:spPr>
      </p:sp>
      <p:sp>
        <p:nvSpPr>
          <p:cNvPr id="14" name="Shape 12"/>
          <p:cNvSpPr/>
          <p:nvPr/>
        </p:nvSpPr>
        <p:spPr>
          <a:xfrm>
            <a:off x="777240" y="4133088"/>
            <a:ext cx="274320" cy="274320"/>
          </a:xfrm>
          <a:prstGeom prst="rect">
            <a:avLst/>
          </a:prstGeom>
          <a:solidFill>
            <a:srgbClr val="FFFFFF"/>
          </a:solidFill>
          <a:ln w="19050">
            <a:solidFill>
              <a:srgbClr val="1E2761"/>
            </a:solidFill>
            <a:prstDash val="solid"/>
          </a:ln>
        </p:spPr>
      </p:sp>
      <p:sp>
        <p:nvSpPr>
          <p:cNvPr id="15" name="Text 13"/>
          <p:cNvSpPr txBox="1"/>
          <p:nvPr/>
        </p:nvSpPr>
        <p:spPr>
          <a:xfrm>
            <a:off x="1234440" y="3941064"/>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Latih murid menggunakan rangka Heuristik 4-Langkah untuk sekurang-kurangnya 2 masalah bukan rutin.</a:t>
            </a:r>
            <a:endParaRPr lang="en-US" sz="1150" dirty="0"/>
          </a:p>
        </p:txBody>
      </p:sp>
      <p:sp>
        <p:nvSpPr>
          <p:cNvPr id="16" name="Shape 14"/>
          <p:cNvSpPr/>
          <p:nvPr/>
        </p:nvSpPr>
        <p:spPr>
          <a:xfrm>
            <a:off x="548640" y="4690872"/>
            <a:ext cx="11064240" cy="658368"/>
          </a:xfrm>
          <a:prstGeom prst="roundRect">
            <a:avLst>
              <a:gd name="adj" fmla="val 8333"/>
            </a:avLst>
          </a:prstGeom>
          <a:solidFill>
            <a:srgbClr val="F5F7FC"/>
          </a:solidFill>
          <a:ln w="12700">
            <a:solidFill>
              <a:srgbClr val="E7EAF2"/>
            </a:solidFill>
            <a:prstDash val="solid"/>
          </a:ln>
        </p:spPr>
      </p:sp>
      <p:sp>
        <p:nvSpPr>
          <p:cNvPr id="17" name="Shape 15"/>
          <p:cNvSpPr/>
          <p:nvPr/>
        </p:nvSpPr>
        <p:spPr>
          <a:xfrm>
            <a:off x="777240" y="4882896"/>
            <a:ext cx="274320" cy="274320"/>
          </a:xfrm>
          <a:prstGeom prst="rect">
            <a:avLst/>
          </a:prstGeom>
          <a:solidFill>
            <a:srgbClr val="FFFFFF"/>
          </a:solidFill>
          <a:ln w="19050">
            <a:solidFill>
              <a:srgbClr val="1E2761"/>
            </a:solidFill>
            <a:prstDash val="solid"/>
          </a:ln>
        </p:spPr>
      </p:sp>
      <p:sp>
        <p:nvSpPr>
          <p:cNvPr id="18" name="Text 16"/>
          <p:cNvSpPr txBox="1"/>
          <p:nvPr/>
        </p:nvSpPr>
        <p:spPr>
          <a:xfrm>
            <a:off x="1234440" y="4690872"/>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Semak turutan pengajaran 6 sifat ketaksamaan mengikut Roman i–vi.</a:t>
            </a:r>
            <a:endParaRPr lang="en-US" sz="1150" dirty="0"/>
          </a:p>
        </p:txBody>
      </p:sp>
      <p:sp>
        <p:nvSpPr>
          <p:cNvPr id="19" name="Shape 17"/>
          <p:cNvSpPr/>
          <p:nvPr/>
        </p:nvSpPr>
        <p:spPr>
          <a:xfrm>
            <a:off x="548640" y="5440680"/>
            <a:ext cx="11064240" cy="658368"/>
          </a:xfrm>
          <a:prstGeom prst="roundRect">
            <a:avLst>
              <a:gd name="adj" fmla="val 8333"/>
            </a:avLst>
          </a:prstGeom>
          <a:solidFill>
            <a:srgbClr val="F5F7FC"/>
          </a:solidFill>
          <a:ln w="12700">
            <a:solidFill>
              <a:srgbClr val="E7EAF2"/>
            </a:solidFill>
            <a:prstDash val="solid"/>
          </a:ln>
        </p:spPr>
      </p:sp>
      <p:sp>
        <p:nvSpPr>
          <p:cNvPr id="20" name="Shape 18"/>
          <p:cNvSpPr/>
          <p:nvPr/>
        </p:nvSpPr>
        <p:spPr>
          <a:xfrm>
            <a:off x="777240" y="5632704"/>
            <a:ext cx="274320" cy="274320"/>
          </a:xfrm>
          <a:prstGeom prst="rect">
            <a:avLst/>
          </a:prstGeom>
          <a:solidFill>
            <a:srgbClr val="FFFFFF"/>
          </a:solidFill>
          <a:ln w="19050">
            <a:solidFill>
              <a:srgbClr val="1E2761"/>
            </a:solidFill>
            <a:prstDash val="solid"/>
          </a:ln>
        </p:spPr>
      </p:sp>
      <p:sp>
        <p:nvSpPr>
          <p:cNvPr id="21" name="Text 19"/>
          <p:cNvSpPr txBox="1"/>
          <p:nvPr/>
        </p:nvSpPr>
        <p:spPr>
          <a:xfrm>
            <a:off x="1234440" y="5440680"/>
            <a:ext cx="10195560" cy="658368"/>
          </a:xfrm>
          <a:prstGeom prst="rect">
            <a:avLst/>
          </a:prstGeom>
          <a:noFill/>
          <a:ln/>
        </p:spPr>
        <p:txBody>
          <a:bodyPr wrap="square" rtlCol="0" anchor="ctr"/>
          <a:lstStyle/>
          <a:p>
            <a:pPr indent="0" marL="0">
              <a:buNone/>
            </a:pPr>
            <a:r>
              <a:rPr lang="en-US" sz="1150" dirty="0">
                <a:solidFill>
                  <a:srgbClr val="141A45"/>
                </a:solidFill>
                <a:latin typeface="Calibri" pitchFamily="34" charset="0"/>
                <a:ea typeface="Calibri" pitchFamily="34" charset="-122"/>
                <a:cs typeface="Calibri" pitchFamily="34" charset="-120"/>
              </a:rPr>
              <a:t>Kongsikan bahan ini kepada rakan sekolah yang tidak dapat hadir sidang asal.</a:t>
            </a:r>
            <a:endParaRPr lang="en-US" sz="1150" dirty="0"/>
          </a:p>
        </p:txBody>
      </p:sp>
      <p:sp>
        <p:nvSpPr>
          <p:cNvPr id="22" name="Text 20"/>
          <p:cNvSpPr txBox="1"/>
          <p:nvPr/>
        </p:nvSpPr>
        <p:spPr>
          <a:xfrm>
            <a:off x="457200" y="6473952"/>
            <a:ext cx="9601200" cy="274320"/>
          </a:xfrm>
          <a:prstGeom prst="rect">
            <a:avLst/>
          </a:prstGeom>
          <a:noFill/>
          <a:ln/>
        </p:spPr>
        <p:txBody>
          <a:bodyPr wrap="square" rtlCol="0" anchor="ctr"/>
          <a:lstStyle/>
          <a:p>
            <a:pPr algn="l" indent="0" marL="0">
              <a:buNone/>
            </a:pPr>
            <a:r>
              <a:rPr lang="en-US" sz="1000" i="1" dirty="0">
                <a:solidFill>
                  <a:srgbClr val="5B6472"/>
                </a:solidFill>
                <a:latin typeface="Calibri" pitchFamily="34" charset="0"/>
                <a:ea typeface="Calibri" pitchFamily="34" charset="-122"/>
                <a:cs typeface="Calibri" pitchFamily="34" charset="-120"/>
              </a:rPr>
              <a:t>[CADANGAN PEMBANGUN MODUL] Senarai semak tindakan susulan</a:t>
            </a:r>
            <a:endParaRPr lang="en-US" sz="1000" dirty="0"/>
          </a:p>
        </p:txBody>
      </p:sp>
      <p:sp>
        <p:nvSpPr>
          <p:cNvPr id="23" name="Text 21"/>
          <p:cNvSpPr txBox="1"/>
          <p:nvPr/>
        </p:nvSpPr>
        <p:spPr>
          <a:xfrm>
            <a:off x="10085832" y="6473952"/>
            <a:ext cx="1828800" cy="274320"/>
          </a:xfrm>
          <a:prstGeom prst="rect">
            <a:avLst/>
          </a:prstGeom>
          <a:noFill/>
          <a:ln/>
        </p:spPr>
        <p:txBody>
          <a:bodyPr wrap="square"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Sidang 5  |  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A45"/>
          </a:solidFill>
          <a:ln/>
        </p:spPr>
      </p:sp>
      <p:sp>
        <p:nvSpPr>
          <p:cNvPr id="3" name="Shape 1"/>
          <p:cNvSpPr/>
          <p:nvPr/>
        </p:nvSpPr>
        <p:spPr>
          <a:xfrm>
            <a:off x="-1645920" y="4754880"/>
            <a:ext cx="4023360" cy="4023360"/>
          </a:xfrm>
          <a:prstGeom prst="ellipse">
            <a:avLst/>
          </a:prstGeom>
          <a:solidFill>
            <a:srgbClr val="141A45"/>
          </a:solidFill>
          <a:ln/>
        </p:spPr>
      </p:sp>
      <p:sp>
        <p:nvSpPr>
          <p:cNvPr id="4" name="Text 2"/>
          <p:cNvSpPr txBox="1"/>
          <p:nvPr/>
        </p:nvSpPr>
        <p:spPr>
          <a:xfrm>
            <a:off x="822960" y="640080"/>
            <a:ext cx="9144000" cy="365760"/>
          </a:xfrm>
          <a:prstGeom prst="rect">
            <a:avLst/>
          </a:prstGeom>
          <a:noFill/>
          <a:ln/>
        </p:spPr>
        <p:txBody>
          <a:bodyPr wrap="square" rtlCol="0" anchor="ctr"/>
          <a:lstStyle/>
          <a:p>
            <a:pPr indent="0" marL="0">
              <a:buNone/>
            </a:pPr>
            <a:r>
              <a:rPr lang="en-US" sz="1400" b="1" spc="300" kern="0" dirty="0">
                <a:solidFill>
                  <a:srgbClr val="F2B705"/>
                </a:solidFill>
                <a:latin typeface="Calibri" pitchFamily="34" charset="0"/>
                <a:ea typeface="Calibri" pitchFamily="34" charset="-122"/>
                <a:cs typeface="Calibri" pitchFamily="34" charset="-120"/>
              </a:rPr>
              <a:t>TAKEAWAY</a:t>
            </a:r>
            <a:endParaRPr lang="en-US" sz="1400" dirty="0"/>
          </a:p>
        </p:txBody>
      </p:sp>
      <p:sp>
        <p:nvSpPr>
          <p:cNvPr id="5" name="Text 3"/>
          <p:cNvSpPr txBox="1"/>
          <p:nvPr/>
        </p:nvSpPr>
        <p:spPr>
          <a:xfrm>
            <a:off x="822960" y="1005840"/>
            <a:ext cx="10058400" cy="68580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Perkara Wajib Dibawa Pulang</a:t>
            </a:r>
            <a:endParaRPr lang="en-US" sz="3200" dirty="0"/>
          </a:p>
        </p:txBody>
      </p:sp>
      <p:sp>
        <p:nvSpPr>
          <p:cNvPr id="6" name="Shape 4"/>
          <p:cNvSpPr/>
          <p:nvPr/>
        </p:nvSpPr>
        <p:spPr>
          <a:xfrm>
            <a:off x="822960" y="1965960"/>
            <a:ext cx="457200" cy="457200"/>
          </a:xfrm>
          <a:prstGeom prst="ellipse">
            <a:avLst/>
          </a:prstGeom>
          <a:solidFill>
            <a:srgbClr val="F2B705"/>
          </a:solidFill>
          <a:ln/>
        </p:spPr>
      </p:sp>
      <p:pic>
        <p:nvPicPr>
          <p:cNvPr id="7" name="Image 0" descr="/home/claude/shared_icons/icon_check.png">    </p:cNvPr>
          <p:cNvPicPr>
            <a:picLocks noChangeAspect="1"/>
          </p:cNvPicPr>
          <p:nvPr/>
        </p:nvPicPr>
        <p:blipFill>
          <a:blip r:embed="rId1"/>
          <a:stretch>
            <a:fillRect/>
          </a:stretch>
        </p:blipFill>
        <p:spPr>
          <a:xfrm>
            <a:off x="886968" y="2029968"/>
            <a:ext cx="329184" cy="329184"/>
          </a:xfrm>
          <a:prstGeom prst="rect">
            <a:avLst/>
          </a:prstGeom>
        </p:spPr>
      </p:pic>
      <p:sp>
        <p:nvSpPr>
          <p:cNvPr id="8" name="Text 5"/>
          <p:cNvSpPr txBox="1"/>
          <p:nvPr/>
        </p:nvSpPr>
        <p:spPr>
          <a:xfrm>
            <a:off x="1463040" y="1984248"/>
            <a:ext cx="987552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Nisbah/Kadar: 3 kaedah sah — darab silang, unitari, model bar (BUKAN model bar sahaja).</a:t>
            </a:r>
            <a:endParaRPr lang="en-US" sz="1350" dirty="0"/>
          </a:p>
        </p:txBody>
      </p:sp>
      <p:sp>
        <p:nvSpPr>
          <p:cNvPr id="9" name="Shape 6"/>
          <p:cNvSpPr/>
          <p:nvPr/>
        </p:nvSpPr>
        <p:spPr>
          <a:xfrm>
            <a:off x="822960" y="2624328"/>
            <a:ext cx="457200" cy="457200"/>
          </a:xfrm>
          <a:prstGeom prst="ellipse">
            <a:avLst/>
          </a:prstGeom>
          <a:solidFill>
            <a:srgbClr val="F2B705"/>
          </a:solidFill>
          <a:ln/>
        </p:spPr>
      </p:sp>
      <p:pic>
        <p:nvPicPr>
          <p:cNvPr id="10" name="Image 1" descr="/home/claude/shared_icons/icon_check.png">    </p:cNvPr>
          <p:cNvPicPr>
            <a:picLocks noChangeAspect="1"/>
          </p:cNvPicPr>
          <p:nvPr/>
        </p:nvPicPr>
        <p:blipFill>
          <a:blip r:embed="rId2"/>
          <a:stretch>
            <a:fillRect/>
          </a:stretch>
        </p:blipFill>
        <p:spPr>
          <a:xfrm>
            <a:off x="886968" y="2688336"/>
            <a:ext cx="329184" cy="329184"/>
          </a:xfrm>
          <a:prstGeom prst="rect">
            <a:avLst/>
          </a:prstGeom>
        </p:spPr>
      </p:pic>
      <p:sp>
        <p:nvSpPr>
          <p:cNvPr id="11" name="Text 7"/>
          <p:cNvSpPr txBox="1"/>
          <p:nvPr/>
        </p:nvSpPr>
        <p:spPr>
          <a:xfrm>
            <a:off x="1463040" y="2642616"/>
            <a:ext cx="987552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Ungkapan Algebra: gambar rajah, model bar, ATAU jubin algebra + gamifikasi digalakkan.</a:t>
            </a:r>
            <a:endParaRPr lang="en-US" sz="1350" dirty="0"/>
          </a:p>
        </p:txBody>
      </p:sp>
      <p:sp>
        <p:nvSpPr>
          <p:cNvPr id="12" name="Shape 8"/>
          <p:cNvSpPr/>
          <p:nvPr/>
        </p:nvSpPr>
        <p:spPr>
          <a:xfrm>
            <a:off x="822960" y="3282696"/>
            <a:ext cx="457200" cy="457200"/>
          </a:xfrm>
          <a:prstGeom prst="ellipse">
            <a:avLst/>
          </a:prstGeom>
          <a:solidFill>
            <a:srgbClr val="F2B705"/>
          </a:solidFill>
          <a:ln/>
        </p:spPr>
      </p:sp>
      <p:pic>
        <p:nvPicPr>
          <p:cNvPr id="13" name="Image 2" descr="/home/claude/shared_icons/icon_check.png">    </p:cNvPr>
          <p:cNvPicPr>
            <a:picLocks noChangeAspect="1"/>
          </p:cNvPicPr>
          <p:nvPr/>
        </p:nvPicPr>
        <p:blipFill>
          <a:blip r:embed="rId3"/>
          <a:stretch>
            <a:fillRect/>
          </a:stretch>
        </p:blipFill>
        <p:spPr>
          <a:xfrm>
            <a:off x="886968" y="3346704"/>
            <a:ext cx="329184" cy="329184"/>
          </a:xfrm>
          <a:prstGeom prst="rect">
            <a:avLst/>
          </a:prstGeom>
        </p:spPr>
      </p:pic>
      <p:sp>
        <p:nvSpPr>
          <p:cNvPr id="14" name="Text 9"/>
          <p:cNvSpPr txBox="1"/>
          <p:nvPr/>
        </p:nvSpPr>
        <p:spPr>
          <a:xfrm>
            <a:off x="1463040" y="3300984"/>
            <a:ext cx="987552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Ketaksamaan: 6 sifat wajib turutan (Roman i–vi) + kaitan tatatanda PKJR.</a:t>
            </a:r>
            <a:endParaRPr lang="en-US" sz="1350" dirty="0"/>
          </a:p>
        </p:txBody>
      </p:sp>
      <p:sp>
        <p:nvSpPr>
          <p:cNvPr id="15" name="Shape 10"/>
          <p:cNvSpPr/>
          <p:nvPr/>
        </p:nvSpPr>
        <p:spPr>
          <a:xfrm>
            <a:off x="822960" y="3941064"/>
            <a:ext cx="457200" cy="457200"/>
          </a:xfrm>
          <a:prstGeom prst="ellipse">
            <a:avLst/>
          </a:prstGeom>
          <a:solidFill>
            <a:srgbClr val="F2B705"/>
          </a:solidFill>
          <a:ln/>
        </p:spPr>
      </p:sp>
      <p:pic>
        <p:nvPicPr>
          <p:cNvPr id="16" name="Image 3" descr="/home/claude/shared_icons/icon_check.png">    </p:cNvPr>
          <p:cNvPicPr>
            <a:picLocks noChangeAspect="1"/>
          </p:cNvPicPr>
          <p:nvPr/>
        </p:nvPicPr>
        <p:blipFill>
          <a:blip r:embed="rId4"/>
          <a:stretch>
            <a:fillRect/>
          </a:stretch>
        </p:blipFill>
        <p:spPr>
          <a:xfrm>
            <a:off x="886968" y="4005072"/>
            <a:ext cx="329184" cy="329184"/>
          </a:xfrm>
          <a:prstGeom prst="rect">
            <a:avLst/>
          </a:prstGeom>
        </p:spPr>
      </p:pic>
      <p:sp>
        <p:nvSpPr>
          <p:cNvPr id="17" name="Text 11"/>
          <p:cNvSpPr txBox="1"/>
          <p:nvPr/>
        </p:nvSpPr>
        <p:spPr>
          <a:xfrm>
            <a:off x="1463040" y="3959352"/>
            <a:ext cx="987552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Rangka Heuristik 4-Langkah ialah struktur menyeluruh — Model Bar satu strategi sahaja.</a:t>
            </a:r>
            <a:endParaRPr lang="en-US" sz="1350" dirty="0"/>
          </a:p>
        </p:txBody>
      </p:sp>
      <p:sp>
        <p:nvSpPr>
          <p:cNvPr id="18" name="Shape 12"/>
          <p:cNvSpPr/>
          <p:nvPr/>
        </p:nvSpPr>
        <p:spPr>
          <a:xfrm>
            <a:off x="822960" y="4599432"/>
            <a:ext cx="457200" cy="457200"/>
          </a:xfrm>
          <a:prstGeom prst="ellipse">
            <a:avLst/>
          </a:prstGeom>
          <a:solidFill>
            <a:srgbClr val="F2B705"/>
          </a:solidFill>
          <a:ln/>
        </p:spPr>
      </p:sp>
      <p:pic>
        <p:nvPicPr>
          <p:cNvPr id="19" name="Image 4" descr="/home/claude/shared_icons/icon_check.png">    </p:cNvPr>
          <p:cNvPicPr>
            <a:picLocks noChangeAspect="1"/>
          </p:cNvPicPr>
          <p:nvPr/>
        </p:nvPicPr>
        <p:blipFill>
          <a:blip r:embed="rId5"/>
          <a:stretch>
            <a:fillRect/>
          </a:stretch>
        </p:blipFill>
        <p:spPr>
          <a:xfrm>
            <a:off x="886968" y="4663440"/>
            <a:ext cx="329184" cy="329184"/>
          </a:xfrm>
          <a:prstGeom prst="rect">
            <a:avLst/>
          </a:prstGeom>
        </p:spPr>
      </p:pic>
      <p:sp>
        <p:nvSpPr>
          <p:cNvPr id="20" name="Text 13"/>
          <p:cNvSpPr txBox="1"/>
          <p:nvPr/>
        </p:nvSpPr>
        <p:spPr>
          <a:xfrm>
            <a:off x="1463040" y="4617720"/>
            <a:ext cx="9875520" cy="457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Elakkan kebergantungan tunggal kepada satu kaedah dalam PdP Algebra.</a:t>
            </a:r>
            <a:endParaRPr lang="en-US" sz="1350" dirty="0"/>
          </a:p>
        </p:txBody>
      </p:sp>
      <p:sp>
        <p:nvSpPr>
          <p:cNvPr id="21" name="Shape 14"/>
          <p:cNvSpPr/>
          <p:nvPr/>
        </p:nvSpPr>
        <p:spPr>
          <a:xfrm>
            <a:off x="822960" y="5806440"/>
            <a:ext cx="10515600" cy="0"/>
          </a:xfrm>
          <a:prstGeom prst="line">
            <a:avLst/>
          </a:prstGeom>
          <a:noFill/>
          <a:ln w="19050">
            <a:solidFill>
              <a:srgbClr val="141A45"/>
            </a:solidFill>
            <a:prstDash val="solid"/>
          </a:ln>
        </p:spPr>
      </p:sp>
      <p:sp>
        <p:nvSpPr>
          <p:cNvPr id="22" name="Text 15"/>
          <p:cNvSpPr txBox="1"/>
          <p:nvPr/>
        </p:nvSpPr>
        <p:spPr>
          <a:xfrm>
            <a:off x="822960" y="5943600"/>
            <a:ext cx="1051560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Bahagian Pembangunan Kurikulum (BPK)  |  bpk.moe.gov.my  |  #kurikulumkita</a:t>
            </a:r>
            <a:endParaRPr lang="en-US" sz="1100" dirty="0"/>
          </a:p>
        </p:txBody>
      </p:sp>
      <p:sp>
        <p:nvSpPr>
          <p:cNvPr id="23" name="Text 16"/>
          <p:cNvSpPr txBox="1"/>
          <p:nvPr/>
        </p:nvSpPr>
        <p:spPr>
          <a:xfrm>
            <a:off x="822960" y="6263640"/>
            <a:ext cx="10515600" cy="457200"/>
          </a:xfrm>
          <a:prstGeom prst="rect">
            <a:avLst/>
          </a:prstGeom>
          <a:noFill/>
          <a:ln/>
        </p:spPr>
        <p:txBody>
          <a:bodyPr wrap="square" rtlCol="0" anchor="ctr"/>
          <a:lstStyle/>
          <a:p>
            <a:pPr indent="0" marL="0">
              <a:lnSpc>
                <a:spcPct val="115000"/>
              </a:lnSpc>
              <a:buNone/>
            </a:pPr>
            <a:r>
              <a:rPr lang="en-US" sz="900" i="1" dirty="0">
                <a:solidFill>
                  <a:srgbClr val="5B6472"/>
                </a:solidFill>
                <a:latin typeface="Calibri" pitchFamily="34" charset="0"/>
                <a:ea typeface="Calibri" pitchFamily="34" charset="-122"/>
                <a:cs typeface="Calibri" pitchFamily="34" charset="-120"/>
              </a:rPr>
              <a:t>Bahan disintesis daripada Slaid Rasmi BPK Sidang 5 &amp; Dokumen Kurikulum Matematik. Tiada analisis rakaman bengkel berasingan tersedia untuk sidang ini. Perkara bertanda [CADANGAN PEMBANGUN MODUL] ialah cadangan penyampai, bukan arahan rasmi KPM.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2026-09-15T10:22:37Z</dcterms:created>
  <dcterms:modified xsi:type="dcterms:W3CDTF">2026-09-15T10:22:37Z</dcterms:modified>
</cp:coreProperties>
</file>