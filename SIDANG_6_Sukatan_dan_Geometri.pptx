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image" Target="../media/image-18-1.png"/><Relationship Id="rId5" Type="http://schemas.openxmlformats.org/officeDocument/2006/relationships/image" Target="../media/image-18-1.png"/><Relationship Id="rId6" Type="http://schemas.openxmlformats.org/officeDocument/2006/relationships/image" Target="../media/image-18-1.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image" Target="../media/image-19-1.png"/><Relationship Id="rId4" Type="http://schemas.openxmlformats.org/officeDocument/2006/relationships/image" Target="../media/image-19-1.png"/><Relationship Id="rId5" Type="http://schemas.openxmlformats.org/officeDocument/2006/relationships/image" Target="../media/image-19-1.png"/><Relationship Id="rId6" Type="http://schemas.openxmlformats.org/officeDocument/2006/relationships/image" Target="../media/image-19-1.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1.png"/><Relationship Id="rId3" Type="http://schemas.openxmlformats.org/officeDocument/2006/relationships/image" Target="../media/image-23-1.png"/><Relationship Id="rId4" Type="http://schemas.openxmlformats.org/officeDocument/2006/relationships/image" Target="../media/image-23-1.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1.png"/><Relationship Id="rId3" Type="http://schemas.openxmlformats.org/officeDocument/2006/relationships/image" Target="../media/image-26-1.png"/><Relationship Id="rId4" Type="http://schemas.openxmlformats.org/officeDocument/2006/relationships/image" Target="../media/image-26-1.png"/><Relationship Id="rId5" Type="http://schemas.openxmlformats.org/officeDocument/2006/relationships/image" Target="../media/image-26-1.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1280160"/>
            <a:ext cx="10515600" cy="365760"/>
          </a:xfrm>
          <a:prstGeom prst="rect">
            <a:avLst/>
          </a:prstGeom>
          <a:noFill/>
          <a:ln/>
        </p:spPr>
        <p:txBody>
          <a:bodyPr wrap="square" rtlCol="0" anchor="ctr"/>
          <a:lstStyle/>
          <a:p>
            <a:pPr indent="0" marL="0">
              <a:buNone/>
            </a:pPr>
            <a:r>
              <a:rPr lang="en-US" sz="1400" b="1" spc="200" kern="0" dirty="0">
                <a:solidFill>
                  <a:srgbClr val="F2B705"/>
                </a:solidFill>
                <a:latin typeface="Calibri" pitchFamily="34" charset="0"/>
                <a:ea typeface="Calibri" pitchFamily="34" charset="-122"/>
                <a:cs typeface="Calibri" pitchFamily="34" charset="-120"/>
              </a:rPr>
              <a:t>PENATARAN KURIKULUM PERSEKOLAHAN 2027  •  SIDANG 6</a:t>
            </a:r>
            <a:endParaRPr lang="en-US" sz="1400" dirty="0"/>
          </a:p>
        </p:txBody>
      </p:sp>
      <p:sp>
        <p:nvSpPr>
          <p:cNvPr id="5" name="Text 3"/>
          <p:cNvSpPr txBox="1"/>
          <p:nvPr/>
        </p:nvSpPr>
        <p:spPr>
          <a:xfrm>
            <a:off x="822960" y="1737360"/>
            <a:ext cx="10241280" cy="1737360"/>
          </a:xfrm>
          <a:prstGeom prst="rect">
            <a:avLst/>
          </a:prstGeom>
          <a:noFill/>
          <a:ln/>
        </p:spPr>
        <p:txBody>
          <a:bodyPr wrap="square" rtlCol="0" anchor="ctr"/>
          <a:lstStyle/>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Selam Intelektual: Menguasai SP &amp; SPi</a:t>
            </a:r>
            <a:endParaRPr lang="en-US" sz="3200" dirty="0"/>
          </a:p>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Secara Mendalam — Sukatan dan Geometri</a:t>
            </a:r>
            <a:endParaRPr lang="en-US" sz="3200" dirty="0"/>
          </a:p>
        </p:txBody>
      </p:sp>
      <p:sp>
        <p:nvSpPr>
          <p:cNvPr id="6" name="Shape 4"/>
          <p:cNvSpPr/>
          <p:nvPr/>
        </p:nvSpPr>
        <p:spPr>
          <a:xfrm>
            <a:off x="868680" y="3611880"/>
            <a:ext cx="2194560" cy="0"/>
          </a:xfrm>
          <a:prstGeom prst="line">
            <a:avLst/>
          </a:prstGeom>
          <a:noFill/>
          <a:ln w="38100">
            <a:solidFill>
              <a:srgbClr val="F2B705"/>
            </a:solidFill>
            <a:prstDash val="solid"/>
          </a:ln>
        </p:spPr>
      </p:sp>
      <p:sp>
        <p:nvSpPr>
          <p:cNvPr id="7" name="Text 5"/>
          <p:cNvSpPr txBox="1"/>
          <p:nvPr/>
        </p:nvSpPr>
        <p:spPr>
          <a:xfrm>
            <a:off x="822960" y="3767328"/>
            <a:ext cx="9144000" cy="45720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“Daripada Standard kepada Kefahaman Bermakna”</a:t>
            </a:r>
            <a:endParaRPr lang="en-US" sz="1500" dirty="0"/>
          </a:p>
        </p:txBody>
      </p:sp>
      <p:sp>
        <p:nvSpPr>
          <p:cNvPr id="8" name="Text 6"/>
          <p:cNvSpPr txBox="1"/>
          <p:nvPr/>
        </p:nvSpPr>
        <p:spPr>
          <a:xfrm>
            <a:off x="822960" y="4434840"/>
            <a:ext cx="9144000" cy="365760"/>
          </a:xfrm>
          <a:prstGeom prst="rect">
            <a:avLst/>
          </a:prstGeom>
          <a:noFill/>
          <a:ln/>
        </p:spPr>
        <p:txBody>
          <a:bodyPr wrap="square" rtlCol="0" anchor="ctr"/>
          <a:lstStyle/>
          <a:p>
            <a:pPr indent="0" marL="0">
              <a:buNone/>
            </a:pPr>
            <a:r>
              <a:rPr lang="en-US" sz="1400" b="1" dirty="0">
                <a:solidFill>
                  <a:srgbClr val="F2B705"/>
                </a:solidFill>
                <a:latin typeface="Calibri" pitchFamily="34" charset="0"/>
                <a:ea typeface="Calibri" pitchFamily="34" charset="-122"/>
                <a:cs typeface="Calibri" pitchFamily="34" charset="-120"/>
              </a:rPr>
              <a:t>Bidang Pembelajaran: Sukatan dan Geometri</a:t>
            </a:r>
            <a:endParaRPr lang="en-US" sz="1400" dirty="0"/>
          </a:p>
        </p:txBody>
      </p:sp>
      <p:sp>
        <p:nvSpPr>
          <p:cNvPr id="9" name="Shape 7"/>
          <p:cNvSpPr/>
          <p:nvPr/>
        </p:nvSpPr>
        <p:spPr>
          <a:xfrm>
            <a:off x="822960" y="4892040"/>
            <a:ext cx="502920" cy="502920"/>
          </a:xfrm>
          <a:prstGeom prst="ellipse">
            <a:avLst/>
          </a:prstGeom>
          <a:solidFill>
            <a:srgbClr val="E67E22"/>
          </a:solidFill>
          <a:ln/>
        </p:spPr>
      </p:sp>
      <p:pic>
        <p:nvPicPr>
          <p:cNvPr id="10" name="Image 0" descr="/home/claude/shared_icons/icon_drawPolygon.png">    </p:cNvPr>
          <p:cNvPicPr>
            <a:picLocks noChangeAspect="1"/>
          </p:cNvPicPr>
          <p:nvPr/>
        </p:nvPicPr>
        <p:blipFill>
          <a:blip r:embed="rId1"/>
          <a:stretch>
            <a:fillRect/>
          </a:stretch>
        </p:blipFill>
        <p:spPr>
          <a:xfrm>
            <a:off x="893369" y="4962449"/>
            <a:ext cx="362102" cy="362102"/>
          </a:xfrm>
          <a:prstGeom prst="rect">
            <a:avLst/>
          </a:prstGeom>
        </p:spPr>
      </p:pic>
      <p:sp>
        <p:nvSpPr>
          <p:cNvPr id="11" name="Text 8"/>
          <p:cNvSpPr txBox="1"/>
          <p:nvPr/>
        </p:nvSpPr>
        <p:spPr>
          <a:xfrm>
            <a:off x="1417320" y="4956048"/>
            <a:ext cx="329184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6.0 Garis dan Sudut</a:t>
            </a:r>
            <a:endParaRPr lang="en-US" sz="1200" dirty="0"/>
          </a:p>
        </p:txBody>
      </p:sp>
      <p:sp>
        <p:nvSpPr>
          <p:cNvPr id="12" name="Shape 9"/>
          <p:cNvSpPr/>
          <p:nvPr/>
        </p:nvSpPr>
        <p:spPr>
          <a:xfrm>
            <a:off x="4754880" y="4892040"/>
            <a:ext cx="502920" cy="502920"/>
          </a:xfrm>
          <a:prstGeom prst="ellipse">
            <a:avLst/>
          </a:prstGeom>
          <a:solidFill>
            <a:srgbClr val="E67E22"/>
          </a:solidFill>
          <a:ln/>
        </p:spPr>
      </p:sp>
      <p:pic>
        <p:nvPicPr>
          <p:cNvPr id="13" name="Image 1" descr="/home/claude/shared_icons/icon_shapes.png">    </p:cNvPr>
          <p:cNvPicPr>
            <a:picLocks noChangeAspect="1"/>
          </p:cNvPicPr>
          <p:nvPr/>
        </p:nvPicPr>
        <p:blipFill>
          <a:blip r:embed="rId2"/>
          <a:stretch>
            <a:fillRect/>
          </a:stretch>
        </p:blipFill>
        <p:spPr>
          <a:xfrm>
            <a:off x="4825289" y="4962449"/>
            <a:ext cx="362102" cy="362102"/>
          </a:xfrm>
          <a:prstGeom prst="rect">
            <a:avLst/>
          </a:prstGeom>
        </p:spPr>
      </p:pic>
      <p:sp>
        <p:nvSpPr>
          <p:cNvPr id="14" name="Text 10"/>
          <p:cNvSpPr txBox="1"/>
          <p:nvPr/>
        </p:nvSpPr>
        <p:spPr>
          <a:xfrm>
            <a:off x="5349240" y="4956048"/>
            <a:ext cx="329184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7.0 Segi Tiga dan Sisi Empat</a:t>
            </a:r>
            <a:endParaRPr lang="en-US" sz="1200" dirty="0"/>
          </a:p>
        </p:txBody>
      </p:sp>
      <p:sp>
        <p:nvSpPr>
          <p:cNvPr id="15" name="Text 11"/>
          <p:cNvSpPr txBox="1"/>
          <p:nvPr/>
        </p:nvSpPr>
        <p:spPr>
          <a:xfrm>
            <a:off x="822960" y="6400800"/>
            <a:ext cx="105156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Bahan Perkongsian Peringkat Sekolah  |  Disintesis daripada Slaid Rasmi BPK, Analisis Rakaman Bengkel &amp; Dokumen Kurikulum Matematik 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HASIL PEMBELAJARAN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Selepas Sidang Ini, Guru Dapat...</a:t>
            </a:r>
            <a:endParaRPr lang="en-US" sz="2600" dirty="0"/>
          </a:p>
        </p:txBody>
      </p:sp>
      <p:sp>
        <p:nvSpPr>
          <p:cNvPr id="4" name="Shape 2"/>
          <p:cNvSpPr/>
          <p:nvPr/>
        </p:nvSpPr>
        <p:spPr>
          <a:xfrm>
            <a:off x="960120" y="1920240"/>
            <a:ext cx="5120640" cy="3291840"/>
          </a:xfrm>
          <a:prstGeom prst="roundRect">
            <a:avLst>
              <a:gd name="adj" fmla="val 2222"/>
            </a:avLst>
          </a:prstGeom>
          <a:solidFill>
            <a:srgbClr val="F5F7FC"/>
          </a:solidFill>
          <a:ln w="12700">
            <a:solidFill>
              <a:srgbClr val="E7EAF2"/>
            </a:solidFill>
            <a:prstDash val="solid"/>
          </a:ln>
        </p:spPr>
      </p:sp>
      <p:sp>
        <p:nvSpPr>
          <p:cNvPr id="5" name="Shape 3"/>
          <p:cNvSpPr/>
          <p:nvPr/>
        </p:nvSpPr>
        <p:spPr>
          <a:xfrm>
            <a:off x="3063240" y="2286000"/>
            <a:ext cx="914400" cy="914400"/>
          </a:xfrm>
          <a:prstGeom prst="ellipse">
            <a:avLst/>
          </a:prstGeom>
          <a:solidFill>
            <a:srgbClr val="1E2761"/>
          </a:solidFill>
          <a:ln/>
        </p:spPr>
      </p:sp>
      <p:pic>
        <p:nvPicPr>
          <p:cNvPr id="6" name="Image 0" descr="/home/claude/shared_icons/icon_drawPolygon.png">    </p:cNvPr>
          <p:cNvPicPr>
            <a:picLocks noChangeAspect="1"/>
          </p:cNvPicPr>
          <p:nvPr/>
        </p:nvPicPr>
        <p:blipFill>
          <a:blip r:embed="rId1"/>
          <a:stretch>
            <a:fillRect/>
          </a:stretch>
        </p:blipFill>
        <p:spPr>
          <a:xfrm>
            <a:off x="3191256" y="2414016"/>
            <a:ext cx="658368" cy="658368"/>
          </a:xfrm>
          <a:prstGeom prst="rect">
            <a:avLst/>
          </a:prstGeom>
        </p:spPr>
      </p:pic>
      <p:sp>
        <p:nvSpPr>
          <p:cNvPr id="7" name="Text 4"/>
          <p:cNvSpPr txBox="1"/>
          <p:nvPr/>
        </p:nvSpPr>
        <p:spPr>
          <a:xfrm>
            <a:off x="1234440" y="3383280"/>
            <a:ext cx="4572000" cy="548640"/>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Garis dan Sudut</a:t>
            </a:r>
            <a:endParaRPr lang="en-US" sz="1600" dirty="0"/>
          </a:p>
        </p:txBody>
      </p:sp>
      <p:sp>
        <p:nvSpPr>
          <p:cNvPr id="8" name="Text 5"/>
          <p:cNvSpPr txBox="1"/>
          <p:nvPr/>
        </p:nvSpPr>
        <p:spPr>
          <a:xfrm>
            <a:off x="1325880" y="3977640"/>
            <a:ext cx="4389120" cy="1097280"/>
          </a:xfrm>
          <a:prstGeom prst="rect">
            <a:avLst/>
          </a:prstGeom>
          <a:noFill/>
          <a:ln/>
        </p:spPr>
        <p:txBody>
          <a:bodyPr wrap="square" rtlCol="0" anchor="ctr"/>
          <a:lstStyle/>
          <a:p>
            <a:pPr algn="ctr" indent="0" marL="0">
              <a:lnSpc>
                <a:spcPct val="120000"/>
              </a:lnSpc>
              <a:buNone/>
            </a:pPr>
            <a:r>
              <a:rPr lang="en-US" sz="1200" dirty="0">
                <a:solidFill>
                  <a:srgbClr val="5B6472"/>
                </a:solidFill>
                <a:latin typeface="Calibri" pitchFamily="34" charset="0"/>
                <a:ea typeface="Calibri" pitchFamily="34" charset="-122"/>
                <a:cs typeface="Calibri" pitchFamily="34" charset="-120"/>
              </a:rPr>
              <a:t>Mendalami SK, SP dan SPi bagi tajuk Garis dan Sudut (6.0).</a:t>
            </a:r>
            <a:endParaRPr lang="en-US" sz="1200" dirty="0"/>
          </a:p>
        </p:txBody>
      </p:sp>
      <p:sp>
        <p:nvSpPr>
          <p:cNvPr id="9" name="Shape 6"/>
          <p:cNvSpPr/>
          <p:nvPr/>
        </p:nvSpPr>
        <p:spPr>
          <a:xfrm>
            <a:off x="6446520" y="1920240"/>
            <a:ext cx="5120640" cy="3291840"/>
          </a:xfrm>
          <a:prstGeom prst="roundRect">
            <a:avLst>
              <a:gd name="adj" fmla="val 2222"/>
            </a:avLst>
          </a:prstGeom>
          <a:solidFill>
            <a:srgbClr val="F5F7FC"/>
          </a:solidFill>
          <a:ln w="12700">
            <a:solidFill>
              <a:srgbClr val="E7EAF2"/>
            </a:solidFill>
            <a:prstDash val="solid"/>
          </a:ln>
        </p:spPr>
      </p:sp>
      <p:sp>
        <p:nvSpPr>
          <p:cNvPr id="10" name="Shape 7"/>
          <p:cNvSpPr/>
          <p:nvPr/>
        </p:nvSpPr>
        <p:spPr>
          <a:xfrm>
            <a:off x="8549640" y="2286000"/>
            <a:ext cx="914400" cy="914400"/>
          </a:xfrm>
          <a:prstGeom prst="ellipse">
            <a:avLst/>
          </a:prstGeom>
          <a:solidFill>
            <a:srgbClr val="1E2761"/>
          </a:solidFill>
          <a:ln/>
        </p:spPr>
      </p:sp>
      <p:pic>
        <p:nvPicPr>
          <p:cNvPr id="11" name="Image 1" descr="/home/claude/shared_icons/icon_shapes.png">    </p:cNvPr>
          <p:cNvPicPr>
            <a:picLocks noChangeAspect="1"/>
          </p:cNvPicPr>
          <p:nvPr/>
        </p:nvPicPr>
        <p:blipFill>
          <a:blip r:embed="rId2"/>
          <a:stretch>
            <a:fillRect/>
          </a:stretch>
        </p:blipFill>
        <p:spPr>
          <a:xfrm>
            <a:off x="8677656" y="2414016"/>
            <a:ext cx="658368" cy="658368"/>
          </a:xfrm>
          <a:prstGeom prst="rect">
            <a:avLst/>
          </a:prstGeom>
        </p:spPr>
      </p:pic>
      <p:sp>
        <p:nvSpPr>
          <p:cNvPr id="12" name="Text 8"/>
          <p:cNvSpPr txBox="1"/>
          <p:nvPr/>
        </p:nvSpPr>
        <p:spPr>
          <a:xfrm>
            <a:off x="6720840" y="3383280"/>
            <a:ext cx="4572000" cy="548640"/>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Segi Tiga dan Sisi Empat</a:t>
            </a:r>
            <a:endParaRPr lang="en-US" sz="1600" dirty="0"/>
          </a:p>
        </p:txBody>
      </p:sp>
      <p:sp>
        <p:nvSpPr>
          <p:cNvPr id="13" name="Text 9"/>
          <p:cNvSpPr txBox="1"/>
          <p:nvPr/>
        </p:nvSpPr>
        <p:spPr>
          <a:xfrm>
            <a:off x="6812280" y="3977640"/>
            <a:ext cx="4389120" cy="1097280"/>
          </a:xfrm>
          <a:prstGeom prst="rect">
            <a:avLst/>
          </a:prstGeom>
          <a:noFill/>
          <a:ln/>
        </p:spPr>
        <p:txBody>
          <a:bodyPr wrap="square" rtlCol="0" anchor="ctr"/>
          <a:lstStyle/>
          <a:p>
            <a:pPr algn="ctr" indent="0" marL="0">
              <a:lnSpc>
                <a:spcPct val="120000"/>
              </a:lnSpc>
              <a:buNone/>
            </a:pPr>
            <a:r>
              <a:rPr lang="en-US" sz="1200" dirty="0">
                <a:solidFill>
                  <a:srgbClr val="5B6472"/>
                </a:solidFill>
                <a:latin typeface="Calibri" pitchFamily="34" charset="0"/>
                <a:ea typeface="Calibri" pitchFamily="34" charset="-122"/>
                <a:cs typeface="Calibri" pitchFamily="34" charset="-120"/>
              </a:rPr>
              <a:t>Mendalami SK, SP dan SPi bagi tajuk Segi Tiga dan Sisi Empat (7.0).</a:t>
            </a:r>
            <a:endParaRPr lang="en-US" sz="1200" dirty="0"/>
          </a:p>
        </p:txBody>
      </p:sp>
      <p:sp>
        <p:nvSpPr>
          <p:cNvPr id="14" name="Text 1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6, m/s 2</a:t>
            </a:r>
            <a:endParaRPr lang="en-US" sz="1000" dirty="0"/>
          </a:p>
        </p:txBody>
      </p:sp>
      <p:sp>
        <p:nvSpPr>
          <p:cNvPr id="15"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Penggabungan Tajuk: KSSM → DKP2027</a:t>
            </a:r>
            <a:endParaRPr lang="en-US" sz="2600" dirty="0"/>
          </a:p>
        </p:txBody>
      </p:sp>
      <p:sp>
        <p:nvSpPr>
          <p:cNvPr id="4" name="Text 2"/>
          <p:cNvSpPr txBox="1"/>
          <p:nvPr/>
        </p:nvSpPr>
        <p:spPr>
          <a:xfrm>
            <a:off x="548640" y="1554480"/>
            <a:ext cx="11064240" cy="457200"/>
          </a:xfrm>
          <a:prstGeom prst="rect">
            <a:avLst/>
          </a:prstGeom>
          <a:noFill/>
          <a:ln/>
        </p:spPr>
        <p:txBody>
          <a:bodyPr wrap="square" rtlCol="0" anchor="ctr"/>
          <a:lstStyle/>
          <a:p>
            <a:pPr indent="0" marL="0">
              <a:lnSpc>
                <a:spcPct val="120000"/>
              </a:lnSpc>
              <a:buNone/>
            </a:pPr>
            <a:r>
              <a:rPr lang="en-US" sz="1250" dirty="0">
                <a:solidFill>
                  <a:srgbClr val="141A45"/>
                </a:solidFill>
                <a:latin typeface="Calibri" pitchFamily="34" charset="0"/>
                <a:ea typeface="Calibri" pitchFamily="34" charset="-122"/>
                <a:cs typeface="Calibri" pitchFamily="34" charset="-120"/>
              </a:rPr>
              <a:t>Bidang Sukatan dan Geometri mengalami pemadatan ketara — 4 tajuk KSSM digabung menjadi 2 tajuk besar dalam DKP2027.</a:t>
            </a:r>
            <a:endParaRPr lang="en-US" sz="1250" dirty="0"/>
          </a:p>
        </p:txBody>
      </p:sp>
      <p:sp>
        <p:nvSpPr>
          <p:cNvPr id="5" name="Shape 3"/>
          <p:cNvSpPr/>
          <p:nvPr/>
        </p:nvSpPr>
        <p:spPr>
          <a:xfrm>
            <a:off x="548640" y="2148840"/>
            <a:ext cx="5212080" cy="1371600"/>
          </a:xfrm>
          <a:prstGeom prst="roundRect">
            <a:avLst>
              <a:gd name="adj" fmla="val 5333"/>
            </a:avLst>
          </a:prstGeom>
          <a:solidFill>
            <a:srgbClr val="F5F7FC"/>
          </a:solidFill>
          <a:ln w="12700">
            <a:solidFill>
              <a:srgbClr val="E7EAF2"/>
            </a:solidFill>
            <a:prstDash val="solid"/>
          </a:ln>
        </p:spPr>
      </p:sp>
      <p:sp>
        <p:nvSpPr>
          <p:cNvPr id="6" name="Text 4"/>
          <p:cNvSpPr txBox="1"/>
          <p:nvPr/>
        </p:nvSpPr>
        <p:spPr>
          <a:xfrm>
            <a:off x="731520" y="2267712"/>
            <a:ext cx="4846320" cy="320040"/>
          </a:xfrm>
          <a:prstGeom prst="rect">
            <a:avLst/>
          </a:prstGeom>
          <a:noFill/>
          <a:ln/>
        </p:spPr>
        <p:txBody>
          <a:bodyPr wrap="square" rtlCol="0" anchor="ctr"/>
          <a:lstStyle/>
          <a:p>
            <a:pPr indent="0" marL="0">
              <a:buNone/>
            </a:pPr>
            <a:r>
              <a:rPr lang="en-US" sz="1200" b="1" dirty="0">
                <a:solidFill>
                  <a:srgbClr val="5B6472"/>
                </a:solidFill>
                <a:latin typeface="Cambria" pitchFamily="34" charset="0"/>
                <a:ea typeface="Cambria" pitchFamily="34" charset="-122"/>
                <a:cs typeface="Cambria" pitchFamily="34" charset="-120"/>
              </a:rPr>
              <a:t>KSSM: Tajuk 8 (Garis dan Sudut)</a:t>
            </a:r>
            <a:endParaRPr lang="en-US" sz="1200" dirty="0"/>
          </a:p>
        </p:txBody>
      </p:sp>
      <p:sp>
        <p:nvSpPr>
          <p:cNvPr id="7" name="Text 5"/>
          <p:cNvSpPr txBox="1"/>
          <p:nvPr/>
        </p:nvSpPr>
        <p:spPr>
          <a:xfrm>
            <a:off x="731520" y="2606040"/>
            <a:ext cx="4846320" cy="457200"/>
          </a:xfrm>
          <a:prstGeom prst="rect">
            <a:avLst/>
          </a:prstGeom>
          <a:noFill/>
          <a:ln/>
        </p:spPr>
        <p:txBody>
          <a:bodyPr wrap="square" rtlCol="0" anchor="ctr"/>
          <a:lstStyle/>
          <a:p>
            <a:pPr indent="0" marL="0">
              <a:buNone/>
            </a:pPr>
            <a:r>
              <a:rPr lang="en-US" sz="1100" dirty="0">
                <a:solidFill>
                  <a:srgbClr val="141A45"/>
                </a:solidFill>
                <a:latin typeface="Calibri" pitchFamily="34" charset="0"/>
                <a:ea typeface="Calibri" pitchFamily="34" charset="-122"/>
                <a:cs typeface="Calibri" pitchFamily="34" charset="-120"/>
              </a:rPr>
              <a:t>Subtajuk 8.2 “Garis Bersilang” wujud berasingan.</a:t>
            </a:r>
            <a:endParaRPr lang="en-US" sz="1100" dirty="0"/>
          </a:p>
        </p:txBody>
      </p:sp>
      <p:sp>
        <p:nvSpPr>
          <p:cNvPr id="8" name="Text 6"/>
          <p:cNvSpPr txBox="1"/>
          <p:nvPr/>
        </p:nvSpPr>
        <p:spPr>
          <a:xfrm>
            <a:off x="731520" y="3063240"/>
            <a:ext cx="4846320" cy="320040"/>
          </a:xfrm>
          <a:prstGeom prst="rect">
            <a:avLst/>
          </a:prstGeom>
          <a:noFill/>
          <a:ln/>
        </p:spPr>
        <p:txBody>
          <a:bodyPr wrap="square"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 disisip ke dalam</a:t>
            </a:r>
            <a:endParaRPr lang="en-US" sz="1050" dirty="0"/>
          </a:p>
        </p:txBody>
      </p:sp>
      <p:sp>
        <p:nvSpPr>
          <p:cNvPr id="9" name="Text 7"/>
          <p:cNvSpPr txBox="1"/>
          <p:nvPr/>
        </p:nvSpPr>
        <p:spPr>
          <a:xfrm>
            <a:off x="731520" y="3310128"/>
            <a:ext cx="4846320" cy="320040"/>
          </a:xfrm>
          <a:prstGeom prst="rect">
            <a:avLst/>
          </a:prstGeom>
          <a:noFill/>
          <a:ln/>
        </p:spPr>
        <p:txBody>
          <a:bodyPr wrap="square"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DKP2027: Subtajuk 6.1 “Garis dan Jenis Sudut”</a:t>
            </a:r>
            <a:endParaRPr lang="en-US" sz="1100" dirty="0"/>
          </a:p>
        </p:txBody>
      </p:sp>
      <p:sp>
        <p:nvSpPr>
          <p:cNvPr id="10" name="Shape 8"/>
          <p:cNvSpPr/>
          <p:nvPr/>
        </p:nvSpPr>
        <p:spPr>
          <a:xfrm>
            <a:off x="6217920" y="2148840"/>
            <a:ext cx="5394960" cy="3977640"/>
          </a:xfrm>
          <a:prstGeom prst="roundRect">
            <a:avLst>
              <a:gd name="adj" fmla="val 1839"/>
            </a:avLst>
          </a:prstGeom>
          <a:solidFill>
            <a:srgbClr val="E67E22"/>
          </a:solidFill>
          <a:ln/>
        </p:spPr>
      </p:sp>
      <p:sp>
        <p:nvSpPr>
          <p:cNvPr id="11" name="Text 9"/>
          <p:cNvSpPr txBox="1"/>
          <p:nvPr/>
        </p:nvSpPr>
        <p:spPr>
          <a:xfrm>
            <a:off x="6400800" y="2286000"/>
            <a:ext cx="5029200" cy="41148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DKP2027: Tajuk 7 — Segi Tiga dan Sisi Empat</a:t>
            </a:r>
            <a:endParaRPr lang="en-US" sz="1350" dirty="0"/>
          </a:p>
        </p:txBody>
      </p:sp>
      <p:sp>
        <p:nvSpPr>
          <p:cNvPr id="12" name="Text 10"/>
          <p:cNvSpPr txBox="1"/>
          <p:nvPr/>
        </p:nvSpPr>
        <p:spPr>
          <a:xfrm>
            <a:off x="6400800" y="2743200"/>
            <a:ext cx="5029200" cy="32004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Gabungan bersepadu daripada:</a:t>
            </a:r>
            <a:endParaRPr lang="en-US" sz="1100" dirty="0"/>
          </a:p>
        </p:txBody>
      </p:sp>
      <p:sp>
        <p:nvSpPr>
          <p:cNvPr id="13" name="Shape 11"/>
          <p:cNvSpPr/>
          <p:nvPr/>
        </p:nvSpPr>
        <p:spPr>
          <a:xfrm>
            <a:off x="6400800" y="3108960"/>
            <a:ext cx="256032" cy="256032"/>
          </a:xfrm>
          <a:prstGeom prst="ellipse">
            <a:avLst/>
          </a:prstGeom>
          <a:solidFill>
            <a:srgbClr val="F2B705"/>
          </a:solidFill>
          <a:ln/>
        </p:spPr>
      </p:sp>
      <p:sp>
        <p:nvSpPr>
          <p:cNvPr id="14" name="Text 12"/>
          <p:cNvSpPr txBox="1"/>
          <p:nvPr/>
        </p:nvSpPr>
        <p:spPr>
          <a:xfrm>
            <a:off x="6766560" y="3054096"/>
            <a:ext cx="46634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Tajuk 9 KSSM — Poligon Asas</a:t>
            </a:r>
            <a:endParaRPr lang="en-US" sz="1200" dirty="0"/>
          </a:p>
        </p:txBody>
      </p:sp>
      <p:sp>
        <p:nvSpPr>
          <p:cNvPr id="15" name="Shape 13"/>
          <p:cNvSpPr/>
          <p:nvPr/>
        </p:nvSpPr>
        <p:spPr>
          <a:xfrm>
            <a:off x="6400800" y="3611880"/>
            <a:ext cx="256032" cy="256032"/>
          </a:xfrm>
          <a:prstGeom prst="ellipse">
            <a:avLst/>
          </a:prstGeom>
          <a:solidFill>
            <a:srgbClr val="F2B705"/>
          </a:solidFill>
          <a:ln/>
        </p:spPr>
      </p:sp>
      <p:sp>
        <p:nvSpPr>
          <p:cNvPr id="16" name="Text 14"/>
          <p:cNvSpPr txBox="1"/>
          <p:nvPr/>
        </p:nvSpPr>
        <p:spPr>
          <a:xfrm>
            <a:off x="6766560" y="3557016"/>
            <a:ext cx="46634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Tajuk 10 KSSM — Perimeter dan Luas</a:t>
            </a:r>
            <a:endParaRPr lang="en-US" sz="1200" dirty="0"/>
          </a:p>
        </p:txBody>
      </p:sp>
      <p:sp>
        <p:nvSpPr>
          <p:cNvPr id="17" name="Shape 15"/>
          <p:cNvSpPr/>
          <p:nvPr/>
        </p:nvSpPr>
        <p:spPr>
          <a:xfrm>
            <a:off x="6400800" y="4114800"/>
            <a:ext cx="256032" cy="256032"/>
          </a:xfrm>
          <a:prstGeom prst="ellipse">
            <a:avLst/>
          </a:prstGeom>
          <a:solidFill>
            <a:srgbClr val="F2B705"/>
          </a:solidFill>
          <a:ln/>
        </p:spPr>
      </p:sp>
      <p:sp>
        <p:nvSpPr>
          <p:cNvPr id="18" name="Text 16"/>
          <p:cNvSpPr txBox="1"/>
          <p:nvPr/>
        </p:nvSpPr>
        <p:spPr>
          <a:xfrm>
            <a:off x="6766560" y="4059936"/>
            <a:ext cx="466344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Tajuk 13 KSSM — Teorem Pythagoras</a:t>
            </a:r>
            <a:endParaRPr lang="en-US" sz="1200" dirty="0"/>
          </a:p>
        </p:txBody>
      </p:sp>
      <p:sp>
        <p:nvSpPr>
          <p:cNvPr id="19" name="Text 17"/>
          <p:cNvSpPr txBox="1"/>
          <p:nvPr/>
        </p:nvSpPr>
        <p:spPr>
          <a:xfrm>
            <a:off x="6400800" y="4754880"/>
            <a:ext cx="5029200" cy="777240"/>
          </a:xfrm>
          <a:prstGeom prst="rect">
            <a:avLst/>
          </a:prstGeom>
          <a:noFill/>
          <a:ln/>
        </p:spPr>
        <p:txBody>
          <a:bodyPr wrap="square" rtlCol="0" anchor="ctr"/>
          <a:lstStyle/>
          <a:p>
            <a:pPr indent="0" marL="0">
              <a:lnSpc>
                <a:spcPct val="120000"/>
              </a:lnSpc>
              <a:buNone/>
            </a:pPr>
            <a:r>
              <a:rPr lang="en-US" sz="1050" i="1" dirty="0">
                <a:solidFill>
                  <a:srgbClr val="F2B705"/>
                </a:solidFill>
                <a:latin typeface="Calibri" pitchFamily="34" charset="0"/>
                <a:ea typeface="Calibri" pitchFamily="34" charset="-122"/>
                <a:cs typeface="Calibri" pitchFamily="34" charset="-120"/>
              </a:rPr>
              <a:t>→ Segi tiga, sisi empat, perimeter, luas, DAN teorem Pythagoras kini diajar sebagai SATU tajuk besar bersepadu.</a:t>
            </a:r>
            <a:endParaRPr lang="en-US" sz="1050" dirty="0"/>
          </a:p>
        </p:txBody>
      </p:sp>
      <p:sp>
        <p:nvSpPr>
          <p:cNvPr id="20" name="Shape 18"/>
          <p:cNvSpPr/>
          <p:nvPr/>
        </p:nvSpPr>
        <p:spPr>
          <a:xfrm>
            <a:off x="548640" y="3749040"/>
            <a:ext cx="5212080" cy="2377440"/>
          </a:xfrm>
          <a:prstGeom prst="roundRect">
            <a:avLst>
              <a:gd name="adj" fmla="val 3077"/>
            </a:avLst>
          </a:prstGeom>
          <a:solidFill>
            <a:srgbClr val="1E2761"/>
          </a:solidFill>
          <a:ln/>
        </p:spPr>
      </p:sp>
      <p:sp>
        <p:nvSpPr>
          <p:cNvPr id="21" name="Text 19"/>
          <p:cNvSpPr txBox="1"/>
          <p:nvPr/>
        </p:nvSpPr>
        <p:spPr>
          <a:xfrm>
            <a:off x="731520" y="3886200"/>
            <a:ext cx="4846320" cy="320040"/>
          </a:xfrm>
          <a:prstGeom prst="rect">
            <a:avLst/>
          </a:prstGeom>
          <a:noFill/>
          <a:ln/>
        </p:spPr>
        <p:txBody>
          <a:bodyPr wrap="square" rtlCol="0" anchor="ctr"/>
          <a:lstStyle/>
          <a:p>
            <a:pPr indent="0" marL="0">
              <a:buNone/>
            </a:pPr>
            <a:r>
              <a:rPr lang="en-US" sz="1250" b="1" dirty="0">
                <a:solidFill>
                  <a:srgbClr val="F2B705"/>
                </a:solidFill>
                <a:latin typeface="Cambria" pitchFamily="34" charset="0"/>
                <a:ea typeface="Cambria" pitchFamily="34" charset="-122"/>
                <a:cs typeface="Cambria" pitchFamily="34" charset="-120"/>
              </a:rPr>
              <a:t>Perkara Kekal Sama</a:t>
            </a:r>
            <a:endParaRPr lang="en-US" sz="1250" dirty="0"/>
          </a:p>
        </p:txBody>
      </p:sp>
      <p:sp>
        <p:nvSpPr>
          <p:cNvPr id="22" name="Text 20"/>
          <p:cNvSpPr txBox="1"/>
          <p:nvPr/>
        </p:nvSpPr>
        <p:spPr>
          <a:xfrm>
            <a:off x="777240" y="4251960"/>
            <a:ext cx="4846320" cy="1737360"/>
          </a:xfrm>
          <a:prstGeom prst="rect">
            <a:avLst/>
          </a:prstGeom>
          <a:noFill/>
          <a:ln/>
        </p:spPr>
        <p:txBody>
          <a:bodyPr wrap="square" rtlCol="0" anchor="t"/>
          <a:lstStyle/>
          <a:p>
            <a:pPr marL="228600" indent="-2286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Poligon Asas (Bab 9) TIDAK dikeluarkan sepenuhnya — diserap sebagai kemahiran klasifikasi dalam Tajuk 7.</a:t>
            </a:r>
            <a:endParaRPr lang="en-US" sz="1050" dirty="0"/>
          </a:p>
          <a:p>
            <a:pPr marL="228600" indent="-2286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Perimeter dan Luas TIDAK kekal sebagai tajuk berasingan — kini diintegrasikan terus dengan Segi Tiga &amp; Sisi Empat.</a:t>
            </a:r>
            <a:endParaRPr lang="en-US" sz="1050" dirty="0"/>
          </a:p>
        </p:txBody>
      </p:sp>
      <p:sp>
        <p:nvSpPr>
          <p:cNvPr id="23" name="Text 21"/>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6, m/s 3–4, 22–25</a:t>
            </a:r>
            <a:endParaRPr lang="en-US" sz="1000" dirty="0"/>
          </a:p>
        </p:txBody>
      </p:sp>
      <p:sp>
        <p:nvSpPr>
          <p:cNvPr id="24" name="Text 22"/>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6.1 Garis dan Jenis Sudut</a:t>
            </a:r>
            <a:endParaRPr lang="en-US" sz="2600" dirty="0"/>
          </a:p>
        </p:txBody>
      </p:sp>
      <p:sp>
        <p:nvSpPr>
          <p:cNvPr id="4" name="Shape 2"/>
          <p:cNvSpPr/>
          <p:nvPr/>
        </p:nvSpPr>
        <p:spPr>
          <a:xfrm>
            <a:off x="548640" y="1645920"/>
            <a:ext cx="11064240" cy="594360"/>
          </a:xfrm>
          <a:prstGeom prst="roundRect">
            <a:avLst>
              <a:gd name="adj" fmla="val 7692"/>
            </a:avLst>
          </a:prstGeom>
          <a:solidFill>
            <a:srgbClr val="F5F7FC"/>
          </a:solidFill>
          <a:ln w="12700">
            <a:solidFill>
              <a:srgbClr val="E7EAF2"/>
            </a:solidFill>
            <a:prstDash val="solid"/>
          </a:ln>
        </p:spPr>
      </p:sp>
      <p:sp>
        <p:nvSpPr>
          <p:cNvPr id="5" name="Text 3"/>
          <p:cNvSpPr txBox="1"/>
          <p:nvPr/>
        </p:nvSpPr>
        <p:spPr>
          <a:xfrm>
            <a:off x="777240" y="1645920"/>
            <a:ext cx="914400" cy="594360"/>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6.1.1</a:t>
            </a:r>
            <a:endParaRPr lang="en-US" sz="1250" dirty="0"/>
          </a:p>
        </p:txBody>
      </p:sp>
      <p:sp>
        <p:nvSpPr>
          <p:cNvPr id="6" name="Text 4"/>
          <p:cNvSpPr txBox="1"/>
          <p:nvPr/>
        </p:nvSpPr>
        <p:spPr>
          <a:xfrm>
            <a:off x="1737360" y="1645920"/>
            <a:ext cx="9692640" cy="594360"/>
          </a:xfrm>
          <a:prstGeom prst="rect">
            <a:avLst/>
          </a:prstGeom>
          <a:noFill/>
          <a:ln/>
        </p:spPr>
        <p:txBody>
          <a:bodyPr wrap="square" rtlCol="0" anchor="ctr"/>
          <a:lstStyle/>
          <a:p>
            <a:pPr indent="0" marL="0">
              <a:lnSpc>
                <a:spcPct val="110000"/>
              </a:lnSpc>
              <a:buNone/>
            </a:pPr>
            <a:r>
              <a:rPr lang="en-US" sz="1080" dirty="0">
                <a:solidFill>
                  <a:srgbClr val="141A45"/>
                </a:solidFill>
                <a:latin typeface="Calibri" pitchFamily="34" charset="0"/>
                <a:ea typeface="Calibri" pitchFamily="34" charset="-122"/>
                <a:cs typeface="Calibri" pitchFamily="34" charset="-120"/>
              </a:rPr>
              <a:t>Menjelaskan kekongruenan tembereng garis dan kekongruenan sudut.</a:t>
            </a:r>
            <a:endParaRPr lang="en-US" sz="1080" dirty="0"/>
          </a:p>
        </p:txBody>
      </p:sp>
      <p:sp>
        <p:nvSpPr>
          <p:cNvPr id="7" name="Shape 5"/>
          <p:cNvSpPr/>
          <p:nvPr/>
        </p:nvSpPr>
        <p:spPr>
          <a:xfrm>
            <a:off x="548640" y="2331720"/>
            <a:ext cx="11064240" cy="594360"/>
          </a:xfrm>
          <a:prstGeom prst="roundRect">
            <a:avLst>
              <a:gd name="adj" fmla="val 7692"/>
            </a:avLst>
          </a:prstGeom>
          <a:solidFill>
            <a:srgbClr val="F5F7FC"/>
          </a:solidFill>
          <a:ln w="12700">
            <a:solidFill>
              <a:srgbClr val="E7EAF2"/>
            </a:solidFill>
            <a:prstDash val="solid"/>
          </a:ln>
        </p:spPr>
      </p:sp>
      <p:sp>
        <p:nvSpPr>
          <p:cNvPr id="8" name="Text 6"/>
          <p:cNvSpPr txBox="1"/>
          <p:nvPr/>
        </p:nvSpPr>
        <p:spPr>
          <a:xfrm>
            <a:off x="777240" y="2331720"/>
            <a:ext cx="914400" cy="594360"/>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6.1.2</a:t>
            </a:r>
            <a:endParaRPr lang="en-US" sz="1250" dirty="0"/>
          </a:p>
        </p:txBody>
      </p:sp>
      <p:sp>
        <p:nvSpPr>
          <p:cNvPr id="9" name="Text 7"/>
          <p:cNvSpPr txBox="1"/>
          <p:nvPr/>
        </p:nvSpPr>
        <p:spPr>
          <a:xfrm>
            <a:off x="1737360" y="2331720"/>
            <a:ext cx="9692640" cy="594360"/>
          </a:xfrm>
          <a:prstGeom prst="rect">
            <a:avLst/>
          </a:prstGeom>
          <a:noFill/>
          <a:ln/>
        </p:spPr>
        <p:txBody>
          <a:bodyPr wrap="square" rtlCol="0" anchor="ctr"/>
          <a:lstStyle/>
          <a:p>
            <a:pPr indent="0" marL="0">
              <a:lnSpc>
                <a:spcPct val="110000"/>
              </a:lnSpc>
              <a:buNone/>
            </a:pPr>
            <a:r>
              <a:rPr lang="en-US" sz="1080" dirty="0">
                <a:solidFill>
                  <a:srgbClr val="141A45"/>
                </a:solidFill>
                <a:latin typeface="Calibri" pitchFamily="34" charset="0"/>
                <a:ea typeface="Calibri" pitchFamily="34" charset="-122"/>
                <a:cs typeface="Calibri" pitchFamily="34" charset="-120"/>
              </a:rPr>
              <a:t>Membina: (i) tembereng garis; (ii) pembahagi dua sama serenjang; (iii) garis serenjang; (iv) sudut dan pembahagi dua sama sudut.</a:t>
            </a:r>
            <a:endParaRPr lang="en-US" sz="1080" dirty="0"/>
          </a:p>
        </p:txBody>
      </p:sp>
      <p:sp>
        <p:nvSpPr>
          <p:cNvPr id="10" name="Shape 8"/>
          <p:cNvSpPr/>
          <p:nvPr/>
        </p:nvSpPr>
        <p:spPr>
          <a:xfrm>
            <a:off x="548640" y="3017520"/>
            <a:ext cx="11064240" cy="594360"/>
          </a:xfrm>
          <a:prstGeom prst="roundRect">
            <a:avLst>
              <a:gd name="adj" fmla="val 7692"/>
            </a:avLst>
          </a:prstGeom>
          <a:solidFill>
            <a:srgbClr val="F5F7FC"/>
          </a:solidFill>
          <a:ln w="12700">
            <a:solidFill>
              <a:srgbClr val="E7EAF2"/>
            </a:solidFill>
            <a:prstDash val="solid"/>
          </a:ln>
        </p:spPr>
      </p:sp>
      <p:sp>
        <p:nvSpPr>
          <p:cNvPr id="11" name="Text 9"/>
          <p:cNvSpPr txBox="1"/>
          <p:nvPr/>
        </p:nvSpPr>
        <p:spPr>
          <a:xfrm>
            <a:off x="777240" y="3017520"/>
            <a:ext cx="914400" cy="594360"/>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6.1.3</a:t>
            </a:r>
            <a:endParaRPr lang="en-US" sz="1250" dirty="0"/>
          </a:p>
        </p:txBody>
      </p:sp>
      <p:sp>
        <p:nvSpPr>
          <p:cNvPr id="12" name="Text 10"/>
          <p:cNvSpPr txBox="1"/>
          <p:nvPr/>
        </p:nvSpPr>
        <p:spPr>
          <a:xfrm>
            <a:off x="1737360" y="3017520"/>
            <a:ext cx="9692640" cy="594360"/>
          </a:xfrm>
          <a:prstGeom prst="rect">
            <a:avLst/>
          </a:prstGeom>
          <a:noFill/>
          <a:ln/>
        </p:spPr>
        <p:txBody>
          <a:bodyPr wrap="square" rtlCol="0" anchor="ctr"/>
          <a:lstStyle/>
          <a:p>
            <a:pPr indent="0" marL="0">
              <a:lnSpc>
                <a:spcPct val="110000"/>
              </a:lnSpc>
              <a:buNone/>
            </a:pPr>
            <a:r>
              <a:rPr lang="en-US" sz="1080" dirty="0">
                <a:solidFill>
                  <a:srgbClr val="141A45"/>
                </a:solidFill>
                <a:latin typeface="Calibri" pitchFamily="34" charset="0"/>
                <a:ea typeface="Calibri" pitchFamily="34" charset="-122"/>
                <a:cs typeface="Calibri" pitchFamily="34" charset="-120"/>
              </a:rPr>
              <a:t>Mengenal dan membanding sifat pelbagai sudut.</a:t>
            </a:r>
            <a:endParaRPr lang="en-US" sz="1080" dirty="0"/>
          </a:p>
        </p:txBody>
      </p:sp>
      <p:sp>
        <p:nvSpPr>
          <p:cNvPr id="13" name="Shape 11"/>
          <p:cNvSpPr/>
          <p:nvPr/>
        </p:nvSpPr>
        <p:spPr>
          <a:xfrm>
            <a:off x="548640" y="3703320"/>
            <a:ext cx="11064240" cy="594360"/>
          </a:xfrm>
          <a:prstGeom prst="roundRect">
            <a:avLst>
              <a:gd name="adj" fmla="val 7692"/>
            </a:avLst>
          </a:prstGeom>
          <a:solidFill>
            <a:srgbClr val="F5F7FC"/>
          </a:solidFill>
          <a:ln w="12700">
            <a:solidFill>
              <a:srgbClr val="E7EAF2"/>
            </a:solidFill>
            <a:prstDash val="solid"/>
          </a:ln>
        </p:spPr>
      </p:sp>
      <p:sp>
        <p:nvSpPr>
          <p:cNvPr id="14" name="Text 12"/>
          <p:cNvSpPr txBox="1"/>
          <p:nvPr/>
        </p:nvSpPr>
        <p:spPr>
          <a:xfrm>
            <a:off x="777240" y="3703320"/>
            <a:ext cx="914400" cy="594360"/>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6.1.4</a:t>
            </a:r>
            <a:endParaRPr lang="en-US" sz="1250" dirty="0"/>
          </a:p>
        </p:txBody>
      </p:sp>
      <p:sp>
        <p:nvSpPr>
          <p:cNvPr id="15" name="Text 13"/>
          <p:cNvSpPr txBox="1"/>
          <p:nvPr/>
        </p:nvSpPr>
        <p:spPr>
          <a:xfrm>
            <a:off x="1737360" y="3703320"/>
            <a:ext cx="9692640" cy="594360"/>
          </a:xfrm>
          <a:prstGeom prst="rect">
            <a:avLst/>
          </a:prstGeom>
          <a:noFill/>
          <a:ln/>
        </p:spPr>
        <p:txBody>
          <a:bodyPr wrap="square" rtlCol="0" anchor="ctr"/>
          <a:lstStyle/>
          <a:p>
            <a:pPr indent="0" marL="0">
              <a:lnSpc>
                <a:spcPct val="110000"/>
              </a:lnSpc>
              <a:buNone/>
            </a:pPr>
            <a:r>
              <a:rPr lang="en-US" sz="1080" dirty="0">
                <a:solidFill>
                  <a:srgbClr val="141A45"/>
                </a:solidFill>
                <a:latin typeface="Calibri" pitchFamily="34" charset="0"/>
                <a:ea typeface="Calibri" pitchFamily="34" charset="-122"/>
                <a:cs typeface="Calibri" pitchFamily="34" charset="-120"/>
              </a:rPr>
              <a:t>Menentukan nilai sudut berkaitan garis bersilang apabila nilai sudut lain diberi.</a:t>
            </a:r>
            <a:endParaRPr lang="en-US" sz="1080" dirty="0"/>
          </a:p>
        </p:txBody>
      </p:sp>
      <p:sp>
        <p:nvSpPr>
          <p:cNvPr id="16" name="Shape 14"/>
          <p:cNvSpPr/>
          <p:nvPr/>
        </p:nvSpPr>
        <p:spPr>
          <a:xfrm>
            <a:off x="548640" y="4389120"/>
            <a:ext cx="11064240" cy="594360"/>
          </a:xfrm>
          <a:prstGeom prst="roundRect">
            <a:avLst>
              <a:gd name="adj" fmla="val 7692"/>
            </a:avLst>
          </a:prstGeom>
          <a:solidFill>
            <a:srgbClr val="F5F7FC"/>
          </a:solidFill>
          <a:ln w="12700">
            <a:solidFill>
              <a:srgbClr val="E7EAF2"/>
            </a:solidFill>
            <a:prstDash val="solid"/>
          </a:ln>
        </p:spPr>
      </p:sp>
      <p:sp>
        <p:nvSpPr>
          <p:cNvPr id="17" name="Text 15"/>
          <p:cNvSpPr txBox="1"/>
          <p:nvPr/>
        </p:nvSpPr>
        <p:spPr>
          <a:xfrm>
            <a:off x="777240" y="4389120"/>
            <a:ext cx="914400" cy="594360"/>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6.1.5</a:t>
            </a:r>
            <a:endParaRPr lang="en-US" sz="1250" dirty="0"/>
          </a:p>
        </p:txBody>
      </p:sp>
      <p:sp>
        <p:nvSpPr>
          <p:cNvPr id="18" name="Text 16"/>
          <p:cNvSpPr txBox="1"/>
          <p:nvPr/>
        </p:nvSpPr>
        <p:spPr>
          <a:xfrm>
            <a:off x="1737360" y="4389120"/>
            <a:ext cx="9692640" cy="594360"/>
          </a:xfrm>
          <a:prstGeom prst="rect">
            <a:avLst/>
          </a:prstGeom>
          <a:noFill/>
          <a:ln/>
        </p:spPr>
        <p:txBody>
          <a:bodyPr wrap="square" rtlCol="0" anchor="ctr"/>
          <a:lstStyle/>
          <a:p>
            <a:pPr indent="0" marL="0">
              <a:lnSpc>
                <a:spcPct val="110000"/>
              </a:lnSpc>
              <a:buNone/>
            </a:pPr>
            <a:r>
              <a:rPr lang="en-US" sz="1080" dirty="0">
                <a:solidFill>
                  <a:srgbClr val="141A45"/>
                </a:solidFill>
                <a:latin typeface="Calibri" pitchFamily="34" charset="0"/>
                <a:ea typeface="Calibri" pitchFamily="34" charset="-122"/>
                <a:cs typeface="Calibri" pitchFamily="34" charset="-120"/>
              </a:rPr>
              <a:t>Menyelesaikan masalah yang melibatkan pelbagai sudut berkaitan dengan garis bersilang.</a:t>
            </a:r>
            <a:endParaRPr lang="en-US" sz="1080" dirty="0"/>
          </a:p>
        </p:txBody>
      </p:sp>
      <p:sp>
        <p:nvSpPr>
          <p:cNvPr id="19" name="Shape 17"/>
          <p:cNvSpPr/>
          <p:nvPr/>
        </p:nvSpPr>
        <p:spPr>
          <a:xfrm>
            <a:off x="548640" y="5166360"/>
            <a:ext cx="11064240" cy="685800"/>
          </a:xfrm>
          <a:prstGeom prst="roundRect">
            <a:avLst>
              <a:gd name="adj" fmla="val 10667"/>
            </a:avLst>
          </a:prstGeom>
          <a:solidFill>
            <a:srgbClr val="1E2761"/>
          </a:solidFill>
          <a:ln/>
        </p:spPr>
      </p:sp>
      <p:sp>
        <p:nvSpPr>
          <p:cNvPr id="20" name="Text 18"/>
          <p:cNvSpPr txBox="1"/>
          <p:nvPr/>
        </p:nvSpPr>
        <p:spPr>
          <a:xfrm>
            <a:off x="777240" y="5166360"/>
            <a:ext cx="10607040" cy="6858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Nota Penting: Mulakan pembinaan dengan sudut 60°, diikuti sudut-sudut lain seperti 30°, 45° dan 90°. Penggunaan perisian dinamik amat digalakkan.</a:t>
            </a:r>
            <a:endParaRPr lang="en-US" sz="1100" dirty="0"/>
          </a:p>
        </p:txBody>
      </p:sp>
      <p:sp>
        <p:nvSpPr>
          <p:cNvPr id="21" name="Text 19"/>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6 m/s 6–8</a:t>
            </a:r>
            <a:endParaRPr lang="en-US" sz="1000" dirty="0"/>
          </a:p>
        </p:txBody>
      </p:sp>
      <p:sp>
        <p:nvSpPr>
          <p:cNvPr id="22"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NOTA RASMI PENTING</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6.2 Sudut Berkaitan Garis Selari &amp; Garis Rentas Lintang</a:t>
            </a:r>
            <a:endParaRPr lang="en-US" sz="2200" dirty="0"/>
          </a:p>
        </p:txBody>
      </p:sp>
      <p:sp>
        <p:nvSpPr>
          <p:cNvPr id="4" name="Shape 2"/>
          <p:cNvSpPr/>
          <p:nvPr/>
        </p:nvSpPr>
        <p:spPr>
          <a:xfrm>
            <a:off x="548640" y="1508760"/>
            <a:ext cx="11064240" cy="621792"/>
          </a:xfrm>
          <a:prstGeom prst="roundRect">
            <a:avLst>
              <a:gd name="adj" fmla="val 7353"/>
            </a:avLst>
          </a:prstGeom>
          <a:solidFill>
            <a:srgbClr val="141A45"/>
          </a:solidFill>
          <a:ln/>
        </p:spPr>
      </p:sp>
      <p:sp>
        <p:nvSpPr>
          <p:cNvPr id="5" name="Text 3"/>
          <p:cNvSpPr txBox="1"/>
          <p:nvPr/>
        </p:nvSpPr>
        <p:spPr>
          <a:xfrm>
            <a:off x="777240" y="1508760"/>
            <a:ext cx="914400" cy="621792"/>
          </a:xfrm>
          <a:prstGeom prst="rect">
            <a:avLst/>
          </a:prstGeom>
          <a:noFill/>
          <a:ln/>
        </p:spPr>
        <p:txBody>
          <a:bodyPr wrap="square" rtlCol="0" anchor="ctr"/>
          <a:lstStyle/>
          <a:p>
            <a:pPr indent="0" marL="0">
              <a:buNone/>
            </a:pPr>
            <a:r>
              <a:rPr lang="en-US" sz="1250" b="1" dirty="0">
                <a:solidFill>
                  <a:srgbClr val="F2B705"/>
                </a:solidFill>
                <a:latin typeface="Cambria" pitchFamily="34" charset="0"/>
                <a:ea typeface="Cambria" pitchFamily="34" charset="-122"/>
                <a:cs typeface="Cambria" pitchFamily="34" charset="-120"/>
              </a:rPr>
              <a:t>6.2.1</a:t>
            </a:r>
            <a:endParaRPr lang="en-US" sz="1250" dirty="0"/>
          </a:p>
        </p:txBody>
      </p:sp>
      <p:sp>
        <p:nvSpPr>
          <p:cNvPr id="6" name="Text 4"/>
          <p:cNvSpPr txBox="1"/>
          <p:nvPr/>
        </p:nvSpPr>
        <p:spPr>
          <a:xfrm>
            <a:off x="1737360" y="1508760"/>
            <a:ext cx="9692640" cy="621792"/>
          </a:xfrm>
          <a:prstGeom prst="rect">
            <a:avLst/>
          </a:prstGeom>
          <a:noFill/>
          <a:ln/>
        </p:spPr>
        <p:txBody>
          <a:bodyPr wrap="square"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Membina garis selari dan garis rentas lintang.</a:t>
            </a:r>
            <a:endParaRPr lang="en-US" sz="1100" dirty="0"/>
          </a:p>
        </p:txBody>
      </p:sp>
      <p:sp>
        <p:nvSpPr>
          <p:cNvPr id="7" name="Shape 5"/>
          <p:cNvSpPr/>
          <p:nvPr/>
        </p:nvSpPr>
        <p:spPr>
          <a:xfrm>
            <a:off x="548640" y="2221992"/>
            <a:ext cx="11064240" cy="621792"/>
          </a:xfrm>
          <a:prstGeom prst="roundRect">
            <a:avLst>
              <a:gd name="adj" fmla="val 7353"/>
            </a:avLst>
          </a:prstGeom>
          <a:solidFill>
            <a:srgbClr val="141A45"/>
          </a:solidFill>
          <a:ln/>
        </p:spPr>
      </p:sp>
      <p:sp>
        <p:nvSpPr>
          <p:cNvPr id="8" name="Text 6"/>
          <p:cNvSpPr txBox="1"/>
          <p:nvPr/>
        </p:nvSpPr>
        <p:spPr>
          <a:xfrm>
            <a:off x="777240" y="2221992"/>
            <a:ext cx="914400" cy="621792"/>
          </a:xfrm>
          <a:prstGeom prst="rect">
            <a:avLst/>
          </a:prstGeom>
          <a:noFill/>
          <a:ln/>
        </p:spPr>
        <p:txBody>
          <a:bodyPr wrap="square" rtlCol="0" anchor="ctr"/>
          <a:lstStyle/>
          <a:p>
            <a:pPr indent="0" marL="0">
              <a:buNone/>
            </a:pPr>
            <a:r>
              <a:rPr lang="en-US" sz="1250" b="1" dirty="0">
                <a:solidFill>
                  <a:srgbClr val="F2B705"/>
                </a:solidFill>
                <a:latin typeface="Cambria" pitchFamily="34" charset="0"/>
                <a:ea typeface="Cambria" pitchFamily="34" charset="-122"/>
                <a:cs typeface="Cambria" pitchFamily="34" charset="-120"/>
              </a:rPr>
              <a:t>6.2.2</a:t>
            </a:r>
            <a:endParaRPr lang="en-US" sz="1250" dirty="0"/>
          </a:p>
        </p:txBody>
      </p:sp>
      <p:sp>
        <p:nvSpPr>
          <p:cNvPr id="9" name="Text 7"/>
          <p:cNvSpPr txBox="1"/>
          <p:nvPr/>
        </p:nvSpPr>
        <p:spPr>
          <a:xfrm>
            <a:off x="1737360" y="2221992"/>
            <a:ext cx="9692640" cy="621792"/>
          </a:xfrm>
          <a:prstGeom prst="rect">
            <a:avLst/>
          </a:prstGeom>
          <a:noFill/>
          <a:ln/>
        </p:spPr>
        <p:txBody>
          <a:bodyPr wrap="square"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Menghubung kait sudut sepadan, sudut selang-seli dan sudut pedalaman dengan garis selari serta garis rentas lintang.</a:t>
            </a:r>
            <a:endParaRPr lang="en-US" sz="1100" dirty="0"/>
          </a:p>
        </p:txBody>
      </p:sp>
      <p:sp>
        <p:nvSpPr>
          <p:cNvPr id="10" name="Shape 8"/>
          <p:cNvSpPr/>
          <p:nvPr/>
        </p:nvSpPr>
        <p:spPr>
          <a:xfrm>
            <a:off x="548640" y="2935224"/>
            <a:ext cx="11064240" cy="621792"/>
          </a:xfrm>
          <a:prstGeom prst="roundRect">
            <a:avLst>
              <a:gd name="adj" fmla="val 7353"/>
            </a:avLst>
          </a:prstGeom>
          <a:solidFill>
            <a:srgbClr val="141A45"/>
          </a:solidFill>
          <a:ln/>
        </p:spPr>
      </p:sp>
      <p:sp>
        <p:nvSpPr>
          <p:cNvPr id="11" name="Text 9"/>
          <p:cNvSpPr txBox="1"/>
          <p:nvPr/>
        </p:nvSpPr>
        <p:spPr>
          <a:xfrm>
            <a:off x="777240" y="2935224"/>
            <a:ext cx="914400" cy="621792"/>
          </a:xfrm>
          <a:prstGeom prst="rect">
            <a:avLst/>
          </a:prstGeom>
          <a:noFill/>
          <a:ln/>
        </p:spPr>
        <p:txBody>
          <a:bodyPr wrap="square" rtlCol="0" anchor="ctr"/>
          <a:lstStyle/>
          <a:p>
            <a:pPr indent="0" marL="0">
              <a:buNone/>
            </a:pPr>
            <a:r>
              <a:rPr lang="en-US" sz="1250" b="1" dirty="0">
                <a:solidFill>
                  <a:srgbClr val="F2B705"/>
                </a:solidFill>
                <a:latin typeface="Cambria" pitchFamily="34" charset="0"/>
                <a:ea typeface="Cambria" pitchFamily="34" charset="-122"/>
                <a:cs typeface="Cambria" pitchFamily="34" charset="-120"/>
              </a:rPr>
              <a:t>6.2.3</a:t>
            </a:r>
            <a:endParaRPr lang="en-US" sz="1250" dirty="0"/>
          </a:p>
        </p:txBody>
      </p:sp>
      <p:sp>
        <p:nvSpPr>
          <p:cNvPr id="12" name="Text 10"/>
          <p:cNvSpPr txBox="1"/>
          <p:nvPr/>
        </p:nvSpPr>
        <p:spPr>
          <a:xfrm>
            <a:off x="1737360" y="2935224"/>
            <a:ext cx="9692640" cy="621792"/>
          </a:xfrm>
          <a:prstGeom prst="rect">
            <a:avLst/>
          </a:prstGeom>
          <a:noFill/>
          <a:ln/>
        </p:spPr>
        <p:txBody>
          <a:bodyPr wrap="square" rtlCol="0" anchor="ctr"/>
          <a:lstStyle/>
          <a:p>
            <a:pPr indent="0" marL="0">
              <a:lnSpc>
                <a:spcPct val="110000"/>
              </a:lnSpc>
              <a:buNone/>
            </a:pPr>
            <a:r>
              <a:rPr lang="en-US" sz="1100" dirty="0">
                <a:solidFill>
                  <a:srgbClr val="FFFFFF"/>
                </a:solidFill>
                <a:latin typeface="Calibri" pitchFamily="34" charset="0"/>
                <a:ea typeface="Calibri" pitchFamily="34" charset="-122"/>
                <a:cs typeface="Calibri" pitchFamily="34" charset="-120"/>
              </a:rPr>
              <a:t>Menyelesaikan masalah yang melibatkan sudut yang berkaitan dengan garis selari dan garis rentas lintang.</a:t>
            </a:r>
            <a:endParaRPr lang="en-US" sz="1100" dirty="0"/>
          </a:p>
        </p:txBody>
      </p:sp>
      <p:sp>
        <p:nvSpPr>
          <p:cNvPr id="13" name="Shape 11"/>
          <p:cNvSpPr/>
          <p:nvPr/>
        </p:nvSpPr>
        <p:spPr>
          <a:xfrm>
            <a:off x="548640" y="3785616"/>
            <a:ext cx="11064240" cy="1417320"/>
          </a:xfrm>
          <a:prstGeom prst="roundRect">
            <a:avLst>
              <a:gd name="adj" fmla="val 5161"/>
            </a:avLst>
          </a:prstGeom>
          <a:solidFill>
            <a:srgbClr val="F2B705"/>
          </a:solidFill>
          <a:ln/>
        </p:spPr>
      </p:sp>
      <p:sp>
        <p:nvSpPr>
          <p:cNvPr id="14" name="Text 12"/>
          <p:cNvSpPr txBox="1"/>
          <p:nvPr/>
        </p:nvSpPr>
        <p:spPr>
          <a:xfrm>
            <a:off x="777240" y="3904488"/>
            <a:ext cx="10607040" cy="32004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SKOP TERHAD (Wajib Faham):</a:t>
            </a:r>
            <a:endParaRPr lang="en-US" sz="1300" dirty="0"/>
          </a:p>
        </p:txBody>
      </p:sp>
      <p:sp>
        <p:nvSpPr>
          <p:cNvPr id="15" name="Text 13"/>
          <p:cNvSpPr txBox="1"/>
          <p:nvPr/>
        </p:nvSpPr>
        <p:spPr>
          <a:xfrm>
            <a:off x="777240" y="4215384"/>
            <a:ext cx="10607040" cy="914400"/>
          </a:xfrm>
          <a:prstGeom prst="rect">
            <a:avLst/>
          </a:prstGeom>
          <a:noFill/>
          <a:ln/>
        </p:spPr>
        <p:txBody>
          <a:bodyPr wrap="square" rtlCol="0" anchor="ctr"/>
          <a:lstStyle/>
          <a:p>
            <a:pPr indent="0" marL="0">
              <a:lnSpc>
                <a:spcPct val="120000"/>
              </a:lnSpc>
              <a:buNone/>
            </a:pPr>
            <a:r>
              <a:rPr lang="en-US" sz="1080" dirty="0">
                <a:solidFill>
                  <a:srgbClr val="141A45"/>
                </a:solidFill>
                <a:latin typeface="Calibri" pitchFamily="34" charset="0"/>
                <a:ea typeface="Calibri" pitchFamily="34" charset="-122"/>
                <a:cs typeface="Calibri" pitchFamily="34" charset="-120"/>
              </a:rPr>
              <a:t>Sudut yang dibincangkan HANYA melibatkan sudut sepadan, sudut selang-seli dan sudut pedalaman. Sudut dongak dan sudut tunduk TIDAK DILIBATKAN dalam subtajuk ini (cth. aktiviti mengukur tinggi tiang bendera menggunakan sudut dongak TIDAK sesuai dijadikan aktiviti pengayaan bagi tajuk ini).</a:t>
            </a:r>
            <a:endParaRPr lang="en-US" sz="1080" dirty="0"/>
          </a:p>
        </p:txBody>
      </p:sp>
      <p:sp>
        <p:nvSpPr>
          <p:cNvPr id="16" name="Text 14"/>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6 m/s 15–16</a:t>
            </a:r>
            <a:endParaRPr lang="en-US" sz="1000" dirty="0"/>
          </a:p>
        </p:txBody>
      </p:sp>
      <p:sp>
        <p:nvSpPr>
          <p:cNvPr id="17" name="Text 15"/>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Standard Prestasi: 6.0 Garis dan Sudut</a:t>
            </a:r>
            <a:endParaRPr lang="en-US" sz="2600" dirty="0"/>
          </a:p>
        </p:txBody>
      </p:sp>
      <p:sp>
        <p:nvSpPr>
          <p:cNvPr id="4" name="Shape 2"/>
          <p:cNvSpPr/>
          <p:nvPr/>
        </p:nvSpPr>
        <p:spPr>
          <a:xfrm>
            <a:off x="548640" y="1691640"/>
            <a:ext cx="11064240" cy="1005840"/>
          </a:xfrm>
          <a:prstGeom prst="roundRect">
            <a:avLst>
              <a:gd name="adj" fmla="val 5455"/>
            </a:avLst>
          </a:prstGeom>
          <a:solidFill>
            <a:srgbClr val="F5F7FC"/>
          </a:solidFill>
          <a:ln w="19050">
            <a:solidFill>
              <a:srgbClr val="3A4374"/>
            </a:solidFill>
            <a:prstDash val="solid"/>
          </a:ln>
        </p:spPr>
      </p:sp>
      <p:sp>
        <p:nvSpPr>
          <p:cNvPr id="5" name="Shape 3"/>
          <p:cNvSpPr/>
          <p:nvPr/>
        </p:nvSpPr>
        <p:spPr>
          <a:xfrm>
            <a:off x="548640" y="1691640"/>
            <a:ext cx="109728" cy="1005840"/>
          </a:xfrm>
          <a:prstGeom prst="rect">
            <a:avLst/>
          </a:prstGeom>
          <a:solidFill>
            <a:srgbClr val="3A4374"/>
          </a:solidFill>
          <a:ln/>
        </p:spPr>
      </p:sp>
      <p:sp>
        <p:nvSpPr>
          <p:cNvPr id="6" name="Text 4"/>
          <p:cNvSpPr txBox="1"/>
          <p:nvPr/>
        </p:nvSpPr>
        <p:spPr>
          <a:xfrm>
            <a:off x="822960" y="1691640"/>
            <a:ext cx="1280160" cy="1005840"/>
          </a:xfrm>
          <a:prstGeom prst="rect">
            <a:avLst/>
          </a:prstGeom>
          <a:noFill/>
          <a:ln/>
        </p:spPr>
        <p:txBody>
          <a:bodyPr wrap="square" rtlCol="0" anchor="ctr"/>
          <a:lstStyle/>
          <a:p>
            <a:pPr indent="0" marL="0">
              <a:buNone/>
            </a:pPr>
            <a:r>
              <a:rPr lang="en-US" sz="1500" b="1" dirty="0">
                <a:solidFill>
                  <a:srgbClr val="3A4374"/>
                </a:solidFill>
                <a:latin typeface="Cambria" pitchFamily="34" charset="0"/>
                <a:ea typeface="Cambria" pitchFamily="34" charset="-122"/>
                <a:cs typeface="Cambria" pitchFamily="34" charset="-120"/>
              </a:rPr>
              <a:t>TP1</a:t>
            </a:r>
            <a:endParaRPr lang="en-US" sz="1500" dirty="0"/>
          </a:p>
        </p:txBody>
      </p:sp>
      <p:sp>
        <p:nvSpPr>
          <p:cNvPr id="7" name="Text 5"/>
          <p:cNvSpPr txBox="1"/>
          <p:nvPr/>
        </p:nvSpPr>
        <p:spPr>
          <a:xfrm>
            <a:off x="2103120" y="1691640"/>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menyatakan kekongruenan tembereng garis dan sudut.</a:t>
            </a:r>
            <a:endParaRPr lang="en-US" sz="1200" dirty="0"/>
          </a:p>
        </p:txBody>
      </p:sp>
      <p:sp>
        <p:nvSpPr>
          <p:cNvPr id="8" name="Shape 6"/>
          <p:cNvSpPr/>
          <p:nvPr/>
        </p:nvSpPr>
        <p:spPr>
          <a:xfrm>
            <a:off x="548640" y="2807208"/>
            <a:ext cx="11064240" cy="1005840"/>
          </a:xfrm>
          <a:prstGeom prst="roundRect">
            <a:avLst>
              <a:gd name="adj" fmla="val 5455"/>
            </a:avLst>
          </a:prstGeom>
          <a:solidFill>
            <a:srgbClr val="F5F7FC"/>
          </a:solidFill>
          <a:ln w="19050">
            <a:solidFill>
              <a:srgbClr val="5C6BAE"/>
            </a:solidFill>
            <a:prstDash val="solid"/>
          </a:ln>
        </p:spPr>
      </p:sp>
      <p:sp>
        <p:nvSpPr>
          <p:cNvPr id="9" name="Shape 7"/>
          <p:cNvSpPr/>
          <p:nvPr/>
        </p:nvSpPr>
        <p:spPr>
          <a:xfrm>
            <a:off x="548640" y="2807208"/>
            <a:ext cx="109728" cy="1005840"/>
          </a:xfrm>
          <a:prstGeom prst="rect">
            <a:avLst/>
          </a:prstGeom>
          <a:solidFill>
            <a:srgbClr val="5C6BAE"/>
          </a:solidFill>
          <a:ln/>
        </p:spPr>
      </p:sp>
      <p:sp>
        <p:nvSpPr>
          <p:cNvPr id="10" name="Text 8"/>
          <p:cNvSpPr txBox="1"/>
          <p:nvPr/>
        </p:nvSpPr>
        <p:spPr>
          <a:xfrm>
            <a:off x="822960" y="2807208"/>
            <a:ext cx="1280160" cy="1005840"/>
          </a:xfrm>
          <a:prstGeom prst="rect">
            <a:avLst/>
          </a:prstGeom>
          <a:noFill/>
          <a:ln/>
        </p:spPr>
        <p:txBody>
          <a:bodyPr wrap="square" rtlCol="0" anchor="ctr"/>
          <a:lstStyle/>
          <a:p>
            <a:pPr indent="0" marL="0">
              <a:buNone/>
            </a:pPr>
            <a:r>
              <a:rPr lang="en-US" sz="1500" b="1" dirty="0">
                <a:solidFill>
                  <a:srgbClr val="5C6BAE"/>
                </a:solidFill>
                <a:latin typeface="Cambria" pitchFamily="34" charset="0"/>
                <a:ea typeface="Cambria" pitchFamily="34" charset="-122"/>
                <a:cs typeface="Cambria" pitchFamily="34" charset="-120"/>
              </a:rPr>
              <a:t>TP2</a:t>
            </a:r>
            <a:endParaRPr lang="en-US" sz="1500" dirty="0"/>
          </a:p>
        </p:txBody>
      </p:sp>
      <p:sp>
        <p:nvSpPr>
          <p:cNvPr id="11" name="Text 9"/>
          <p:cNvSpPr txBox="1"/>
          <p:nvPr/>
        </p:nvSpPr>
        <p:spPr>
          <a:xfrm>
            <a:off x="2103120" y="2807208"/>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melaksanakan pembinaan geometri yang melibatkan pelbagai garis dan sudut.</a:t>
            </a:r>
            <a:endParaRPr lang="en-US" sz="1200" dirty="0"/>
          </a:p>
        </p:txBody>
      </p:sp>
      <p:sp>
        <p:nvSpPr>
          <p:cNvPr id="12" name="Shape 10"/>
          <p:cNvSpPr/>
          <p:nvPr/>
        </p:nvSpPr>
        <p:spPr>
          <a:xfrm>
            <a:off x="548640" y="3922776"/>
            <a:ext cx="11064240" cy="1005840"/>
          </a:xfrm>
          <a:prstGeom prst="roundRect">
            <a:avLst>
              <a:gd name="adj" fmla="val 5455"/>
            </a:avLst>
          </a:prstGeom>
          <a:solidFill>
            <a:srgbClr val="F5F7FC"/>
          </a:solidFill>
          <a:ln w="19050">
            <a:solidFill>
              <a:srgbClr val="8593D4"/>
            </a:solidFill>
            <a:prstDash val="solid"/>
          </a:ln>
        </p:spPr>
      </p:sp>
      <p:sp>
        <p:nvSpPr>
          <p:cNvPr id="13" name="Shape 11"/>
          <p:cNvSpPr/>
          <p:nvPr/>
        </p:nvSpPr>
        <p:spPr>
          <a:xfrm>
            <a:off x="548640" y="3922776"/>
            <a:ext cx="109728" cy="1005840"/>
          </a:xfrm>
          <a:prstGeom prst="rect">
            <a:avLst/>
          </a:prstGeom>
          <a:solidFill>
            <a:srgbClr val="8593D4"/>
          </a:solidFill>
          <a:ln/>
        </p:spPr>
      </p:sp>
      <p:sp>
        <p:nvSpPr>
          <p:cNvPr id="14" name="Text 12"/>
          <p:cNvSpPr txBox="1"/>
          <p:nvPr/>
        </p:nvSpPr>
        <p:spPr>
          <a:xfrm>
            <a:off x="822960" y="3922776"/>
            <a:ext cx="1280160" cy="1005840"/>
          </a:xfrm>
          <a:prstGeom prst="rect">
            <a:avLst/>
          </a:prstGeom>
          <a:noFill/>
          <a:ln/>
        </p:spPr>
        <p:txBody>
          <a:bodyPr wrap="square" rtlCol="0" anchor="ctr"/>
          <a:lstStyle/>
          <a:p>
            <a:pPr indent="0" marL="0">
              <a:buNone/>
            </a:pPr>
            <a:r>
              <a:rPr lang="en-US" sz="1500" b="1" dirty="0">
                <a:solidFill>
                  <a:srgbClr val="8593D4"/>
                </a:solidFill>
                <a:latin typeface="Cambria" pitchFamily="34" charset="0"/>
                <a:ea typeface="Cambria" pitchFamily="34" charset="-122"/>
                <a:cs typeface="Cambria" pitchFamily="34" charset="-120"/>
              </a:rPr>
              <a:t>TP3</a:t>
            </a:r>
            <a:endParaRPr lang="en-US" sz="1500" dirty="0"/>
          </a:p>
        </p:txBody>
      </p:sp>
      <p:sp>
        <p:nvSpPr>
          <p:cNvPr id="15" name="Text 13"/>
          <p:cNvSpPr txBox="1"/>
          <p:nvPr/>
        </p:nvSpPr>
        <p:spPr>
          <a:xfrm>
            <a:off x="2103120" y="3922776"/>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menentukan nilai sudut berdasarkan sudut lain yang diberikan.</a:t>
            </a:r>
            <a:endParaRPr lang="en-US" sz="1200" dirty="0"/>
          </a:p>
        </p:txBody>
      </p:sp>
      <p:sp>
        <p:nvSpPr>
          <p:cNvPr id="16" name="Shape 14"/>
          <p:cNvSpPr/>
          <p:nvPr/>
        </p:nvSpPr>
        <p:spPr>
          <a:xfrm>
            <a:off x="548640" y="5038344"/>
            <a:ext cx="11064240" cy="1005840"/>
          </a:xfrm>
          <a:prstGeom prst="roundRect">
            <a:avLst>
              <a:gd name="adj" fmla="val 5455"/>
            </a:avLst>
          </a:prstGeom>
          <a:solidFill>
            <a:srgbClr val="F5F7FC"/>
          </a:solidFill>
          <a:ln w="19050">
            <a:solidFill>
              <a:srgbClr val="F2B705"/>
            </a:solidFill>
            <a:prstDash val="solid"/>
          </a:ln>
        </p:spPr>
      </p:sp>
      <p:sp>
        <p:nvSpPr>
          <p:cNvPr id="17" name="Shape 15"/>
          <p:cNvSpPr/>
          <p:nvPr/>
        </p:nvSpPr>
        <p:spPr>
          <a:xfrm>
            <a:off x="548640" y="5038344"/>
            <a:ext cx="109728" cy="1005840"/>
          </a:xfrm>
          <a:prstGeom prst="rect">
            <a:avLst/>
          </a:prstGeom>
          <a:solidFill>
            <a:srgbClr val="F2B705"/>
          </a:solidFill>
          <a:ln/>
        </p:spPr>
      </p:sp>
      <p:sp>
        <p:nvSpPr>
          <p:cNvPr id="18" name="Text 16"/>
          <p:cNvSpPr txBox="1"/>
          <p:nvPr/>
        </p:nvSpPr>
        <p:spPr>
          <a:xfrm>
            <a:off x="822960" y="5038344"/>
            <a:ext cx="1280160" cy="1005840"/>
          </a:xfrm>
          <a:prstGeom prst="rect">
            <a:avLst/>
          </a:prstGeom>
          <a:noFill/>
          <a:ln/>
        </p:spPr>
        <p:txBody>
          <a:bodyPr wrap="square" rtlCol="0" anchor="ctr"/>
          <a:lstStyle/>
          <a:p>
            <a:pPr indent="0" marL="0">
              <a:buNone/>
            </a:pPr>
            <a:r>
              <a:rPr lang="en-US" sz="1500" b="1" dirty="0">
                <a:solidFill>
                  <a:srgbClr val="B08600"/>
                </a:solidFill>
                <a:latin typeface="Cambria" pitchFamily="34" charset="0"/>
                <a:ea typeface="Cambria" pitchFamily="34" charset="-122"/>
                <a:cs typeface="Cambria" pitchFamily="34" charset="-120"/>
              </a:rPr>
              <a:t>TP4</a:t>
            </a:r>
            <a:endParaRPr lang="en-US" sz="1500" dirty="0"/>
          </a:p>
        </p:txBody>
      </p:sp>
      <p:sp>
        <p:nvSpPr>
          <p:cNvPr id="19" name="Text 17"/>
          <p:cNvSpPr txBox="1"/>
          <p:nvPr/>
        </p:nvSpPr>
        <p:spPr>
          <a:xfrm>
            <a:off x="2103120" y="5038344"/>
            <a:ext cx="9326880" cy="1005840"/>
          </a:xfrm>
          <a:prstGeom prst="rect">
            <a:avLst/>
          </a:prstGeom>
          <a:noFill/>
          <a:ln/>
        </p:spPr>
        <p:txBody>
          <a:bodyPr wrap="square" rtlCol="0" anchor="ctr"/>
          <a:lstStyle/>
          <a:p>
            <a:pPr indent="0" marL="0">
              <a:lnSpc>
                <a:spcPct val="115000"/>
              </a:lnSpc>
              <a:buNone/>
            </a:pPr>
            <a:r>
              <a:rPr lang="en-US" sz="1200" dirty="0">
                <a:solidFill>
                  <a:srgbClr val="141A45"/>
                </a:solidFill>
                <a:latin typeface="Calibri" pitchFamily="34" charset="0"/>
                <a:ea typeface="Calibri" pitchFamily="34" charset="-122"/>
                <a:cs typeface="Calibri" pitchFamily="34" charset="-120"/>
              </a:rPr>
              <a:t>Murid boleh menyelesaikan masalah berkaitan garis dan sudut dalam kehidupan harian.</a:t>
            </a:r>
            <a:endParaRPr lang="en-US" sz="120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6 m/s 19</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7.1 Segi Tiga</a:t>
            </a:r>
            <a:endParaRPr lang="en-US" sz="2600" dirty="0"/>
          </a:p>
        </p:txBody>
      </p:sp>
      <p:sp>
        <p:nvSpPr>
          <p:cNvPr id="4" name="Shape 2"/>
          <p:cNvSpPr/>
          <p:nvPr/>
        </p:nvSpPr>
        <p:spPr>
          <a:xfrm>
            <a:off x="548640" y="1691640"/>
            <a:ext cx="11064240" cy="777240"/>
          </a:xfrm>
          <a:prstGeom prst="roundRect">
            <a:avLst>
              <a:gd name="adj" fmla="val 5882"/>
            </a:avLst>
          </a:prstGeom>
          <a:solidFill>
            <a:srgbClr val="F5F7FC"/>
          </a:solidFill>
          <a:ln w="12700">
            <a:solidFill>
              <a:srgbClr val="E7EAF2"/>
            </a:solidFill>
            <a:prstDash val="solid"/>
          </a:ln>
        </p:spPr>
      </p:sp>
      <p:sp>
        <p:nvSpPr>
          <p:cNvPr id="5" name="Text 3"/>
          <p:cNvSpPr txBox="1"/>
          <p:nvPr/>
        </p:nvSpPr>
        <p:spPr>
          <a:xfrm>
            <a:off x="777240" y="1691640"/>
            <a:ext cx="914400" cy="777240"/>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7.1.1</a:t>
            </a:r>
            <a:endParaRPr lang="en-US" sz="1300" dirty="0"/>
          </a:p>
        </p:txBody>
      </p:sp>
      <p:sp>
        <p:nvSpPr>
          <p:cNvPr id="6" name="Text 4"/>
          <p:cNvSpPr txBox="1"/>
          <p:nvPr/>
        </p:nvSpPr>
        <p:spPr>
          <a:xfrm>
            <a:off x="1737360" y="1691640"/>
            <a:ext cx="9692640" cy="77724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Menghuraikan dan mengelaskan segi tiga berdasarkan sifat sisi dan sifat sudut.</a:t>
            </a:r>
            <a:endParaRPr lang="en-US" sz="1150" dirty="0"/>
          </a:p>
        </p:txBody>
      </p:sp>
      <p:sp>
        <p:nvSpPr>
          <p:cNvPr id="7" name="Shape 5"/>
          <p:cNvSpPr/>
          <p:nvPr/>
        </p:nvSpPr>
        <p:spPr>
          <a:xfrm>
            <a:off x="548640" y="2587752"/>
            <a:ext cx="11064240" cy="777240"/>
          </a:xfrm>
          <a:prstGeom prst="roundRect">
            <a:avLst>
              <a:gd name="adj" fmla="val 5882"/>
            </a:avLst>
          </a:prstGeom>
          <a:solidFill>
            <a:srgbClr val="F5F7FC"/>
          </a:solidFill>
          <a:ln w="12700">
            <a:solidFill>
              <a:srgbClr val="E7EAF2"/>
            </a:solidFill>
            <a:prstDash val="solid"/>
          </a:ln>
        </p:spPr>
      </p:sp>
      <p:sp>
        <p:nvSpPr>
          <p:cNvPr id="8" name="Text 6"/>
          <p:cNvSpPr txBox="1"/>
          <p:nvPr/>
        </p:nvSpPr>
        <p:spPr>
          <a:xfrm>
            <a:off x="777240" y="2587752"/>
            <a:ext cx="914400" cy="777240"/>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7.1.2</a:t>
            </a:r>
            <a:endParaRPr lang="en-US" sz="1300" dirty="0"/>
          </a:p>
        </p:txBody>
      </p:sp>
      <p:sp>
        <p:nvSpPr>
          <p:cNvPr id="9" name="Text 7"/>
          <p:cNvSpPr txBox="1"/>
          <p:nvPr/>
        </p:nvSpPr>
        <p:spPr>
          <a:xfrm>
            <a:off x="1737360" y="2587752"/>
            <a:ext cx="9692640" cy="77724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Menentukan sudut pedalaman dan sudut peluaran suatu segi tiga.</a:t>
            </a:r>
            <a:endParaRPr lang="en-US" sz="1150" dirty="0"/>
          </a:p>
        </p:txBody>
      </p:sp>
      <p:sp>
        <p:nvSpPr>
          <p:cNvPr id="10" name="Shape 8"/>
          <p:cNvSpPr/>
          <p:nvPr/>
        </p:nvSpPr>
        <p:spPr>
          <a:xfrm>
            <a:off x="548640" y="3483864"/>
            <a:ext cx="11064240" cy="777240"/>
          </a:xfrm>
          <a:prstGeom prst="roundRect">
            <a:avLst>
              <a:gd name="adj" fmla="val 5882"/>
            </a:avLst>
          </a:prstGeom>
          <a:solidFill>
            <a:srgbClr val="F5F7FC"/>
          </a:solidFill>
          <a:ln w="12700">
            <a:solidFill>
              <a:srgbClr val="E7EAF2"/>
            </a:solidFill>
            <a:prstDash val="solid"/>
          </a:ln>
        </p:spPr>
      </p:sp>
      <p:sp>
        <p:nvSpPr>
          <p:cNvPr id="11" name="Text 9"/>
          <p:cNvSpPr txBox="1"/>
          <p:nvPr/>
        </p:nvSpPr>
        <p:spPr>
          <a:xfrm>
            <a:off x="777240" y="3483864"/>
            <a:ext cx="914400" cy="777240"/>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7.1.3</a:t>
            </a:r>
            <a:endParaRPr lang="en-US" sz="1300" dirty="0"/>
          </a:p>
        </p:txBody>
      </p:sp>
      <p:sp>
        <p:nvSpPr>
          <p:cNvPr id="12" name="Text 10"/>
          <p:cNvSpPr txBox="1"/>
          <p:nvPr/>
        </p:nvSpPr>
        <p:spPr>
          <a:xfrm>
            <a:off x="1737360" y="3483864"/>
            <a:ext cx="9692640" cy="77724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Menyelesaikan masalah yang melibatkan perimeter dan luas segi tiga.</a:t>
            </a:r>
            <a:endParaRPr lang="en-US" sz="1150" dirty="0"/>
          </a:p>
        </p:txBody>
      </p:sp>
      <p:sp>
        <p:nvSpPr>
          <p:cNvPr id="13" name="Shape 11"/>
          <p:cNvSpPr/>
          <p:nvPr/>
        </p:nvSpPr>
        <p:spPr>
          <a:xfrm>
            <a:off x="548640" y="4471416"/>
            <a:ext cx="11064240" cy="1371600"/>
          </a:xfrm>
          <a:prstGeom prst="roundRect">
            <a:avLst>
              <a:gd name="adj" fmla="val 5333"/>
            </a:avLst>
          </a:prstGeom>
          <a:solidFill>
            <a:srgbClr val="1E2761"/>
          </a:solidFill>
          <a:ln/>
        </p:spPr>
      </p:sp>
      <p:sp>
        <p:nvSpPr>
          <p:cNvPr id="14" name="Text 12"/>
          <p:cNvSpPr txBox="1"/>
          <p:nvPr/>
        </p:nvSpPr>
        <p:spPr>
          <a:xfrm>
            <a:off x="777240" y="4581144"/>
            <a:ext cx="10607040" cy="320040"/>
          </a:xfrm>
          <a:prstGeom prst="rect">
            <a:avLst/>
          </a:prstGeom>
          <a:noFill/>
          <a:ln/>
        </p:spPr>
        <p:txBody>
          <a:bodyPr wrap="square" rtlCol="0" anchor="ctr"/>
          <a:lstStyle/>
          <a:p>
            <a:pPr indent="0" marL="0">
              <a:buNone/>
            </a:pPr>
            <a:r>
              <a:rPr lang="en-US" sz="1200" b="1" dirty="0">
                <a:solidFill>
                  <a:srgbClr val="F2B705"/>
                </a:solidFill>
                <a:latin typeface="Cambria" pitchFamily="34" charset="0"/>
                <a:ea typeface="Cambria" pitchFamily="34" charset="-122"/>
                <a:cs typeface="Cambria" pitchFamily="34" charset="-120"/>
              </a:rPr>
              <a:t>Skop &amp; Penekanan:</a:t>
            </a:r>
            <a:endParaRPr lang="en-US" sz="1200" dirty="0"/>
          </a:p>
        </p:txBody>
      </p:sp>
      <p:sp>
        <p:nvSpPr>
          <p:cNvPr id="15" name="Text 13"/>
          <p:cNvSpPr txBox="1"/>
          <p:nvPr/>
        </p:nvSpPr>
        <p:spPr>
          <a:xfrm>
            <a:off x="777240" y="4882896"/>
            <a:ext cx="10607040" cy="914400"/>
          </a:xfrm>
          <a:prstGeom prst="rect">
            <a:avLst/>
          </a:prstGeom>
          <a:noFill/>
          <a:ln/>
        </p:spPr>
        <p:txBody>
          <a:bodyPr wrap="square" rtlCol="0" anchor="t"/>
          <a:lstStyle/>
          <a:p>
            <a:pPr marL="228600" indent="-228600">
              <a:spcAft>
                <a:spcPts val="500"/>
              </a:spcAft>
              <a:buSzPct val="100000"/>
              <a:buChar char="▪"/>
            </a:pPr>
            <a:r>
              <a:rPr lang="en-US" sz="1020" dirty="0">
                <a:solidFill>
                  <a:srgbClr val="CADCFC"/>
                </a:solidFill>
                <a:latin typeface="Calibri" pitchFamily="34" charset="0"/>
                <a:ea typeface="Calibri" pitchFamily="34" charset="-122"/>
                <a:cs typeface="Calibri" pitchFamily="34" charset="-120"/>
              </a:rPr>
              <a:t>Tembereng garis kongruen &amp; sudut kongruen dalam segi tiga harus diberi penekanan; sifat khas kekongruenan (SSS, SSU, dll.) TIDAK dibincangkan.</a:t>
            </a:r>
            <a:endParaRPr lang="en-US" sz="1020" dirty="0"/>
          </a:p>
          <a:p>
            <a:pPr marL="228600" indent="-228600">
              <a:spcAft>
                <a:spcPts val="500"/>
              </a:spcAft>
              <a:buSzPct val="100000"/>
              <a:buChar char="▪"/>
            </a:pPr>
            <a:r>
              <a:rPr lang="en-US" sz="1020" dirty="0">
                <a:solidFill>
                  <a:srgbClr val="CADCFC"/>
                </a:solidFill>
                <a:latin typeface="Calibri" pitchFamily="34" charset="0"/>
                <a:ea typeface="Calibri" pitchFamily="34" charset="-122"/>
                <a:cs typeface="Calibri" pitchFamily="34" charset="-120"/>
              </a:rPr>
              <a:t>Teroka sifat sama sisi, sama kaki, tak sama kaki, bersudut tirus/cakah/tegak, termasuk bilangan paksi simetri. Penggunaan perisian dinamik amat digalakkan.</a:t>
            </a:r>
            <a:endParaRPr lang="en-US" sz="1020" dirty="0"/>
          </a:p>
        </p:txBody>
      </p:sp>
      <p:sp>
        <p:nvSpPr>
          <p:cNvPr id="16" name="Text 14"/>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6 m/s 27–30</a:t>
            </a:r>
            <a:endParaRPr lang="en-US" sz="1000" dirty="0"/>
          </a:p>
        </p:txBody>
      </p:sp>
      <p:sp>
        <p:nvSpPr>
          <p:cNvPr id="17" name="Text 15"/>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NOTA RASMI PENTING</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7.2 Teorem Pythagoras</a:t>
            </a:r>
            <a:endParaRPr lang="en-US" sz="2700" dirty="0"/>
          </a:p>
        </p:txBody>
      </p:sp>
      <p:sp>
        <p:nvSpPr>
          <p:cNvPr id="4" name="Shape 2"/>
          <p:cNvSpPr/>
          <p:nvPr/>
        </p:nvSpPr>
        <p:spPr>
          <a:xfrm>
            <a:off x="548640" y="1508760"/>
            <a:ext cx="11064240" cy="1234440"/>
          </a:xfrm>
          <a:prstGeom prst="roundRect">
            <a:avLst>
              <a:gd name="adj" fmla="val 5926"/>
            </a:avLst>
          </a:prstGeom>
          <a:solidFill>
            <a:srgbClr val="141A45"/>
          </a:solidFill>
          <a:ln w="12700">
            <a:solidFill>
              <a:srgbClr val="E67E22"/>
            </a:solidFill>
            <a:prstDash val="solid"/>
          </a:ln>
        </p:spPr>
      </p:sp>
      <p:sp>
        <p:nvSpPr>
          <p:cNvPr id="5" name="Text 3"/>
          <p:cNvSpPr txBox="1"/>
          <p:nvPr/>
        </p:nvSpPr>
        <p:spPr>
          <a:xfrm>
            <a:off x="777240" y="1618488"/>
            <a:ext cx="1371600" cy="365760"/>
          </a:xfrm>
          <a:prstGeom prst="rect">
            <a:avLst/>
          </a:prstGeom>
          <a:noFill/>
          <a:ln/>
        </p:spPr>
        <p:txBody>
          <a:bodyPr wrap="square" rtlCol="0" anchor="ctr"/>
          <a:lstStyle/>
          <a:p>
            <a:pPr indent="0" marL="0">
              <a:buNone/>
            </a:pPr>
            <a:r>
              <a:rPr lang="en-US" sz="1400" b="1" dirty="0">
                <a:solidFill>
                  <a:srgbClr val="F2B705"/>
                </a:solidFill>
                <a:latin typeface="Cambria" pitchFamily="34" charset="0"/>
                <a:ea typeface="Cambria" pitchFamily="34" charset="-122"/>
                <a:cs typeface="Cambria" pitchFamily="34" charset="-120"/>
              </a:rPr>
              <a:t>7.2.1</a:t>
            </a:r>
            <a:endParaRPr lang="en-US" sz="1400" dirty="0"/>
          </a:p>
        </p:txBody>
      </p:sp>
      <p:sp>
        <p:nvSpPr>
          <p:cNvPr id="6" name="Text 4"/>
          <p:cNvSpPr txBox="1"/>
          <p:nvPr/>
        </p:nvSpPr>
        <p:spPr>
          <a:xfrm>
            <a:off x="777240" y="1965960"/>
            <a:ext cx="10607040" cy="731520"/>
          </a:xfrm>
          <a:prstGeom prst="rect">
            <a:avLst/>
          </a:prstGeom>
          <a:noFill/>
          <a:ln/>
        </p:spPr>
        <p:txBody>
          <a:bodyPr wrap="square" rtlCol="0" anchor="t"/>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Mengenal pasti hipotenus dan menentukan perkaitan antara sisi segi tiga bersudut tegak. Teroka: (i) perkaitan sisi-sisi; (ii) trirangkap Pythagoras; dan (iii) akas teorem Pythagoras.</a:t>
            </a:r>
            <a:endParaRPr lang="en-US" sz="1100" dirty="0"/>
          </a:p>
        </p:txBody>
      </p:sp>
      <p:sp>
        <p:nvSpPr>
          <p:cNvPr id="7" name="Shape 5"/>
          <p:cNvSpPr/>
          <p:nvPr/>
        </p:nvSpPr>
        <p:spPr>
          <a:xfrm>
            <a:off x="548640" y="2880360"/>
            <a:ext cx="11064240" cy="1234440"/>
          </a:xfrm>
          <a:prstGeom prst="roundRect">
            <a:avLst>
              <a:gd name="adj" fmla="val 5926"/>
            </a:avLst>
          </a:prstGeom>
          <a:solidFill>
            <a:srgbClr val="141A45"/>
          </a:solidFill>
          <a:ln w="12700">
            <a:solidFill>
              <a:srgbClr val="E67E22"/>
            </a:solidFill>
            <a:prstDash val="solid"/>
          </a:ln>
        </p:spPr>
      </p:sp>
      <p:sp>
        <p:nvSpPr>
          <p:cNvPr id="8" name="Text 6"/>
          <p:cNvSpPr txBox="1"/>
          <p:nvPr/>
        </p:nvSpPr>
        <p:spPr>
          <a:xfrm>
            <a:off x="777240" y="2990088"/>
            <a:ext cx="1371600" cy="365760"/>
          </a:xfrm>
          <a:prstGeom prst="rect">
            <a:avLst/>
          </a:prstGeom>
          <a:noFill/>
          <a:ln/>
        </p:spPr>
        <p:txBody>
          <a:bodyPr wrap="square" rtlCol="0" anchor="ctr"/>
          <a:lstStyle/>
          <a:p>
            <a:pPr indent="0" marL="0">
              <a:buNone/>
            </a:pPr>
            <a:r>
              <a:rPr lang="en-US" sz="1400" b="1" dirty="0">
                <a:solidFill>
                  <a:srgbClr val="F2B705"/>
                </a:solidFill>
                <a:latin typeface="Cambria" pitchFamily="34" charset="0"/>
                <a:ea typeface="Cambria" pitchFamily="34" charset="-122"/>
                <a:cs typeface="Cambria" pitchFamily="34" charset="-120"/>
              </a:rPr>
              <a:t>7.2.2</a:t>
            </a:r>
            <a:endParaRPr lang="en-US" sz="1400" dirty="0"/>
          </a:p>
        </p:txBody>
      </p:sp>
      <p:sp>
        <p:nvSpPr>
          <p:cNvPr id="9" name="Text 7"/>
          <p:cNvSpPr txBox="1"/>
          <p:nvPr/>
        </p:nvSpPr>
        <p:spPr>
          <a:xfrm>
            <a:off x="777240" y="3337560"/>
            <a:ext cx="10607040" cy="731520"/>
          </a:xfrm>
          <a:prstGeom prst="rect">
            <a:avLst/>
          </a:prstGeom>
          <a:noFill/>
          <a:ln/>
        </p:spPr>
        <p:txBody>
          <a:bodyPr wrap="square" rtlCol="0" anchor="t"/>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Menyelesaikan masalah teorem Pythagoras yang melibatkan: (i) panjang sisi tidak diketahui; dan (ii) GABUNGAN SEGI TIGA SAHAJA.</a:t>
            </a:r>
            <a:endParaRPr lang="en-US" sz="1100" dirty="0"/>
          </a:p>
        </p:txBody>
      </p:sp>
      <p:sp>
        <p:nvSpPr>
          <p:cNvPr id="10" name="Shape 8"/>
          <p:cNvSpPr/>
          <p:nvPr/>
        </p:nvSpPr>
        <p:spPr>
          <a:xfrm>
            <a:off x="548640" y="4389120"/>
            <a:ext cx="11064240" cy="868680"/>
          </a:xfrm>
          <a:prstGeom prst="roundRect">
            <a:avLst>
              <a:gd name="adj" fmla="val 8421"/>
            </a:avLst>
          </a:prstGeom>
          <a:solidFill>
            <a:srgbClr val="F2B705"/>
          </a:solidFill>
          <a:ln/>
        </p:spPr>
      </p:sp>
      <p:sp>
        <p:nvSpPr>
          <p:cNvPr id="11" name="Text 9"/>
          <p:cNvSpPr txBox="1"/>
          <p:nvPr/>
        </p:nvSpPr>
        <p:spPr>
          <a:xfrm>
            <a:off x="777240" y="4389120"/>
            <a:ext cx="10607040" cy="86868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AWAS: Skop SP 7.2.2 TERHAD kepada gabungan SEGI TIGA sahaja — BUKAN gabungan pelbagai jenis poligon lain.</a:t>
            </a:r>
            <a:endParaRPr lang="en-US" sz="1200" dirty="0"/>
          </a:p>
        </p:txBody>
      </p:sp>
      <p:sp>
        <p:nvSpPr>
          <p:cNvPr id="12" name="Text 1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6 m/s 33–34</a:t>
            </a:r>
            <a:endParaRPr lang="en-US" sz="1000" dirty="0"/>
          </a:p>
        </p:txBody>
      </p:sp>
      <p:sp>
        <p:nvSpPr>
          <p:cNvPr id="13"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7.3 Sisi Empat</a:t>
            </a:r>
            <a:endParaRPr lang="en-US" sz="2600" dirty="0"/>
          </a:p>
        </p:txBody>
      </p:sp>
      <p:sp>
        <p:nvSpPr>
          <p:cNvPr id="4" name="Shape 2"/>
          <p:cNvSpPr/>
          <p:nvPr/>
        </p:nvSpPr>
        <p:spPr>
          <a:xfrm>
            <a:off x="548640" y="1645920"/>
            <a:ext cx="11064240" cy="658368"/>
          </a:xfrm>
          <a:prstGeom prst="roundRect">
            <a:avLst>
              <a:gd name="adj" fmla="val 6944"/>
            </a:avLst>
          </a:prstGeom>
          <a:solidFill>
            <a:srgbClr val="F5F7FC"/>
          </a:solidFill>
          <a:ln w="12700">
            <a:solidFill>
              <a:srgbClr val="E7EAF2"/>
            </a:solidFill>
            <a:prstDash val="solid"/>
          </a:ln>
        </p:spPr>
      </p:sp>
      <p:sp>
        <p:nvSpPr>
          <p:cNvPr id="5" name="Text 3"/>
          <p:cNvSpPr txBox="1"/>
          <p:nvPr/>
        </p:nvSpPr>
        <p:spPr>
          <a:xfrm>
            <a:off x="777240" y="1645920"/>
            <a:ext cx="914400" cy="658368"/>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7.3.1</a:t>
            </a:r>
            <a:endParaRPr lang="en-US" sz="1250" dirty="0"/>
          </a:p>
        </p:txBody>
      </p:sp>
      <p:sp>
        <p:nvSpPr>
          <p:cNvPr id="6" name="Text 4"/>
          <p:cNvSpPr txBox="1"/>
          <p:nvPr/>
        </p:nvSpPr>
        <p:spPr>
          <a:xfrm>
            <a:off x="1737360" y="1645920"/>
            <a:ext cx="9692640" cy="658368"/>
          </a:xfrm>
          <a:prstGeom prst="rect">
            <a:avLst/>
          </a:prstGeom>
          <a:noFill/>
          <a:ln/>
        </p:spPr>
        <p:txBody>
          <a:bodyPr wrap="square" rtlCol="0" anchor="ctr"/>
          <a:lstStyle/>
          <a:p>
            <a:pPr indent="0" marL="0">
              <a:lnSpc>
                <a:spcPct val="115000"/>
              </a:lnSpc>
              <a:buNone/>
            </a:pPr>
            <a:r>
              <a:rPr lang="en-US" sz="1080" dirty="0">
                <a:solidFill>
                  <a:srgbClr val="141A45"/>
                </a:solidFill>
                <a:latin typeface="Calibri" pitchFamily="34" charset="0"/>
                <a:ea typeface="Calibri" pitchFamily="34" charset="-122"/>
                <a:cs typeface="Calibri" pitchFamily="34" charset="-120"/>
              </a:rPr>
              <a:t>Menghuraikan dan mengelaskan sisi empat berdasarkan sifat sisi dan sifat sudut.</a:t>
            </a:r>
            <a:endParaRPr lang="en-US" sz="1080" dirty="0"/>
          </a:p>
        </p:txBody>
      </p:sp>
      <p:sp>
        <p:nvSpPr>
          <p:cNvPr id="7" name="Shape 5"/>
          <p:cNvSpPr/>
          <p:nvPr/>
        </p:nvSpPr>
        <p:spPr>
          <a:xfrm>
            <a:off x="548640" y="2423160"/>
            <a:ext cx="11064240" cy="658368"/>
          </a:xfrm>
          <a:prstGeom prst="roundRect">
            <a:avLst>
              <a:gd name="adj" fmla="val 6944"/>
            </a:avLst>
          </a:prstGeom>
          <a:solidFill>
            <a:srgbClr val="F5F7FC"/>
          </a:solidFill>
          <a:ln w="12700">
            <a:solidFill>
              <a:srgbClr val="E7EAF2"/>
            </a:solidFill>
            <a:prstDash val="solid"/>
          </a:ln>
        </p:spPr>
      </p:sp>
      <p:sp>
        <p:nvSpPr>
          <p:cNvPr id="8" name="Text 6"/>
          <p:cNvSpPr txBox="1"/>
          <p:nvPr/>
        </p:nvSpPr>
        <p:spPr>
          <a:xfrm>
            <a:off x="777240" y="2423160"/>
            <a:ext cx="914400" cy="658368"/>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7.3.2</a:t>
            </a:r>
            <a:endParaRPr lang="en-US" sz="1250" dirty="0"/>
          </a:p>
        </p:txBody>
      </p:sp>
      <p:sp>
        <p:nvSpPr>
          <p:cNvPr id="9" name="Text 7"/>
          <p:cNvSpPr txBox="1"/>
          <p:nvPr/>
        </p:nvSpPr>
        <p:spPr>
          <a:xfrm>
            <a:off x="1737360" y="2423160"/>
            <a:ext cx="9692640" cy="658368"/>
          </a:xfrm>
          <a:prstGeom prst="rect">
            <a:avLst/>
          </a:prstGeom>
          <a:noFill/>
          <a:ln/>
        </p:spPr>
        <p:txBody>
          <a:bodyPr wrap="square" rtlCol="0" anchor="ctr"/>
          <a:lstStyle/>
          <a:p>
            <a:pPr indent="0" marL="0">
              <a:lnSpc>
                <a:spcPct val="115000"/>
              </a:lnSpc>
              <a:buNone/>
            </a:pPr>
            <a:r>
              <a:rPr lang="en-US" sz="1080" dirty="0">
                <a:solidFill>
                  <a:srgbClr val="141A45"/>
                </a:solidFill>
                <a:latin typeface="Calibri" pitchFamily="34" charset="0"/>
                <a:ea typeface="Calibri" pitchFamily="34" charset="-122"/>
                <a:cs typeface="Calibri" pitchFamily="34" charset="-120"/>
              </a:rPr>
              <a:t>Menentukan sudut pedalaman dan sudut peluaran suatu sisi empat.</a:t>
            </a:r>
            <a:endParaRPr lang="en-US" sz="1080" dirty="0"/>
          </a:p>
        </p:txBody>
      </p:sp>
      <p:sp>
        <p:nvSpPr>
          <p:cNvPr id="10" name="Shape 8"/>
          <p:cNvSpPr/>
          <p:nvPr/>
        </p:nvSpPr>
        <p:spPr>
          <a:xfrm>
            <a:off x="548640" y="3200400"/>
            <a:ext cx="11064240" cy="1051560"/>
          </a:xfrm>
          <a:prstGeom prst="roundRect">
            <a:avLst>
              <a:gd name="adj" fmla="val 4348"/>
            </a:avLst>
          </a:prstGeom>
          <a:solidFill>
            <a:srgbClr val="F5F7FC"/>
          </a:solidFill>
          <a:ln w="12700">
            <a:solidFill>
              <a:srgbClr val="E7EAF2"/>
            </a:solidFill>
            <a:prstDash val="solid"/>
          </a:ln>
        </p:spPr>
      </p:sp>
      <p:sp>
        <p:nvSpPr>
          <p:cNvPr id="11" name="Text 9"/>
          <p:cNvSpPr txBox="1"/>
          <p:nvPr/>
        </p:nvSpPr>
        <p:spPr>
          <a:xfrm>
            <a:off x="777240" y="3200400"/>
            <a:ext cx="914400" cy="1051560"/>
          </a:xfrm>
          <a:prstGeom prst="rect">
            <a:avLst/>
          </a:prstGeom>
          <a:noFill/>
          <a:ln/>
        </p:spPr>
        <p:txBody>
          <a:bodyPr wrap="square" rtlCol="0" anchor="ctr"/>
          <a:lstStyle/>
          <a:p>
            <a:pPr indent="0" marL="0">
              <a:buNone/>
            </a:pPr>
            <a:r>
              <a:rPr lang="en-US" sz="1250" b="1" dirty="0">
                <a:solidFill>
                  <a:srgbClr val="E67E22"/>
                </a:solidFill>
                <a:latin typeface="Cambria" pitchFamily="34" charset="0"/>
                <a:ea typeface="Cambria" pitchFamily="34" charset="-122"/>
                <a:cs typeface="Cambria" pitchFamily="34" charset="-120"/>
              </a:rPr>
              <a:t>7.3.3</a:t>
            </a:r>
            <a:endParaRPr lang="en-US" sz="1250" dirty="0"/>
          </a:p>
        </p:txBody>
      </p:sp>
      <p:sp>
        <p:nvSpPr>
          <p:cNvPr id="12" name="Text 10"/>
          <p:cNvSpPr txBox="1"/>
          <p:nvPr/>
        </p:nvSpPr>
        <p:spPr>
          <a:xfrm>
            <a:off x="1737360" y="3200400"/>
            <a:ext cx="9692640" cy="1051560"/>
          </a:xfrm>
          <a:prstGeom prst="rect">
            <a:avLst/>
          </a:prstGeom>
          <a:noFill/>
          <a:ln/>
        </p:spPr>
        <p:txBody>
          <a:bodyPr wrap="square" rtlCol="0" anchor="ctr"/>
          <a:lstStyle/>
          <a:p>
            <a:pPr indent="0" marL="0">
              <a:lnSpc>
                <a:spcPct val="115000"/>
              </a:lnSpc>
              <a:buNone/>
            </a:pPr>
            <a:r>
              <a:rPr lang="en-US" sz="1080" dirty="0">
                <a:solidFill>
                  <a:srgbClr val="141A45"/>
                </a:solidFill>
                <a:latin typeface="Calibri" pitchFamily="34" charset="0"/>
                <a:ea typeface="Calibri" pitchFamily="34" charset="-122"/>
                <a:cs typeface="Calibri" pitchFamily="34" charset="-120"/>
              </a:rPr>
              <a:t>Menyelesaikan masalah sifat geometri &amp; sudut untuk menentukan: (i) perimeter sisi empat; (ii) luas sisi empat; (iii) perimeter gabungan segi tiga &amp; sisi empat; (iv) luas gabungan segi tiga &amp; sisi empat.</a:t>
            </a:r>
            <a:endParaRPr lang="en-US" sz="1080" dirty="0"/>
          </a:p>
        </p:txBody>
      </p:sp>
      <p:sp>
        <p:nvSpPr>
          <p:cNvPr id="13" name="Text 11"/>
          <p:cNvSpPr txBox="1"/>
          <p:nvPr/>
        </p:nvSpPr>
        <p:spPr>
          <a:xfrm>
            <a:off x="548640" y="4416552"/>
            <a:ext cx="11064240" cy="548640"/>
          </a:xfrm>
          <a:prstGeom prst="rect">
            <a:avLst/>
          </a:prstGeom>
          <a:noFill/>
          <a:ln/>
        </p:spPr>
        <p:txBody>
          <a:bodyPr wrap="square" rtlCol="0" anchor="ctr"/>
          <a:lstStyle/>
          <a:p>
            <a:pPr indent="0" marL="0">
              <a:lnSpc>
                <a:spcPct val="115000"/>
              </a:lnSpc>
              <a:buNone/>
            </a:pPr>
            <a:r>
              <a:rPr lang="en-US" sz="1050" i="1" dirty="0">
                <a:solidFill>
                  <a:srgbClr val="5B6472"/>
                </a:solidFill>
                <a:latin typeface="Calibri" pitchFamily="34" charset="0"/>
                <a:ea typeface="Calibri" pitchFamily="34" charset="-122"/>
                <a:cs typeface="Calibri" pitchFamily="34" charset="-120"/>
              </a:rPr>
              <a:t>Skop: Perbincangan hanya melibatkan gabungan segi tiga dan sisi empat sahaja (segi empat tepat, segi empat sama, segi empat selari, rombus, trapezium, lelayang).</a:t>
            </a:r>
            <a:endParaRPr lang="en-US" sz="1050" dirty="0"/>
          </a:p>
        </p:txBody>
      </p:sp>
      <p:sp>
        <p:nvSpPr>
          <p:cNvPr id="14" name="Text 12"/>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6 m/s 37–40</a:t>
            </a:r>
            <a:endParaRPr lang="en-US" sz="1000" dirty="0"/>
          </a:p>
        </p:txBody>
      </p:sp>
      <p:sp>
        <p:nvSpPr>
          <p:cNvPr id="15" name="Text 13"/>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Standard Prestasi: 7.0 Segi Tiga dan Sisi Empat</a:t>
            </a:r>
            <a:endParaRPr lang="en-US" sz="2600" dirty="0"/>
          </a:p>
        </p:txBody>
      </p:sp>
      <p:sp>
        <p:nvSpPr>
          <p:cNvPr id="4" name="Shape 2"/>
          <p:cNvSpPr/>
          <p:nvPr/>
        </p:nvSpPr>
        <p:spPr>
          <a:xfrm>
            <a:off x="548640" y="1691640"/>
            <a:ext cx="11064240" cy="1005840"/>
          </a:xfrm>
          <a:prstGeom prst="roundRect">
            <a:avLst>
              <a:gd name="adj" fmla="val 5455"/>
            </a:avLst>
          </a:prstGeom>
          <a:solidFill>
            <a:srgbClr val="F5F7FC"/>
          </a:solidFill>
          <a:ln w="19050">
            <a:solidFill>
              <a:srgbClr val="3A4374"/>
            </a:solidFill>
            <a:prstDash val="solid"/>
          </a:ln>
        </p:spPr>
      </p:sp>
      <p:sp>
        <p:nvSpPr>
          <p:cNvPr id="5" name="Shape 3"/>
          <p:cNvSpPr/>
          <p:nvPr/>
        </p:nvSpPr>
        <p:spPr>
          <a:xfrm>
            <a:off x="548640" y="1691640"/>
            <a:ext cx="109728" cy="1005840"/>
          </a:xfrm>
          <a:prstGeom prst="rect">
            <a:avLst/>
          </a:prstGeom>
          <a:solidFill>
            <a:srgbClr val="3A4374"/>
          </a:solidFill>
          <a:ln/>
        </p:spPr>
      </p:sp>
      <p:sp>
        <p:nvSpPr>
          <p:cNvPr id="6" name="Text 4"/>
          <p:cNvSpPr txBox="1"/>
          <p:nvPr/>
        </p:nvSpPr>
        <p:spPr>
          <a:xfrm>
            <a:off x="822960" y="1691640"/>
            <a:ext cx="1280160" cy="1005840"/>
          </a:xfrm>
          <a:prstGeom prst="rect">
            <a:avLst/>
          </a:prstGeom>
          <a:noFill/>
          <a:ln/>
        </p:spPr>
        <p:txBody>
          <a:bodyPr wrap="square" rtlCol="0" anchor="ctr"/>
          <a:lstStyle/>
          <a:p>
            <a:pPr indent="0" marL="0">
              <a:buNone/>
            </a:pPr>
            <a:r>
              <a:rPr lang="en-US" sz="1500" b="1" dirty="0">
                <a:solidFill>
                  <a:srgbClr val="3A4374"/>
                </a:solidFill>
                <a:latin typeface="Cambria" pitchFamily="34" charset="0"/>
                <a:ea typeface="Cambria" pitchFamily="34" charset="-122"/>
                <a:cs typeface="Cambria" pitchFamily="34" charset="-120"/>
              </a:rPr>
              <a:t>TP1</a:t>
            </a:r>
            <a:endParaRPr lang="en-US" sz="1500" dirty="0"/>
          </a:p>
        </p:txBody>
      </p:sp>
      <p:sp>
        <p:nvSpPr>
          <p:cNvPr id="7" name="Text 5"/>
          <p:cNvSpPr txBox="1"/>
          <p:nvPr/>
        </p:nvSpPr>
        <p:spPr>
          <a:xfrm>
            <a:off x="2103120" y="1691640"/>
            <a:ext cx="9326880" cy="1005840"/>
          </a:xfrm>
          <a:prstGeom prst="rect">
            <a:avLst/>
          </a:prstGeom>
          <a:noFill/>
          <a:ln/>
        </p:spPr>
        <p:txBody>
          <a:bodyPr wrap="square" rtlCol="0" anchor="ctr"/>
          <a:lstStyle/>
          <a:p>
            <a:pPr indent="0" marL="0">
              <a:lnSpc>
                <a:spcPct val="115000"/>
              </a:lnSpc>
              <a:buNone/>
            </a:pPr>
            <a:r>
              <a:rPr lang="en-US" sz="1130" dirty="0">
                <a:solidFill>
                  <a:srgbClr val="141A45"/>
                </a:solidFill>
                <a:latin typeface="Calibri" pitchFamily="34" charset="0"/>
                <a:ea typeface="Calibri" pitchFamily="34" charset="-122"/>
                <a:cs typeface="Calibri" pitchFamily="34" charset="-120"/>
              </a:rPr>
              <a:t>Murid boleh menyatakan sifat geometri segi tiga dan sisi empat.</a:t>
            </a:r>
            <a:endParaRPr lang="en-US" sz="1130" dirty="0"/>
          </a:p>
        </p:txBody>
      </p:sp>
      <p:sp>
        <p:nvSpPr>
          <p:cNvPr id="8" name="Shape 6"/>
          <p:cNvSpPr/>
          <p:nvPr/>
        </p:nvSpPr>
        <p:spPr>
          <a:xfrm>
            <a:off x="548640" y="2807208"/>
            <a:ext cx="11064240" cy="1005840"/>
          </a:xfrm>
          <a:prstGeom prst="roundRect">
            <a:avLst>
              <a:gd name="adj" fmla="val 5455"/>
            </a:avLst>
          </a:prstGeom>
          <a:solidFill>
            <a:srgbClr val="F5F7FC"/>
          </a:solidFill>
          <a:ln w="19050">
            <a:solidFill>
              <a:srgbClr val="5C6BAE"/>
            </a:solidFill>
            <a:prstDash val="solid"/>
          </a:ln>
        </p:spPr>
      </p:sp>
      <p:sp>
        <p:nvSpPr>
          <p:cNvPr id="9" name="Shape 7"/>
          <p:cNvSpPr/>
          <p:nvPr/>
        </p:nvSpPr>
        <p:spPr>
          <a:xfrm>
            <a:off x="548640" y="2807208"/>
            <a:ext cx="109728" cy="1005840"/>
          </a:xfrm>
          <a:prstGeom prst="rect">
            <a:avLst/>
          </a:prstGeom>
          <a:solidFill>
            <a:srgbClr val="5C6BAE"/>
          </a:solidFill>
          <a:ln/>
        </p:spPr>
      </p:sp>
      <p:sp>
        <p:nvSpPr>
          <p:cNvPr id="10" name="Text 8"/>
          <p:cNvSpPr txBox="1"/>
          <p:nvPr/>
        </p:nvSpPr>
        <p:spPr>
          <a:xfrm>
            <a:off x="822960" y="2807208"/>
            <a:ext cx="1280160" cy="1005840"/>
          </a:xfrm>
          <a:prstGeom prst="rect">
            <a:avLst/>
          </a:prstGeom>
          <a:noFill/>
          <a:ln/>
        </p:spPr>
        <p:txBody>
          <a:bodyPr wrap="square" rtlCol="0" anchor="ctr"/>
          <a:lstStyle/>
          <a:p>
            <a:pPr indent="0" marL="0">
              <a:buNone/>
            </a:pPr>
            <a:r>
              <a:rPr lang="en-US" sz="1500" b="1" dirty="0">
                <a:solidFill>
                  <a:srgbClr val="5C6BAE"/>
                </a:solidFill>
                <a:latin typeface="Cambria" pitchFamily="34" charset="0"/>
                <a:ea typeface="Cambria" pitchFamily="34" charset="-122"/>
                <a:cs typeface="Cambria" pitchFamily="34" charset="-120"/>
              </a:rPr>
              <a:t>TP2</a:t>
            </a:r>
            <a:endParaRPr lang="en-US" sz="1500" dirty="0"/>
          </a:p>
        </p:txBody>
      </p:sp>
      <p:sp>
        <p:nvSpPr>
          <p:cNvPr id="11" name="Text 9"/>
          <p:cNvSpPr txBox="1"/>
          <p:nvPr/>
        </p:nvSpPr>
        <p:spPr>
          <a:xfrm>
            <a:off x="2103120" y="2807208"/>
            <a:ext cx="9326880" cy="1005840"/>
          </a:xfrm>
          <a:prstGeom prst="rect">
            <a:avLst/>
          </a:prstGeom>
          <a:noFill/>
          <a:ln/>
        </p:spPr>
        <p:txBody>
          <a:bodyPr wrap="square" rtlCol="0" anchor="ctr"/>
          <a:lstStyle/>
          <a:p>
            <a:pPr indent="0" marL="0">
              <a:lnSpc>
                <a:spcPct val="115000"/>
              </a:lnSpc>
              <a:buNone/>
            </a:pPr>
            <a:r>
              <a:rPr lang="en-US" sz="1130" dirty="0">
                <a:solidFill>
                  <a:srgbClr val="141A45"/>
                </a:solidFill>
                <a:latin typeface="Calibri" pitchFamily="34" charset="0"/>
                <a:ea typeface="Calibri" pitchFamily="34" charset="-122"/>
                <a:cs typeface="Calibri" pitchFamily="34" charset="-120"/>
              </a:rPr>
              <a:t>Murid boleh menjelaskan perkaitan antara sudut dalam segi tiga, sisi empat dan teorem Pythagoras.</a:t>
            </a:r>
            <a:endParaRPr lang="en-US" sz="1130" dirty="0"/>
          </a:p>
        </p:txBody>
      </p:sp>
      <p:sp>
        <p:nvSpPr>
          <p:cNvPr id="12" name="Shape 10"/>
          <p:cNvSpPr/>
          <p:nvPr/>
        </p:nvSpPr>
        <p:spPr>
          <a:xfrm>
            <a:off x="548640" y="3922776"/>
            <a:ext cx="11064240" cy="1005840"/>
          </a:xfrm>
          <a:prstGeom prst="roundRect">
            <a:avLst>
              <a:gd name="adj" fmla="val 5455"/>
            </a:avLst>
          </a:prstGeom>
          <a:solidFill>
            <a:srgbClr val="F5F7FC"/>
          </a:solidFill>
          <a:ln w="19050">
            <a:solidFill>
              <a:srgbClr val="8593D4"/>
            </a:solidFill>
            <a:prstDash val="solid"/>
          </a:ln>
        </p:spPr>
      </p:sp>
      <p:sp>
        <p:nvSpPr>
          <p:cNvPr id="13" name="Shape 11"/>
          <p:cNvSpPr/>
          <p:nvPr/>
        </p:nvSpPr>
        <p:spPr>
          <a:xfrm>
            <a:off x="548640" y="3922776"/>
            <a:ext cx="109728" cy="1005840"/>
          </a:xfrm>
          <a:prstGeom prst="rect">
            <a:avLst/>
          </a:prstGeom>
          <a:solidFill>
            <a:srgbClr val="8593D4"/>
          </a:solidFill>
          <a:ln/>
        </p:spPr>
      </p:sp>
      <p:sp>
        <p:nvSpPr>
          <p:cNvPr id="14" name="Text 12"/>
          <p:cNvSpPr txBox="1"/>
          <p:nvPr/>
        </p:nvSpPr>
        <p:spPr>
          <a:xfrm>
            <a:off x="822960" y="3922776"/>
            <a:ext cx="1280160" cy="1005840"/>
          </a:xfrm>
          <a:prstGeom prst="rect">
            <a:avLst/>
          </a:prstGeom>
          <a:noFill/>
          <a:ln/>
        </p:spPr>
        <p:txBody>
          <a:bodyPr wrap="square" rtlCol="0" anchor="ctr"/>
          <a:lstStyle/>
          <a:p>
            <a:pPr indent="0" marL="0">
              <a:buNone/>
            </a:pPr>
            <a:r>
              <a:rPr lang="en-US" sz="1500" b="1" dirty="0">
                <a:solidFill>
                  <a:srgbClr val="8593D4"/>
                </a:solidFill>
                <a:latin typeface="Cambria" pitchFamily="34" charset="0"/>
                <a:ea typeface="Cambria" pitchFamily="34" charset="-122"/>
                <a:cs typeface="Cambria" pitchFamily="34" charset="-120"/>
              </a:rPr>
              <a:t>TP3</a:t>
            </a:r>
            <a:endParaRPr lang="en-US" sz="1500" dirty="0"/>
          </a:p>
        </p:txBody>
      </p:sp>
      <p:sp>
        <p:nvSpPr>
          <p:cNvPr id="15" name="Text 13"/>
          <p:cNvSpPr txBox="1"/>
          <p:nvPr/>
        </p:nvSpPr>
        <p:spPr>
          <a:xfrm>
            <a:off x="2103120" y="3922776"/>
            <a:ext cx="9326880" cy="1005840"/>
          </a:xfrm>
          <a:prstGeom prst="rect">
            <a:avLst/>
          </a:prstGeom>
          <a:noFill/>
          <a:ln/>
        </p:spPr>
        <p:txBody>
          <a:bodyPr wrap="square" rtlCol="0" anchor="ctr"/>
          <a:lstStyle/>
          <a:p>
            <a:pPr indent="0" marL="0">
              <a:lnSpc>
                <a:spcPct val="115000"/>
              </a:lnSpc>
              <a:buNone/>
            </a:pPr>
            <a:r>
              <a:rPr lang="en-US" sz="1130" dirty="0">
                <a:solidFill>
                  <a:srgbClr val="141A45"/>
                </a:solidFill>
                <a:latin typeface="Calibri" pitchFamily="34" charset="0"/>
                <a:ea typeface="Calibri" pitchFamily="34" charset="-122"/>
                <a:cs typeface="Calibri" pitchFamily="34" charset="-120"/>
              </a:rPr>
              <a:t>Murid boleh melaksanakan pengiraan perimeter dan luas yang melibatkan pengaplikasian teorem Pythagoras bagi gabungan segi tiga dan sisi empat.</a:t>
            </a:r>
            <a:endParaRPr lang="en-US" sz="1130" dirty="0"/>
          </a:p>
        </p:txBody>
      </p:sp>
      <p:sp>
        <p:nvSpPr>
          <p:cNvPr id="16" name="Shape 14"/>
          <p:cNvSpPr/>
          <p:nvPr/>
        </p:nvSpPr>
        <p:spPr>
          <a:xfrm>
            <a:off x="548640" y="5038344"/>
            <a:ext cx="11064240" cy="1005840"/>
          </a:xfrm>
          <a:prstGeom prst="roundRect">
            <a:avLst>
              <a:gd name="adj" fmla="val 5455"/>
            </a:avLst>
          </a:prstGeom>
          <a:solidFill>
            <a:srgbClr val="F5F7FC"/>
          </a:solidFill>
          <a:ln w="19050">
            <a:solidFill>
              <a:srgbClr val="F2B705"/>
            </a:solidFill>
            <a:prstDash val="solid"/>
          </a:ln>
        </p:spPr>
      </p:sp>
      <p:sp>
        <p:nvSpPr>
          <p:cNvPr id="17" name="Shape 15"/>
          <p:cNvSpPr/>
          <p:nvPr/>
        </p:nvSpPr>
        <p:spPr>
          <a:xfrm>
            <a:off x="548640" y="5038344"/>
            <a:ext cx="109728" cy="1005840"/>
          </a:xfrm>
          <a:prstGeom prst="rect">
            <a:avLst/>
          </a:prstGeom>
          <a:solidFill>
            <a:srgbClr val="F2B705"/>
          </a:solidFill>
          <a:ln/>
        </p:spPr>
      </p:sp>
      <p:sp>
        <p:nvSpPr>
          <p:cNvPr id="18" name="Text 16"/>
          <p:cNvSpPr txBox="1"/>
          <p:nvPr/>
        </p:nvSpPr>
        <p:spPr>
          <a:xfrm>
            <a:off x="822960" y="5038344"/>
            <a:ext cx="1280160" cy="1005840"/>
          </a:xfrm>
          <a:prstGeom prst="rect">
            <a:avLst/>
          </a:prstGeom>
          <a:noFill/>
          <a:ln/>
        </p:spPr>
        <p:txBody>
          <a:bodyPr wrap="square" rtlCol="0" anchor="ctr"/>
          <a:lstStyle/>
          <a:p>
            <a:pPr indent="0" marL="0">
              <a:buNone/>
            </a:pPr>
            <a:r>
              <a:rPr lang="en-US" sz="1500" b="1" dirty="0">
                <a:solidFill>
                  <a:srgbClr val="B08600"/>
                </a:solidFill>
                <a:latin typeface="Cambria" pitchFamily="34" charset="0"/>
                <a:ea typeface="Cambria" pitchFamily="34" charset="-122"/>
                <a:cs typeface="Cambria" pitchFamily="34" charset="-120"/>
              </a:rPr>
              <a:t>TP4</a:t>
            </a:r>
            <a:endParaRPr lang="en-US" sz="1500" dirty="0"/>
          </a:p>
        </p:txBody>
      </p:sp>
      <p:sp>
        <p:nvSpPr>
          <p:cNvPr id="19" name="Text 17"/>
          <p:cNvSpPr txBox="1"/>
          <p:nvPr/>
        </p:nvSpPr>
        <p:spPr>
          <a:xfrm>
            <a:off x="2103120" y="5038344"/>
            <a:ext cx="9326880" cy="1005840"/>
          </a:xfrm>
          <a:prstGeom prst="rect">
            <a:avLst/>
          </a:prstGeom>
          <a:noFill/>
          <a:ln/>
        </p:spPr>
        <p:txBody>
          <a:bodyPr wrap="square" rtlCol="0" anchor="ctr"/>
          <a:lstStyle/>
          <a:p>
            <a:pPr indent="0" marL="0">
              <a:lnSpc>
                <a:spcPct val="115000"/>
              </a:lnSpc>
              <a:buNone/>
            </a:pPr>
            <a:r>
              <a:rPr lang="en-US" sz="1130" dirty="0">
                <a:solidFill>
                  <a:srgbClr val="141A45"/>
                </a:solidFill>
                <a:latin typeface="Calibri" pitchFamily="34" charset="0"/>
                <a:ea typeface="Calibri" pitchFamily="34" charset="-122"/>
                <a:cs typeface="Calibri" pitchFamily="34" charset="-120"/>
              </a:rPr>
              <a:t>Murid boleh menyelesaikan masalah berkaitan segi tiga dan sisi empat dalam kehidupan harian.</a:t>
            </a:r>
            <a:endParaRPr lang="en-US" sz="113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6 m/s 41</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WAJIB TAHU</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Arahan DSKP: Perisian Dinamik Disebut 4 Kali</a:t>
            </a:r>
            <a:endParaRPr lang="en-US" sz="2500" dirty="0"/>
          </a:p>
        </p:txBody>
      </p:sp>
      <p:sp>
        <p:nvSpPr>
          <p:cNvPr id="4" name="Text 2"/>
          <p:cNvSpPr txBox="1"/>
          <p:nvPr/>
        </p:nvSpPr>
        <p:spPr>
          <a:xfrm>
            <a:off x="548640" y="1508760"/>
            <a:ext cx="11064240" cy="777240"/>
          </a:xfrm>
          <a:prstGeom prst="rect">
            <a:avLst/>
          </a:prstGeom>
          <a:noFill/>
          <a:ln/>
        </p:spPr>
        <p:txBody>
          <a:bodyPr wrap="square"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“Penggunaan perisian dinamik yang sesuai amat digalakkan” bukan pilihan sukarela semata-mata — frasa ini disebut secara eksplisit dalam Nota di 4 SP berlainan. Nazir atau pemantau boleh menyemak perkara ini.</a:t>
            </a:r>
            <a:endParaRPr lang="en-US" sz="1250" dirty="0"/>
          </a:p>
        </p:txBody>
      </p:sp>
      <p:sp>
        <p:nvSpPr>
          <p:cNvPr id="5" name="Shape 3"/>
          <p:cNvSpPr/>
          <p:nvPr/>
        </p:nvSpPr>
        <p:spPr>
          <a:xfrm>
            <a:off x="548640" y="2514600"/>
            <a:ext cx="2651760" cy="1828800"/>
          </a:xfrm>
          <a:prstGeom prst="roundRect">
            <a:avLst>
              <a:gd name="adj" fmla="val 4000"/>
            </a:avLst>
          </a:prstGeom>
          <a:solidFill>
            <a:srgbClr val="141A45"/>
          </a:solidFill>
          <a:ln w="12700">
            <a:solidFill>
              <a:srgbClr val="F2B705"/>
            </a:solidFill>
            <a:prstDash val="solid"/>
          </a:ln>
        </p:spPr>
      </p:sp>
      <p:sp>
        <p:nvSpPr>
          <p:cNvPr id="6" name="Text 4"/>
          <p:cNvSpPr txBox="1"/>
          <p:nvPr/>
        </p:nvSpPr>
        <p:spPr>
          <a:xfrm>
            <a:off x="685800" y="2697480"/>
            <a:ext cx="2377440" cy="365760"/>
          </a:xfrm>
          <a:prstGeom prst="rect">
            <a:avLst/>
          </a:prstGeom>
          <a:noFill/>
          <a:ln/>
        </p:spPr>
        <p:txBody>
          <a:bodyPr wrap="square" rtlCol="0" anchor="ctr"/>
          <a:lstStyle/>
          <a:p>
            <a:pPr algn="ctr" indent="0" marL="0">
              <a:buNone/>
            </a:pPr>
            <a:r>
              <a:rPr lang="en-US" sz="1400" b="1" dirty="0">
                <a:solidFill>
                  <a:srgbClr val="F2B705"/>
                </a:solidFill>
                <a:latin typeface="Cambria" pitchFamily="34" charset="0"/>
                <a:ea typeface="Cambria" pitchFamily="34" charset="-122"/>
                <a:cs typeface="Cambria" pitchFamily="34" charset="-120"/>
              </a:rPr>
              <a:t>SP 6.1.2</a:t>
            </a:r>
            <a:endParaRPr lang="en-US" sz="1400" dirty="0"/>
          </a:p>
        </p:txBody>
      </p:sp>
      <p:sp>
        <p:nvSpPr>
          <p:cNvPr id="7" name="Text 5"/>
          <p:cNvSpPr txBox="1"/>
          <p:nvPr/>
        </p:nvSpPr>
        <p:spPr>
          <a:xfrm>
            <a:off x="731520" y="3200400"/>
            <a:ext cx="2286000" cy="1051560"/>
          </a:xfrm>
          <a:prstGeom prst="rect">
            <a:avLst/>
          </a:prstGeom>
          <a:noFill/>
          <a:ln/>
        </p:spPr>
        <p:txBody>
          <a:bodyPr wrap="square" rtlCol="0" anchor="ctr"/>
          <a:lstStyle/>
          <a:p>
            <a:pPr algn="ctr" indent="0" marL="0">
              <a:lnSpc>
                <a:spcPct val="120000"/>
              </a:lnSpc>
              <a:buNone/>
            </a:pPr>
            <a:r>
              <a:rPr lang="en-US" sz="1050" dirty="0">
                <a:solidFill>
                  <a:srgbClr val="FFFFFF"/>
                </a:solidFill>
                <a:latin typeface="Calibri" pitchFamily="34" charset="0"/>
                <a:ea typeface="Calibri" pitchFamily="34" charset="-122"/>
                <a:cs typeface="Calibri" pitchFamily="34" charset="-120"/>
              </a:rPr>
              <a:t>Pembinaan tembereng garis, pembahagi dua sama serenjang, sudut</a:t>
            </a:r>
            <a:endParaRPr lang="en-US" sz="1050" dirty="0"/>
          </a:p>
        </p:txBody>
      </p:sp>
      <p:sp>
        <p:nvSpPr>
          <p:cNvPr id="8" name="Shape 6"/>
          <p:cNvSpPr/>
          <p:nvPr/>
        </p:nvSpPr>
        <p:spPr>
          <a:xfrm>
            <a:off x="3429000" y="2514600"/>
            <a:ext cx="2651760" cy="1828800"/>
          </a:xfrm>
          <a:prstGeom prst="roundRect">
            <a:avLst>
              <a:gd name="adj" fmla="val 4000"/>
            </a:avLst>
          </a:prstGeom>
          <a:solidFill>
            <a:srgbClr val="141A45"/>
          </a:solidFill>
          <a:ln w="12700">
            <a:solidFill>
              <a:srgbClr val="F2B705"/>
            </a:solidFill>
            <a:prstDash val="solid"/>
          </a:ln>
        </p:spPr>
      </p:sp>
      <p:sp>
        <p:nvSpPr>
          <p:cNvPr id="9" name="Text 7"/>
          <p:cNvSpPr txBox="1"/>
          <p:nvPr/>
        </p:nvSpPr>
        <p:spPr>
          <a:xfrm>
            <a:off x="3566160" y="2697480"/>
            <a:ext cx="2377440" cy="365760"/>
          </a:xfrm>
          <a:prstGeom prst="rect">
            <a:avLst/>
          </a:prstGeom>
          <a:noFill/>
          <a:ln/>
        </p:spPr>
        <p:txBody>
          <a:bodyPr wrap="square" rtlCol="0" anchor="ctr"/>
          <a:lstStyle/>
          <a:p>
            <a:pPr algn="ctr" indent="0" marL="0">
              <a:buNone/>
            </a:pPr>
            <a:r>
              <a:rPr lang="en-US" sz="1400" b="1" dirty="0">
                <a:solidFill>
                  <a:srgbClr val="F2B705"/>
                </a:solidFill>
                <a:latin typeface="Cambria" pitchFamily="34" charset="0"/>
                <a:ea typeface="Cambria" pitchFamily="34" charset="-122"/>
                <a:cs typeface="Cambria" pitchFamily="34" charset="-120"/>
              </a:rPr>
              <a:t>SP 6.2.1/6.2.2</a:t>
            </a:r>
            <a:endParaRPr lang="en-US" sz="1400" dirty="0"/>
          </a:p>
        </p:txBody>
      </p:sp>
      <p:sp>
        <p:nvSpPr>
          <p:cNvPr id="10" name="Text 8"/>
          <p:cNvSpPr txBox="1"/>
          <p:nvPr/>
        </p:nvSpPr>
        <p:spPr>
          <a:xfrm>
            <a:off x="3611880" y="3200400"/>
            <a:ext cx="2286000" cy="1051560"/>
          </a:xfrm>
          <a:prstGeom prst="rect">
            <a:avLst/>
          </a:prstGeom>
          <a:noFill/>
          <a:ln/>
        </p:spPr>
        <p:txBody>
          <a:bodyPr wrap="square" rtlCol="0" anchor="ctr"/>
          <a:lstStyle/>
          <a:p>
            <a:pPr algn="ctr" indent="0" marL="0">
              <a:lnSpc>
                <a:spcPct val="120000"/>
              </a:lnSpc>
              <a:buNone/>
            </a:pPr>
            <a:r>
              <a:rPr lang="en-US" sz="1050" dirty="0">
                <a:solidFill>
                  <a:srgbClr val="FFFFFF"/>
                </a:solidFill>
                <a:latin typeface="Calibri" pitchFamily="34" charset="0"/>
                <a:ea typeface="Calibri" pitchFamily="34" charset="-122"/>
                <a:cs typeface="Calibri" pitchFamily="34" charset="-120"/>
              </a:rPr>
              <a:t>Pembinaan garis selari &amp; garis rentas lintang</a:t>
            </a:r>
            <a:endParaRPr lang="en-US" sz="1050" dirty="0"/>
          </a:p>
        </p:txBody>
      </p:sp>
      <p:sp>
        <p:nvSpPr>
          <p:cNvPr id="11" name="Shape 9"/>
          <p:cNvSpPr/>
          <p:nvPr/>
        </p:nvSpPr>
        <p:spPr>
          <a:xfrm>
            <a:off x="6309360" y="2514600"/>
            <a:ext cx="2651760" cy="1828800"/>
          </a:xfrm>
          <a:prstGeom prst="roundRect">
            <a:avLst>
              <a:gd name="adj" fmla="val 4000"/>
            </a:avLst>
          </a:prstGeom>
          <a:solidFill>
            <a:srgbClr val="141A45"/>
          </a:solidFill>
          <a:ln w="12700">
            <a:solidFill>
              <a:srgbClr val="F2B705"/>
            </a:solidFill>
            <a:prstDash val="solid"/>
          </a:ln>
        </p:spPr>
      </p:sp>
      <p:sp>
        <p:nvSpPr>
          <p:cNvPr id="12" name="Text 10"/>
          <p:cNvSpPr txBox="1"/>
          <p:nvPr/>
        </p:nvSpPr>
        <p:spPr>
          <a:xfrm>
            <a:off x="6446520" y="2697480"/>
            <a:ext cx="2377440" cy="365760"/>
          </a:xfrm>
          <a:prstGeom prst="rect">
            <a:avLst/>
          </a:prstGeom>
          <a:noFill/>
          <a:ln/>
        </p:spPr>
        <p:txBody>
          <a:bodyPr wrap="square" rtlCol="0" anchor="ctr"/>
          <a:lstStyle/>
          <a:p>
            <a:pPr algn="ctr" indent="0" marL="0">
              <a:buNone/>
            </a:pPr>
            <a:r>
              <a:rPr lang="en-US" sz="1400" b="1" dirty="0">
                <a:solidFill>
                  <a:srgbClr val="F2B705"/>
                </a:solidFill>
                <a:latin typeface="Cambria" pitchFamily="34" charset="0"/>
                <a:ea typeface="Cambria" pitchFamily="34" charset="-122"/>
                <a:cs typeface="Cambria" pitchFamily="34" charset="-120"/>
              </a:rPr>
              <a:t>SP 7.1.1</a:t>
            </a:r>
            <a:endParaRPr lang="en-US" sz="1400" dirty="0"/>
          </a:p>
        </p:txBody>
      </p:sp>
      <p:sp>
        <p:nvSpPr>
          <p:cNvPr id="13" name="Text 11"/>
          <p:cNvSpPr txBox="1"/>
          <p:nvPr/>
        </p:nvSpPr>
        <p:spPr>
          <a:xfrm>
            <a:off x="6492240" y="3200400"/>
            <a:ext cx="2286000" cy="1051560"/>
          </a:xfrm>
          <a:prstGeom prst="rect">
            <a:avLst/>
          </a:prstGeom>
          <a:noFill/>
          <a:ln/>
        </p:spPr>
        <p:txBody>
          <a:bodyPr wrap="square" rtlCol="0" anchor="ctr"/>
          <a:lstStyle/>
          <a:p>
            <a:pPr algn="ctr" indent="0" marL="0">
              <a:lnSpc>
                <a:spcPct val="120000"/>
              </a:lnSpc>
              <a:buNone/>
            </a:pPr>
            <a:r>
              <a:rPr lang="en-US" sz="1050" dirty="0">
                <a:solidFill>
                  <a:srgbClr val="FFFFFF"/>
                </a:solidFill>
                <a:latin typeface="Calibri" pitchFamily="34" charset="0"/>
                <a:ea typeface="Calibri" pitchFamily="34" charset="-122"/>
                <a:cs typeface="Calibri" pitchFamily="34" charset="-120"/>
              </a:rPr>
              <a:t>Penerokaan sifat geometri segi tiga</a:t>
            </a:r>
            <a:endParaRPr lang="en-US" sz="1050" dirty="0"/>
          </a:p>
        </p:txBody>
      </p:sp>
      <p:sp>
        <p:nvSpPr>
          <p:cNvPr id="14" name="Shape 12"/>
          <p:cNvSpPr/>
          <p:nvPr/>
        </p:nvSpPr>
        <p:spPr>
          <a:xfrm>
            <a:off x="9189720" y="2514600"/>
            <a:ext cx="2651760" cy="1828800"/>
          </a:xfrm>
          <a:prstGeom prst="roundRect">
            <a:avLst>
              <a:gd name="adj" fmla="val 4000"/>
            </a:avLst>
          </a:prstGeom>
          <a:solidFill>
            <a:srgbClr val="141A45"/>
          </a:solidFill>
          <a:ln w="12700">
            <a:solidFill>
              <a:srgbClr val="F2B705"/>
            </a:solidFill>
            <a:prstDash val="solid"/>
          </a:ln>
        </p:spPr>
      </p:sp>
      <p:sp>
        <p:nvSpPr>
          <p:cNvPr id="15" name="Text 13"/>
          <p:cNvSpPr txBox="1"/>
          <p:nvPr/>
        </p:nvSpPr>
        <p:spPr>
          <a:xfrm>
            <a:off x="9326880" y="2697480"/>
            <a:ext cx="2377440" cy="365760"/>
          </a:xfrm>
          <a:prstGeom prst="rect">
            <a:avLst/>
          </a:prstGeom>
          <a:noFill/>
          <a:ln/>
        </p:spPr>
        <p:txBody>
          <a:bodyPr wrap="square" rtlCol="0" anchor="ctr"/>
          <a:lstStyle/>
          <a:p>
            <a:pPr algn="ctr" indent="0" marL="0">
              <a:buNone/>
            </a:pPr>
            <a:r>
              <a:rPr lang="en-US" sz="1400" b="1" dirty="0">
                <a:solidFill>
                  <a:srgbClr val="F2B705"/>
                </a:solidFill>
                <a:latin typeface="Cambria" pitchFamily="34" charset="0"/>
                <a:ea typeface="Cambria" pitchFamily="34" charset="-122"/>
                <a:cs typeface="Cambria" pitchFamily="34" charset="-120"/>
              </a:rPr>
              <a:t>SP 7.3.1</a:t>
            </a:r>
            <a:endParaRPr lang="en-US" sz="1400" dirty="0"/>
          </a:p>
        </p:txBody>
      </p:sp>
      <p:sp>
        <p:nvSpPr>
          <p:cNvPr id="16" name="Text 14"/>
          <p:cNvSpPr txBox="1"/>
          <p:nvPr/>
        </p:nvSpPr>
        <p:spPr>
          <a:xfrm>
            <a:off x="9372600" y="3200400"/>
            <a:ext cx="2286000" cy="1051560"/>
          </a:xfrm>
          <a:prstGeom prst="rect">
            <a:avLst/>
          </a:prstGeom>
          <a:noFill/>
          <a:ln/>
        </p:spPr>
        <p:txBody>
          <a:bodyPr wrap="square" rtlCol="0" anchor="ctr"/>
          <a:lstStyle/>
          <a:p>
            <a:pPr algn="ctr" indent="0" marL="0">
              <a:lnSpc>
                <a:spcPct val="120000"/>
              </a:lnSpc>
              <a:buNone/>
            </a:pPr>
            <a:r>
              <a:rPr lang="en-US" sz="1050" dirty="0">
                <a:solidFill>
                  <a:srgbClr val="FFFFFF"/>
                </a:solidFill>
                <a:latin typeface="Calibri" pitchFamily="34" charset="0"/>
                <a:ea typeface="Calibri" pitchFamily="34" charset="-122"/>
                <a:cs typeface="Calibri" pitchFamily="34" charset="-120"/>
              </a:rPr>
              <a:t>Penerokaan sifat geometri sisi empat</a:t>
            </a:r>
            <a:endParaRPr lang="en-US" sz="1050" dirty="0"/>
          </a:p>
        </p:txBody>
      </p:sp>
      <p:sp>
        <p:nvSpPr>
          <p:cNvPr id="17" name="Shape 15"/>
          <p:cNvSpPr/>
          <p:nvPr/>
        </p:nvSpPr>
        <p:spPr>
          <a:xfrm>
            <a:off x="548640" y="4663440"/>
            <a:ext cx="11064240" cy="1463040"/>
          </a:xfrm>
          <a:prstGeom prst="roundRect">
            <a:avLst>
              <a:gd name="adj" fmla="val 5000"/>
            </a:avLst>
          </a:prstGeom>
          <a:solidFill>
            <a:srgbClr val="F2B705"/>
          </a:solidFill>
          <a:ln/>
        </p:spPr>
      </p:sp>
      <p:sp>
        <p:nvSpPr>
          <p:cNvPr id="18" name="Text 16"/>
          <p:cNvSpPr txBox="1"/>
          <p:nvPr/>
        </p:nvSpPr>
        <p:spPr>
          <a:xfrm>
            <a:off x="777240" y="4754880"/>
            <a:ext cx="10607040" cy="1280160"/>
          </a:xfrm>
          <a:prstGeom prst="rect">
            <a:avLst/>
          </a:prstGeom>
          <a:noFill/>
          <a:ln/>
        </p:spPr>
        <p:txBody>
          <a:bodyPr wrap="square" rtlCol="0" anchor="ctr"/>
          <a:lstStyle/>
          <a:p>
            <a:pPr indent="0" marL="0">
              <a:lnSpc>
                <a:spcPct val="120000"/>
              </a:lnSpc>
              <a:buNone/>
            </a:pPr>
            <a:r>
              <a:rPr lang="en-US" sz="1150" b="1" dirty="0">
                <a:solidFill>
                  <a:srgbClr val="1E2761"/>
                </a:solidFill>
                <a:latin typeface="Calibri" pitchFamily="34" charset="0"/>
                <a:ea typeface="Calibri" pitchFamily="34" charset="-122"/>
                <a:cs typeface="Calibri" pitchFamily="34" charset="-120"/>
              </a:rPr>
              <a:t>TETAPI: Teknologi TIDAK boleh mengabaikan alatan tradisional. Murid WAJIB tetap diajar menggunakan jangka lukis, protraktor dan pembaris fizikal secara manual untuk melatih kemahiran psikomotor — kritikal untuk peperiksaan bertulis (SPM/UASA).</a:t>
            </a:r>
            <a:endParaRPr lang="en-US" sz="1150" dirty="0"/>
          </a:p>
        </p:txBody>
      </p:sp>
      <p:sp>
        <p:nvSpPr>
          <p:cNvPr id="19" name="Text 17"/>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Bhg. 3</a:t>
            </a:r>
            <a:endParaRPr lang="en-US" sz="1000" dirty="0"/>
          </a:p>
        </p:txBody>
      </p:sp>
      <p:sp>
        <p:nvSpPr>
          <p:cNvPr id="20" name="Text 1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PENDEKATAN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Alatan Digital: Atas Talian &amp; Luar Talian</a:t>
            </a:r>
            <a:endParaRPr lang="en-US" sz="2600" dirty="0"/>
          </a:p>
        </p:txBody>
      </p:sp>
      <p:sp>
        <p:nvSpPr>
          <p:cNvPr id="4" name="Shape 2"/>
          <p:cNvSpPr/>
          <p:nvPr/>
        </p:nvSpPr>
        <p:spPr>
          <a:xfrm>
            <a:off x="548640" y="1645920"/>
            <a:ext cx="3520440" cy="4114800"/>
          </a:xfrm>
          <a:prstGeom prst="roundRect">
            <a:avLst>
              <a:gd name="adj" fmla="val 2078"/>
            </a:avLst>
          </a:prstGeom>
          <a:solidFill>
            <a:srgbClr val="F5F7FC"/>
          </a:solidFill>
          <a:ln w="19050">
            <a:solidFill>
              <a:srgbClr val="2E86AB"/>
            </a:solidFill>
            <a:prstDash val="solid"/>
          </a:ln>
        </p:spPr>
      </p:sp>
      <p:sp>
        <p:nvSpPr>
          <p:cNvPr id="5" name="Shape 3"/>
          <p:cNvSpPr/>
          <p:nvPr/>
        </p:nvSpPr>
        <p:spPr>
          <a:xfrm>
            <a:off x="1988820" y="1874520"/>
            <a:ext cx="640080" cy="640080"/>
          </a:xfrm>
          <a:prstGeom prst="ellipse">
            <a:avLst/>
          </a:prstGeom>
          <a:solidFill>
            <a:srgbClr val="2E86AB"/>
          </a:solidFill>
          <a:ln/>
        </p:spPr>
      </p:sp>
      <p:pic>
        <p:nvPicPr>
          <p:cNvPr id="6" name="Image 0" descr="/home/claude/shared_icons/icon_video.png">    </p:cNvPr>
          <p:cNvPicPr>
            <a:picLocks noChangeAspect="1"/>
          </p:cNvPicPr>
          <p:nvPr/>
        </p:nvPicPr>
        <p:blipFill>
          <a:blip r:embed="rId1"/>
          <a:stretch>
            <a:fillRect/>
          </a:stretch>
        </p:blipFill>
        <p:spPr>
          <a:xfrm>
            <a:off x="2078431" y="1964131"/>
            <a:ext cx="460858" cy="460858"/>
          </a:xfrm>
          <a:prstGeom prst="rect">
            <a:avLst/>
          </a:prstGeom>
        </p:spPr>
      </p:pic>
      <p:sp>
        <p:nvSpPr>
          <p:cNvPr id="7" name="Text 4"/>
          <p:cNvSpPr txBox="1"/>
          <p:nvPr/>
        </p:nvSpPr>
        <p:spPr>
          <a:xfrm>
            <a:off x="685800" y="2651760"/>
            <a:ext cx="3246120" cy="45720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Atas Talian (Online)</a:t>
            </a:r>
            <a:endParaRPr lang="en-US" sz="1300" dirty="0"/>
          </a:p>
        </p:txBody>
      </p:sp>
      <p:sp>
        <p:nvSpPr>
          <p:cNvPr id="8" name="Text 5"/>
          <p:cNvSpPr txBox="1"/>
          <p:nvPr/>
        </p:nvSpPr>
        <p:spPr>
          <a:xfrm>
            <a:off x="777240" y="3200400"/>
            <a:ext cx="3063240" cy="2468880"/>
          </a:xfrm>
          <a:prstGeom prst="rect">
            <a:avLst/>
          </a:prstGeom>
          <a:noFill/>
          <a:ln/>
        </p:spPr>
        <p:txBody>
          <a:bodyPr wrap="square" rtlCol="0" anchor="t"/>
          <a:lstStyle/>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GeoGebra, Desmos, Mpad — sesuai untuk PAK-21/STEM.</a:t>
            </a:r>
            <a:endParaRPr lang="en-US" sz="980" dirty="0"/>
          </a:p>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Murid meneroka &amp; menemui sendiri sifat geometri secara interaktif.</a:t>
            </a:r>
            <a:endParaRPr lang="en-US" sz="980" dirty="0"/>
          </a:p>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Guna templat siap sedia (Google Drive) — elakkan bina rajah dari kosong dalam kelas.</a:t>
            </a:r>
            <a:endParaRPr lang="en-US" sz="980" dirty="0"/>
          </a:p>
        </p:txBody>
      </p:sp>
      <p:sp>
        <p:nvSpPr>
          <p:cNvPr id="9" name="Shape 6"/>
          <p:cNvSpPr/>
          <p:nvPr/>
        </p:nvSpPr>
        <p:spPr>
          <a:xfrm>
            <a:off x="4343400" y="1645920"/>
            <a:ext cx="3520440" cy="4114800"/>
          </a:xfrm>
          <a:prstGeom prst="roundRect">
            <a:avLst>
              <a:gd name="adj" fmla="val 2078"/>
            </a:avLst>
          </a:prstGeom>
          <a:solidFill>
            <a:srgbClr val="F5F7FC"/>
          </a:solidFill>
          <a:ln w="19050">
            <a:solidFill>
              <a:srgbClr val="E67E22"/>
            </a:solidFill>
            <a:prstDash val="solid"/>
          </a:ln>
        </p:spPr>
      </p:sp>
      <p:sp>
        <p:nvSpPr>
          <p:cNvPr id="10" name="Shape 7"/>
          <p:cNvSpPr/>
          <p:nvPr/>
        </p:nvSpPr>
        <p:spPr>
          <a:xfrm>
            <a:off x="5783580" y="1874520"/>
            <a:ext cx="640080" cy="640080"/>
          </a:xfrm>
          <a:prstGeom prst="ellipse">
            <a:avLst/>
          </a:prstGeom>
          <a:solidFill>
            <a:srgbClr val="E67E22"/>
          </a:solidFill>
          <a:ln/>
        </p:spPr>
      </p:sp>
      <p:pic>
        <p:nvPicPr>
          <p:cNvPr id="11" name="Image 1" descr="/home/claude/shared_icons/icon_usb.png">    </p:cNvPr>
          <p:cNvPicPr>
            <a:picLocks noChangeAspect="1"/>
          </p:cNvPicPr>
          <p:nvPr/>
        </p:nvPicPr>
        <p:blipFill>
          <a:blip r:embed="rId2"/>
          <a:stretch>
            <a:fillRect/>
          </a:stretch>
        </p:blipFill>
        <p:spPr>
          <a:xfrm>
            <a:off x="5873191" y="1964131"/>
            <a:ext cx="460858" cy="460858"/>
          </a:xfrm>
          <a:prstGeom prst="rect">
            <a:avLst/>
          </a:prstGeom>
        </p:spPr>
      </p:pic>
      <p:sp>
        <p:nvSpPr>
          <p:cNvPr id="12" name="Text 8"/>
          <p:cNvSpPr txBox="1"/>
          <p:nvPr/>
        </p:nvSpPr>
        <p:spPr>
          <a:xfrm>
            <a:off x="4480560" y="2651760"/>
            <a:ext cx="3246120" cy="45720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Luar Talian (Offline)</a:t>
            </a:r>
            <a:endParaRPr lang="en-US" sz="1300" dirty="0"/>
          </a:p>
        </p:txBody>
      </p:sp>
      <p:sp>
        <p:nvSpPr>
          <p:cNvPr id="13" name="Text 9"/>
          <p:cNvSpPr txBox="1"/>
          <p:nvPr/>
        </p:nvSpPr>
        <p:spPr>
          <a:xfrm>
            <a:off x="4572000" y="3200400"/>
            <a:ext cx="3063240" cy="2468880"/>
          </a:xfrm>
          <a:prstGeom prst="rect">
            <a:avLst/>
          </a:prstGeom>
          <a:noFill/>
          <a:ln/>
        </p:spPr>
        <p:txBody>
          <a:bodyPr wrap="square" rtlCol="0" anchor="t"/>
          <a:lstStyle/>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Annotator — aplikasi ringan (~67 MB), percuma, Windows &amp; Apple.</a:t>
            </a:r>
            <a:endParaRPr lang="en-US" sz="980" dirty="0"/>
          </a:p>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Boleh dilancar dari USB pendrive tanpa “admin rights”.</a:t>
            </a:r>
            <a:endParaRPr lang="en-US" sz="980" dirty="0"/>
          </a:p>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Sesuai untuk sekolah dengan isu capaian internet.</a:t>
            </a:r>
            <a:endParaRPr lang="en-US" sz="980" dirty="0"/>
          </a:p>
        </p:txBody>
      </p:sp>
      <p:sp>
        <p:nvSpPr>
          <p:cNvPr id="14" name="Shape 10"/>
          <p:cNvSpPr/>
          <p:nvPr/>
        </p:nvSpPr>
        <p:spPr>
          <a:xfrm>
            <a:off x="8138160" y="1645920"/>
            <a:ext cx="3520440" cy="4114800"/>
          </a:xfrm>
          <a:prstGeom prst="roundRect">
            <a:avLst>
              <a:gd name="adj" fmla="val 2078"/>
            </a:avLst>
          </a:prstGeom>
          <a:solidFill>
            <a:srgbClr val="F5F7FC"/>
          </a:solidFill>
          <a:ln w="19050">
            <a:solidFill>
              <a:srgbClr val="8E44AD"/>
            </a:solidFill>
            <a:prstDash val="solid"/>
          </a:ln>
        </p:spPr>
      </p:sp>
      <p:sp>
        <p:nvSpPr>
          <p:cNvPr id="15" name="Shape 11"/>
          <p:cNvSpPr/>
          <p:nvPr/>
        </p:nvSpPr>
        <p:spPr>
          <a:xfrm>
            <a:off x="9578340" y="1874520"/>
            <a:ext cx="640080" cy="640080"/>
          </a:xfrm>
          <a:prstGeom prst="ellipse">
            <a:avLst/>
          </a:prstGeom>
          <a:solidFill>
            <a:srgbClr val="8E44AD"/>
          </a:solidFill>
          <a:ln/>
        </p:spPr>
      </p:sp>
      <p:pic>
        <p:nvPicPr>
          <p:cNvPr id="16" name="Image 2" descr="/home/claude/shared_icons/icon_video.png">    </p:cNvPr>
          <p:cNvPicPr>
            <a:picLocks noChangeAspect="1"/>
          </p:cNvPicPr>
          <p:nvPr/>
        </p:nvPicPr>
        <p:blipFill>
          <a:blip r:embed="rId3"/>
          <a:stretch>
            <a:fillRect/>
          </a:stretch>
        </p:blipFill>
        <p:spPr>
          <a:xfrm>
            <a:off x="9667951" y="1964131"/>
            <a:ext cx="460858" cy="460858"/>
          </a:xfrm>
          <a:prstGeom prst="rect">
            <a:avLst/>
          </a:prstGeom>
        </p:spPr>
      </p:pic>
      <p:sp>
        <p:nvSpPr>
          <p:cNvPr id="17" name="Text 12"/>
          <p:cNvSpPr txBox="1"/>
          <p:nvPr/>
        </p:nvSpPr>
        <p:spPr>
          <a:xfrm>
            <a:off x="8275320" y="2651760"/>
            <a:ext cx="3246120" cy="45720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Rakaman Bukti (Apowersoft)</a:t>
            </a:r>
            <a:endParaRPr lang="en-US" sz="1300" dirty="0"/>
          </a:p>
        </p:txBody>
      </p:sp>
      <p:sp>
        <p:nvSpPr>
          <p:cNvPr id="18" name="Text 13"/>
          <p:cNvSpPr txBox="1"/>
          <p:nvPr/>
        </p:nvSpPr>
        <p:spPr>
          <a:xfrm>
            <a:off x="8366760" y="3200400"/>
            <a:ext cx="3063240" cy="2468880"/>
          </a:xfrm>
          <a:prstGeom prst="rect">
            <a:avLst/>
          </a:prstGeom>
          <a:noFill/>
          <a:ln/>
        </p:spPr>
        <p:txBody>
          <a:bodyPr wrap="square" rtlCol="0" anchor="t"/>
          <a:lstStyle/>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Rakaman skrin berasaskan web, tiada muat turun aplikasi berat.</a:t>
            </a:r>
            <a:endParaRPr lang="en-US" sz="980" dirty="0"/>
          </a:p>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Rakam proses pembinaan geometri murid sebagai bukti pentaksiran.</a:t>
            </a:r>
            <a:endParaRPr lang="en-US" sz="980" dirty="0"/>
          </a:p>
          <a:p>
            <a:pPr marL="228600" indent="-228600">
              <a:spcAft>
                <a:spcPts val="800"/>
              </a:spcAft>
              <a:buSzPct val="100000"/>
              <a:buChar char="▪"/>
            </a:pPr>
            <a:r>
              <a:rPr lang="en-US" sz="980" dirty="0">
                <a:solidFill>
                  <a:srgbClr val="141A45"/>
                </a:solidFill>
                <a:latin typeface="Calibri" pitchFamily="34" charset="0"/>
                <a:ea typeface="Calibri" pitchFamily="34" charset="-122"/>
                <a:cs typeface="Calibri" pitchFamily="34" charset="-120"/>
              </a:rPr>
              <a:t>Muat naik ke Drive/DELIMa untuk perkongsian.</a:t>
            </a:r>
            <a:endParaRPr lang="en-US" sz="980" dirty="0"/>
          </a:p>
        </p:txBody>
      </p:sp>
      <p:sp>
        <p:nvSpPr>
          <p:cNvPr id="19" name="Text 14"/>
          <p:cNvSpPr txBox="1"/>
          <p:nvPr/>
        </p:nvSpPr>
        <p:spPr>
          <a:xfrm>
            <a:off x="548640" y="5897880"/>
            <a:ext cx="11064240" cy="457200"/>
          </a:xfrm>
          <a:prstGeom prst="rect">
            <a:avLst/>
          </a:prstGeom>
          <a:noFill/>
          <a:ln/>
        </p:spPr>
        <p:txBody>
          <a:bodyPr wrap="square" rtlCol="0" anchor="ctr"/>
          <a:lstStyle/>
          <a:p>
            <a:pPr algn="ctr" indent="0" marL="0">
              <a:buNone/>
            </a:pPr>
            <a:r>
              <a:rPr lang="en-US" sz="1050" i="1" dirty="0">
                <a:solidFill>
                  <a:srgbClr val="5B6472"/>
                </a:solidFill>
                <a:latin typeface="Calibri" pitchFamily="34" charset="0"/>
                <a:ea typeface="Calibri" pitchFamily="34" charset="-122"/>
                <a:cs typeface="Calibri" pitchFamily="34" charset="-120"/>
              </a:rPr>
              <a:t>Elakkan murid guna telefon pintar secara individu — skrin kecil menyakitkan mata. Galakkan perkongsian komputer riba secara berkumpulan.</a:t>
            </a:r>
            <a:endParaRPr lang="en-US" sz="1050" dirty="0"/>
          </a:p>
        </p:txBody>
      </p:sp>
      <p:sp>
        <p:nvSpPr>
          <p:cNvPr id="20" name="Text 15"/>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Isi 1, 2 &amp; 4</a:t>
            </a:r>
            <a:endParaRPr lang="en-US" sz="1000" dirty="0"/>
          </a:p>
        </p:txBody>
      </p:sp>
      <p:sp>
        <p:nvSpPr>
          <p:cNvPr id="21" name="Text 16"/>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MUDAH DIFAHAMI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Teknik Warna: Membina Sudut 60° (Annotator)</a:t>
            </a:r>
            <a:endParaRPr lang="en-US" sz="2600" dirty="0"/>
          </a:p>
        </p:txBody>
      </p:sp>
      <p:sp>
        <p:nvSpPr>
          <p:cNvPr id="4" name="Text 2"/>
          <p:cNvSpPr txBox="1"/>
          <p:nvPr/>
        </p:nvSpPr>
        <p:spPr>
          <a:xfrm>
            <a:off x="548640" y="1554480"/>
            <a:ext cx="11064240" cy="457200"/>
          </a:xfrm>
          <a:prstGeom prst="rect">
            <a:avLst/>
          </a:prstGeom>
          <a:noFill/>
          <a:ln/>
        </p:spPr>
        <p:txBody>
          <a:bodyPr wrap="square" rtlCol="0" anchor="ctr"/>
          <a:lstStyle/>
          <a:p>
            <a:pPr indent="0" marL="0">
              <a:lnSpc>
                <a:spcPct val="120000"/>
              </a:lnSpc>
              <a:buNone/>
            </a:pPr>
            <a:r>
              <a:rPr lang="en-US" sz="1200" dirty="0">
                <a:solidFill>
                  <a:srgbClr val="141A45"/>
                </a:solidFill>
                <a:latin typeface="Calibri" pitchFamily="34" charset="0"/>
                <a:ea typeface="Calibri" pitchFamily="34" charset="-122"/>
                <a:cs typeface="Calibri" pitchFamily="34" charset="-120"/>
              </a:rPr>
              <a:t>Guru menggunakan 4 warna berbeza bagi setiap fasa pembinaan supaya murid visual dapat membezakan turutan langkah dengan jelas.</a:t>
            </a:r>
            <a:endParaRPr lang="en-US" sz="1200" dirty="0"/>
          </a:p>
        </p:txBody>
      </p:sp>
      <p:sp>
        <p:nvSpPr>
          <p:cNvPr id="5" name="Shape 3"/>
          <p:cNvSpPr/>
          <p:nvPr/>
        </p:nvSpPr>
        <p:spPr>
          <a:xfrm>
            <a:off x="548640" y="2194560"/>
            <a:ext cx="2651760" cy="3291840"/>
          </a:xfrm>
          <a:prstGeom prst="roundRect">
            <a:avLst>
              <a:gd name="adj" fmla="val 2759"/>
            </a:avLst>
          </a:prstGeom>
          <a:solidFill>
            <a:srgbClr val="141A45"/>
          </a:solidFill>
          <a:ln/>
        </p:spPr>
      </p:sp>
      <p:sp>
        <p:nvSpPr>
          <p:cNvPr id="6" name="Shape 4"/>
          <p:cNvSpPr/>
          <p:nvPr/>
        </p:nvSpPr>
        <p:spPr>
          <a:xfrm>
            <a:off x="1554480" y="2423160"/>
            <a:ext cx="640080" cy="640080"/>
          </a:xfrm>
          <a:prstGeom prst="ellipse">
            <a:avLst/>
          </a:prstGeom>
          <a:solidFill>
            <a:srgbClr val="FFFFFF"/>
          </a:solidFill>
          <a:ln/>
        </p:spPr>
      </p:sp>
      <p:sp>
        <p:nvSpPr>
          <p:cNvPr id="7" name="Text 5"/>
          <p:cNvSpPr txBox="1"/>
          <p:nvPr/>
        </p:nvSpPr>
        <p:spPr>
          <a:xfrm>
            <a:off x="1554480" y="2423160"/>
            <a:ext cx="640080" cy="640080"/>
          </a:xfrm>
          <a:prstGeom prst="rect">
            <a:avLst/>
          </a:prstGeom>
          <a:noFill/>
          <a:ln/>
        </p:spPr>
        <p:txBody>
          <a:bodyPr wrap="square" rtlCol="0" anchor="ctr"/>
          <a:lstStyle/>
          <a:p>
            <a:pPr algn="ctr" indent="0" marL="0">
              <a:buNone/>
            </a:pPr>
            <a:r>
              <a:rPr lang="en-US" sz="2600" b="1" dirty="0">
                <a:solidFill>
                  <a:srgbClr val="141A45"/>
                </a:solidFill>
                <a:latin typeface="Cambria" pitchFamily="34" charset="0"/>
                <a:ea typeface="Cambria" pitchFamily="34" charset="-122"/>
                <a:cs typeface="Cambria" pitchFamily="34" charset="-120"/>
              </a:rPr>
              <a:t>1</a:t>
            </a:r>
            <a:endParaRPr lang="en-US" sz="2600" dirty="0"/>
          </a:p>
        </p:txBody>
      </p:sp>
      <p:sp>
        <p:nvSpPr>
          <p:cNvPr id="8" name="Text 6"/>
          <p:cNvSpPr txBox="1"/>
          <p:nvPr/>
        </p:nvSpPr>
        <p:spPr>
          <a:xfrm>
            <a:off x="685800" y="3200400"/>
            <a:ext cx="237744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Garis Asas</a:t>
            </a:r>
            <a:endParaRPr lang="en-US" sz="1250" dirty="0"/>
          </a:p>
        </p:txBody>
      </p:sp>
      <p:sp>
        <p:nvSpPr>
          <p:cNvPr id="9" name="Text 7"/>
          <p:cNvSpPr txBox="1"/>
          <p:nvPr/>
        </p:nvSpPr>
        <p:spPr>
          <a:xfrm>
            <a:off x="731520" y="3703320"/>
            <a:ext cx="2286000" cy="1691640"/>
          </a:xfrm>
          <a:prstGeom prst="rect">
            <a:avLst/>
          </a:prstGeom>
          <a:noFill/>
          <a:ln/>
        </p:spPr>
        <p:txBody>
          <a:bodyPr wrap="square" rtlCol="0" anchor="ctr"/>
          <a:lstStyle/>
          <a:p>
            <a:pPr algn="ctr" indent="0" marL="0">
              <a:lnSpc>
                <a:spcPct val="120000"/>
              </a:lnSpc>
              <a:buNone/>
            </a:pPr>
            <a:r>
              <a:rPr lang="en-US" sz="1000" dirty="0">
                <a:solidFill>
                  <a:srgbClr val="FFFFFF"/>
                </a:solidFill>
                <a:latin typeface="Calibri" pitchFamily="34" charset="0"/>
                <a:ea typeface="Calibri" pitchFamily="34" charset="-122"/>
                <a:cs typeface="Calibri" pitchFamily="34" charset="-120"/>
              </a:rPr>
              <a:t>Pembaris + pensel HITAM. Lukis garisan lurus (cth. 4 cm).</a:t>
            </a:r>
            <a:endParaRPr lang="en-US" sz="1000" dirty="0"/>
          </a:p>
        </p:txBody>
      </p:sp>
      <p:sp>
        <p:nvSpPr>
          <p:cNvPr id="10" name="Text 8"/>
          <p:cNvSpPr txBox="1"/>
          <p:nvPr/>
        </p:nvSpPr>
        <p:spPr>
          <a:xfrm>
            <a:off x="3182112" y="365760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1" name="Shape 9"/>
          <p:cNvSpPr/>
          <p:nvPr/>
        </p:nvSpPr>
        <p:spPr>
          <a:xfrm>
            <a:off x="3429000" y="2194560"/>
            <a:ext cx="2651760" cy="3291840"/>
          </a:xfrm>
          <a:prstGeom prst="roundRect">
            <a:avLst>
              <a:gd name="adj" fmla="val 2759"/>
            </a:avLst>
          </a:prstGeom>
          <a:solidFill>
            <a:srgbClr val="2E86AB"/>
          </a:solidFill>
          <a:ln/>
        </p:spPr>
      </p:sp>
      <p:sp>
        <p:nvSpPr>
          <p:cNvPr id="12" name="Shape 10"/>
          <p:cNvSpPr/>
          <p:nvPr/>
        </p:nvSpPr>
        <p:spPr>
          <a:xfrm>
            <a:off x="4434840" y="2423160"/>
            <a:ext cx="640080" cy="640080"/>
          </a:xfrm>
          <a:prstGeom prst="ellipse">
            <a:avLst/>
          </a:prstGeom>
          <a:solidFill>
            <a:srgbClr val="FFFFFF"/>
          </a:solidFill>
          <a:ln/>
        </p:spPr>
      </p:sp>
      <p:sp>
        <p:nvSpPr>
          <p:cNvPr id="13" name="Text 11"/>
          <p:cNvSpPr txBox="1"/>
          <p:nvPr/>
        </p:nvSpPr>
        <p:spPr>
          <a:xfrm>
            <a:off x="4434840" y="2423160"/>
            <a:ext cx="640080" cy="640080"/>
          </a:xfrm>
          <a:prstGeom prst="rect">
            <a:avLst/>
          </a:prstGeom>
          <a:noFill/>
          <a:ln/>
        </p:spPr>
        <p:txBody>
          <a:bodyPr wrap="square" rtlCol="0" anchor="ctr"/>
          <a:lstStyle/>
          <a:p>
            <a:pPr algn="ctr" indent="0" marL="0">
              <a:buNone/>
            </a:pPr>
            <a:r>
              <a:rPr lang="en-US" sz="2600" b="1" dirty="0">
                <a:solidFill>
                  <a:srgbClr val="2E86AB"/>
                </a:solidFill>
                <a:latin typeface="Cambria" pitchFamily="34" charset="0"/>
                <a:ea typeface="Cambria" pitchFamily="34" charset="-122"/>
                <a:cs typeface="Cambria" pitchFamily="34" charset="-120"/>
              </a:rPr>
              <a:t>2</a:t>
            </a:r>
            <a:endParaRPr lang="en-US" sz="2600" dirty="0"/>
          </a:p>
        </p:txBody>
      </p:sp>
      <p:sp>
        <p:nvSpPr>
          <p:cNvPr id="14" name="Text 12"/>
          <p:cNvSpPr txBox="1"/>
          <p:nvPr/>
        </p:nvSpPr>
        <p:spPr>
          <a:xfrm>
            <a:off x="3566160" y="3200400"/>
            <a:ext cx="237744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Lengkungan Pertama</a:t>
            </a:r>
            <a:endParaRPr lang="en-US" sz="1250" dirty="0"/>
          </a:p>
        </p:txBody>
      </p:sp>
      <p:sp>
        <p:nvSpPr>
          <p:cNvPr id="15" name="Text 13"/>
          <p:cNvSpPr txBox="1"/>
          <p:nvPr/>
        </p:nvSpPr>
        <p:spPr>
          <a:xfrm>
            <a:off x="3611880" y="3703320"/>
            <a:ext cx="2286000" cy="1691640"/>
          </a:xfrm>
          <a:prstGeom prst="rect">
            <a:avLst/>
          </a:prstGeom>
          <a:noFill/>
          <a:ln/>
        </p:spPr>
        <p:txBody>
          <a:bodyPr wrap="square" rtlCol="0" anchor="ctr"/>
          <a:lstStyle/>
          <a:p>
            <a:pPr algn="ctr" indent="0" marL="0">
              <a:lnSpc>
                <a:spcPct val="120000"/>
              </a:lnSpc>
              <a:buNone/>
            </a:pPr>
            <a:r>
              <a:rPr lang="en-US" sz="1000" dirty="0">
                <a:solidFill>
                  <a:srgbClr val="FFFFFF"/>
                </a:solidFill>
                <a:latin typeface="Calibri" pitchFamily="34" charset="0"/>
                <a:ea typeface="Calibri" pitchFamily="34" charset="-122"/>
                <a:cs typeface="Calibri" pitchFamily="34" charset="-120"/>
              </a:rPr>
              <a:t>Jangka lukis, jarum di hujung kiri. Pensel BIRU, lengkungan separuh bulatan memotong garis hitam.</a:t>
            </a:r>
            <a:endParaRPr lang="en-US" sz="1000" dirty="0"/>
          </a:p>
        </p:txBody>
      </p:sp>
      <p:sp>
        <p:nvSpPr>
          <p:cNvPr id="16" name="Text 14"/>
          <p:cNvSpPr txBox="1"/>
          <p:nvPr/>
        </p:nvSpPr>
        <p:spPr>
          <a:xfrm>
            <a:off x="6062472" y="365760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7" name="Shape 15"/>
          <p:cNvSpPr/>
          <p:nvPr/>
        </p:nvSpPr>
        <p:spPr>
          <a:xfrm>
            <a:off x="6309360" y="2194560"/>
            <a:ext cx="2651760" cy="3291840"/>
          </a:xfrm>
          <a:prstGeom prst="roundRect">
            <a:avLst>
              <a:gd name="adj" fmla="val 2759"/>
            </a:avLst>
          </a:prstGeom>
          <a:solidFill>
            <a:srgbClr val="27AE60"/>
          </a:solidFill>
          <a:ln/>
        </p:spPr>
      </p:sp>
      <p:sp>
        <p:nvSpPr>
          <p:cNvPr id="18" name="Shape 16"/>
          <p:cNvSpPr/>
          <p:nvPr/>
        </p:nvSpPr>
        <p:spPr>
          <a:xfrm>
            <a:off x="7315200" y="2423160"/>
            <a:ext cx="640080" cy="640080"/>
          </a:xfrm>
          <a:prstGeom prst="ellipse">
            <a:avLst/>
          </a:prstGeom>
          <a:solidFill>
            <a:srgbClr val="FFFFFF"/>
          </a:solidFill>
          <a:ln/>
        </p:spPr>
      </p:sp>
      <p:sp>
        <p:nvSpPr>
          <p:cNvPr id="19" name="Text 17"/>
          <p:cNvSpPr txBox="1"/>
          <p:nvPr/>
        </p:nvSpPr>
        <p:spPr>
          <a:xfrm>
            <a:off x="7315200" y="2423160"/>
            <a:ext cx="640080" cy="640080"/>
          </a:xfrm>
          <a:prstGeom prst="rect">
            <a:avLst/>
          </a:prstGeom>
          <a:noFill/>
          <a:ln/>
        </p:spPr>
        <p:txBody>
          <a:bodyPr wrap="square" rtlCol="0" anchor="ctr"/>
          <a:lstStyle/>
          <a:p>
            <a:pPr algn="ctr" indent="0" marL="0">
              <a:buNone/>
            </a:pPr>
            <a:r>
              <a:rPr lang="en-US" sz="2600" b="1" dirty="0">
                <a:solidFill>
                  <a:srgbClr val="27AE60"/>
                </a:solidFill>
                <a:latin typeface="Cambria" pitchFamily="34" charset="0"/>
                <a:ea typeface="Cambria" pitchFamily="34" charset="-122"/>
                <a:cs typeface="Cambria" pitchFamily="34" charset="-120"/>
              </a:rPr>
              <a:t>3</a:t>
            </a:r>
            <a:endParaRPr lang="en-US" sz="2600" dirty="0"/>
          </a:p>
        </p:txBody>
      </p:sp>
      <p:sp>
        <p:nvSpPr>
          <p:cNvPr id="20" name="Text 18"/>
          <p:cNvSpPr txBox="1"/>
          <p:nvPr/>
        </p:nvSpPr>
        <p:spPr>
          <a:xfrm>
            <a:off x="6446520" y="3200400"/>
            <a:ext cx="237744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Persilangan</a:t>
            </a:r>
            <a:endParaRPr lang="en-US" sz="1250" dirty="0"/>
          </a:p>
        </p:txBody>
      </p:sp>
      <p:sp>
        <p:nvSpPr>
          <p:cNvPr id="21" name="Text 19"/>
          <p:cNvSpPr txBox="1"/>
          <p:nvPr/>
        </p:nvSpPr>
        <p:spPr>
          <a:xfrm>
            <a:off x="6492240" y="3703320"/>
            <a:ext cx="2286000" cy="1691640"/>
          </a:xfrm>
          <a:prstGeom prst="rect">
            <a:avLst/>
          </a:prstGeom>
          <a:noFill/>
          <a:ln/>
        </p:spPr>
        <p:txBody>
          <a:bodyPr wrap="square" rtlCol="0" anchor="ctr"/>
          <a:lstStyle/>
          <a:p>
            <a:pPr algn="ctr" indent="0" marL="0">
              <a:lnSpc>
                <a:spcPct val="120000"/>
              </a:lnSpc>
              <a:buNone/>
            </a:pPr>
            <a:r>
              <a:rPr lang="en-US" sz="1000" dirty="0">
                <a:solidFill>
                  <a:srgbClr val="FFFFFF"/>
                </a:solidFill>
                <a:latin typeface="Calibri" pitchFamily="34" charset="0"/>
                <a:ea typeface="Calibri" pitchFamily="34" charset="-122"/>
                <a:cs typeface="Calibri" pitchFamily="34" charset="-120"/>
              </a:rPr>
              <a:t>Ukuran jangka kekal sama, alih jarum ke persilangan biru-hitam. Pensel HIJAU, lengkungan kecil memotong lengkungan biru.</a:t>
            </a:r>
            <a:endParaRPr lang="en-US" sz="1000" dirty="0"/>
          </a:p>
        </p:txBody>
      </p:sp>
      <p:sp>
        <p:nvSpPr>
          <p:cNvPr id="22" name="Text 20"/>
          <p:cNvSpPr txBox="1"/>
          <p:nvPr/>
        </p:nvSpPr>
        <p:spPr>
          <a:xfrm>
            <a:off x="8942832" y="365760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23" name="Shape 21"/>
          <p:cNvSpPr/>
          <p:nvPr/>
        </p:nvSpPr>
        <p:spPr>
          <a:xfrm>
            <a:off x="9189720" y="2194560"/>
            <a:ext cx="2651760" cy="3291840"/>
          </a:xfrm>
          <a:prstGeom prst="roundRect">
            <a:avLst>
              <a:gd name="adj" fmla="val 2759"/>
            </a:avLst>
          </a:prstGeom>
          <a:solidFill>
            <a:srgbClr val="F2B705"/>
          </a:solidFill>
          <a:ln/>
        </p:spPr>
      </p:sp>
      <p:sp>
        <p:nvSpPr>
          <p:cNvPr id="24" name="Shape 22"/>
          <p:cNvSpPr/>
          <p:nvPr/>
        </p:nvSpPr>
        <p:spPr>
          <a:xfrm>
            <a:off x="10195560" y="2423160"/>
            <a:ext cx="640080" cy="640080"/>
          </a:xfrm>
          <a:prstGeom prst="ellipse">
            <a:avLst/>
          </a:prstGeom>
          <a:solidFill>
            <a:srgbClr val="FFFFFF"/>
          </a:solidFill>
          <a:ln/>
        </p:spPr>
      </p:sp>
      <p:sp>
        <p:nvSpPr>
          <p:cNvPr id="25" name="Text 23"/>
          <p:cNvSpPr txBox="1"/>
          <p:nvPr/>
        </p:nvSpPr>
        <p:spPr>
          <a:xfrm>
            <a:off x="10195560" y="2423160"/>
            <a:ext cx="640080" cy="640080"/>
          </a:xfrm>
          <a:prstGeom prst="rect">
            <a:avLst/>
          </a:prstGeom>
          <a:noFill/>
          <a:ln/>
        </p:spPr>
        <p:txBody>
          <a:bodyPr wrap="square" rtlCol="0" anchor="ctr"/>
          <a:lstStyle/>
          <a:p>
            <a:pPr algn="ctr" indent="0" marL="0">
              <a:buNone/>
            </a:pPr>
            <a:r>
              <a:rPr lang="en-US" sz="2600" b="1" dirty="0">
                <a:solidFill>
                  <a:srgbClr val="F2B705"/>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9326880" y="3200400"/>
            <a:ext cx="2377440" cy="457200"/>
          </a:xfrm>
          <a:prstGeom prst="rect">
            <a:avLst/>
          </a:prstGeom>
          <a:noFill/>
          <a:ln/>
        </p:spPr>
        <p:txBody>
          <a:bodyPr wrap="square" rtlCol="0" anchor="ctr"/>
          <a:lstStyle/>
          <a:p>
            <a:pPr algn="ctr" indent="0" marL="0">
              <a:buNone/>
            </a:pPr>
            <a:r>
              <a:rPr lang="en-US" sz="1250" b="1" dirty="0">
                <a:solidFill>
                  <a:srgbClr val="1E2761"/>
                </a:solidFill>
                <a:latin typeface="Cambria" pitchFamily="34" charset="0"/>
                <a:ea typeface="Cambria" pitchFamily="34" charset="-122"/>
                <a:cs typeface="Cambria" pitchFamily="34" charset="-120"/>
              </a:rPr>
              <a:t>Garisan Penamat</a:t>
            </a:r>
            <a:endParaRPr lang="en-US" sz="1250" dirty="0"/>
          </a:p>
        </p:txBody>
      </p:sp>
      <p:sp>
        <p:nvSpPr>
          <p:cNvPr id="27" name="Text 25"/>
          <p:cNvSpPr txBox="1"/>
          <p:nvPr/>
        </p:nvSpPr>
        <p:spPr>
          <a:xfrm>
            <a:off x="9372600" y="3703320"/>
            <a:ext cx="2286000" cy="1691640"/>
          </a:xfrm>
          <a:prstGeom prst="rect">
            <a:avLst/>
          </a:prstGeom>
          <a:noFill/>
          <a:ln/>
        </p:spPr>
        <p:txBody>
          <a:bodyPr wrap="square" rtlCol="0" anchor="ctr"/>
          <a:lstStyle/>
          <a:p>
            <a:pPr algn="ctr" indent="0" marL="0">
              <a:lnSpc>
                <a:spcPct val="120000"/>
              </a:lnSpc>
              <a:buNone/>
            </a:pPr>
            <a:r>
              <a:rPr lang="en-US" sz="1000" dirty="0">
                <a:solidFill>
                  <a:srgbClr val="1E2761"/>
                </a:solidFill>
                <a:latin typeface="Calibri" pitchFamily="34" charset="0"/>
                <a:ea typeface="Calibri" pitchFamily="34" charset="-122"/>
                <a:cs typeface="Calibri" pitchFamily="34" charset="-120"/>
              </a:rPr>
              <a:t>Pembaris + pensel KUNING. Lukis dari hujung kiri garis tapak menembusi persilangan hijau-biru → sudut 60° terhasil.</a:t>
            </a:r>
            <a:endParaRPr lang="en-US" sz="1000" dirty="0"/>
          </a:p>
        </p:txBody>
      </p:sp>
      <p:sp>
        <p:nvSpPr>
          <p:cNvPr id="28" name="Text 26"/>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Prosedur A</a:t>
            </a:r>
            <a:endParaRPr lang="en-US" sz="1000" dirty="0"/>
          </a:p>
        </p:txBody>
      </p:sp>
      <p:sp>
        <p:nvSpPr>
          <p:cNvPr id="29" name="Text 27"/>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PENDEKATAN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Modular &amp; Scaffolding: SP 6.1.1 → SP 7.1.1</a:t>
            </a:r>
            <a:endParaRPr lang="en-US" sz="2600" dirty="0"/>
          </a:p>
        </p:txBody>
      </p:sp>
      <p:sp>
        <p:nvSpPr>
          <p:cNvPr id="4" name="Text 2"/>
          <p:cNvSpPr txBox="1"/>
          <p:nvPr/>
        </p:nvSpPr>
        <p:spPr>
          <a:xfrm>
            <a:off x="548640" y="1554480"/>
            <a:ext cx="11064240" cy="457200"/>
          </a:xfrm>
          <a:prstGeom prst="rect">
            <a:avLst/>
          </a:prstGeom>
          <a:noFill/>
          <a:ln/>
        </p:spPr>
        <p:txBody>
          <a:bodyPr wrap="square" rtlCol="0" anchor="ctr"/>
          <a:lstStyle/>
          <a:p>
            <a:pPr indent="0" marL="0">
              <a:lnSpc>
                <a:spcPct val="120000"/>
              </a:lnSpc>
              <a:buNone/>
            </a:pPr>
            <a:r>
              <a:rPr lang="en-US" sz="1200" dirty="0">
                <a:solidFill>
                  <a:srgbClr val="141A45"/>
                </a:solidFill>
                <a:latin typeface="Calibri" pitchFamily="34" charset="0"/>
                <a:ea typeface="Calibri" pitchFamily="34" charset="-122"/>
                <a:cs typeface="Calibri" pitchFamily="34" charset="-120"/>
              </a:rPr>
              <a:t>Menggabungkan SP berbeza tetapi berkaitan untuk membina konsep secara berperingkat — mengelakkan pengajaran tajuk secara terasing (silo).</a:t>
            </a:r>
            <a:endParaRPr lang="en-US" sz="1200" dirty="0"/>
          </a:p>
        </p:txBody>
      </p:sp>
      <p:sp>
        <p:nvSpPr>
          <p:cNvPr id="5" name="Shape 3"/>
          <p:cNvSpPr/>
          <p:nvPr/>
        </p:nvSpPr>
        <p:spPr>
          <a:xfrm>
            <a:off x="548640" y="2194560"/>
            <a:ext cx="11064240" cy="822960"/>
          </a:xfrm>
          <a:prstGeom prst="roundRect">
            <a:avLst>
              <a:gd name="adj" fmla="val 6667"/>
            </a:avLst>
          </a:prstGeom>
          <a:solidFill>
            <a:srgbClr val="F5F7FC"/>
          </a:solidFill>
          <a:ln w="12700">
            <a:solidFill>
              <a:srgbClr val="E7EAF2"/>
            </a:solidFill>
            <a:prstDash val="solid"/>
          </a:ln>
        </p:spPr>
      </p:sp>
      <p:sp>
        <p:nvSpPr>
          <p:cNvPr id="6" name="Shape 4"/>
          <p:cNvSpPr/>
          <p:nvPr/>
        </p:nvSpPr>
        <p:spPr>
          <a:xfrm>
            <a:off x="731520" y="2377440"/>
            <a:ext cx="457200" cy="457200"/>
          </a:xfrm>
          <a:prstGeom prst="ellipse">
            <a:avLst/>
          </a:prstGeom>
          <a:solidFill>
            <a:srgbClr val="E67E22"/>
          </a:solidFill>
          <a:ln/>
        </p:spPr>
      </p:sp>
      <p:sp>
        <p:nvSpPr>
          <p:cNvPr id="7" name="Text 5"/>
          <p:cNvSpPr txBox="1"/>
          <p:nvPr/>
        </p:nvSpPr>
        <p:spPr>
          <a:xfrm>
            <a:off x="731520" y="2377440"/>
            <a:ext cx="45720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417320" y="2194560"/>
            <a:ext cx="9966960" cy="82296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Bina tembereng garis kongruen (sama panjang) — SP 6.1.1.</a:t>
            </a:r>
            <a:endParaRPr lang="en-US" sz="1150" dirty="0"/>
          </a:p>
        </p:txBody>
      </p:sp>
      <p:sp>
        <p:nvSpPr>
          <p:cNvPr id="9" name="Shape 7"/>
          <p:cNvSpPr/>
          <p:nvPr/>
        </p:nvSpPr>
        <p:spPr>
          <a:xfrm>
            <a:off x="548640" y="3127248"/>
            <a:ext cx="11064240" cy="822960"/>
          </a:xfrm>
          <a:prstGeom prst="roundRect">
            <a:avLst>
              <a:gd name="adj" fmla="val 6667"/>
            </a:avLst>
          </a:prstGeom>
          <a:solidFill>
            <a:srgbClr val="F5F7FC"/>
          </a:solidFill>
          <a:ln w="12700">
            <a:solidFill>
              <a:srgbClr val="E7EAF2"/>
            </a:solidFill>
            <a:prstDash val="solid"/>
          </a:ln>
        </p:spPr>
      </p:sp>
      <p:sp>
        <p:nvSpPr>
          <p:cNvPr id="10" name="Shape 8"/>
          <p:cNvSpPr/>
          <p:nvPr/>
        </p:nvSpPr>
        <p:spPr>
          <a:xfrm>
            <a:off x="731520" y="3310128"/>
            <a:ext cx="457200" cy="457200"/>
          </a:xfrm>
          <a:prstGeom prst="ellipse">
            <a:avLst/>
          </a:prstGeom>
          <a:solidFill>
            <a:srgbClr val="E67E22"/>
          </a:solidFill>
          <a:ln/>
        </p:spPr>
      </p:sp>
      <p:sp>
        <p:nvSpPr>
          <p:cNvPr id="11" name="Text 9"/>
          <p:cNvSpPr txBox="1"/>
          <p:nvPr/>
        </p:nvSpPr>
        <p:spPr>
          <a:xfrm>
            <a:off x="731520" y="3310128"/>
            <a:ext cx="45720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417320" y="3127248"/>
            <a:ext cx="9966960" cy="82296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Tambah garisan kedua &amp; ketiga yang kongruen untuk membentuk poligon.</a:t>
            </a:r>
            <a:endParaRPr lang="en-US" sz="1150" dirty="0"/>
          </a:p>
        </p:txBody>
      </p:sp>
      <p:sp>
        <p:nvSpPr>
          <p:cNvPr id="13" name="Shape 11"/>
          <p:cNvSpPr/>
          <p:nvPr/>
        </p:nvSpPr>
        <p:spPr>
          <a:xfrm>
            <a:off x="548640" y="4059936"/>
            <a:ext cx="11064240" cy="822960"/>
          </a:xfrm>
          <a:prstGeom prst="roundRect">
            <a:avLst>
              <a:gd name="adj" fmla="val 6667"/>
            </a:avLst>
          </a:prstGeom>
          <a:solidFill>
            <a:srgbClr val="F5F7FC"/>
          </a:solidFill>
          <a:ln w="12700">
            <a:solidFill>
              <a:srgbClr val="E7EAF2"/>
            </a:solidFill>
            <a:prstDash val="solid"/>
          </a:ln>
        </p:spPr>
      </p:sp>
      <p:sp>
        <p:nvSpPr>
          <p:cNvPr id="14" name="Shape 12"/>
          <p:cNvSpPr/>
          <p:nvPr/>
        </p:nvSpPr>
        <p:spPr>
          <a:xfrm>
            <a:off x="731520" y="4242816"/>
            <a:ext cx="457200" cy="457200"/>
          </a:xfrm>
          <a:prstGeom prst="ellipse">
            <a:avLst/>
          </a:prstGeom>
          <a:solidFill>
            <a:srgbClr val="E67E22"/>
          </a:solidFill>
          <a:ln/>
        </p:spPr>
      </p:sp>
      <p:sp>
        <p:nvSpPr>
          <p:cNvPr id="15" name="Text 13"/>
          <p:cNvSpPr txBox="1"/>
          <p:nvPr/>
        </p:nvSpPr>
        <p:spPr>
          <a:xfrm>
            <a:off x="731520" y="4242816"/>
            <a:ext cx="45720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1417320" y="4059936"/>
            <a:ext cx="9966960" cy="82296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2 garis kongruen + 1 tidak kongruen → segi tiga sama kaki. 3 garis kongruen → segi tiga sama sisi — SP 7.1.1.</a:t>
            </a:r>
            <a:endParaRPr lang="en-US" sz="1150" dirty="0"/>
          </a:p>
        </p:txBody>
      </p:sp>
      <p:sp>
        <p:nvSpPr>
          <p:cNvPr id="17" name="Shape 15"/>
          <p:cNvSpPr/>
          <p:nvPr/>
        </p:nvSpPr>
        <p:spPr>
          <a:xfrm>
            <a:off x="548640" y="4992624"/>
            <a:ext cx="11064240" cy="822960"/>
          </a:xfrm>
          <a:prstGeom prst="roundRect">
            <a:avLst>
              <a:gd name="adj" fmla="val 6667"/>
            </a:avLst>
          </a:prstGeom>
          <a:solidFill>
            <a:srgbClr val="F5F7FC"/>
          </a:solidFill>
          <a:ln w="12700">
            <a:solidFill>
              <a:srgbClr val="E7EAF2"/>
            </a:solidFill>
            <a:prstDash val="solid"/>
          </a:ln>
        </p:spPr>
      </p:sp>
      <p:sp>
        <p:nvSpPr>
          <p:cNvPr id="18" name="Shape 16"/>
          <p:cNvSpPr/>
          <p:nvPr/>
        </p:nvSpPr>
        <p:spPr>
          <a:xfrm>
            <a:off x="731520" y="5175504"/>
            <a:ext cx="457200" cy="457200"/>
          </a:xfrm>
          <a:prstGeom prst="ellipse">
            <a:avLst/>
          </a:prstGeom>
          <a:solidFill>
            <a:srgbClr val="E67E22"/>
          </a:solidFill>
          <a:ln/>
        </p:spPr>
      </p:sp>
      <p:sp>
        <p:nvSpPr>
          <p:cNvPr id="19" name="Text 17"/>
          <p:cNvSpPr txBox="1"/>
          <p:nvPr/>
        </p:nvSpPr>
        <p:spPr>
          <a:xfrm>
            <a:off x="731520" y="5175504"/>
            <a:ext cx="45720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8"/>
          <p:cNvSpPr txBox="1"/>
          <p:nvPr/>
        </p:nvSpPr>
        <p:spPr>
          <a:xfrm>
            <a:off x="1417320" y="4992624"/>
            <a:ext cx="9966960" cy="82296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Scaffolding berperingkat ke arah sudut pedalaman segi tiga (60° bagi segi tiga sama sisi).</a:t>
            </a:r>
            <a:endParaRPr lang="en-US" sz="1150" dirty="0"/>
          </a:p>
        </p:txBody>
      </p:sp>
      <p:sp>
        <p:nvSpPr>
          <p:cNvPr id="21" name="Text 19"/>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Isi 3</a:t>
            </a:r>
            <a:endParaRPr lang="en-US" sz="1000" dirty="0"/>
          </a:p>
        </p:txBody>
      </p:sp>
      <p:sp>
        <p:nvSpPr>
          <p:cNvPr id="22"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CADANGAN PALING PENTING</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Keseimbangan: Geometri Tradisional &amp; Perisian Dinamik</a:t>
            </a:r>
            <a:endParaRPr lang="en-US" sz="2400" dirty="0"/>
          </a:p>
        </p:txBody>
      </p:sp>
      <p:sp>
        <p:nvSpPr>
          <p:cNvPr id="4" name="Shape 2"/>
          <p:cNvSpPr/>
          <p:nvPr/>
        </p:nvSpPr>
        <p:spPr>
          <a:xfrm>
            <a:off x="548640" y="1645920"/>
            <a:ext cx="5349240" cy="4206240"/>
          </a:xfrm>
          <a:prstGeom prst="roundRect">
            <a:avLst>
              <a:gd name="adj" fmla="val 1739"/>
            </a:avLst>
          </a:prstGeom>
          <a:solidFill>
            <a:srgbClr val="141A45"/>
          </a:solidFill>
          <a:ln w="19050">
            <a:solidFill>
              <a:srgbClr val="2E86AB"/>
            </a:solidFill>
            <a:prstDash val="solid"/>
          </a:ln>
        </p:spPr>
      </p:sp>
      <p:sp>
        <p:nvSpPr>
          <p:cNvPr id="5" name="Shape 3"/>
          <p:cNvSpPr/>
          <p:nvPr/>
        </p:nvSpPr>
        <p:spPr>
          <a:xfrm>
            <a:off x="777240" y="1828800"/>
            <a:ext cx="640080" cy="640080"/>
          </a:xfrm>
          <a:prstGeom prst="ellipse">
            <a:avLst/>
          </a:prstGeom>
          <a:solidFill>
            <a:srgbClr val="2E86AB"/>
          </a:solidFill>
          <a:ln/>
        </p:spPr>
      </p:sp>
      <p:pic>
        <p:nvPicPr>
          <p:cNvPr id="6" name="Image 0" descr="/home/claude/shared_icons/icon_video.png">    </p:cNvPr>
          <p:cNvPicPr>
            <a:picLocks noChangeAspect="1"/>
          </p:cNvPicPr>
          <p:nvPr/>
        </p:nvPicPr>
        <p:blipFill>
          <a:blip r:embed="rId1"/>
          <a:stretch>
            <a:fillRect/>
          </a:stretch>
        </p:blipFill>
        <p:spPr>
          <a:xfrm>
            <a:off x="866851" y="1918411"/>
            <a:ext cx="460858" cy="460858"/>
          </a:xfrm>
          <a:prstGeom prst="rect">
            <a:avLst/>
          </a:prstGeom>
        </p:spPr>
      </p:pic>
      <p:sp>
        <p:nvSpPr>
          <p:cNvPr id="7" name="Text 4"/>
          <p:cNvSpPr txBox="1"/>
          <p:nvPr/>
        </p:nvSpPr>
        <p:spPr>
          <a:xfrm>
            <a:off x="1554480" y="1965960"/>
            <a:ext cx="42062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TEKNOLOGI</a:t>
            </a:r>
            <a:endParaRPr lang="en-US" sz="1500" dirty="0"/>
          </a:p>
        </p:txBody>
      </p:sp>
      <p:sp>
        <p:nvSpPr>
          <p:cNvPr id="8" name="Text 5"/>
          <p:cNvSpPr txBox="1"/>
          <p:nvPr/>
        </p:nvSpPr>
        <p:spPr>
          <a:xfrm>
            <a:off x="1554480" y="2331720"/>
            <a:ext cx="4206240" cy="27432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Visual &amp; Penyerokaan</a:t>
            </a:r>
            <a:endParaRPr lang="en-US" sz="1100" dirty="0"/>
          </a:p>
        </p:txBody>
      </p:sp>
      <p:sp>
        <p:nvSpPr>
          <p:cNvPr id="9" name="Text 6"/>
          <p:cNvSpPr txBox="1"/>
          <p:nvPr/>
        </p:nvSpPr>
        <p:spPr>
          <a:xfrm>
            <a:off x="822960" y="2743200"/>
            <a:ext cx="4892040" cy="2286000"/>
          </a:xfrm>
          <a:prstGeom prst="rect">
            <a:avLst/>
          </a:prstGeom>
          <a:noFill/>
          <a:ln/>
        </p:spPr>
        <p:txBody>
          <a:bodyPr wrap="square" rtlCol="0" anchor="t"/>
          <a:lstStyle/>
          <a:p>
            <a:pPr marL="228600" indent="-2286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GeoGebra/Desmos secara berkumpulan untuk murid menemui konsep sendiri.</a:t>
            </a:r>
            <a:endParaRPr lang="en-US" sz="1150" dirty="0"/>
          </a:p>
          <a:p>
            <a:pPr marL="228600" indent="-2286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Digalakkan secara eksplisit 4 kali dalam Nota DSKP.</a:t>
            </a:r>
            <a:endParaRPr lang="en-US" sz="1150" dirty="0"/>
          </a:p>
          <a:p>
            <a:pPr marL="228600" indent="-2286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Memudahkan visualisasi konsep abstrak (sudut, kekongruenan).</a:t>
            </a:r>
            <a:endParaRPr lang="en-US" sz="1150" dirty="0"/>
          </a:p>
        </p:txBody>
      </p:sp>
      <p:sp>
        <p:nvSpPr>
          <p:cNvPr id="10" name="Shape 7"/>
          <p:cNvSpPr/>
          <p:nvPr/>
        </p:nvSpPr>
        <p:spPr>
          <a:xfrm>
            <a:off x="6263640" y="1645920"/>
            <a:ext cx="5349240" cy="4206240"/>
          </a:xfrm>
          <a:prstGeom prst="roundRect">
            <a:avLst>
              <a:gd name="adj" fmla="val 1739"/>
            </a:avLst>
          </a:prstGeom>
          <a:solidFill>
            <a:srgbClr val="141A45"/>
          </a:solidFill>
          <a:ln w="19050">
            <a:solidFill>
              <a:srgbClr val="F2B705"/>
            </a:solidFill>
            <a:prstDash val="solid"/>
          </a:ln>
        </p:spPr>
      </p:sp>
      <p:sp>
        <p:nvSpPr>
          <p:cNvPr id="11" name="Shape 8"/>
          <p:cNvSpPr/>
          <p:nvPr/>
        </p:nvSpPr>
        <p:spPr>
          <a:xfrm>
            <a:off x="6492240" y="1828800"/>
            <a:ext cx="640080" cy="640080"/>
          </a:xfrm>
          <a:prstGeom prst="ellipse">
            <a:avLst/>
          </a:prstGeom>
          <a:solidFill>
            <a:srgbClr val="F2B705"/>
          </a:solidFill>
          <a:ln/>
        </p:spPr>
      </p:sp>
      <p:pic>
        <p:nvPicPr>
          <p:cNvPr id="12" name="Image 1" descr="/home/claude/shared_icons/icon_ruler.png">    </p:cNvPr>
          <p:cNvPicPr>
            <a:picLocks noChangeAspect="1"/>
          </p:cNvPicPr>
          <p:nvPr/>
        </p:nvPicPr>
        <p:blipFill>
          <a:blip r:embed="rId2"/>
          <a:stretch>
            <a:fillRect/>
          </a:stretch>
        </p:blipFill>
        <p:spPr>
          <a:xfrm>
            <a:off x="6581851" y="1918411"/>
            <a:ext cx="460858" cy="460858"/>
          </a:xfrm>
          <a:prstGeom prst="rect">
            <a:avLst/>
          </a:prstGeom>
        </p:spPr>
      </p:pic>
      <p:sp>
        <p:nvSpPr>
          <p:cNvPr id="13" name="Text 9"/>
          <p:cNvSpPr txBox="1"/>
          <p:nvPr/>
        </p:nvSpPr>
        <p:spPr>
          <a:xfrm>
            <a:off x="7269480" y="1965960"/>
            <a:ext cx="42062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FIZIKAL</a:t>
            </a:r>
            <a:endParaRPr lang="en-US" sz="1500" dirty="0"/>
          </a:p>
        </p:txBody>
      </p:sp>
      <p:sp>
        <p:nvSpPr>
          <p:cNvPr id="14" name="Text 10"/>
          <p:cNvSpPr txBox="1"/>
          <p:nvPr/>
        </p:nvSpPr>
        <p:spPr>
          <a:xfrm>
            <a:off x="7269480" y="2331720"/>
            <a:ext cx="4206240" cy="27432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Psikomotor &amp; Peperiksaan</a:t>
            </a:r>
            <a:endParaRPr lang="en-US" sz="1100" dirty="0"/>
          </a:p>
        </p:txBody>
      </p:sp>
      <p:sp>
        <p:nvSpPr>
          <p:cNvPr id="15" name="Text 11"/>
          <p:cNvSpPr txBox="1"/>
          <p:nvPr/>
        </p:nvSpPr>
        <p:spPr>
          <a:xfrm>
            <a:off x="6492240" y="2743200"/>
            <a:ext cx="4892040" cy="2286000"/>
          </a:xfrm>
          <a:prstGeom prst="rect">
            <a:avLst/>
          </a:prstGeom>
          <a:noFill/>
          <a:ln/>
        </p:spPr>
        <p:txBody>
          <a:bodyPr wrap="square" rtlCol="0" anchor="t"/>
          <a:lstStyle/>
          <a:p>
            <a:pPr marL="228600" indent="-2286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Jangka lukis, protraktor, pembaris fizikal WAJIB dikuasai murid.</a:t>
            </a:r>
            <a:endParaRPr lang="en-US" sz="1150" dirty="0"/>
          </a:p>
          <a:p>
            <a:pPr marL="228600" indent="-2286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Kritikal untuk peperiksaan bertulis (SPM, UASA) yang tiada capaian digital.</a:t>
            </a:r>
            <a:endParaRPr lang="en-US" sz="1150" dirty="0"/>
          </a:p>
          <a:p>
            <a:pPr marL="228600" indent="-2286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Melatih kemahiran psikomotor halus yang tidak boleh digantikan sepenuhnya oleh skrin.</a:t>
            </a:r>
            <a:endParaRPr lang="en-US" sz="1150" dirty="0"/>
          </a:p>
        </p:txBody>
      </p:sp>
      <p:sp>
        <p:nvSpPr>
          <p:cNvPr id="16" name="Text 12"/>
          <p:cNvSpPr txBox="1"/>
          <p:nvPr/>
        </p:nvSpPr>
        <p:spPr>
          <a:xfrm>
            <a:off x="548640" y="5989320"/>
            <a:ext cx="11064240" cy="457200"/>
          </a:xfrm>
          <a:prstGeom prst="rect">
            <a:avLst/>
          </a:prstGeom>
          <a:noFill/>
          <a:ln/>
        </p:spPr>
        <p:txBody>
          <a:bodyPr wrap="square" rtlCol="0" anchor="ctr"/>
          <a:lstStyle/>
          <a:p>
            <a:pPr algn="ctr" indent="0" marL="0">
              <a:buNone/>
            </a:pPr>
            <a:r>
              <a:rPr lang="en-US" sz="1150" b="1" i="1" dirty="0">
                <a:solidFill>
                  <a:srgbClr val="F2B705"/>
                </a:solidFill>
                <a:latin typeface="Calibri" pitchFamily="34" charset="0"/>
                <a:ea typeface="Calibri" pitchFamily="34" charset="-122"/>
                <a:cs typeface="Calibri" pitchFamily="34" charset="-120"/>
              </a:rPr>
              <a:t>Murid perlu mahir KEDUA-DUANYA — teknologi bukan pengganti, tetapi alat sokongan visual sebelum kemahiran teknikal manual dikukuhkan.</a:t>
            </a:r>
            <a:endParaRPr lang="en-US" sz="1150" dirty="0"/>
          </a:p>
        </p:txBody>
      </p:sp>
      <p:sp>
        <p:nvSpPr>
          <p:cNvPr id="17" name="Text 13"/>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Cadangan #1</a:t>
            </a:r>
            <a:endParaRPr lang="en-US" sz="1000" dirty="0"/>
          </a:p>
        </p:txBody>
      </p:sp>
      <p:sp>
        <p:nvSpPr>
          <p:cNvPr id="18" name="Text 14"/>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TAMBAHAN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Model Van Hiele &amp; Aktiviti Gunting Sisi Empat</a:t>
            </a:r>
            <a:endParaRPr lang="en-US" sz="2600" dirty="0"/>
          </a:p>
        </p:txBody>
      </p:sp>
      <p:sp>
        <p:nvSpPr>
          <p:cNvPr id="4" name="Text 2"/>
          <p:cNvSpPr txBox="1"/>
          <p:nvPr/>
        </p:nvSpPr>
        <p:spPr>
          <a:xfrm>
            <a:off x="548640" y="1554480"/>
            <a:ext cx="11064240" cy="502920"/>
          </a:xfrm>
          <a:prstGeom prst="rect">
            <a:avLst/>
          </a:prstGeom>
          <a:noFill/>
          <a:ln/>
        </p:spPr>
        <p:txBody>
          <a:bodyPr wrap="square" rtlCol="0" anchor="ctr"/>
          <a:lstStyle/>
          <a:p>
            <a:pPr indent="0" marL="0">
              <a:lnSpc>
                <a:spcPct val="120000"/>
              </a:lnSpc>
              <a:buNone/>
            </a:pPr>
            <a:r>
              <a:rPr lang="en-US" sz="1200" dirty="0">
                <a:solidFill>
                  <a:srgbClr val="141A45"/>
                </a:solidFill>
                <a:latin typeface="Calibri" pitchFamily="34" charset="0"/>
                <a:ea typeface="Calibri" pitchFamily="34" charset="-122"/>
                <a:cs typeface="Calibri" pitchFamily="34" charset="-120"/>
              </a:rPr>
              <a:t>Sebelum menggunakan perisian dinamik, guru boleh membina asas pemikiran geometri murid melalui teori peringkat dan aktiviti psikomotor konkrit.</a:t>
            </a:r>
            <a:endParaRPr lang="en-US" sz="1200" dirty="0"/>
          </a:p>
        </p:txBody>
      </p:sp>
      <p:sp>
        <p:nvSpPr>
          <p:cNvPr id="5" name="Shape 3"/>
          <p:cNvSpPr/>
          <p:nvPr/>
        </p:nvSpPr>
        <p:spPr>
          <a:xfrm>
            <a:off x="548640" y="2148840"/>
            <a:ext cx="5349240" cy="4160520"/>
          </a:xfrm>
          <a:prstGeom prst="roundRect">
            <a:avLst>
              <a:gd name="adj" fmla="val 1758"/>
            </a:avLst>
          </a:prstGeom>
          <a:solidFill>
            <a:srgbClr val="F5F7FC"/>
          </a:solidFill>
          <a:ln w="19050">
            <a:solidFill>
              <a:srgbClr val="2E86AB"/>
            </a:solidFill>
            <a:prstDash val="solid"/>
          </a:ln>
        </p:spPr>
      </p:sp>
      <p:sp>
        <p:nvSpPr>
          <p:cNvPr id="6" name="Shape 4"/>
          <p:cNvSpPr/>
          <p:nvPr/>
        </p:nvSpPr>
        <p:spPr>
          <a:xfrm>
            <a:off x="777240" y="2331720"/>
            <a:ext cx="594360" cy="594360"/>
          </a:xfrm>
          <a:prstGeom prst="ellipse">
            <a:avLst/>
          </a:prstGeom>
          <a:solidFill>
            <a:srgbClr val="2E86AB"/>
          </a:solidFill>
          <a:ln/>
        </p:spPr>
      </p:sp>
      <p:pic>
        <p:nvPicPr>
          <p:cNvPr id="7" name="Image 0" descr="/home/claude/shared_icons/icon_layers.png">    </p:cNvPr>
          <p:cNvPicPr>
            <a:picLocks noChangeAspect="1"/>
          </p:cNvPicPr>
          <p:nvPr/>
        </p:nvPicPr>
        <p:blipFill>
          <a:blip r:embed="rId1"/>
          <a:stretch>
            <a:fillRect/>
          </a:stretch>
        </p:blipFill>
        <p:spPr>
          <a:xfrm>
            <a:off x="860450" y="2414930"/>
            <a:ext cx="427939" cy="427939"/>
          </a:xfrm>
          <a:prstGeom prst="rect">
            <a:avLst/>
          </a:prstGeom>
        </p:spPr>
      </p:pic>
      <p:sp>
        <p:nvSpPr>
          <p:cNvPr id="8" name="Text 5"/>
          <p:cNvSpPr txBox="1"/>
          <p:nvPr/>
        </p:nvSpPr>
        <p:spPr>
          <a:xfrm>
            <a:off x="1508760" y="2450592"/>
            <a:ext cx="4206240" cy="365760"/>
          </a:xfrm>
          <a:prstGeom prst="rect">
            <a:avLst/>
          </a:prstGeom>
          <a:noFill/>
          <a:ln/>
        </p:spPr>
        <p:txBody>
          <a:bodyPr wrap="square" rtlCol="0" anchor="ctr"/>
          <a:lstStyle/>
          <a:p>
            <a:pPr indent="0" marL="0">
              <a:buNone/>
            </a:pPr>
            <a:r>
              <a:rPr lang="en-US" sz="1400" b="1" dirty="0">
                <a:solidFill>
                  <a:srgbClr val="2E86AB"/>
                </a:solidFill>
                <a:latin typeface="Cambria" pitchFamily="34" charset="0"/>
                <a:ea typeface="Cambria" pitchFamily="34" charset="-122"/>
                <a:cs typeface="Cambria" pitchFamily="34" charset="-120"/>
              </a:rPr>
              <a:t>Model Van Hiele</a:t>
            </a:r>
            <a:endParaRPr lang="en-US" sz="1400" dirty="0"/>
          </a:p>
        </p:txBody>
      </p:sp>
      <p:sp>
        <p:nvSpPr>
          <p:cNvPr id="9" name="Text 6"/>
          <p:cNvSpPr txBox="1"/>
          <p:nvPr/>
        </p:nvSpPr>
        <p:spPr>
          <a:xfrm>
            <a:off x="777240" y="2926080"/>
            <a:ext cx="4892040" cy="1188720"/>
          </a:xfrm>
          <a:prstGeom prst="rect">
            <a:avLst/>
          </a:prstGeom>
          <a:noFill/>
          <a:ln/>
        </p:spPr>
        <p:txBody>
          <a:bodyPr wrap="square" rtlCol="0" anchor="ctr"/>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Teori perkembangan pemikiran geometri murid, dibahagikan kepada beberapa peringkat (L1 hingga L4) — membantu guru merancang PdP mengikut fasa pemikiran murid tanpa melompat terlalu awal ke tahap abstrak.</a:t>
            </a:r>
            <a:endParaRPr lang="en-US" sz="1100" dirty="0"/>
          </a:p>
        </p:txBody>
      </p:sp>
      <p:sp>
        <p:nvSpPr>
          <p:cNvPr id="10" name="Shape 7"/>
          <p:cNvSpPr/>
          <p:nvPr/>
        </p:nvSpPr>
        <p:spPr>
          <a:xfrm>
            <a:off x="777240" y="4206240"/>
            <a:ext cx="4892040" cy="1737360"/>
          </a:xfrm>
          <a:prstGeom prst="roundRect">
            <a:avLst>
              <a:gd name="adj" fmla="val 3158"/>
            </a:avLst>
          </a:prstGeom>
          <a:solidFill>
            <a:srgbClr val="1E2761"/>
          </a:solidFill>
          <a:ln/>
        </p:spPr>
      </p:sp>
      <p:sp>
        <p:nvSpPr>
          <p:cNvPr id="11" name="Text 8"/>
          <p:cNvSpPr txBox="1"/>
          <p:nvPr/>
        </p:nvSpPr>
        <p:spPr>
          <a:xfrm>
            <a:off x="960120" y="4315968"/>
            <a:ext cx="4572000" cy="320040"/>
          </a:xfrm>
          <a:prstGeom prst="rect">
            <a:avLst/>
          </a:prstGeom>
          <a:noFill/>
          <a:ln/>
        </p:spPr>
        <p:txBody>
          <a:bodyPr wrap="square" rtlCol="0" anchor="ctr"/>
          <a:lstStyle/>
          <a:p>
            <a:pPr indent="0" marL="0">
              <a:buNone/>
            </a:pPr>
            <a:r>
              <a:rPr lang="en-US" sz="1100" b="1" dirty="0">
                <a:solidFill>
                  <a:srgbClr val="F2B705"/>
                </a:solidFill>
                <a:latin typeface="Calibri" pitchFamily="34" charset="0"/>
                <a:ea typeface="Calibri" pitchFamily="34" charset="-122"/>
                <a:cs typeface="Calibri" pitchFamily="34" charset="-120"/>
              </a:rPr>
              <a:t>Contoh Aplikasi:</a:t>
            </a:r>
            <a:endParaRPr lang="en-US" sz="1100" dirty="0"/>
          </a:p>
        </p:txBody>
      </p:sp>
      <p:sp>
        <p:nvSpPr>
          <p:cNvPr id="12" name="Text 9"/>
          <p:cNvSpPr txBox="1"/>
          <p:nvPr/>
        </p:nvSpPr>
        <p:spPr>
          <a:xfrm>
            <a:off x="960120" y="4617720"/>
            <a:ext cx="4572000" cy="1234440"/>
          </a:xfrm>
          <a:prstGeom prst="rect">
            <a:avLst/>
          </a:prstGeom>
          <a:noFill/>
          <a:ln/>
        </p:spPr>
        <p:txBody>
          <a:bodyPr wrap="square" rtlCol="0" anchor="ctr"/>
          <a:lstStyle/>
          <a:p>
            <a:pPr indent="0" marL="0">
              <a:lnSpc>
                <a:spcPct val="125000"/>
              </a:lnSpc>
              <a:buNone/>
            </a:pPr>
            <a:r>
              <a:rPr lang="en-US" sz="1000" dirty="0">
                <a:solidFill>
                  <a:srgbClr val="FFFFFF"/>
                </a:solidFill>
                <a:latin typeface="Calibri" pitchFamily="34" charset="0"/>
                <a:ea typeface="Calibri" pitchFamily="34" charset="-122"/>
                <a:cs typeface="Calibri" pitchFamily="34" charset="-120"/>
              </a:rPr>
              <a:t>Murid cemerlang boleh melompat terus ke peringkat analisis sifat geometri (L3), manakala murid sederhana masih berada di peringkat visualisasi fizikal (L1) — kedua-duanya sah, cuma perlu bimbingan berbeza.</a:t>
            </a:r>
            <a:endParaRPr lang="en-US" sz="1000" dirty="0"/>
          </a:p>
        </p:txBody>
      </p:sp>
      <p:sp>
        <p:nvSpPr>
          <p:cNvPr id="13" name="Shape 10"/>
          <p:cNvSpPr/>
          <p:nvPr/>
        </p:nvSpPr>
        <p:spPr>
          <a:xfrm>
            <a:off x="6263640" y="2148840"/>
            <a:ext cx="5349240" cy="4160520"/>
          </a:xfrm>
          <a:prstGeom prst="roundRect">
            <a:avLst>
              <a:gd name="adj" fmla="val 1758"/>
            </a:avLst>
          </a:prstGeom>
          <a:solidFill>
            <a:srgbClr val="F5F7FC"/>
          </a:solidFill>
          <a:ln w="19050">
            <a:solidFill>
              <a:srgbClr val="E67E22"/>
            </a:solidFill>
            <a:prstDash val="solid"/>
          </a:ln>
        </p:spPr>
      </p:sp>
      <p:sp>
        <p:nvSpPr>
          <p:cNvPr id="14" name="Shape 11"/>
          <p:cNvSpPr/>
          <p:nvPr/>
        </p:nvSpPr>
        <p:spPr>
          <a:xfrm>
            <a:off x="6492240" y="2331720"/>
            <a:ext cx="594360" cy="594360"/>
          </a:xfrm>
          <a:prstGeom prst="ellipse">
            <a:avLst/>
          </a:prstGeom>
          <a:solidFill>
            <a:srgbClr val="E67E22"/>
          </a:solidFill>
          <a:ln/>
        </p:spPr>
      </p:sp>
      <p:pic>
        <p:nvPicPr>
          <p:cNvPr id="15" name="Image 1" descr="/home/claude/shared_icons/icon_vectorSquare.png">    </p:cNvPr>
          <p:cNvPicPr>
            <a:picLocks noChangeAspect="1"/>
          </p:cNvPicPr>
          <p:nvPr/>
        </p:nvPicPr>
        <p:blipFill>
          <a:blip r:embed="rId2"/>
          <a:stretch>
            <a:fillRect/>
          </a:stretch>
        </p:blipFill>
        <p:spPr>
          <a:xfrm>
            <a:off x="6575450" y="2414930"/>
            <a:ext cx="427939" cy="427939"/>
          </a:xfrm>
          <a:prstGeom prst="rect">
            <a:avLst/>
          </a:prstGeom>
        </p:spPr>
      </p:pic>
      <p:sp>
        <p:nvSpPr>
          <p:cNvPr id="16" name="Text 12"/>
          <p:cNvSpPr txBox="1"/>
          <p:nvPr/>
        </p:nvSpPr>
        <p:spPr>
          <a:xfrm>
            <a:off x="7223760" y="2450592"/>
            <a:ext cx="4206240" cy="365760"/>
          </a:xfrm>
          <a:prstGeom prst="rect">
            <a:avLst/>
          </a:prstGeom>
          <a:noFill/>
          <a:ln/>
        </p:spPr>
        <p:txBody>
          <a:bodyPr wrap="square" rtlCol="0" anchor="ctr"/>
          <a:lstStyle/>
          <a:p>
            <a:pPr indent="0" marL="0">
              <a:buNone/>
            </a:pPr>
            <a:r>
              <a:rPr lang="en-US" sz="1350" b="1" dirty="0">
                <a:solidFill>
                  <a:srgbClr val="E67E22"/>
                </a:solidFill>
                <a:latin typeface="Cambria" pitchFamily="34" charset="0"/>
                <a:ea typeface="Cambria" pitchFamily="34" charset="-122"/>
                <a:cs typeface="Cambria" pitchFamily="34" charset="-120"/>
              </a:rPr>
              <a:t>Aktiviti Gunting Sisi Empat</a:t>
            </a:r>
            <a:endParaRPr lang="en-US" sz="1350" dirty="0"/>
          </a:p>
        </p:txBody>
      </p:sp>
      <p:sp>
        <p:nvSpPr>
          <p:cNvPr id="17" name="Text 13"/>
          <p:cNvSpPr txBox="1"/>
          <p:nvPr/>
        </p:nvSpPr>
        <p:spPr>
          <a:xfrm>
            <a:off x="6492240" y="2926080"/>
            <a:ext cx="4892040" cy="1188720"/>
          </a:xfrm>
          <a:prstGeom prst="rect">
            <a:avLst/>
          </a:prstGeom>
          <a:noFill/>
          <a:ln/>
        </p:spPr>
        <p:txBody>
          <a:bodyPr wrap="square" rtlCol="0" anchor="ctr"/>
          <a:lstStyle/>
          <a:p>
            <a:pPr indent="0" marL="0">
              <a:lnSpc>
                <a:spcPct val="125000"/>
              </a:lnSpc>
              <a:buNone/>
            </a:pPr>
            <a:r>
              <a:rPr lang="en-US" sz="1100" dirty="0">
                <a:solidFill>
                  <a:srgbClr val="141A45"/>
                </a:solidFill>
                <a:latin typeface="Calibri" pitchFamily="34" charset="0"/>
                <a:ea typeface="Calibri" pitchFamily="34" charset="-122"/>
                <a:cs typeface="Calibri" pitchFamily="34" charset="-120"/>
              </a:rPr>
              <a:t>Murid dibekalkan kertas A4, pembaris dan gunting untuk melukis serta mengunting bentuk sisi empat (dilabel A hingga L) dalam pelbagai saiz sebagai BBM — meneroka sifat geometri secara visual &amp; fizikal.</a:t>
            </a:r>
            <a:endParaRPr lang="en-US" sz="1100" dirty="0"/>
          </a:p>
        </p:txBody>
      </p:sp>
      <p:sp>
        <p:nvSpPr>
          <p:cNvPr id="18" name="Text 14"/>
          <p:cNvSpPr txBox="1"/>
          <p:nvPr/>
        </p:nvSpPr>
        <p:spPr>
          <a:xfrm>
            <a:off x="6537960" y="4160520"/>
            <a:ext cx="4846320" cy="1737360"/>
          </a:xfrm>
          <a:prstGeom prst="rect">
            <a:avLst/>
          </a:prstGeom>
          <a:noFill/>
          <a:ln/>
        </p:spPr>
        <p:txBody>
          <a:bodyPr wrap="square" rtlCol="0" anchor="t"/>
          <a:lstStyle/>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Kebebasan saiz/bentuk menghasilkan kepelbagaian visual yang kreatif.</a:t>
            </a:r>
            <a:endParaRPr lang="en-US" sz="1000" dirty="0"/>
          </a:p>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Murid mengisih bentuk mengikut kriteria tertentu selepas menggunting.</a:t>
            </a:r>
            <a:endParaRPr lang="en-US" sz="1000" dirty="0"/>
          </a:p>
          <a:p>
            <a:pPr marL="228600" indent="-228600">
              <a:spcAft>
                <a:spcPts val="600"/>
              </a:spcAft>
              <a:buSzPct val="100000"/>
              <a:buChar char="▪"/>
            </a:pPr>
            <a:r>
              <a:rPr lang="en-US" sz="1000" dirty="0">
                <a:solidFill>
                  <a:srgbClr val="141A45"/>
                </a:solidFill>
                <a:latin typeface="Calibri" pitchFamily="34" charset="0"/>
                <a:ea typeface="Calibri" pitchFamily="34" charset="-122"/>
                <a:cs typeface="Calibri" pitchFamily="34" charset="-120"/>
              </a:rPr>
              <a:t>Ingatkan nilai murni: kebersihan (buang lebihan kertas) &amp; keselamatan mengendalikan gunting.</a:t>
            </a:r>
            <a:endParaRPr lang="en-US" sz="1000" dirty="0"/>
          </a:p>
        </p:txBody>
      </p:sp>
      <p:sp>
        <p:nvSpPr>
          <p:cNvPr id="19" name="Text 15"/>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Pengendalian Data (Rakaman Model Bar &amp; Geometri), ISI 1 &amp; 3</a:t>
            </a:r>
            <a:endParaRPr lang="en-US" sz="1000" dirty="0"/>
          </a:p>
        </p:txBody>
      </p:sp>
      <p:sp>
        <p:nvSpPr>
          <p:cNvPr id="20" name="Text 16"/>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TAMBAHAN</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Laras Bahasa Murid dalam Penerokaan Geometri</a:t>
            </a:r>
            <a:endParaRPr lang="en-US" sz="2400" dirty="0"/>
          </a:p>
        </p:txBody>
      </p:sp>
      <p:sp>
        <p:nvSpPr>
          <p:cNvPr id="4" name="Text 2"/>
          <p:cNvSpPr txBox="1"/>
          <p:nvPr/>
        </p:nvSpPr>
        <p:spPr>
          <a:xfrm>
            <a:off x="548640" y="1508760"/>
            <a:ext cx="11064240" cy="548640"/>
          </a:xfrm>
          <a:prstGeom prst="rect">
            <a:avLst/>
          </a:prstGeom>
          <a:noFill/>
          <a:ln/>
        </p:spPr>
        <p:txBody>
          <a:bodyPr wrap="square" rtlCol="0" anchor="ctr"/>
          <a:lstStyle/>
          <a:p>
            <a:pPr indent="0" marL="0">
              <a:lnSpc>
                <a:spcPct val="120000"/>
              </a:lnSpc>
              <a:buNone/>
            </a:pPr>
            <a:r>
              <a:rPr lang="en-US" sz="1200" dirty="0">
                <a:solidFill>
                  <a:srgbClr val="CADCFC"/>
                </a:solidFill>
                <a:latin typeface="Calibri" pitchFamily="34" charset="0"/>
                <a:ea typeface="Calibri" pitchFamily="34" charset="-122"/>
                <a:cs typeface="Calibri" pitchFamily="34" charset="-120"/>
              </a:rPr>
              <a:t>Terima laras bahasa harian murid terlebih dahulu apabila mereka menerangkan pemerhatian matematik, sebelum memperkenalkan istilah teknikal rasmi.</a:t>
            </a:r>
            <a:endParaRPr lang="en-US" sz="1200" dirty="0"/>
          </a:p>
        </p:txBody>
      </p:sp>
      <p:sp>
        <p:nvSpPr>
          <p:cNvPr id="5" name="Shape 3"/>
          <p:cNvSpPr/>
          <p:nvPr/>
        </p:nvSpPr>
        <p:spPr>
          <a:xfrm>
            <a:off x="548640" y="2194560"/>
            <a:ext cx="11064240" cy="1920240"/>
          </a:xfrm>
          <a:prstGeom prst="roundRect">
            <a:avLst>
              <a:gd name="adj" fmla="val 3810"/>
            </a:avLst>
          </a:prstGeom>
          <a:solidFill>
            <a:srgbClr val="141A45"/>
          </a:solidFill>
          <a:ln w="12700">
            <a:solidFill>
              <a:srgbClr val="F2B705"/>
            </a:solidFill>
            <a:prstDash val="solid"/>
          </a:ln>
        </p:spPr>
      </p:sp>
      <p:sp>
        <p:nvSpPr>
          <p:cNvPr id="6" name="Text 4"/>
          <p:cNvSpPr txBox="1"/>
          <p:nvPr/>
        </p:nvSpPr>
        <p:spPr>
          <a:xfrm>
            <a:off x="777240" y="2331720"/>
            <a:ext cx="10607040" cy="320040"/>
          </a:xfrm>
          <a:prstGeom prst="rect">
            <a:avLst/>
          </a:prstGeom>
          <a:noFill/>
          <a:ln/>
        </p:spPr>
        <p:txBody>
          <a:bodyPr wrap="square" rtlCol="0" anchor="ctr"/>
          <a:lstStyle/>
          <a:p>
            <a:pPr indent="0" marL="0">
              <a:buNone/>
            </a:pPr>
            <a:r>
              <a:rPr lang="en-US" sz="1250" b="1" dirty="0">
                <a:solidFill>
                  <a:srgbClr val="F2B705"/>
                </a:solidFill>
                <a:latin typeface="Cambria" pitchFamily="34" charset="0"/>
                <a:ea typeface="Cambria" pitchFamily="34" charset="-122"/>
                <a:cs typeface="Cambria" pitchFamily="34" charset="-120"/>
              </a:rPr>
              <a:t>Contoh:</a:t>
            </a:r>
            <a:endParaRPr lang="en-US" sz="1250" dirty="0"/>
          </a:p>
        </p:txBody>
      </p:sp>
      <p:sp>
        <p:nvSpPr>
          <p:cNvPr id="7" name="Text 5"/>
          <p:cNvSpPr txBox="1"/>
          <p:nvPr/>
        </p:nvSpPr>
        <p:spPr>
          <a:xfrm>
            <a:off x="777240" y="2697480"/>
            <a:ext cx="201168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“Serong”</a:t>
            </a:r>
            <a:endParaRPr lang="en-US" sz="1500" dirty="0"/>
          </a:p>
        </p:txBody>
      </p:sp>
      <p:sp>
        <p:nvSpPr>
          <p:cNvPr id="8" name="Text 6"/>
          <p:cNvSpPr txBox="1"/>
          <p:nvPr/>
        </p:nvSpPr>
        <p:spPr>
          <a:xfrm>
            <a:off x="2834640" y="2697480"/>
            <a:ext cx="859536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  Sudut condong / sisi senget (bimbing ke arah: selari, serenjang, tirus, cakah)</a:t>
            </a:r>
            <a:endParaRPr lang="en-US" sz="1150" dirty="0"/>
          </a:p>
        </p:txBody>
      </p:sp>
      <p:sp>
        <p:nvSpPr>
          <p:cNvPr id="9" name="Text 7"/>
          <p:cNvSpPr txBox="1"/>
          <p:nvPr/>
        </p:nvSpPr>
        <p:spPr>
          <a:xfrm>
            <a:off x="777240" y="3291840"/>
            <a:ext cx="201168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“Lurus”</a:t>
            </a:r>
            <a:endParaRPr lang="en-US" sz="1500" dirty="0"/>
          </a:p>
        </p:txBody>
      </p:sp>
      <p:sp>
        <p:nvSpPr>
          <p:cNvPr id="10" name="Text 8"/>
          <p:cNvSpPr txBox="1"/>
          <p:nvPr/>
        </p:nvSpPr>
        <p:spPr>
          <a:xfrm>
            <a:off x="2834640" y="3291840"/>
            <a:ext cx="8595360" cy="45720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  Sudut tegak (bimbing ke arah istilah rasmi yang sepadan)</a:t>
            </a:r>
            <a:endParaRPr lang="en-US" sz="1150" dirty="0"/>
          </a:p>
        </p:txBody>
      </p:sp>
      <p:sp>
        <p:nvSpPr>
          <p:cNvPr id="11" name="Shape 9"/>
          <p:cNvSpPr/>
          <p:nvPr/>
        </p:nvSpPr>
        <p:spPr>
          <a:xfrm>
            <a:off x="548640" y="4343400"/>
            <a:ext cx="11064240" cy="1051560"/>
          </a:xfrm>
          <a:prstGeom prst="roundRect">
            <a:avLst>
              <a:gd name="adj" fmla="val 6957"/>
            </a:avLst>
          </a:prstGeom>
          <a:solidFill>
            <a:srgbClr val="F2B705"/>
          </a:solidFill>
          <a:ln/>
        </p:spPr>
      </p:sp>
      <p:sp>
        <p:nvSpPr>
          <p:cNvPr id="12" name="Text 10"/>
          <p:cNvSpPr txBox="1"/>
          <p:nvPr/>
        </p:nvSpPr>
        <p:spPr>
          <a:xfrm>
            <a:off x="777240" y="4343400"/>
            <a:ext cx="10607040" cy="105156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Kepentingan: Membina keyakinan diri murid &amp; mengelakkan mereka rasa terasing/takut menjawab soalan matematik. Setelah yakin &amp; faham konsep fizikal, barulah guru bimbing ke istilah rasmi secara berperingkat.</a:t>
            </a:r>
            <a:endParaRPr lang="en-US" sz="1100" dirty="0"/>
          </a:p>
        </p:txBody>
      </p:sp>
      <p:sp>
        <p:nvSpPr>
          <p:cNvPr id="13" name="Text 11"/>
          <p:cNvSpPr txBox="1"/>
          <p:nvPr/>
        </p:nvSpPr>
        <p:spPr>
          <a:xfrm>
            <a:off x="548640" y="5623560"/>
            <a:ext cx="11064240" cy="640080"/>
          </a:xfrm>
          <a:prstGeom prst="rect">
            <a:avLst/>
          </a:prstGeom>
          <a:noFill/>
          <a:ln/>
        </p:spPr>
        <p:txBody>
          <a:bodyPr wrap="square" rtlCol="0" anchor="ctr"/>
          <a:lstStyle/>
          <a:p>
            <a:pPr algn="ctr" indent="0" marL="0">
              <a:lnSpc>
                <a:spcPct val="120000"/>
              </a:lnSpc>
              <a:buNone/>
            </a:pPr>
            <a:r>
              <a:rPr lang="en-US" sz="1300" i="1" dirty="0">
                <a:solidFill>
                  <a:srgbClr val="F2B705"/>
                </a:solidFill>
                <a:latin typeface="Calibri" pitchFamily="34" charset="0"/>
                <a:ea typeface="Calibri" pitchFamily="34" charset="-122"/>
                <a:cs typeface="Calibri" pitchFamily="34" charset="-120"/>
              </a:rPr>
              <a:t>“Jangan ajar anak-anak kita dengan cara kita diajar dahulu. Kita perlu fikir bagaimana anak-anak zaman sekarang belajar.”</a:t>
            </a:r>
            <a:endParaRPr lang="en-US" sz="1300" dirty="0"/>
          </a:p>
        </p:txBody>
      </p:sp>
      <p:sp>
        <p:nvSpPr>
          <p:cNvPr id="14" name="Text 12"/>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Pengendalian Data (Rakaman Model Bar &amp; Geometri), ISI 2</a:t>
            </a:r>
            <a:endParaRPr lang="en-US" sz="1000" dirty="0"/>
          </a:p>
        </p:txBody>
      </p:sp>
      <p:sp>
        <p:nvSpPr>
          <p:cNvPr id="15" name="Text 13"/>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PERKARA PENTING</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Perkara Lain yang Guru WAJIB Faham</a:t>
            </a:r>
            <a:endParaRPr lang="en-US" sz="2600" dirty="0"/>
          </a:p>
        </p:txBody>
      </p:sp>
      <p:sp>
        <p:nvSpPr>
          <p:cNvPr id="4" name="Shape 2"/>
          <p:cNvSpPr/>
          <p:nvPr/>
        </p:nvSpPr>
        <p:spPr>
          <a:xfrm>
            <a:off x="548640" y="1645920"/>
            <a:ext cx="5349240" cy="1371600"/>
          </a:xfrm>
          <a:prstGeom prst="roundRect">
            <a:avLst>
              <a:gd name="adj" fmla="val 5333"/>
            </a:avLst>
          </a:prstGeom>
          <a:solidFill>
            <a:srgbClr val="F5F7FC"/>
          </a:solidFill>
          <a:ln w="12700">
            <a:solidFill>
              <a:srgbClr val="E7EAF2"/>
            </a:solidFill>
            <a:prstDash val="solid"/>
          </a:ln>
        </p:spPr>
      </p:sp>
      <p:sp>
        <p:nvSpPr>
          <p:cNvPr id="5" name="Shape 3"/>
          <p:cNvSpPr/>
          <p:nvPr/>
        </p:nvSpPr>
        <p:spPr>
          <a:xfrm>
            <a:off x="713232" y="1874520"/>
            <a:ext cx="457200" cy="457200"/>
          </a:xfrm>
          <a:prstGeom prst="ellipse">
            <a:avLst/>
          </a:prstGeom>
          <a:solidFill>
            <a:srgbClr val="E67E22"/>
          </a:solidFill>
          <a:ln/>
        </p:spPr>
      </p:sp>
      <p:pic>
        <p:nvPicPr>
          <p:cNvPr id="6" name="Image 0" descr="/home/claude/shared_icons/icon_check.png">    </p:cNvPr>
          <p:cNvPicPr>
            <a:picLocks noChangeAspect="1"/>
          </p:cNvPicPr>
          <p:nvPr/>
        </p:nvPicPr>
        <p:blipFill>
          <a:blip r:embed="rId1"/>
          <a:stretch>
            <a:fillRect/>
          </a:stretch>
        </p:blipFill>
        <p:spPr>
          <a:xfrm>
            <a:off x="777240" y="1938528"/>
            <a:ext cx="329184" cy="329184"/>
          </a:xfrm>
          <a:prstGeom prst="rect">
            <a:avLst/>
          </a:prstGeom>
        </p:spPr>
      </p:pic>
      <p:sp>
        <p:nvSpPr>
          <p:cNvPr id="7" name="Text 4"/>
          <p:cNvSpPr txBox="1"/>
          <p:nvPr/>
        </p:nvSpPr>
        <p:spPr>
          <a:xfrm>
            <a:off x="1298448" y="1737360"/>
            <a:ext cx="4434840" cy="1188720"/>
          </a:xfrm>
          <a:prstGeom prst="rect">
            <a:avLst/>
          </a:prstGeom>
          <a:noFill/>
          <a:ln/>
        </p:spPr>
        <p:txBody>
          <a:bodyPr wrap="square" rtlCol="0" anchor="ctr"/>
          <a:lstStyle/>
          <a:p>
            <a:pPr indent="0" marL="0">
              <a:lnSpc>
                <a:spcPct val="115000"/>
              </a:lnSpc>
              <a:buNone/>
            </a:pPr>
            <a:r>
              <a:rPr lang="en-US" sz="1030" dirty="0">
                <a:solidFill>
                  <a:srgbClr val="141A45"/>
                </a:solidFill>
                <a:latin typeface="Calibri" pitchFamily="34" charset="0"/>
                <a:ea typeface="Calibri" pitchFamily="34" charset="-122"/>
                <a:cs typeface="Calibri" pitchFamily="34" charset="-120"/>
              </a:rPr>
              <a:t>Tiga versi bahan kurikulum: Versi Murid (bercetak ringkas), Versi Online (PDF), dan Buku Pintar (interaktif/gamifikasi di portal DELIMa).</a:t>
            </a:r>
            <a:endParaRPr lang="en-US" sz="1030" dirty="0"/>
          </a:p>
        </p:txBody>
      </p:sp>
      <p:sp>
        <p:nvSpPr>
          <p:cNvPr id="8" name="Shape 5"/>
          <p:cNvSpPr/>
          <p:nvPr/>
        </p:nvSpPr>
        <p:spPr>
          <a:xfrm>
            <a:off x="6263640" y="1645920"/>
            <a:ext cx="5349240" cy="1371600"/>
          </a:xfrm>
          <a:prstGeom prst="roundRect">
            <a:avLst>
              <a:gd name="adj" fmla="val 5333"/>
            </a:avLst>
          </a:prstGeom>
          <a:solidFill>
            <a:srgbClr val="F5F7FC"/>
          </a:solidFill>
          <a:ln w="12700">
            <a:solidFill>
              <a:srgbClr val="E7EAF2"/>
            </a:solidFill>
            <a:prstDash val="solid"/>
          </a:ln>
        </p:spPr>
      </p:sp>
      <p:sp>
        <p:nvSpPr>
          <p:cNvPr id="9" name="Shape 6"/>
          <p:cNvSpPr/>
          <p:nvPr/>
        </p:nvSpPr>
        <p:spPr>
          <a:xfrm>
            <a:off x="6428232" y="1874520"/>
            <a:ext cx="457200" cy="457200"/>
          </a:xfrm>
          <a:prstGeom prst="ellipse">
            <a:avLst/>
          </a:prstGeom>
          <a:solidFill>
            <a:srgbClr val="E67E22"/>
          </a:solidFill>
          <a:ln/>
        </p:spPr>
      </p:sp>
      <p:pic>
        <p:nvPicPr>
          <p:cNvPr id="10" name="Image 1" descr="/home/claude/shared_icons/icon_check.png">    </p:cNvPr>
          <p:cNvPicPr>
            <a:picLocks noChangeAspect="1"/>
          </p:cNvPicPr>
          <p:nvPr/>
        </p:nvPicPr>
        <p:blipFill>
          <a:blip r:embed="rId2"/>
          <a:stretch>
            <a:fillRect/>
          </a:stretch>
        </p:blipFill>
        <p:spPr>
          <a:xfrm>
            <a:off x="6492240" y="1938528"/>
            <a:ext cx="329184" cy="329184"/>
          </a:xfrm>
          <a:prstGeom prst="rect">
            <a:avLst/>
          </a:prstGeom>
        </p:spPr>
      </p:pic>
      <p:sp>
        <p:nvSpPr>
          <p:cNvPr id="11" name="Text 7"/>
          <p:cNvSpPr txBox="1"/>
          <p:nvPr/>
        </p:nvSpPr>
        <p:spPr>
          <a:xfrm>
            <a:off x="7013448" y="1737360"/>
            <a:ext cx="4434840" cy="1188720"/>
          </a:xfrm>
          <a:prstGeom prst="rect">
            <a:avLst/>
          </a:prstGeom>
          <a:noFill/>
          <a:ln/>
        </p:spPr>
        <p:txBody>
          <a:bodyPr wrap="square" rtlCol="0" anchor="ctr"/>
          <a:lstStyle/>
          <a:p>
            <a:pPr indent="0" marL="0">
              <a:lnSpc>
                <a:spcPct val="115000"/>
              </a:lnSpc>
              <a:buNone/>
            </a:pPr>
            <a:r>
              <a:rPr lang="en-US" sz="1030" dirty="0">
                <a:solidFill>
                  <a:srgbClr val="141A45"/>
                </a:solidFill>
                <a:latin typeface="Calibri" pitchFamily="34" charset="0"/>
                <a:ea typeface="Calibri" pitchFamily="34" charset="-122"/>
                <a:cs typeface="Calibri" pitchFamily="34" charset="-120"/>
              </a:rPr>
              <a:t>Buku teks bercetak mengandungi ralat teknikal — pautan QR Code GeoGebra sering luput (expired). Jangan bergantung 100% kepadanya.</a:t>
            </a:r>
            <a:endParaRPr lang="en-US" sz="1030" dirty="0"/>
          </a:p>
        </p:txBody>
      </p:sp>
      <p:sp>
        <p:nvSpPr>
          <p:cNvPr id="12" name="Shape 8"/>
          <p:cNvSpPr/>
          <p:nvPr/>
        </p:nvSpPr>
        <p:spPr>
          <a:xfrm>
            <a:off x="548640" y="3182112"/>
            <a:ext cx="5349240" cy="1371600"/>
          </a:xfrm>
          <a:prstGeom prst="roundRect">
            <a:avLst>
              <a:gd name="adj" fmla="val 5333"/>
            </a:avLst>
          </a:prstGeom>
          <a:solidFill>
            <a:srgbClr val="F5F7FC"/>
          </a:solidFill>
          <a:ln w="12700">
            <a:solidFill>
              <a:srgbClr val="E7EAF2"/>
            </a:solidFill>
            <a:prstDash val="solid"/>
          </a:ln>
        </p:spPr>
      </p:sp>
      <p:sp>
        <p:nvSpPr>
          <p:cNvPr id="13" name="Shape 9"/>
          <p:cNvSpPr/>
          <p:nvPr/>
        </p:nvSpPr>
        <p:spPr>
          <a:xfrm>
            <a:off x="713232" y="3410712"/>
            <a:ext cx="457200" cy="457200"/>
          </a:xfrm>
          <a:prstGeom prst="ellipse">
            <a:avLst/>
          </a:prstGeom>
          <a:solidFill>
            <a:srgbClr val="E67E22"/>
          </a:solidFill>
          <a:ln/>
        </p:spPr>
      </p:sp>
      <p:pic>
        <p:nvPicPr>
          <p:cNvPr id="14" name="Image 2" descr="/home/claude/shared_icons/icon_check.png">    </p:cNvPr>
          <p:cNvPicPr>
            <a:picLocks noChangeAspect="1"/>
          </p:cNvPicPr>
          <p:nvPr/>
        </p:nvPicPr>
        <p:blipFill>
          <a:blip r:embed="rId3"/>
          <a:stretch>
            <a:fillRect/>
          </a:stretch>
        </p:blipFill>
        <p:spPr>
          <a:xfrm>
            <a:off x="777240" y="3474720"/>
            <a:ext cx="329184" cy="329184"/>
          </a:xfrm>
          <a:prstGeom prst="rect">
            <a:avLst/>
          </a:prstGeom>
        </p:spPr>
      </p:pic>
      <p:sp>
        <p:nvSpPr>
          <p:cNvPr id="15" name="Text 10"/>
          <p:cNvSpPr txBox="1"/>
          <p:nvPr/>
        </p:nvSpPr>
        <p:spPr>
          <a:xfrm>
            <a:off x="1298448" y="3273552"/>
            <a:ext cx="4434840" cy="1188720"/>
          </a:xfrm>
          <a:prstGeom prst="rect">
            <a:avLst/>
          </a:prstGeom>
          <a:noFill/>
          <a:ln/>
        </p:spPr>
        <p:txBody>
          <a:bodyPr wrap="square" rtlCol="0" anchor="ctr"/>
          <a:lstStyle/>
          <a:p>
            <a:pPr indent="0" marL="0">
              <a:lnSpc>
                <a:spcPct val="115000"/>
              </a:lnSpc>
              <a:buNone/>
            </a:pPr>
            <a:r>
              <a:rPr lang="en-US" sz="1030" dirty="0">
                <a:solidFill>
                  <a:srgbClr val="141A45"/>
                </a:solidFill>
                <a:latin typeface="Calibri" pitchFamily="34" charset="0"/>
                <a:ea typeface="Calibri" pitchFamily="34" charset="-122"/>
                <a:cs typeface="Calibri" pitchFamily="34" charset="-120"/>
              </a:rPr>
              <a:t>SP 7.2.2: penyelesaian Pythagoras bagi bentuk gabungan TERHAD kepada gabungan segi tiga sahaja.</a:t>
            </a:r>
            <a:endParaRPr lang="en-US" sz="1030" dirty="0"/>
          </a:p>
        </p:txBody>
      </p:sp>
      <p:sp>
        <p:nvSpPr>
          <p:cNvPr id="16" name="Shape 11"/>
          <p:cNvSpPr/>
          <p:nvPr/>
        </p:nvSpPr>
        <p:spPr>
          <a:xfrm>
            <a:off x="6263640" y="3182112"/>
            <a:ext cx="5349240" cy="1371600"/>
          </a:xfrm>
          <a:prstGeom prst="roundRect">
            <a:avLst>
              <a:gd name="adj" fmla="val 5333"/>
            </a:avLst>
          </a:prstGeom>
          <a:solidFill>
            <a:srgbClr val="F5F7FC"/>
          </a:solidFill>
          <a:ln w="12700">
            <a:solidFill>
              <a:srgbClr val="E7EAF2"/>
            </a:solidFill>
            <a:prstDash val="solid"/>
          </a:ln>
        </p:spPr>
      </p:sp>
      <p:sp>
        <p:nvSpPr>
          <p:cNvPr id="17" name="Shape 12"/>
          <p:cNvSpPr/>
          <p:nvPr/>
        </p:nvSpPr>
        <p:spPr>
          <a:xfrm>
            <a:off x="6428232" y="3410712"/>
            <a:ext cx="457200" cy="457200"/>
          </a:xfrm>
          <a:prstGeom prst="ellipse">
            <a:avLst/>
          </a:prstGeom>
          <a:solidFill>
            <a:srgbClr val="E67E22"/>
          </a:solidFill>
          <a:ln/>
        </p:spPr>
      </p:sp>
      <p:pic>
        <p:nvPicPr>
          <p:cNvPr id="18" name="Image 3" descr="/home/claude/shared_icons/icon_check.png">    </p:cNvPr>
          <p:cNvPicPr>
            <a:picLocks noChangeAspect="1"/>
          </p:cNvPicPr>
          <p:nvPr/>
        </p:nvPicPr>
        <p:blipFill>
          <a:blip r:embed="rId4"/>
          <a:stretch>
            <a:fillRect/>
          </a:stretch>
        </p:blipFill>
        <p:spPr>
          <a:xfrm>
            <a:off x="6492240" y="3474720"/>
            <a:ext cx="329184" cy="329184"/>
          </a:xfrm>
          <a:prstGeom prst="rect">
            <a:avLst/>
          </a:prstGeom>
        </p:spPr>
      </p:pic>
      <p:sp>
        <p:nvSpPr>
          <p:cNvPr id="19" name="Text 13"/>
          <p:cNvSpPr txBox="1"/>
          <p:nvPr/>
        </p:nvSpPr>
        <p:spPr>
          <a:xfrm>
            <a:off x="7013448" y="3273552"/>
            <a:ext cx="4434840" cy="1188720"/>
          </a:xfrm>
          <a:prstGeom prst="rect">
            <a:avLst/>
          </a:prstGeom>
          <a:noFill/>
          <a:ln/>
        </p:spPr>
        <p:txBody>
          <a:bodyPr wrap="square" rtlCol="0" anchor="ctr"/>
          <a:lstStyle/>
          <a:p>
            <a:pPr indent="0" marL="0">
              <a:lnSpc>
                <a:spcPct val="115000"/>
              </a:lnSpc>
              <a:buNone/>
            </a:pPr>
            <a:r>
              <a:rPr lang="en-US" sz="1030" dirty="0">
                <a:solidFill>
                  <a:srgbClr val="141A45"/>
                </a:solidFill>
                <a:latin typeface="Calibri" pitchFamily="34" charset="0"/>
                <a:ea typeface="Calibri" pitchFamily="34" charset="-122"/>
                <a:cs typeface="Calibri" pitchFamily="34" charset="-120"/>
              </a:rPr>
              <a:t>SP 6.2: sudut dongak &amp; sudut tunduk TIDAK termasuk dalam skop — hanya sudut sepadan, selang-seli, pedalaman.</a:t>
            </a:r>
            <a:endParaRPr lang="en-US" sz="1030" dirty="0"/>
          </a:p>
        </p:txBody>
      </p:sp>
      <p:sp>
        <p:nvSpPr>
          <p:cNvPr id="20" name="Shape 14"/>
          <p:cNvSpPr/>
          <p:nvPr/>
        </p:nvSpPr>
        <p:spPr>
          <a:xfrm>
            <a:off x="548640" y="4718304"/>
            <a:ext cx="5349240" cy="1371600"/>
          </a:xfrm>
          <a:prstGeom prst="roundRect">
            <a:avLst>
              <a:gd name="adj" fmla="val 5333"/>
            </a:avLst>
          </a:prstGeom>
          <a:solidFill>
            <a:srgbClr val="F5F7FC"/>
          </a:solidFill>
          <a:ln w="12700">
            <a:solidFill>
              <a:srgbClr val="E7EAF2"/>
            </a:solidFill>
            <a:prstDash val="solid"/>
          </a:ln>
        </p:spPr>
      </p:sp>
      <p:sp>
        <p:nvSpPr>
          <p:cNvPr id="21" name="Shape 15"/>
          <p:cNvSpPr/>
          <p:nvPr/>
        </p:nvSpPr>
        <p:spPr>
          <a:xfrm>
            <a:off x="713232" y="4946904"/>
            <a:ext cx="457200" cy="457200"/>
          </a:xfrm>
          <a:prstGeom prst="ellipse">
            <a:avLst/>
          </a:prstGeom>
          <a:solidFill>
            <a:srgbClr val="E67E22"/>
          </a:solidFill>
          <a:ln/>
        </p:spPr>
      </p:sp>
      <p:pic>
        <p:nvPicPr>
          <p:cNvPr id="22" name="Image 4" descr="/home/claude/shared_icons/icon_check.png">    </p:cNvPr>
          <p:cNvPicPr>
            <a:picLocks noChangeAspect="1"/>
          </p:cNvPicPr>
          <p:nvPr/>
        </p:nvPicPr>
        <p:blipFill>
          <a:blip r:embed="rId5"/>
          <a:stretch>
            <a:fillRect/>
          </a:stretch>
        </p:blipFill>
        <p:spPr>
          <a:xfrm>
            <a:off x="777240" y="5010912"/>
            <a:ext cx="329184" cy="329184"/>
          </a:xfrm>
          <a:prstGeom prst="rect">
            <a:avLst/>
          </a:prstGeom>
        </p:spPr>
      </p:pic>
      <p:sp>
        <p:nvSpPr>
          <p:cNvPr id="23" name="Text 16"/>
          <p:cNvSpPr txBox="1"/>
          <p:nvPr/>
        </p:nvSpPr>
        <p:spPr>
          <a:xfrm>
            <a:off x="1298448" y="4809744"/>
            <a:ext cx="4434840" cy="1188720"/>
          </a:xfrm>
          <a:prstGeom prst="rect">
            <a:avLst/>
          </a:prstGeom>
          <a:noFill/>
          <a:ln/>
        </p:spPr>
        <p:txBody>
          <a:bodyPr wrap="square" rtlCol="0" anchor="ctr"/>
          <a:lstStyle/>
          <a:p>
            <a:pPr indent="0" marL="0">
              <a:lnSpc>
                <a:spcPct val="115000"/>
              </a:lnSpc>
              <a:buNone/>
            </a:pPr>
            <a:r>
              <a:rPr lang="en-US" sz="1030" dirty="0">
                <a:solidFill>
                  <a:srgbClr val="141A45"/>
                </a:solidFill>
                <a:latin typeface="Calibri" pitchFamily="34" charset="0"/>
                <a:ea typeface="Calibri" pitchFamily="34" charset="-122"/>
                <a:cs typeface="Calibri" pitchFamily="34" charset="-120"/>
              </a:rPr>
              <a:t>TP3 (7.0) mengesahkan integrasi perimeter/luas dengan Teorem Pythagoras BOLEH dilakukan dalam satu tugasan yang sama.</a:t>
            </a:r>
            <a:endParaRPr lang="en-US" sz="1030" dirty="0"/>
          </a:p>
        </p:txBody>
      </p:sp>
      <p:sp>
        <p:nvSpPr>
          <p:cNvPr id="24" name="Shape 17"/>
          <p:cNvSpPr/>
          <p:nvPr/>
        </p:nvSpPr>
        <p:spPr>
          <a:xfrm>
            <a:off x="6263640" y="4718304"/>
            <a:ext cx="5349240" cy="1371600"/>
          </a:xfrm>
          <a:prstGeom prst="roundRect">
            <a:avLst>
              <a:gd name="adj" fmla="val 5333"/>
            </a:avLst>
          </a:prstGeom>
          <a:solidFill>
            <a:srgbClr val="F5F7FC"/>
          </a:solidFill>
          <a:ln w="12700">
            <a:solidFill>
              <a:srgbClr val="E7EAF2"/>
            </a:solidFill>
            <a:prstDash val="solid"/>
          </a:ln>
        </p:spPr>
      </p:sp>
      <p:sp>
        <p:nvSpPr>
          <p:cNvPr id="25" name="Shape 18"/>
          <p:cNvSpPr/>
          <p:nvPr/>
        </p:nvSpPr>
        <p:spPr>
          <a:xfrm>
            <a:off x="6428232" y="4946904"/>
            <a:ext cx="457200" cy="457200"/>
          </a:xfrm>
          <a:prstGeom prst="ellipse">
            <a:avLst/>
          </a:prstGeom>
          <a:solidFill>
            <a:srgbClr val="E67E22"/>
          </a:solidFill>
          <a:ln/>
        </p:spPr>
      </p:sp>
      <p:pic>
        <p:nvPicPr>
          <p:cNvPr id="26" name="Image 5" descr="/home/claude/shared_icons/icon_check.png">    </p:cNvPr>
          <p:cNvPicPr>
            <a:picLocks noChangeAspect="1"/>
          </p:cNvPicPr>
          <p:nvPr/>
        </p:nvPicPr>
        <p:blipFill>
          <a:blip r:embed="rId6"/>
          <a:stretch>
            <a:fillRect/>
          </a:stretch>
        </p:blipFill>
        <p:spPr>
          <a:xfrm>
            <a:off x="6492240" y="5010912"/>
            <a:ext cx="329184" cy="329184"/>
          </a:xfrm>
          <a:prstGeom prst="rect">
            <a:avLst/>
          </a:prstGeom>
        </p:spPr>
      </p:pic>
      <p:sp>
        <p:nvSpPr>
          <p:cNvPr id="27" name="Text 19"/>
          <p:cNvSpPr txBox="1"/>
          <p:nvPr/>
        </p:nvSpPr>
        <p:spPr>
          <a:xfrm>
            <a:off x="7013448" y="4809744"/>
            <a:ext cx="4434840" cy="1188720"/>
          </a:xfrm>
          <a:prstGeom prst="rect">
            <a:avLst/>
          </a:prstGeom>
          <a:noFill/>
          <a:ln/>
        </p:spPr>
        <p:txBody>
          <a:bodyPr wrap="square" rtlCol="0" anchor="ctr"/>
          <a:lstStyle/>
          <a:p>
            <a:pPr indent="0" marL="0">
              <a:lnSpc>
                <a:spcPct val="115000"/>
              </a:lnSpc>
              <a:buNone/>
            </a:pPr>
            <a:r>
              <a:rPr lang="en-US" sz="1030" dirty="0">
                <a:solidFill>
                  <a:srgbClr val="141A45"/>
                </a:solidFill>
                <a:latin typeface="Calibri" pitchFamily="34" charset="0"/>
                <a:ea typeface="Calibri" pitchFamily="34" charset="-122"/>
                <a:cs typeface="Calibri" pitchFamily="34" charset="-120"/>
              </a:rPr>
              <a:t>Annotator (~67 MB) sesuai untuk komputer kerajaan berkongsi tanpa kelulusan pentadbir (admin rights).</a:t>
            </a:r>
            <a:endParaRPr lang="en-US" sz="1030" dirty="0"/>
          </a:p>
        </p:txBody>
      </p:sp>
      <p:sp>
        <p:nvSpPr>
          <p:cNvPr id="28"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[DKP/BPK/BENGKEL] Slaid &amp; Analisis Sidang 6</a:t>
            </a:r>
            <a:endParaRPr lang="en-US" sz="1000" dirty="0"/>
          </a:p>
        </p:txBody>
      </p:sp>
      <p:sp>
        <p:nvSpPr>
          <p:cNvPr id="29"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KESILAPAN PERLU DIELAKKAN</a:t>
            </a:r>
            <a:endParaRPr lang="en-US" sz="1300" dirty="0"/>
          </a:p>
        </p:txBody>
      </p:sp>
      <p:sp>
        <p:nvSpPr>
          <p:cNvPr id="3" name="Text 1"/>
          <p:cNvSpPr txBox="1"/>
          <p:nvPr/>
        </p:nvSpPr>
        <p:spPr>
          <a:xfrm>
            <a:off x="548640" y="658368"/>
            <a:ext cx="1097280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Salah Faham Lazim dalam Pelaksanaan</a:t>
            </a:r>
            <a:endParaRPr lang="en-US" sz="2700" dirty="0"/>
          </a:p>
        </p:txBody>
      </p:sp>
      <p:sp>
        <p:nvSpPr>
          <p:cNvPr id="4" name="Shape 2"/>
          <p:cNvSpPr/>
          <p:nvPr/>
        </p:nvSpPr>
        <p:spPr>
          <a:xfrm>
            <a:off x="548640" y="1600200"/>
            <a:ext cx="5349240" cy="1298448"/>
          </a:xfrm>
          <a:prstGeom prst="roundRect">
            <a:avLst>
              <a:gd name="adj" fmla="val 5634"/>
            </a:avLst>
          </a:prstGeom>
          <a:solidFill>
            <a:srgbClr val="141A45"/>
          </a:solidFill>
          <a:ln/>
        </p:spPr>
      </p:sp>
      <p:sp>
        <p:nvSpPr>
          <p:cNvPr id="5" name="Shape 3"/>
          <p:cNvSpPr/>
          <p:nvPr/>
        </p:nvSpPr>
        <p:spPr>
          <a:xfrm>
            <a:off x="713232" y="1837944"/>
            <a:ext cx="457200" cy="457200"/>
          </a:xfrm>
          <a:prstGeom prst="ellipse">
            <a:avLst/>
          </a:prstGeom>
          <a:solidFill>
            <a:srgbClr val="E0435A"/>
          </a:solidFill>
          <a:ln/>
        </p:spPr>
      </p:sp>
      <p:pic>
        <p:nvPicPr>
          <p:cNvPr id="6" name="Image 0" descr="/home/claude/shared_icons/icon_warning.png">    </p:cNvPr>
          <p:cNvPicPr>
            <a:picLocks noChangeAspect="1"/>
          </p:cNvPicPr>
          <p:nvPr/>
        </p:nvPicPr>
        <p:blipFill>
          <a:blip r:embed="rId1"/>
          <a:stretch>
            <a:fillRect/>
          </a:stretch>
        </p:blipFill>
        <p:spPr>
          <a:xfrm>
            <a:off x="777240" y="1901952"/>
            <a:ext cx="329184" cy="329184"/>
          </a:xfrm>
          <a:prstGeom prst="rect">
            <a:avLst/>
          </a:prstGeom>
        </p:spPr>
      </p:pic>
      <p:sp>
        <p:nvSpPr>
          <p:cNvPr id="7" name="Text 4"/>
          <p:cNvSpPr txBox="1"/>
          <p:nvPr/>
        </p:nvSpPr>
        <p:spPr>
          <a:xfrm>
            <a:off x="1298448" y="169164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Terlalu bergantung kepada GeoGebra/Desmos sehingga abaikan jangka lukis &amp; protraktor fizikal.</a:t>
            </a:r>
            <a:endParaRPr lang="en-US" sz="1020" dirty="0"/>
          </a:p>
        </p:txBody>
      </p:sp>
      <p:sp>
        <p:nvSpPr>
          <p:cNvPr id="8" name="Shape 5"/>
          <p:cNvSpPr/>
          <p:nvPr/>
        </p:nvSpPr>
        <p:spPr>
          <a:xfrm>
            <a:off x="6263640" y="1600200"/>
            <a:ext cx="5349240" cy="1298448"/>
          </a:xfrm>
          <a:prstGeom prst="roundRect">
            <a:avLst>
              <a:gd name="adj" fmla="val 5634"/>
            </a:avLst>
          </a:prstGeom>
          <a:solidFill>
            <a:srgbClr val="141A45"/>
          </a:solidFill>
          <a:ln/>
        </p:spPr>
      </p:sp>
      <p:sp>
        <p:nvSpPr>
          <p:cNvPr id="9" name="Shape 6"/>
          <p:cNvSpPr/>
          <p:nvPr/>
        </p:nvSpPr>
        <p:spPr>
          <a:xfrm>
            <a:off x="6428232" y="1837944"/>
            <a:ext cx="457200" cy="457200"/>
          </a:xfrm>
          <a:prstGeom prst="ellipse">
            <a:avLst/>
          </a:prstGeom>
          <a:solidFill>
            <a:srgbClr val="E0435A"/>
          </a:solidFill>
          <a:ln/>
        </p:spPr>
      </p:sp>
      <p:pic>
        <p:nvPicPr>
          <p:cNvPr id="10" name="Image 1" descr="/home/claude/shared_icons/icon_warning.png">    </p:cNvPr>
          <p:cNvPicPr>
            <a:picLocks noChangeAspect="1"/>
          </p:cNvPicPr>
          <p:nvPr/>
        </p:nvPicPr>
        <p:blipFill>
          <a:blip r:embed="rId2"/>
          <a:stretch>
            <a:fillRect/>
          </a:stretch>
        </p:blipFill>
        <p:spPr>
          <a:xfrm>
            <a:off x="6492240" y="1901952"/>
            <a:ext cx="329184" cy="329184"/>
          </a:xfrm>
          <a:prstGeom prst="rect">
            <a:avLst/>
          </a:prstGeom>
        </p:spPr>
      </p:pic>
      <p:sp>
        <p:nvSpPr>
          <p:cNvPr id="11" name="Text 7"/>
          <p:cNvSpPr txBox="1"/>
          <p:nvPr/>
        </p:nvSpPr>
        <p:spPr>
          <a:xfrm>
            <a:off x="7013448" y="169164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Membiarkan murid guna telefon pintar individu untuk GeoGebra/Desmos (skrin kecil, mata sakit).</a:t>
            </a:r>
            <a:endParaRPr lang="en-US" sz="1020" dirty="0"/>
          </a:p>
        </p:txBody>
      </p:sp>
      <p:sp>
        <p:nvSpPr>
          <p:cNvPr id="12" name="Shape 8"/>
          <p:cNvSpPr/>
          <p:nvPr/>
        </p:nvSpPr>
        <p:spPr>
          <a:xfrm>
            <a:off x="548640" y="3063240"/>
            <a:ext cx="5349240" cy="1298448"/>
          </a:xfrm>
          <a:prstGeom prst="roundRect">
            <a:avLst>
              <a:gd name="adj" fmla="val 5634"/>
            </a:avLst>
          </a:prstGeom>
          <a:solidFill>
            <a:srgbClr val="141A45"/>
          </a:solidFill>
          <a:ln/>
        </p:spPr>
      </p:sp>
      <p:sp>
        <p:nvSpPr>
          <p:cNvPr id="13" name="Shape 9"/>
          <p:cNvSpPr/>
          <p:nvPr/>
        </p:nvSpPr>
        <p:spPr>
          <a:xfrm>
            <a:off x="713232" y="3300984"/>
            <a:ext cx="457200" cy="457200"/>
          </a:xfrm>
          <a:prstGeom prst="ellipse">
            <a:avLst/>
          </a:prstGeom>
          <a:solidFill>
            <a:srgbClr val="E0435A"/>
          </a:solidFill>
          <a:ln/>
        </p:spPr>
      </p:sp>
      <p:pic>
        <p:nvPicPr>
          <p:cNvPr id="14" name="Image 2" descr="/home/claude/shared_icons/icon_warning.png">    </p:cNvPr>
          <p:cNvPicPr>
            <a:picLocks noChangeAspect="1"/>
          </p:cNvPicPr>
          <p:nvPr/>
        </p:nvPicPr>
        <p:blipFill>
          <a:blip r:embed="rId3"/>
          <a:stretch>
            <a:fillRect/>
          </a:stretch>
        </p:blipFill>
        <p:spPr>
          <a:xfrm>
            <a:off x="777240" y="3364992"/>
            <a:ext cx="329184" cy="329184"/>
          </a:xfrm>
          <a:prstGeom prst="rect">
            <a:avLst/>
          </a:prstGeom>
        </p:spPr>
      </p:pic>
      <p:sp>
        <p:nvSpPr>
          <p:cNvPr id="15" name="Text 10"/>
          <p:cNvSpPr txBox="1"/>
          <p:nvPr/>
        </p:nvSpPr>
        <p:spPr>
          <a:xfrm>
            <a:off x="1298448" y="315468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Mengajar terus berpandukan QR Code buku teks tanpa semakan awal (pautan mungkin luput).</a:t>
            </a:r>
            <a:endParaRPr lang="en-US" sz="1020" dirty="0"/>
          </a:p>
        </p:txBody>
      </p:sp>
      <p:sp>
        <p:nvSpPr>
          <p:cNvPr id="16" name="Shape 11"/>
          <p:cNvSpPr/>
          <p:nvPr/>
        </p:nvSpPr>
        <p:spPr>
          <a:xfrm>
            <a:off x="6263640" y="3063240"/>
            <a:ext cx="5349240" cy="1298448"/>
          </a:xfrm>
          <a:prstGeom prst="roundRect">
            <a:avLst>
              <a:gd name="adj" fmla="val 5634"/>
            </a:avLst>
          </a:prstGeom>
          <a:solidFill>
            <a:srgbClr val="141A45"/>
          </a:solidFill>
          <a:ln/>
        </p:spPr>
      </p:sp>
      <p:sp>
        <p:nvSpPr>
          <p:cNvPr id="17" name="Shape 12"/>
          <p:cNvSpPr/>
          <p:nvPr/>
        </p:nvSpPr>
        <p:spPr>
          <a:xfrm>
            <a:off x="6428232" y="3300984"/>
            <a:ext cx="457200" cy="457200"/>
          </a:xfrm>
          <a:prstGeom prst="ellipse">
            <a:avLst/>
          </a:prstGeom>
          <a:solidFill>
            <a:srgbClr val="E0435A"/>
          </a:solidFill>
          <a:ln/>
        </p:spPr>
      </p:sp>
      <p:pic>
        <p:nvPicPr>
          <p:cNvPr id="18" name="Image 3" descr="/home/claude/shared_icons/icon_warning.png">    </p:cNvPr>
          <p:cNvPicPr>
            <a:picLocks noChangeAspect="1"/>
          </p:cNvPicPr>
          <p:nvPr/>
        </p:nvPicPr>
        <p:blipFill>
          <a:blip r:embed="rId4"/>
          <a:stretch>
            <a:fillRect/>
          </a:stretch>
        </p:blipFill>
        <p:spPr>
          <a:xfrm>
            <a:off x="6492240" y="3364992"/>
            <a:ext cx="329184" cy="329184"/>
          </a:xfrm>
          <a:prstGeom prst="rect">
            <a:avLst/>
          </a:prstGeom>
        </p:spPr>
      </p:pic>
      <p:sp>
        <p:nvSpPr>
          <p:cNvPr id="19" name="Text 13"/>
          <p:cNvSpPr txBox="1"/>
          <p:nvPr/>
        </p:nvSpPr>
        <p:spPr>
          <a:xfrm>
            <a:off x="7013448" y="315468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Mengajar sudut dongak/tunduk dalam konteks SP 6.2 (di luar skop rasmi).</a:t>
            </a:r>
            <a:endParaRPr lang="en-US" sz="1020" dirty="0"/>
          </a:p>
        </p:txBody>
      </p:sp>
      <p:sp>
        <p:nvSpPr>
          <p:cNvPr id="20" name="Shape 14"/>
          <p:cNvSpPr/>
          <p:nvPr/>
        </p:nvSpPr>
        <p:spPr>
          <a:xfrm>
            <a:off x="548640" y="4526280"/>
            <a:ext cx="5349240" cy="1298448"/>
          </a:xfrm>
          <a:prstGeom prst="roundRect">
            <a:avLst>
              <a:gd name="adj" fmla="val 5634"/>
            </a:avLst>
          </a:prstGeom>
          <a:solidFill>
            <a:srgbClr val="141A45"/>
          </a:solidFill>
          <a:ln/>
        </p:spPr>
      </p:sp>
      <p:sp>
        <p:nvSpPr>
          <p:cNvPr id="21" name="Shape 15"/>
          <p:cNvSpPr/>
          <p:nvPr/>
        </p:nvSpPr>
        <p:spPr>
          <a:xfrm>
            <a:off x="713232" y="4764024"/>
            <a:ext cx="457200" cy="457200"/>
          </a:xfrm>
          <a:prstGeom prst="ellipse">
            <a:avLst/>
          </a:prstGeom>
          <a:solidFill>
            <a:srgbClr val="E0435A"/>
          </a:solidFill>
          <a:ln/>
        </p:spPr>
      </p:sp>
      <p:pic>
        <p:nvPicPr>
          <p:cNvPr id="22" name="Image 4" descr="/home/claude/shared_icons/icon_warning.png">    </p:cNvPr>
          <p:cNvPicPr>
            <a:picLocks noChangeAspect="1"/>
          </p:cNvPicPr>
          <p:nvPr/>
        </p:nvPicPr>
        <p:blipFill>
          <a:blip r:embed="rId5"/>
          <a:stretch>
            <a:fillRect/>
          </a:stretch>
        </p:blipFill>
        <p:spPr>
          <a:xfrm>
            <a:off x="777240" y="4828032"/>
            <a:ext cx="329184" cy="329184"/>
          </a:xfrm>
          <a:prstGeom prst="rect">
            <a:avLst/>
          </a:prstGeom>
        </p:spPr>
      </p:pic>
      <p:sp>
        <p:nvSpPr>
          <p:cNvPr id="23" name="Text 16"/>
          <p:cNvSpPr txBox="1"/>
          <p:nvPr/>
        </p:nvSpPr>
        <p:spPr>
          <a:xfrm>
            <a:off x="1298448" y="461772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Membina rajah geometri dari kosong dalam kelas menggunakan GeoGebra (buang masa) — guna templat sedia ada.</a:t>
            </a:r>
            <a:endParaRPr lang="en-US" sz="1020" dirty="0"/>
          </a:p>
        </p:txBody>
      </p:sp>
      <p:sp>
        <p:nvSpPr>
          <p:cNvPr id="24" name="Shape 17"/>
          <p:cNvSpPr/>
          <p:nvPr/>
        </p:nvSpPr>
        <p:spPr>
          <a:xfrm>
            <a:off x="6263640" y="4526280"/>
            <a:ext cx="5349240" cy="1298448"/>
          </a:xfrm>
          <a:prstGeom prst="roundRect">
            <a:avLst>
              <a:gd name="adj" fmla="val 5634"/>
            </a:avLst>
          </a:prstGeom>
          <a:solidFill>
            <a:srgbClr val="141A45"/>
          </a:solidFill>
          <a:ln/>
        </p:spPr>
      </p:sp>
      <p:sp>
        <p:nvSpPr>
          <p:cNvPr id="25" name="Shape 18"/>
          <p:cNvSpPr/>
          <p:nvPr/>
        </p:nvSpPr>
        <p:spPr>
          <a:xfrm>
            <a:off x="6428232" y="4764024"/>
            <a:ext cx="457200" cy="457200"/>
          </a:xfrm>
          <a:prstGeom prst="ellipse">
            <a:avLst/>
          </a:prstGeom>
          <a:solidFill>
            <a:srgbClr val="E0435A"/>
          </a:solidFill>
          <a:ln/>
        </p:spPr>
      </p:sp>
      <p:pic>
        <p:nvPicPr>
          <p:cNvPr id="26" name="Image 5" descr="/home/claude/shared_icons/icon_warning.png">    </p:cNvPr>
          <p:cNvPicPr>
            <a:picLocks noChangeAspect="1"/>
          </p:cNvPicPr>
          <p:nvPr/>
        </p:nvPicPr>
        <p:blipFill>
          <a:blip r:embed="rId6"/>
          <a:stretch>
            <a:fillRect/>
          </a:stretch>
        </p:blipFill>
        <p:spPr>
          <a:xfrm>
            <a:off x="6492240" y="4828032"/>
            <a:ext cx="329184" cy="329184"/>
          </a:xfrm>
          <a:prstGeom prst="rect">
            <a:avLst/>
          </a:prstGeom>
        </p:spPr>
      </p:pic>
      <p:sp>
        <p:nvSpPr>
          <p:cNvPr id="27" name="Text 19"/>
          <p:cNvSpPr txBox="1"/>
          <p:nvPr/>
        </p:nvSpPr>
        <p:spPr>
          <a:xfrm>
            <a:off x="7013448" y="4617720"/>
            <a:ext cx="4434840" cy="1097280"/>
          </a:xfrm>
          <a:prstGeom prst="rect">
            <a:avLst/>
          </a:prstGeom>
          <a:noFill/>
          <a:ln/>
        </p:spPr>
        <p:txBody>
          <a:bodyPr wrap="square" rtlCol="0" anchor="ctr"/>
          <a:lstStyle/>
          <a:p>
            <a:pPr indent="0" marL="0">
              <a:lnSpc>
                <a:spcPct val="115000"/>
              </a:lnSpc>
              <a:buNone/>
            </a:pPr>
            <a:r>
              <a:rPr lang="en-US" sz="1020" dirty="0">
                <a:solidFill>
                  <a:srgbClr val="FFFFFF"/>
                </a:solidFill>
                <a:latin typeface="Calibri" pitchFamily="34" charset="0"/>
                <a:ea typeface="Calibri" pitchFamily="34" charset="-122"/>
                <a:cs typeface="Calibri" pitchFamily="34" charset="-120"/>
              </a:rPr>
              <a:t>Menganggap Poligon Asas &amp; Perimeter/Luas “hilang” daripada kurikulum — sebenarnya diserap dalam Tajuk 7.</a:t>
            </a:r>
            <a:endParaRPr lang="en-US" sz="1020" dirty="0"/>
          </a:p>
        </p:txBody>
      </p:sp>
      <p:sp>
        <p:nvSpPr>
          <p:cNvPr id="28"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Bhg. 8</a:t>
            </a:r>
            <a:endParaRPr lang="en-US" sz="1000" dirty="0"/>
          </a:p>
        </p:txBody>
      </p:sp>
      <p:sp>
        <p:nvSpPr>
          <p:cNvPr id="29"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IMPLIKASI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Implikasi kepada Guru dan Murid</a:t>
            </a:r>
            <a:endParaRPr lang="en-US" sz="2600" dirty="0"/>
          </a:p>
        </p:txBody>
      </p:sp>
      <p:sp>
        <p:nvSpPr>
          <p:cNvPr id="4" name="Shape 2"/>
          <p:cNvSpPr/>
          <p:nvPr/>
        </p:nvSpPr>
        <p:spPr>
          <a:xfrm>
            <a:off x="548640" y="1645920"/>
            <a:ext cx="5394960" cy="4389120"/>
          </a:xfrm>
          <a:prstGeom prst="roundRect">
            <a:avLst>
              <a:gd name="adj" fmla="val 1667"/>
            </a:avLst>
          </a:prstGeom>
          <a:solidFill>
            <a:srgbClr val="1E2761"/>
          </a:solidFill>
          <a:ln/>
        </p:spPr>
      </p:sp>
      <p:sp>
        <p:nvSpPr>
          <p:cNvPr id="5" name="Shape 3"/>
          <p:cNvSpPr/>
          <p:nvPr/>
        </p:nvSpPr>
        <p:spPr>
          <a:xfrm>
            <a:off x="777240" y="1828800"/>
            <a:ext cx="640080" cy="640080"/>
          </a:xfrm>
          <a:prstGeom prst="ellipse">
            <a:avLst/>
          </a:prstGeom>
          <a:solidFill>
            <a:srgbClr val="F2B705"/>
          </a:solidFill>
          <a:ln/>
        </p:spPr>
      </p:sp>
      <p:pic>
        <p:nvPicPr>
          <p:cNvPr id="6" name="Image 0" descr="/home/claude/shared_icons/icon_bookReader.png">    </p:cNvPr>
          <p:cNvPicPr>
            <a:picLocks noChangeAspect="1"/>
          </p:cNvPicPr>
          <p:nvPr/>
        </p:nvPicPr>
        <p:blipFill>
          <a:blip r:embed="rId1"/>
          <a:stretch>
            <a:fillRect/>
          </a:stretch>
        </p:blipFill>
        <p:spPr>
          <a:xfrm>
            <a:off x="866851" y="1918411"/>
            <a:ext cx="460858" cy="460858"/>
          </a:xfrm>
          <a:prstGeom prst="rect">
            <a:avLst/>
          </a:prstGeom>
        </p:spPr>
      </p:pic>
      <p:sp>
        <p:nvSpPr>
          <p:cNvPr id="7" name="Text 4"/>
          <p:cNvSpPr txBox="1"/>
          <p:nvPr/>
        </p:nvSpPr>
        <p:spPr>
          <a:xfrm>
            <a:off x="1554480" y="1965960"/>
            <a:ext cx="42062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KEPADA GURU</a:t>
            </a:r>
            <a:endParaRPr lang="en-US" sz="1500" dirty="0"/>
          </a:p>
        </p:txBody>
      </p:sp>
      <p:sp>
        <p:nvSpPr>
          <p:cNvPr id="8" name="Text 5"/>
          <p:cNvSpPr txBox="1"/>
          <p:nvPr/>
        </p:nvSpPr>
        <p:spPr>
          <a:xfrm>
            <a:off x="822960" y="2468880"/>
            <a:ext cx="4892040" cy="3429000"/>
          </a:xfrm>
          <a:prstGeom prst="rect">
            <a:avLst/>
          </a:prstGeom>
          <a:noFill/>
          <a:ln/>
        </p:spPr>
        <p:txBody>
          <a:bodyPr wrap="square" rtlCol="0" anchor="t"/>
          <a:lstStyle/>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kuasai sekurang-kurangnya SATU perisian dinamik (GeoGebra/Desmos/Mpad) dan sediakan templat sedia guna.</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sediakan alternatif offline (Annotator) untuk sekolah bermasalah internet.</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semak ketepatan pautan QR Code buku teks sebelum PdP.</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rancang penyepaduan modular SP 6.1.1 dengan SP 7.1.1.</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seimbangkan masa antara demonstrasi digital dan latihan manual jangka lukis/protraktor.</a:t>
            </a:r>
            <a:endParaRPr lang="en-US" sz="1080" dirty="0"/>
          </a:p>
        </p:txBody>
      </p:sp>
      <p:sp>
        <p:nvSpPr>
          <p:cNvPr id="9" name="Shape 6"/>
          <p:cNvSpPr/>
          <p:nvPr/>
        </p:nvSpPr>
        <p:spPr>
          <a:xfrm>
            <a:off x="6217920" y="1645920"/>
            <a:ext cx="5394960" cy="4389120"/>
          </a:xfrm>
          <a:prstGeom prst="roundRect">
            <a:avLst>
              <a:gd name="adj" fmla="val 1667"/>
            </a:avLst>
          </a:prstGeom>
          <a:solidFill>
            <a:srgbClr val="F5F7FC"/>
          </a:solidFill>
          <a:ln w="12700">
            <a:solidFill>
              <a:srgbClr val="E7EAF2"/>
            </a:solidFill>
            <a:prstDash val="solid"/>
          </a:ln>
        </p:spPr>
      </p:sp>
      <p:sp>
        <p:nvSpPr>
          <p:cNvPr id="10" name="Shape 7"/>
          <p:cNvSpPr/>
          <p:nvPr/>
        </p:nvSpPr>
        <p:spPr>
          <a:xfrm>
            <a:off x="6446520" y="1828800"/>
            <a:ext cx="640080" cy="640080"/>
          </a:xfrm>
          <a:prstGeom prst="ellipse">
            <a:avLst/>
          </a:prstGeom>
          <a:solidFill>
            <a:srgbClr val="E67E22"/>
          </a:solidFill>
          <a:ln/>
        </p:spPr>
      </p:sp>
      <p:pic>
        <p:nvPicPr>
          <p:cNvPr id="11" name="Image 1" descr="/home/claude/shared_icons/icon_users.png">    </p:cNvPr>
          <p:cNvPicPr>
            <a:picLocks noChangeAspect="1"/>
          </p:cNvPicPr>
          <p:nvPr/>
        </p:nvPicPr>
        <p:blipFill>
          <a:blip r:embed="rId2"/>
          <a:stretch>
            <a:fillRect/>
          </a:stretch>
        </p:blipFill>
        <p:spPr>
          <a:xfrm>
            <a:off x="6536131" y="1918411"/>
            <a:ext cx="460858" cy="460858"/>
          </a:xfrm>
          <a:prstGeom prst="rect">
            <a:avLst/>
          </a:prstGeom>
        </p:spPr>
      </p:pic>
      <p:sp>
        <p:nvSpPr>
          <p:cNvPr id="12" name="Text 8"/>
          <p:cNvSpPr txBox="1"/>
          <p:nvPr/>
        </p:nvSpPr>
        <p:spPr>
          <a:xfrm>
            <a:off x="7223760" y="1965960"/>
            <a:ext cx="420624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KEPADA MURID</a:t>
            </a:r>
            <a:endParaRPr lang="en-US" sz="1500" dirty="0"/>
          </a:p>
        </p:txBody>
      </p:sp>
      <p:sp>
        <p:nvSpPr>
          <p:cNvPr id="13" name="Text 9"/>
          <p:cNvSpPr txBox="1"/>
          <p:nvPr/>
        </p:nvSpPr>
        <p:spPr>
          <a:xfrm>
            <a:off x="6446520" y="2468880"/>
            <a:ext cx="4892040" cy="3429000"/>
          </a:xfrm>
          <a:prstGeom prst="rect">
            <a:avLst/>
          </a:prstGeom>
          <a:noFill/>
          <a:ln/>
        </p:spPr>
        <p:txBody>
          <a:bodyPr wrap="square" rtlCol="0" anchor="t"/>
          <a:lstStyle/>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Menemui sifat geometri sendiri melalui penerokaan interaktif — bukan hafalan pasif.</a:t>
            </a:r>
            <a:endParaRPr lang="en-US" sz="1080" dirty="0"/>
          </a:p>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Membina kefahaman visual sebelum menguasai kemahiran teknikal manual.</a:t>
            </a:r>
            <a:endParaRPr lang="en-US" sz="1080" dirty="0"/>
          </a:p>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Berpeluang bekerjasama (peer-coaching) dalam kumpulan berkongsi komputer riba.</a:t>
            </a:r>
            <a:endParaRPr lang="en-US" sz="1080" dirty="0"/>
          </a:p>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Kekal kompeten menggunakan alatan fizikal untuk keperluan peperiksaan.</a:t>
            </a:r>
            <a:endParaRPr lang="en-US" sz="1080" dirty="0"/>
          </a:p>
        </p:txBody>
      </p:sp>
      <p:sp>
        <p:nvSpPr>
          <p:cNvPr id="14" name="Text 1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 Analisis Bengkel Sidang 6</a:t>
            </a:r>
            <a:endParaRPr lang="en-US" sz="1000" dirty="0"/>
          </a:p>
        </p:txBody>
      </p:sp>
      <p:sp>
        <p:nvSpPr>
          <p:cNvPr id="15"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CADANGAN AMALAN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Keutamaan Pelaksanaan di Sekolah</a:t>
            </a:r>
            <a:endParaRPr lang="en-US" sz="2600" dirty="0"/>
          </a:p>
        </p:txBody>
      </p:sp>
      <p:sp>
        <p:nvSpPr>
          <p:cNvPr id="4" name="Shape 2"/>
          <p:cNvSpPr/>
          <p:nvPr/>
        </p:nvSpPr>
        <p:spPr>
          <a:xfrm>
            <a:off x="548640" y="1691640"/>
            <a:ext cx="11064240" cy="1371600"/>
          </a:xfrm>
          <a:prstGeom prst="roundRect">
            <a:avLst>
              <a:gd name="adj" fmla="val 5333"/>
            </a:avLst>
          </a:prstGeom>
          <a:solidFill>
            <a:srgbClr val="F5F7FC"/>
          </a:solidFill>
          <a:ln w="12700">
            <a:solidFill>
              <a:srgbClr val="E7EAF2"/>
            </a:solidFill>
            <a:prstDash val="solid"/>
          </a:ln>
        </p:spPr>
      </p:sp>
      <p:sp>
        <p:nvSpPr>
          <p:cNvPr id="5" name="Shape 3"/>
          <p:cNvSpPr/>
          <p:nvPr/>
        </p:nvSpPr>
        <p:spPr>
          <a:xfrm>
            <a:off x="777240" y="1920240"/>
            <a:ext cx="914400" cy="914400"/>
          </a:xfrm>
          <a:prstGeom prst="ellipse">
            <a:avLst/>
          </a:prstGeom>
          <a:solidFill>
            <a:srgbClr val="E0435A"/>
          </a:solidFill>
          <a:ln/>
        </p:spPr>
      </p:sp>
      <p:sp>
        <p:nvSpPr>
          <p:cNvPr id="6" name="Text 4"/>
          <p:cNvSpPr txBox="1"/>
          <p:nvPr/>
        </p:nvSpPr>
        <p:spPr>
          <a:xfrm>
            <a:off x="777240" y="192024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txBox="1"/>
          <p:nvPr/>
        </p:nvSpPr>
        <p:spPr>
          <a:xfrm>
            <a:off x="1920240" y="1856232"/>
            <a:ext cx="2743200" cy="274320"/>
          </a:xfrm>
          <a:prstGeom prst="rect">
            <a:avLst/>
          </a:prstGeom>
          <a:noFill/>
          <a:ln/>
        </p:spPr>
        <p:txBody>
          <a:bodyPr wrap="square" rtlCol="0" anchor="ctr"/>
          <a:lstStyle/>
          <a:p>
            <a:pPr indent="0" marL="0">
              <a:buNone/>
            </a:pPr>
            <a:r>
              <a:rPr lang="en-US" sz="1000" b="1" spc="100" kern="0" dirty="0">
                <a:solidFill>
                  <a:srgbClr val="E0435A"/>
                </a:solidFill>
                <a:latin typeface="Calibri" pitchFamily="34" charset="0"/>
                <a:ea typeface="Calibri" pitchFamily="34" charset="-122"/>
                <a:cs typeface="Calibri" pitchFamily="34" charset="-120"/>
              </a:rPr>
              <a:t>PALING PENTING</a:t>
            </a:r>
            <a:endParaRPr lang="en-US" sz="1000" dirty="0"/>
          </a:p>
        </p:txBody>
      </p:sp>
      <p:sp>
        <p:nvSpPr>
          <p:cNvPr id="8" name="Text 6"/>
          <p:cNvSpPr txBox="1"/>
          <p:nvPr/>
        </p:nvSpPr>
        <p:spPr>
          <a:xfrm>
            <a:off x="1920240" y="2103120"/>
            <a:ext cx="85953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Keseimbangan Geometri Tradisional &amp; Perisian Dinamik</a:t>
            </a:r>
            <a:endParaRPr lang="en-US" sz="1400" dirty="0"/>
          </a:p>
        </p:txBody>
      </p:sp>
      <p:sp>
        <p:nvSpPr>
          <p:cNvPr id="9" name="Text 7"/>
          <p:cNvSpPr txBox="1"/>
          <p:nvPr/>
        </p:nvSpPr>
        <p:spPr>
          <a:xfrm>
            <a:off x="1920240" y="246888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Murid perlu mahir kedua-duanya — peperiksaan fizikal tetap perlukan kemahiran manual walaupun DSKP galakkan teknologi.</a:t>
            </a:r>
            <a:endParaRPr lang="en-US" sz="1050" dirty="0"/>
          </a:p>
        </p:txBody>
      </p:sp>
      <p:sp>
        <p:nvSpPr>
          <p:cNvPr id="10" name="Shape 8"/>
          <p:cNvSpPr/>
          <p:nvPr/>
        </p:nvSpPr>
        <p:spPr>
          <a:xfrm>
            <a:off x="548640" y="3200400"/>
            <a:ext cx="11064240" cy="1371600"/>
          </a:xfrm>
          <a:prstGeom prst="roundRect">
            <a:avLst>
              <a:gd name="adj" fmla="val 5333"/>
            </a:avLst>
          </a:prstGeom>
          <a:solidFill>
            <a:srgbClr val="F5F7FC"/>
          </a:solidFill>
          <a:ln w="12700">
            <a:solidFill>
              <a:srgbClr val="E7EAF2"/>
            </a:solidFill>
            <a:prstDash val="solid"/>
          </a:ln>
        </p:spPr>
      </p:sp>
      <p:sp>
        <p:nvSpPr>
          <p:cNvPr id="11" name="Shape 9"/>
          <p:cNvSpPr/>
          <p:nvPr/>
        </p:nvSpPr>
        <p:spPr>
          <a:xfrm>
            <a:off x="777240" y="3429000"/>
            <a:ext cx="914400" cy="914400"/>
          </a:xfrm>
          <a:prstGeom prst="ellipse">
            <a:avLst/>
          </a:prstGeom>
          <a:solidFill>
            <a:srgbClr val="F2B705"/>
          </a:solidFill>
          <a:ln/>
        </p:spPr>
      </p:sp>
      <p:sp>
        <p:nvSpPr>
          <p:cNvPr id="12" name="Text 10"/>
          <p:cNvSpPr txBox="1"/>
          <p:nvPr/>
        </p:nvSpPr>
        <p:spPr>
          <a:xfrm>
            <a:off x="777240" y="3429000"/>
            <a:ext cx="914400" cy="914400"/>
          </a:xfrm>
          <a:prstGeom prst="rect">
            <a:avLst/>
          </a:prstGeom>
          <a:noFill/>
          <a:ln/>
        </p:spPr>
        <p:txBody>
          <a:bodyPr wrap="square"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1920240" y="3364992"/>
            <a:ext cx="2743200" cy="274320"/>
          </a:xfrm>
          <a:prstGeom prst="rect">
            <a:avLst/>
          </a:prstGeom>
          <a:noFill/>
          <a:ln/>
        </p:spPr>
        <p:txBody>
          <a:bodyPr wrap="square" rtlCol="0" anchor="ctr"/>
          <a:lstStyle/>
          <a:p>
            <a:pPr indent="0" marL="0">
              <a:buNone/>
            </a:pPr>
            <a:r>
              <a:rPr lang="en-US" sz="1000" b="1" spc="100" kern="0" dirty="0">
                <a:solidFill>
                  <a:srgbClr val="B08600"/>
                </a:solidFill>
                <a:latin typeface="Calibri" pitchFamily="34" charset="0"/>
                <a:ea typeface="Calibri" pitchFamily="34" charset="-122"/>
                <a:cs typeface="Calibri" pitchFamily="34" charset="-120"/>
              </a:rPr>
              <a:t>PENTING</a:t>
            </a:r>
            <a:endParaRPr lang="en-US" sz="1000" dirty="0"/>
          </a:p>
        </p:txBody>
      </p:sp>
      <p:sp>
        <p:nvSpPr>
          <p:cNvPr id="14" name="Text 12"/>
          <p:cNvSpPr txBox="1"/>
          <p:nvPr/>
        </p:nvSpPr>
        <p:spPr>
          <a:xfrm>
            <a:off x="1920240" y="3611880"/>
            <a:ext cx="85953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Integrasi Modular &amp; Scaffolding (SP 6.1.1 → SP 7.1.1)</a:t>
            </a:r>
            <a:endParaRPr lang="en-US" sz="1400" dirty="0"/>
          </a:p>
        </p:txBody>
      </p:sp>
      <p:sp>
        <p:nvSpPr>
          <p:cNvPr id="15" name="Text 13"/>
          <p:cNvSpPr txBox="1"/>
          <p:nvPr/>
        </p:nvSpPr>
        <p:spPr>
          <a:xfrm>
            <a:off x="1920240" y="397764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Jimatkan masa instruksi &amp; bantu murid nampak perkaitan garis kongruen dengan sifat segi tiga.</a:t>
            </a:r>
            <a:endParaRPr lang="en-US" sz="1050" dirty="0"/>
          </a:p>
        </p:txBody>
      </p:sp>
      <p:sp>
        <p:nvSpPr>
          <p:cNvPr id="16" name="Shape 14"/>
          <p:cNvSpPr/>
          <p:nvPr/>
        </p:nvSpPr>
        <p:spPr>
          <a:xfrm>
            <a:off x="548640" y="4709160"/>
            <a:ext cx="11064240" cy="1371600"/>
          </a:xfrm>
          <a:prstGeom prst="roundRect">
            <a:avLst>
              <a:gd name="adj" fmla="val 5333"/>
            </a:avLst>
          </a:prstGeom>
          <a:solidFill>
            <a:srgbClr val="F5F7FC"/>
          </a:solidFill>
          <a:ln w="12700">
            <a:solidFill>
              <a:srgbClr val="E7EAF2"/>
            </a:solidFill>
            <a:prstDash val="solid"/>
          </a:ln>
        </p:spPr>
      </p:sp>
      <p:sp>
        <p:nvSpPr>
          <p:cNvPr id="17" name="Shape 15"/>
          <p:cNvSpPr/>
          <p:nvPr/>
        </p:nvSpPr>
        <p:spPr>
          <a:xfrm>
            <a:off x="777240" y="4937760"/>
            <a:ext cx="914400" cy="914400"/>
          </a:xfrm>
          <a:prstGeom prst="ellipse">
            <a:avLst/>
          </a:prstGeom>
          <a:solidFill>
            <a:srgbClr val="E67E22"/>
          </a:solidFill>
          <a:ln/>
        </p:spPr>
      </p:sp>
      <p:sp>
        <p:nvSpPr>
          <p:cNvPr id="18" name="Text 16"/>
          <p:cNvSpPr txBox="1"/>
          <p:nvPr/>
        </p:nvSpPr>
        <p:spPr>
          <a:xfrm>
            <a:off x="777240" y="493776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1920240" y="4873752"/>
            <a:ext cx="2743200" cy="274320"/>
          </a:xfrm>
          <a:prstGeom prst="rect">
            <a:avLst/>
          </a:prstGeom>
          <a:noFill/>
          <a:ln/>
        </p:spPr>
        <p:txBody>
          <a:bodyPr wrap="square" rtlCol="0" anchor="ctr"/>
          <a:lstStyle/>
          <a:p>
            <a:pPr indent="0" marL="0">
              <a:buNone/>
            </a:pPr>
            <a:r>
              <a:rPr lang="en-US" sz="1000" b="1" spc="100" kern="0" dirty="0">
                <a:solidFill>
                  <a:srgbClr val="E67E22"/>
                </a:solidFill>
                <a:latin typeface="Calibri" pitchFamily="34" charset="0"/>
                <a:ea typeface="Calibri" pitchFamily="34" charset="-122"/>
                <a:cs typeface="Calibri" pitchFamily="34" charset="-120"/>
              </a:rPr>
              <a:t>SOKONGAN</a:t>
            </a:r>
            <a:endParaRPr lang="en-US" sz="1000" dirty="0"/>
          </a:p>
        </p:txBody>
      </p:sp>
      <p:sp>
        <p:nvSpPr>
          <p:cNvPr id="20" name="Text 18"/>
          <p:cNvSpPr txBox="1"/>
          <p:nvPr/>
        </p:nvSpPr>
        <p:spPr>
          <a:xfrm>
            <a:off x="1920240" y="5120640"/>
            <a:ext cx="859536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Sebarkan Alatan Offline Mesra-Guru (Annotator)</a:t>
            </a:r>
            <a:endParaRPr lang="en-US" sz="1400" dirty="0"/>
          </a:p>
        </p:txBody>
      </p:sp>
      <p:sp>
        <p:nvSpPr>
          <p:cNvPr id="21" name="Text 19"/>
          <p:cNvSpPr txBox="1"/>
          <p:nvPr/>
        </p:nvSpPr>
        <p:spPr>
          <a:xfrm>
            <a:off x="1920240" y="548640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Bantu guru di sekolah bermasalah internet tetap sampaikan PdP visual tanpa sekatan admin rights.</a:t>
            </a:r>
            <a:endParaRPr lang="en-US" sz="1050" dirty="0"/>
          </a:p>
        </p:txBody>
      </p:sp>
      <p:sp>
        <p:nvSpPr>
          <p:cNvPr id="22"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Bhg. 9</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PERBINCANGAN GURU</a:t>
            </a:r>
            <a:endParaRPr lang="en-US" sz="1300" dirty="0"/>
          </a:p>
        </p:txBody>
      </p:sp>
      <p:sp>
        <p:nvSpPr>
          <p:cNvPr id="3" name="Text 1"/>
          <p:cNvSpPr txBox="1"/>
          <p:nvPr/>
        </p:nvSpPr>
        <p:spPr>
          <a:xfrm>
            <a:off x="548640" y="658368"/>
            <a:ext cx="1115568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Kuiz Refleksi Panitia</a:t>
            </a:r>
            <a:endParaRPr lang="en-US" sz="2700" dirty="0"/>
          </a:p>
        </p:txBody>
      </p:sp>
      <p:sp>
        <p:nvSpPr>
          <p:cNvPr id="4" name="Shape 2"/>
          <p:cNvSpPr/>
          <p:nvPr/>
        </p:nvSpPr>
        <p:spPr>
          <a:xfrm>
            <a:off x="548640" y="1691640"/>
            <a:ext cx="11064240" cy="1371600"/>
          </a:xfrm>
          <a:prstGeom prst="roundRect">
            <a:avLst>
              <a:gd name="adj" fmla="val 5333"/>
            </a:avLst>
          </a:prstGeom>
          <a:solidFill>
            <a:srgbClr val="141A45"/>
          </a:solidFill>
          <a:ln w="12700">
            <a:solidFill>
              <a:srgbClr val="F2B705"/>
            </a:solidFill>
            <a:prstDash val="solid"/>
          </a:ln>
        </p:spPr>
      </p:sp>
      <p:sp>
        <p:nvSpPr>
          <p:cNvPr id="5" name="Shape 3"/>
          <p:cNvSpPr/>
          <p:nvPr/>
        </p:nvSpPr>
        <p:spPr>
          <a:xfrm>
            <a:off x="777240" y="1947672"/>
            <a:ext cx="822960" cy="822960"/>
          </a:xfrm>
          <a:prstGeom prst="ellipse">
            <a:avLst/>
          </a:prstGeom>
          <a:solidFill>
            <a:srgbClr val="F2B705"/>
          </a:solidFill>
          <a:ln/>
        </p:spPr>
      </p:sp>
      <p:sp>
        <p:nvSpPr>
          <p:cNvPr id="6" name="Text 4"/>
          <p:cNvSpPr txBox="1"/>
          <p:nvPr/>
        </p:nvSpPr>
        <p:spPr>
          <a:xfrm>
            <a:off x="777240" y="1947672"/>
            <a:ext cx="822960" cy="82296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1874520" y="1801368"/>
            <a:ext cx="9509760" cy="685800"/>
          </a:xfrm>
          <a:prstGeom prst="rect">
            <a:avLst/>
          </a:prstGeom>
          <a:noFill/>
          <a:ln/>
        </p:spPr>
        <p:txBody>
          <a:bodyPr wrap="square"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Adakah aktiviti mengukur tinggi tiang bendera menggunakan sudut dongak sesuai sebagai pengayaan bagi tajuk Garis dan Sudut?</a:t>
            </a:r>
            <a:endParaRPr lang="en-US" sz="1150" dirty="0"/>
          </a:p>
        </p:txBody>
      </p:sp>
      <p:sp>
        <p:nvSpPr>
          <p:cNvPr id="8" name="Text 6"/>
          <p:cNvSpPr txBox="1"/>
          <p:nvPr/>
        </p:nvSpPr>
        <p:spPr>
          <a:xfrm>
            <a:off x="1874520" y="2560320"/>
            <a:ext cx="9509760" cy="457200"/>
          </a:xfrm>
          <a:prstGeom prst="rect">
            <a:avLst/>
          </a:prstGeom>
          <a:noFill/>
          <a:ln/>
        </p:spPr>
        <p:txBody>
          <a:bodyPr wrap="square" rtlCol="0" anchor="ctr"/>
          <a:lstStyle/>
          <a:p>
            <a:pPr indent="0" marL="0">
              <a:buNone/>
            </a:pPr>
            <a:r>
              <a:rPr lang="en-US" sz="1050" i="1" dirty="0">
                <a:solidFill>
                  <a:srgbClr val="F2B705"/>
                </a:solidFill>
                <a:latin typeface="Calibri" pitchFamily="34" charset="0"/>
                <a:ea typeface="Calibri" pitchFamily="34" charset="-122"/>
                <a:cs typeface="Calibri" pitchFamily="34" charset="-120"/>
              </a:rPr>
              <a:t>J: TIDAK — sudut dongak/tunduk di luar skop SP 6.2 (rujuk Slaid 5).</a:t>
            </a:r>
            <a:endParaRPr lang="en-US" sz="1050" dirty="0"/>
          </a:p>
        </p:txBody>
      </p:sp>
      <p:sp>
        <p:nvSpPr>
          <p:cNvPr id="9" name="Shape 7"/>
          <p:cNvSpPr/>
          <p:nvPr/>
        </p:nvSpPr>
        <p:spPr>
          <a:xfrm>
            <a:off x="548640" y="3200400"/>
            <a:ext cx="11064240" cy="1371600"/>
          </a:xfrm>
          <a:prstGeom prst="roundRect">
            <a:avLst>
              <a:gd name="adj" fmla="val 5333"/>
            </a:avLst>
          </a:prstGeom>
          <a:solidFill>
            <a:srgbClr val="141A45"/>
          </a:solidFill>
          <a:ln w="12700">
            <a:solidFill>
              <a:srgbClr val="F2B705"/>
            </a:solidFill>
            <a:prstDash val="solid"/>
          </a:ln>
        </p:spPr>
      </p:sp>
      <p:sp>
        <p:nvSpPr>
          <p:cNvPr id="10" name="Shape 8"/>
          <p:cNvSpPr/>
          <p:nvPr/>
        </p:nvSpPr>
        <p:spPr>
          <a:xfrm>
            <a:off x="777240" y="3456432"/>
            <a:ext cx="822960" cy="822960"/>
          </a:xfrm>
          <a:prstGeom prst="ellipse">
            <a:avLst/>
          </a:prstGeom>
          <a:solidFill>
            <a:srgbClr val="F2B705"/>
          </a:solidFill>
          <a:ln/>
        </p:spPr>
      </p:sp>
      <p:sp>
        <p:nvSpPr>
          <p:cNvPr id="11" name="Text 9"/>
          <p:cNvSpPr txBox="1"/>
          <p:nvPr/>
        </p:nvSpPr>
        <p:spPr>
          <a:xfrm>
            <a:off x="777240" y="3456432"/>
            <a:ext cx="822960" cy="82296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1874520" y="3310128"/>
            <a:ext cx="9509760" cy="685800"/>
          </a:xfrm>
          <a:prstGeom prst="rect">
            <a:avLst/>
          </a:prstGeom>
          <a:noFill/>
          <a:ln/>
        </p:spPr>
        <p:txBody>
          <a:bodyPr wrap="square"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Tajuk 7 DKP2027 (Segi Tiga dan Sisi Empat) adalah gabungan daripada tajuk KSSM yang mana?</a:t>
            </a:r>
            <a:endParaRPr lang="en-US" sz="1150" dirty="0"/>
          </a:p>
        </p:txBody>
      </p:sp>
      <p:sp>
        <p:nvSpPr>
          <p:cNvPr id="13" name="Text 11"/>
          <p:cNvSpPr txBox="1"/>
          <p:nvPr/>
        </p:nvSpPr>
        <p:spPr>
          <a:xfrm>
            <a:off x="1874520" y="4069080"/>
            <a:ext cx="9509760" cy="457200"/>
          </a:xfrm>
          <a:prstGeom prst="rect">
            <a:avLst/>
          </a:prstGeom>
          <a:noFill/>
          <a:ln/>
        </p:spPr>
        <p:txBody>
          <a:bodyPr wrap="square" rtlCol="0" anchor="ctr"/>
          <a:lstStyle/>
          <a:p>
            <a:pPr indent="0" marL="0">
              <a:buNone/>
            </a:pPr>
            <a:r>
              <a:rPr lang="en-US" sz="1050" i="1" dirty="0">
                <a:solidFill>
                  <a:srgbClr val="F2B705"/>
                </a:solidFill>
                <a:latin typeface="Calibri" pitchFamily="34" charset="0"/>
                <a:ea typeface="Calibri" pitchFamily="34" charset="-122"/>
                <a:cs typeface="Calibri" pitchFamily="34" charset="-120"/>
              </a:rPr>
              <a:t>J: Tajuk 9 (Poligon Asas), Tajuk 10 (Perimeter &amp; Luas), Tajuk 13 (Teorem Pythagoras).</a:t>
            </a:r>
            <a:endParaRPr lang="en-US" sz="1050" dirty="0"/>
          </a:p>
        </p:txBody>
      </p:sp>
      <p:sp>
        <p:nvSpPr>
          <p:cNvPr id="14" name="Shape 12"/>
          <p:cNvSpPr/>
          <p:nvPr/>
        </p:nvSpPr>
        <p:spPr>
          <a:xfrm>
            <a:off x="548640" y="4709160"/>
            <a:ext cx="11064240" cy="1371600"/>
          </a:xfrm>
          <a:prstGeom prst="roundRect">
            <a:avLst>
              <a:gd name="adj" fmla="val 5333"/>
            </a:avLst>
          </a:prstGeom>
          <a:solidFill>
            <a:srgbClr val="141A45"/>
          </a:solidFill>
          <a:ln w="12700">
            <a:solidFill>
              <a:srgbClr val="F2B705"/>
            </a:solidFill>
            <a:prstDash val="solid"/>
          </a:ln>
        </p:spPr>
      </p:sp>
      <p:sp>
        <p:nvSpPr>
          <p:cNvPr id="15" name="Shape 13"/>
          <p:cNvSpPr/>
          <p:nvPr/>
        </p:nvSpPr>
        <p:spPr>
          <a:xfrm>
            <a:off x="777240" y="4965192"/>
            <a:ext cx="822960" cy="822960"/>
          </a:xfrm>
          <a:prstGeom prst="ellipse">
            <a:avLst/>
          </a:prstGeom>
          <a:solidFill>
            <a:srgbClr val="F2B705"/>
          </a:solidFill>
          <a:ln/>
        </p:spPr>
      </p:sp>
      <p:sp>
        <p:nvSpPr>
          <p:cNvPr id="16" name="Text 14"/>
          <p:cNvSpPr txBox="1"/>
          <p:nvPr/>
        </p:nvSpPr>
        <p:spPr>
          <a:xfrm>
            <a:off x="777240" y="4965192"/>
            <a:ext cx="822960" cy="82296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3</a:t>
            </a:r>
            <a:endParaRPr lang="en-US" sz="2600" dirty="0"/>
          </a:p>
        </p:txBody>
      </p:sp>
      <p:sp>
        <p:nvSpPr>
          <p:cNvPr id="17" name="Text 15"/>
          <p:cNvSpPr txBox="1"/>
          <p:nvPr/>
        </p:nvSpPr>
        <p:spPr>
          <a:xfrm>
            <a:off x="1874520" y="4818888"/>
            <a:ext cx="9509760" cy="685800"/>
          </a:xfrm>
          <a:prstGeom prst="rect">
            <a:avLst/>
          </a:prstGeom>
          <a:noFill/>
          <a:ln/>
        </p:spPr>
        <p:txBody>
          <a:bodyPr wrap="square"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Mengikut Nota SP 7.2.2, penyelesaian Pythagoras bagi bentuk gabungan terhad kepada apa?</a:t>
            </a:r>
            <a:endParaRPr lang="en-US" sz="1150" dirty="0"/>
          </a:p>
        </p:txBody>
      </p:sp>
      <p:sp>
        <p:nvSpPr>
          <p:cNvPr id="18" name="Text 16"/>
          <p:cNvSpPr txBox="1"/>
          <p:nvPr/>
        </p:nvSpPr>
        <p:spPr>
          <a:xfrm>
            <a:off x="1874520" y="5577840"/>
            <a:ext cx="9509760" cy="457200"/>
          </a:xfrm>
          <a:prstGeom prst="rect">
            <a:avLst/>
          </a:prstGeom>
          <a:noFill/>
          <a:ln/>
        </p:spPr>
        <p:txBody>
          <a:bodyPr wrap="square" rtlCol="0" anchor="ctr"/>
          <a:lstStyle/>
          <a:p>
            <a:pPr indent="0" marL="0">
              <a:buNone/>
            </a:pPr>
            <a:r>
              <a:rPr lang="en-US" sz="1050" i="1" dirty="0">
                <a:solidFill>
                  <a:srgbClr val="F2B705"/>
                </a:solidFill>
                <a:latin typeface="Calibri" pitchFamily="34" charset="0"/>
                <a:ea typeface="Calibri" pitchFamily="34" charset="-122"/>
                <a:cs typeface="Calibri" pitchFamily="34" charset="-120"/>
              </a:rPr>
              <a:t>J: Gabungan SEGI TIGA sahaja — bukan pelbagai jenis poligon.</a:t>
            </a:r>
            <a:endParaRPr lang="en-US" sz="1050" dirty="0"/>
          </a:p>
        </p:txBody>
      </p:sp>
      <p:sp>
        <p:nvSpPr>
          <p:cNvPr id="19" name="Text 17"/>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Soalan interaktif rasmi, Slaid Sidang 6</a:t>
            </a:r>
            <a:endParaRPr lang="en-US" sz="1000" dirty="0"/>
          </a:p>
        </p:txBody>
      </p:sp>
      <p:sp>
        <p:nvSpPr>
          <p:cNvPr id="20" name="Text 1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FAQ RINGKAS</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Soalan Lazim Guru</a:t>
            </a:r>
            <a:endParaRPr lang="en-US" sz="2600" dirty="0"/>
          </a:p>
        </p:txBody>
      </p:sp>
      <p:sp>
        <p:nvSpPr>
          <p:cNvPr id="4" name="Shape 2"/>
          <p:cNvSpPr/>
          <p:nvPr/>
        </p:nvSpPr>
        <p:spPr>
          <a:xfrm>
            <a:off x="548640" y="1691640"/>
            <a:ext cx="11064240" cy="1051560"/>
          </a:xfrm>
          <a:prstGeom prst="roundRect">
            <a:avLst>
              <a:gd name="adj" fmla="val 6957"/>
            </a:avLst>
          </a:prstGeom>
          <a:solidFill>
            <a:srgbClr val="F5F7FC"/>
          </a:solidFill>
          <a:ln w="12700">
            <a:solidFill>
              <a:srgbClr val="E7EAF2"/>
            </a:solidFill>
            <a:prstDash val="solid"/>
          </a:ln>
        </p:spPr>
      </p:sp>
      <p:sp>
        <p:nvSpPr>
          <p:cNvPr id="5" name="Shape 3"/>
          <p:cNvSpPr/>
          <p:nvPr/>
        </p:nvSpPr>
        <p:spPr>
          <a:xfrm>
            <a:off x="731520" y="1920240"/>
            <a:ext cx="594360" cy="594360"/>
          </a:xfrm>
          <a:prstGeom prst="ellipse">
            <a:avLst/>
          </a:prstGeom>
          <a:solidFill>
            <a:srgbClr val="1E2761"/>
          </a:solidFill>
          <a:ln/>
        </p:spPr>
      </p:sp>
      <p:pic>
        <p:nvPicPr>
          <p:cNvPr id="6" name="Image 0" descr="/home/claude/shared_icons/icon_question.png">    </p:cNvPr>
          <p:cNvPicPr>
            <a:picLocks noChangeAspect="1"/>
          </p:cNvPicPr>
          <p:nvPr/>
        </p:nvPicPr>
        <p:blipFill>
          <a:blip r:embed="rId1"/>
          <a:stretch>
            <a:fillRect/>
          </a:stretch>
        </p:blipFill>
        <p:spPr>
          <a:xfrm>
            <a:off x="814730" y="2003450"/>
            <a:ext cx="427939" cy="427939"/>
          </a:xfrm>
          <a:prstGeom prst="rect">
            <a:avLst/>
          </a:prstGeom>
        </p:spPr>
      </p:pic>
      <p:sp>
        <p:nvSpPr>
          <p:cNvPr id="7" name="Text 4"/>
          <p:cNvSpPr txBox="1"/>
          <p:nvPr/>
        </p:nvSpPr>
        <p:spPr>
          <a:xfrm>
            <a:off x="1508760" y="1783080"/>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Adakah Poligon Asas dikeluarkan sepenuhnya daripada kurikulum?</a:t>
            </a:r>
            <a:endParaRPr lang="en-US" sz="1200" dirty="0"/>
          </a:p>
        </p:txBody>
      </p:sp>
      <p:sp>
        <p:nvSpPr>
          <p:cNvPr id="8" name="Text 5"/>
          <p:cNvSpPr txBox="1"/>
          <p:nvPr/>
        </p:nvSpPr>
        <p:spPr>
          <a:xfrm>
            <a:off x="1508760" y="2194560"/>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Tidak. Ia diserap sebagai kemahiran klasifikasi (kekongruenan &amp; keserupaan) dalam Tajuk 7.</a:t>
            </a:r>
            <a:endParaRPr lang="en-US" sz="1100" dirty="0"/>
          </a:p>
        </p:txBody>
      </p:sp>
      <p:sp>
        <p:nvSpPr>
          <p:cNvPr id="9" name="Shape 6"/>
          <p:cNvSpPr/>
          <p:nvPr/>
        </p:nvSpPr>
        <p:spPr>
          <a:xfrm>
            <a:off x="548640" y="2862072"/>
            <a:ext cx="11064240" cy="1051560"/>
          </a:xfrm>
          <a:prstGeom prst="roundRect">
            <a:avLst>
              <a:gd name="adj" fmla="val 6957"/>
            </a:avLst>
          </a:prstGeom>
          <a:solidFill>
            <a:srgbClr val="F5F7FC"/>
          </a:solidFill>
          <a:ln w="12700">
            <a:solidFill>
              <a:srgbClr val="E7EAF2"/>
            </a:solidFill>
            <a:prstDash val="solid"/>
          </a:ln>
        </p:spPr>
      </p:sp>
      <p:sp>
        <p:nvSpPr>
          <p:cNvPr id="10" name="Shape 7"/>
          <p:cNvSpPr/>
          <p:nvPr/>
        </p:nvSpPr>
        <p:spPr>
          <a:xfrm>
            <a:off x="731520" y="3090672"/>
            <a:ext cx="594360" cy="594360"/>
          </a:xfrm>
          <a:prstGeom prst="ellipse">
            <a:avLst/>
          </a:prstGeom>
          <a:solidFill>
            <a:srgbClr val="1E2761"/>
          </a:solidFill>
          <a:ln/>
        </p:spPr>
      </p:sp>
      <p:pic>
        <p:nvPicPr>
          <p:cNvPr id="11" name="Image 1" descr="/home/claude/shared_icons/icon_question.png">    </p:cNvPr>
          <p:cNvPicPr>
            <a:picLocks noChangeAspect="1"/>
          </p:cNvPicPr>
          <p:nvPr/>
        </p:nvPicPr>
        <p:blipFill>
          <a:blip r:embed="rId2"/>
          <a:stretch>
            <a:fillRect/>
          </a:stretch>
        </p:blipFill>
        <p:spPr>
          <a:xfrm>
            <a:off x="814730" y="3173882"/>
            <a:ext cx="427939" cy="427939"/>
          </a:xfrm>
          <a:prstGeom prst="rect">
            <a:avLst/>
          </a:prstGeom>
        </p:spPr>
      </p:pic>
      <p:sp>
        <p:nvSpPr>
          <p:cNvPr id="12" name="Text 8"/>
          <p:cNvSpPr txBox="1"/>
          <p:nvPr/>
        </p:nvSpPr>
        <p:spPr>
          <a:xfrm>
            <a:off x="1508760" y="2953512"/>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Bolehkah murid guna telefon pintar sendiri untuk GeoGebra semasa kelas?</a:t>
            </a:r>
            <a:endParaRPr lang="en-US" sz="1200" dirty="0"/>
          </a:p>
        </p:txBody>
      </p:sp>
      <p:sp>
        <p:nvSpPr>
          <p:cNvPr id="13" name="Text 9"/>
          <p:cNvSpPr txBox="1"/>
          <p:nvPr/>
        </p:nvSpPr>
        <p:spPr>
          <a:xfrm>
            <a:off x="1508760" y="3364992"/>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Tidak digalakkan — skrin kecil menyakitkan mata. Lebih baik berkongsi komputer riba berkumpulan.</a:t>
            </a:r>
            <a:endParaRPr lang="en-US" sz="1100" dirty="0"/>
          </a:p>
        </p:txBody>
      </p:sp>
      <p:sp>
        <p:nvSpPr>
          <p:cNvPr id="14" name="Shape 10"/>
          <p:cNvSpPr/>
          <p:nvPr/>
        </p:nvSpPr>
        <p:spPr>
          <a:xfrm>
            <a:off x="548640" y="4032504"/>
            <a:ext cx="11064240" cy="1051560"/>
          </a:xfrm>
          <a:prstGeom prst="roundRect">
            <a:avLst>
              <a:gd name="adj" fmla="val 6957"/>
            </a:avLst>
          </a:prstGeom>
          <a:solidFill>
            <a:srgbClr val="F5F7FC"/>
          </a:solidFill>
          <a:ln w="12700">
            <a:solidFill>
              <a:srgbClr val="E7EAF2"/>
            </a:solidFill>
            <a:prstDash val="solid"/>
          </a:ln>
        </p:spPr>
      </p:sp>
      <p:sp>
        <p:nvSpPr>
          <p:cNvPr id="15" name="Shape 11"/>
          <p:cNvSpPr/>
          <p:nvPr/>
        </p:nvSpPr>
        <p:spPr>
          <a:xfrm>
            <a:off x="731520" y="4261104"/>
            <a:ext cx="594360" cy="594360"/>
          </a:xfrm>
          <a:prstGeom prst="ellipse">
            <a:avLst/>
          </a:prstGeom>
          <a:solidFill>
            <a:srgbClr val="1E2761"/>
          </a:solidFill>
          <a:ln/>
        </p:spPr>
      </p:sp>
      <p:pic>
        <p:nvPicPr>
          <p:cNvPr id="16" name="Image 2" descr="/home/claude/shared_icons/icon_question.png">    </p:cNvPr>
          <p:cNvPicPr>
            <a:picLocks noChangeAspect="1"/>
          </p:cNvPicPr>
          <p:nvPr/>
        </p:nvPicPr>
        <p:blipFill>
          <a:blip r:embed="rId3"/>
          <a:stretch>
            <a:fillRect/>
          </a:stretch>
        </p:blipFill>
        <p:spPr>
          <a:xfrm>
            <a:off x="814730" y="4344314"/>
            <a:ext cx="427939" cy="427939"/>
          </a:xfrm>
          <a:prstGeom prst="rect">
            <a:avLst/>
          </a:prstGeom>
        </p:spPr>
      </p:pic>
      <p:sp>
        <p:nvSpPr>
          <p:cNvPr id="17" name="Text 12"/>
          <p:cNvSpPr txBox="1"/>
          <p:nvPr/>
        </p:nvSpPr>
        <p:spPr>
          <a:xfrm>
            <a:off x="1508760" y="4123944"/>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Adakah perisian dinamik wajib digunakan untuk SETIAP SP?</a:t>
            </a:r>
            <a:endParaRPr lang="en-US" sz="1200" dirty="0"/>
          </a:p>
        </p:txBody>
      </p:sp>
      <p:sp>
        <p:nvSpPr>
          <p:cNvPr id="18" name="Text 13"/>
          <p:cNvSpPr txBox="1"/>
          <p:nvPr/>
        </p:nvSpPr>
        <p:spPr>
          <a:xfrm>
            <a:off x="1508760" y="4535424"/>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Digalakkan amat kuat (disebut 4 kali) tetapi bukan wajib mutlak — teknologi ialah nilai tambah, bukan pengganti kaedah fizikal.</a:t>
            </a:r>
            <a:endParaRPr lang="en-US" sz="1100" dirty="0"/>
          </a:p>
        </p:txBody>
      </p:sp>
      <p:sp>
        <p:nvSpPr>
          <p:cNvPr id="19" name="Shape 14"/>
          <p:cNvSpPr/>
          <p:nvPr/>
        </p:nvSpPr>
        <p:spPr>
          <a:xfrm>
            <a:off x="548640" y="5202936"/>
            <a:ext cx="11064240" cy="1051560"/>
          </a:xfrm>
          <a:prstGeom prst="roundRect">
            <a:avLst>
              <a:gd name="adj" fmla="val 6957"/>
            </a:avLst>
          </a:prstGeom>
          <a:solidFill>
            <a:srgbClr val="F5F7FC"/>
          </a:solidFill>
          <a:ln w="12700">
            <a:solidFill>
              <a:srgbClr val="E7EAF2"/>
            </a:solidFill>
            <a:prstDash val="solid"/>
          </a:ln>
        </p:spPr>
      </p:sp>
      <p:sp>
        <p:nvSpPr>
          <p:cNvPr id="20" name="Shape 15"/>
          <p:cNvSpPr/>
          <p:nvPr/>
        </p:nvSpPr>
        <p:spPr>
          <a:xfrm>
            <a:off x="731520" y="5431536"/>
            <a:ext cx="594360" cy="594360"/>
          </a:xfrm>
          <a:prstGeom prst="ellipse">
            <a:avLst/>
          </a:prstGeom>
          <a:solidFill>
            <a:srgbClr val="1E2761"/>
          </a:solidFill>
          <a:ln/>
        </p:spPr>
      </p:sp>
      <p:pic>
        <p:nvPicPr>
          <p:cNvPr id="21" name="Image 3" descr="/home/claude/shared_icons/icon_question.png">    </p:cNvPr>
          <p:cNvPicPr>
            <a:picLocks noChangeAspect="1"/>
          </p:cNvPicPr>
          <p:nvPr/>
        </p:nvPicPr>
        <p:blipFill>
          <a:blip r:embed="rId4"/>
          <a:stretch>
            <a:fillRect/>
          </a:stretch>
        </p:blipFill>
        <p:spPr>
          <a:xfrm>
            <a:off x="814730" y="5514746"/>
            <a:ext cx="427939" cy="427939"/>
          </a:xfrm>
          <a:prstGeom prst="rect">
            <a:avLst/>
          </a:prstGeom>
        </p:spPr>
      </p:pic>
      <p:sp>
        <p:nvSpPr>
          <p:cNvPr id="22" name="Text 16"/>
          <p:cNvSpPr txBox="1"/>
          <p:nvPr/>
        </p:nvSpPr>
        <p:spPr>
          <a:xfrm>
            <a:off x="1508760" y="5294376"/>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Di mana boleh dapatkan bahan kurikulum versi interaktif?</a:t>
            </a:r>
            <a:endParaRPr lang="en-US" sz="1200" dirty="0"/>
          </a:p>
        </p:txBody>
      </p:sp>
      <p:sp>
        <p:nvSpPr>
          <p:cNvPr id="23" name="Text 17"/>
          <p:cNvSpPr txBox="1"/>
          <p:nvPr/>
        </p:nvSpPr>
        <p:spPr>
          <a:xfrm>
            <a:off x="1508760" y="5705856"/>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Akses “Buku Pintar” (gamifikasi interaktif) melalui portal rasmi DELIMa.</a:t>
            </a:r>
            <a:endParaRPr lang="en-US" sz="1100" dirty="0"/>
          </a:p>
        </p:txBody>
      </p:sp>
      <p:sp>
        <p:nvSpPr>
          <p:cNvPr id="24"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Aplikasi Dinamik, Bhg. 12</a:t>
            </a:r>
            <a:endParaRPr lang="en-US" sz="1000" dirty="0"/>
          </a:p>
        </p:txBody>
      </p:sp>
      <p:sp>
        <p:nvSpPr>
          <p:cNvPr id="25"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RUMUSAN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Rumusan Sidang 6</a:t>
            </a:r>
            <a:endParaRPr lang="en-US" sz="2600" dirty="0"/>
          </a:p>
        </p:txBody>
      </p:sp>
      <p:sp>
        <p:nvSpPr>
          <p:cNvPr id="4" name="Shape 2"/>
          <p:cNvSpPr/>
          <p:nvPr/>
        </p:nvSpPr>
        <p:spPr>
          <a:xfrm>
            <a:off x="548640" y="1737360"/>
            <a:ext cx="2651760" cy="3566160"/>
          </a:xfrm>
          <a:prstGeom prst="roundRect">
            <a:avLst>
              <a:gd name="adj" fmla="val 2759"/>
            </a:avLst>
          </a:prstGeom>
          <a:solidFill>
            <a:srgbClr val="1E2761"/>
          </a:solidFill>
          <a:ln/>
        </p:spPr>
      </p:sp>
      <p:sp>
        <p:nvSpPr>
          <p:cNvPr id="5" name="Shape 3"/>
          <p:cNvSpPr/>
          <p:nvPr/>
        </p:nvSpPr>
        <p:spPr>
          <a:xfrm>
            <a:off x="1508760" y="2057400"/>
            <a:ext cx="731520" cy="731520"/>
          </a:xfrm>
          <a:prstGeom prst="ellipse">
            <a:avLst/>
          </a:prstGeom>
          <a:solidFill>
            <a:srgbClr val="F2B705"/>
          </a:solidFill>
          <a:ln/>
        </p:spPr>
      </p:sp>
      <p:pic>
        <p:nvPicPr>
          <p:cNvPr id="6" name="Image 0" descr="/home/claude/shared_icons/icon_drawPolygon.png">    </p:cNvPr>
          <p:cNvPicPr>
            <a:picLocks noChangeAspect="1"/>
          </p:cNvPicPr>
          <p:nvPr/>
        </p:nvPicPr>
        <p:blipFill>
          <a:blip r:embed="rId1"/>
          <a:stretch>
            <a:fillRect/>
          </a:stretch>
        </p:blipFill>
        <p:spPr>
          <a:xfrm>
            <a:off x="1611173" y="2159813"/>
            <a:ext cx="526694" cy="526694"/>
          </a:xfrm>
          <a:prstGeom prst="rect">
            <a:avLst/>
          </a:prstGeom>
        </p:spPr>
      </p:pic>
      <p:sp>
        <p:nvSpPr>
          <p:cNvPr id="7" name="Text 4"/>
          <p:cNvSpPr txBox="1"/>
          <p:nvPr/>
        </p:nvSpPr>
        <p:spPr>
          <a:xfrm>
            <a:off x="685800" y="2971800"/>
            <a:ext cx="237744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6.0 Garis dan Sudut</a:t>
            </a:r>
            <a:endParaRPr lang="en-US" sz="1250" dirty="0"/>
          </a:p>
        </p:txBody>
      </p:sp>
      <p:sp>
        <p:nvSpPr>
          <p:cNvPr id="8" name="Text 5"/>
          <p:cNvSpPr txBox="1"/>
          <p:nvPr/>
        </p:nvSpPr>
        <p:spPr>
          <a:xfrm>
            <a:off x="731520" y="3520440"/>
            <a:ext cx="2286000" cy="1645920"/>
          </a:xfrm>
          <a:prstGeom prst="rect">
            <a:avLst/>
          </a:prstGeom>
          <a:noFill/>
          <a:ln/>
        </p:spPr>
        <p:txBody>
          <a:bodyPr wrap="square" rtlCol="0" anchor="t"/>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6.1 Garis &amp; Jenis Sudut, 6.2 Sudut Berkaitan Garis Selari (skop terhad, tiada sudut dongak/tunduk).</a:t>
            </a:r>
            <a:endParaRPr lang="en-US" sz="1000" dirty="0"/>
          </a:p>
        </p:txBody>
      </p:sp>
      <p:sp>
        <p:nvSpPr>
          <p:cNvPr id="9" name="Shape 6"/>
          <p:cNvSpPr/>
          <p:nvPr/>
        </p:nvSpPr>
        <p:spPr>
          <a:xfrm>
            <a:off x="3429000" y="1737360"/>
            <a:ext cx="2651760" cy="3566160"/>
          </a:xfrm>
          <a:prstGeom prst="roundRect">
            <a:avLst>
              <a:gd name="adj" fmla="val 2759"/>
            </a:avLst>
          </a:prstGeom>
          <a:solidFill>
            <a:srgbClr val="1E2761"/>
          </a:solidFill>
          <a:ln/>
        </p:spPr>
      </p:sp>
      <p:sp>
        <p:nvSpPr>
          <p:cNvPr id="10" name="Shape 7"/>
          <p:cNvSpPr/>
          <p:nvPr/>
        </p:nvSpPr>
        <p:spPr>
          <a:xfrm>
            <a:off x="4389120" y="2057400"/>
            <a:ext cx="731520" cy="731520"/>
          </a:xfrm>
          <a:prstGeom prst="ellipse">
            <a:avLst/>
          </a:prstGeom>
          <a:solidFill>
            <a:srgbClr val="F2B705"/>
          </a:solidFill>
          <a:ln/>
        </p:spPr>
      </p:sp>
      <p:pic>
        <p:nvPicPr>
          <p:cNvPr id="11" name="Image 1" descr="/home/claude/shared_icons/icon_shapes.png">    </p:cNvPr>
          <p:cNvPicPr>
            <a:picLocks noChangeAspect="1"/>
          </p:cNvPicPr>
          <p:nvPr/>
        </p:nvPicPr>
        <p:blipFill>
          <a:blip r:embed="rId2"/>
          <a:stretch>
            <a:fillRect/>
          </a:stretch>
        </p:blipFill>
        <p:spPr>
          <a:xfrm>
            <a:off x="4491533" y="2159813"/>
            <a:ext cx="526694" cy="526694"/>
          </a:xfrm>
          <a:prstGeom prst="rect">
            <a:avLst/>
          </a:prstGeom>
        </p:spPr>
      </p:pic>
      <p:sp>
        <p:nvSpPr>
          <p:cNvPr id="12" name="Text 8"/>
          <p:cNvSpPr txBox="1"/>
          <p:nvPr/>
        </p:nvSpPr>
        <p:spPr>
          <a:xfrm>
            <a:off x="3566160" y="2971800"/>
            <a:ext cx="237744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7.0 Segi Tiga &amp; Sisi Empat</a:t>
            </a:r>
            <a:endParaRPr lang="en-US" sz="1250" dirty="0"/>
          </a:p>
        </p:txBody>
      </p:sp>
      <p:sp>
        <p:nvSpPr>
          <p:cNvPr id="13" name="Text 9"/>
          <p:cNvSpPr txBox="1"/>
          <p:nvPr/>
        </p:nvSpPr>
        <p:spPr>
          <a:xfrm>
            <a:off x="3611880" y="3520440"/>
            <a:ext cx="2286000" cy="1645920"/>
          </a:xfrm>
          <a:prstGeom prst="rect">
            <a:avLst/>
          </a:prstGeom>
          <a:noFill/>
          <a:ln/>
        </p:spPr>
        <p:txBody>
          <a:bodyPr wrap="square" rtlCol="0" anchor="t"/>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Gabungan Tajuk 9+10+13 KSSM — sifat geometri, perimeter, luas, Pythagoras dalam SATU tajuk.</a:t>
            </a:r>
            <a:endParaRPr lang="en-US" sz="1000" dirty="0"/>
          </a:p>
        </p:txBody>
      </p:sp>
      <p:sp>
        <p:nvSpPr>
          <p:cNvPr id="14" name="Shape 10"/>
          <p:cNvSpPr/>
          <p:nvPr/>
        </p:nvSpPr>
        <p:spPr>
          <a:xfrm>
            <a:off x="6309360" y="1737360"/>
            <a:ext cx="2651760" cy="3566160"/>
          </a:xfrm>
          <a:prstGeom prst="roundRect">
            <a:avLst>
              <a:gd name="adj" fmla="val 2759"/>
            </a:avLst>
          </a:prstGeom>
          <a:solidFill>
            <a:srgbClr val="1E2761"/>
          </a:solidFill>
          <a:ln/>
        </p:spPr>
      </p:sp>
      <p:sp>
        <p:nvSpPr>
          <p:cNvPr id="15" name="Shape 11"/>
          <p:cNvSpPr/>
          <p:nvPr/>
        </p:nvSpPr>
        <p:spPr>
          <a:xfrm>
            <a:off x="7269480" y="2057400"/>
            <a:ext cx="731520" cy="731520"/>
          </a:xfrm>
          <a:prstGeom prst="ellipse">
            <a:avLst/>
          </a:prstGeom>
          <a:solidFill>
            <a:srgbClr val="F2B705"/>
          </a:solidFill>
          <a:ln/>
        </p:spPr>
      </p:sp>
      <p:pic>
        <p:nvPicPr>
          <p:cNvPr id="16" name="Image 2" descr="/home/claude/shared_icons/icon_video.png">    </p:cNvPr>
          <p:cNvPicPr>
            <a:picLocks noChangeAspect="1"/>
          </p:cNvPicPr>
          <p:nvPr/>
        </p:nvPicPr>
        <p:blipFill>
          <a:blip r:embed="rId3"/>
          <a:stretch>
            <a:fillRect/>
          </a:stretch>
        </p:blipFill>
        <p:spPr>
          <a:xfrm>
            <a:off x="7371893" y="2159813"/>
            <a:ext cx="526694" cy="526694"/>
          </a:xfrm>
          <a:prstGeom prst="rect">
            <a:avLst/>
          </a:prstGeom>
        </p:spPr>
      </p:pic>
      <p:sp>
        <p:nvSpPr>
          <p:cNvPr id="17" name="Text 12"/>
          <p:cNvSpPr txBox="1"/>
          <p:nvPr/>
        </p:nvSpPr>
        <p:spPr>
          <a:xfrm>
            <a:off x="6446520" y="2971800"/>
            <a:ext cx="237744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Pendekatan PdP</a:t>
            </a:r>
            <a:endParaRPr lang="en-US" sz="1250" dirty="0"/>
          </a:p>
        </p:txBody>
      </p:sp>
      <p:sp>
        <p:nvSpPr>
          <p:cNvPr id="18" name="Text 13"/>
          <p:cNvSpPr txBox="1"/>
          <p:nvPr/>
        </p:nvSpPr>
        <p:spPr>
          <a:xfrm>
            <a:off x="6492240" y="3520440"/>
            <a:ext cx="2286000" cy="1645920"/>
          </a:xfrm>
          <a:prstGeom prst="rect">
            <a:avLst/>
          </a:prstGeom>
          <a:noFill/>
          <a:ln/>
        </p:spPr>
        <p:txBody>
          <a:bodyPr wrap="square" rtlCol="0" anchor="t"/>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Perisian dinamik (4x digalakkan) + Annotator offline + Apowersoft rakaman.</a:t>
            </a:r>
            <a:endParaRPr lang="en-US" sz="1000" dirty="0"/>
          </a:p>
        </p:txBody>
      </p:sp>
      <p:sp>
        <p:nvSpPr>
          <p:cNvPr id="19" name="Shape 14"/>
          <p:cNvSpPr/>
          <p:nvPr/>
        </p:nvSpPr>
        <p:spPr>
          <a:xfrm>
            <a:off x="9189720" y="1737360"/>
            <a:ext cx="2651760" cy="3566160"/>
          </a:xfrm>
          <a:prstGeom prst="roundRect">
            <a:avLst>
              <a:gd name="adj" fmla="val 2759"/>
            </a:avLst>
          </a:prstGeom>
          <a:solidFill>
            <a:srgbClr val="1E2761"/>
          </a:solidFill>
          <a:ln/>
        </p:spPr>
      </p:sp>
      <p:sp>
        <p:nvSpPr>
          <p:cNvPr id="20" name="Shape 15"/>
          <p:cNvSpPr/>
          <p:nvPr/>
        </p:nvSpPr>
        <p:spPr>
          <a:xfrm>
            <a:off x="10149840" y="2057400"/>
            <a:ext cx="731520" cy="731520"/>
          </a:xfrm>
          <a:prstGeom prst="ellipse">
            <a:avLst/>
          </a:prstGeom>
          <a:solidFill>
            <a:srgbClr val="F2B705"/>
          </a:solidFill>
          <a:ln/>
        </p:spPr>
      </p:sp>
      <p:pic>
        <p:nvPicPr>
          <p:cNvPr id="21" name="Image 3" descr="/home/claude/shared_icons/icon_balanceScale.png">    </p:cNvPr>
          <p:cNvPicPr>
            <a:picLocks noChangeAspect="1"/>
          </p:cNvPicPr>
          <p:nvPr/>
        </p:nvPicPr>
        <p:blipFill>
          <a:blip r:embed="rId4"/>
          <a:stretch>
            <a:fillRect/>
          </a:stretch>
        </p:blipFill>
        <p:spPr>
          <a:xfrm>
            <a:off x="10252253" y="2159813"/>
            <a:ext cx="526694" cy="526694"/>
          </a:xfrm>
          <a:prstGeom prst="rect">
            <a:avLst/>
          </a:prstGeom>
        </p:spPr>
      </p:pic>
      <p:sp>
        <p:nvSpPr>
          <p:cNvPr id="22" name="Text 16"/>
          <p:cNvSpPr txBox="1"/>
          <p:nvPr/>
        </p:nvSpPr>
        <p:spPr>
          <a:xfrm>
            <a:off x="9326880" y="2971800"/>
            <a:ext cx="237744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Keseimbangan</a:t>
            </a:r>
            <a:endParaRPr lang="en-US" sz="1250" dirty="0"/>
          </a:p>
        </p:txBody>
      </p:sp>
      <p:sp>
        <p:nvSpPr>
          <p:cNvPr id="23" name="Text 17"/>
          <p:cNvSpPr txBox="1"/>
          <p:nvPr/>
        </p:nvSpPr>
        <p:spPr>
          <a:xfrm>
            <a:off x="9372600" y="3520440"/>
            <a:ext cx="2286000" cy="1645920"/>
          </a:xfrm>
          <a:prstGeom prst="rect">
            <a:avLst/>
          </a:prstGeom>
          <a:noFill/>
          <a:ln/>
        </p:spPr>
        <p:txBody>
          <a:bodyPr wrap="square" rtlCol="0" anchor="t"/>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Teknologi untuk visual/penyerokaan; alatan fizikal WAJIB untuk psikomotor &amp; peperiksaan.</a:t>
            </a:r>
            <a:endParaRPr lang="en-US" sz="1000" dirty="0"/>
          </a:p>
        </p:txBody>
      </p:sp>
      <p:sp>
        <p:nvSpPr>
          <p:cNvPr id="24" name="Text 18"/>
          <p:cNvSpPr txBox="1"/>
          <p:nvPr/>
        </p:nvSpPr>
        <p:spPr>
          <a:xfrm>
            <a:off x="548640" y="5486400"/>
            <a:ext cx="11064240" cy="457200"/>
          </a:xfrm>
          <a:prstGeom prst="rect">
            <a:avLst/>
          </a:prstGeom>
          <a:noFill/>
          <a:ln/>
        </p:spPr>
        <p:txBody>
          <a:bodyPr wrap="square" rtlCol="0" anchor="ctr"/>
          <a:lstStyle/>
          <a:p>
            <a:pPr algn="ctr" indent="0" marL="0">
              <a:buNone/>
            </a:pPr>
            <a:r>
              <a:rPr lang="en-US" sz="1150" i="1" dirty="0">
                <a:solidFill>
                  <a:srgbClr val="5B6472"/>
                </a:solidFill>
                <a:latin typeface="Calibri" pitchFamily="34" charset="0"/>
                <a:ea typeface="Calibri" pitchFamily="34" charset="-122"/>
                <a:cs typeface="Calibri" pitchFamily="34" charset="-120"/>
              </a:rPr>
              <a:t>Teknologi ialah alat sokongan visual yang hebat — tetapi jangan sesekali mengabaikan pengajaran manual demi perkembangan psikomotor murid.</a:t>
            </a:r>
            <a:endParaRPr lang="en-US" sz="1150" dirty="0"/>
          </a:p>
        </p:txBody>
      </p:sp>
      <p:sp>
        <p:nvSpPr>
          <p:cNvPr id="25" name="Text 19"/>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 Analisis Bengkel</a:t>
            </a:r>
            <a:endParaRPr lang="en-US" sz="1000" dirty="0"/>
          </a:p>
        </p:txBody>
      </p:sp>
      <p:sp>
        <p:nvSpPr>
          <p:cNvPr id="26"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TINDAKAN GURU</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Apa Perlu Dibuat Selepas Sidang Ini?</a:t>
            </a:r>
            <a:endParaRPr lang="en-US" sz="2600" dirty="0"/>
          </a:p>
        </p:txBody>
      </p:sp>
      <p:sp>
        <p:nvSpPr>
          <p:cNvPr id="4" name="Shape 2"/>
          <p:cNvSpPr/>
          <p:nvPr/>
        </p:nvSpPr>
        <p:spPr>
          <a:xfrm>
            <a:off x="548640" y="1691640"/>
            <a:ext cx="11064240" cy="658368"/>
          </a:xfrm>
          <a:prstGeom prst="roundRect">
            <a:avLst>
              <a:gd name="adj" fmla="val 8333"/>
            </a:avLst>
          </a:prstGeom>
          <a:solidFill>
            <a:srgbClr val="F5F7FC"/>
          </a:solidFill>
          <a:ln w="12700">
            <a:solidFill>
              <a:srgbClr val="E7EAF2"/>
            </a:solidFill>
            <a:prstDash val="solid"/>
          </a:ln>
        </p:spPr>
      </p:sp>
      <p:sp>
        <p:nvSpPr>
          <p:cNvPr id="5" name="Shape 3"/>
          <p:cNvSpPr/>
          <p:nvPr/>
        </p:nvSpPr>
        <p:spPr>
          <a:xfrm>
            <a:off x="777240" y="1883664"/>
            <a:ext cx="274320" cy="274320"/>
          </a:xfrm>
          <a:prstGeom prst="rect">
            <a:avLst/>
          </a:prstGeom>
          <a:solidFill>
            <a:srgbClr val="FFFFFF"/>
          </a:solidFill>
          <a:ln w="19050">
            <a:solidFill>
              <a:srgbClr val="1E2761"/>
            </a:solidFill>
            <a:prstDash val="solid"/>
          </a:ln>
        </p:spPr>
      </p:sp>
      <p:sp>
        <p:nvSpPr>
          <p:cNvPr id="6" name="Text 4"/>
          <p:cNvSpPr txBox="1"/>
          <p:nvPr/>
        </p:nvSpPr>
        <p:spPr>
          <a:xfrm>
            <a:off x="1234440" y="1691640"/>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Muat turun &amp; cuba SATU perisian dinamik (GeoGebra/Desmos) untuk tajuk Garis dan Sudut.</a:t>
            </a:r>
            <a:endParaRPr lang="en-US" sz="1150" dirty="0"/>
          </a:p>
        </p:txBody>
      </p:sp>
      <p:sp>
        <p:nvSpPr>
          <p:cNvPr id="7" name="Shape 5"/>
          <p:cNvSpPr/>
          <p:nvPr/>
        </p:nvSpPr>
        <p:spPr>
          <a:xfrm>
            <a:off x="548640" y="2441448"/>
            <a:ext cx="11064240" cy="658368"/>
          </a:xfrm>
          <a:prstGeom prst="roundRect">
            <a:avLst>
              <a:gd name="adj" fmla="val 8333"/>
            </a:avLst>
          </a:prstGeom>
          <a:solidFill>
            <a:srgbClr val="F5F7FC"/>
          </a:solidFill>
          <a:ln w="12700">
            <a:solidFill>
              <a:srgbClr val="E7EAF2"/>
            </a:solidFill>
            <a:prstDash val="solid"/>
          </a:ln>
        </p:spPr>
      </p:sp>
      <p:sp>
        <p:nvSpPr>
          <p:cNvPr id="8" name="Shape 6"/>
          <p:cNvSpPr/>
          <p:nvPr/>
        </p:nvSpPr>
        <p:spPr>
          <a:xfrm>
            <a:off x="777240" y="2633472"/>
            <a:ext cx="274320" cy="274320"/>
          </a:xfrm>
          <a:prstGeom prst="rect">
            <a:avLst/>
          </a:prstGeom>
          <a:solidFill>
            <a:srgbClr val="FFFFFF"/>
          </a:solidFill>
          <a:ln w="19050">
            <a:solidFill>
              <a:srgbClr val="1E2761"/>
            </a:solidFill>
            <a:prstDash val="solid"/>
          </a:ln>
        </p:spPr>
      </p:sp>
      <p:sp>
        <p:nvSpPr>
          <p:cNvPr id="9" name="Text 7"/>
          <p:cNvSpPr txBox="1"/>
          <p:nvPr/>
        </p:nvSpPr>
        <p:spPr>
          <a:xfrm>
            <a:off x="1234440" y="2441448"/>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Sediakan alternatif offline (Annotator) sekiranya sekolah bermasalah internet.</a:t>
            </a:r>
            <a:endParaRPr lang="en-US" sz="1150" dirty="0"/>
          </a:p>
        </p:txBody>
      </p:sp>
      <p:sp>
        <p:nvSpPr>
          <p:cNvPr id="10" name="Shape 8"/>
          <p:cNvSpPr/>
          <p:nvPr/>
        </p:nvSpPr>
        <p:spPr>
          <a:xfrm>
            <a:off x="548640" y="3191256"/>
            <a:ext cx="11064240" cy="658368"/>
          </a:xfrm>
          <a:prstGeom prst="roundRect">
            <a:avLst>
              <a:gd name="adj" fmla="val 8333"/>
            </a:avLst>
          </a:prstGeom>
          <a:solidFill>
            <a:srgbClr val="F5F7FC"/>
          </a:solidFill>
          <a:ln w="12700">
            <a:solidFill>
              <a:srgbClr val="E7EAF2"/>
            </a:solidFill>
            <a:prstDash val="solid"/>
          </a:ln>
        </p:spPr>
      </p:sp>
      <p:sp>
        <p:nvSpPr>
          <p:cNvPr id="11" name="Shape 9"/>
          <p:cNvSpPr/>
          <p:nvPr/>
        </p:nvSpPr>
        <p:spPr>
          <a:xfrm>
            <a:off x="777240" y="3383280"/>
            <a:ext cx="274320" cy="274320"/>
          </a:xfrm>
          <a:prstGeom prst="rect">
            <a:avLst/>
          </a:prstGeom>
          <a:solidFill>
            <a:srgbClr val="FFFFFF"/>
          </a:solidFill>
          <a:ln w="19050">
            <a:solidFill>
              <a:srgbClr val="1E2761"/>
            </a:solidFill>
            <a:prstDash val="solid"/>
          </a:ln>
        </p:spPr>
      </p:sp>
      <p:sp>
        <p:nvSpPr>
          <p:cNvPr id="12" name="Text 10"/>
          <p:cNvSpPr txBox="1"/>
          <p:nvPr/>
        </p:nvSpPr>
        <p:spPr>
          <a:xfrm>
            <a:off x="1234440" y="3191256"/>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Semak pautan QR Code GeoGebra dalam buku teks sedia ada — laporkan/gantikan yang luput.</a:t>
            </a:r>
            <a:endParaRPr lang="en-US" sz="1150" dirty="0"/>
          </a:p>
        </p:txBody>
      </p:sp>
      <p:sp>
        <p:nvSpPr>
          <p:cNvPr id="13" name="Shape 11"/>
          <p:cNvSpPr/>
          <p:nvPr/>
        </p:nvSpPr>
        <p:spPr>
          <a:xfrm>
            <a:off x="548640" y="3941064"/>
            <a:ext cx="11064240" cy="658368"/>
          </a:xfrm>
          <a:prstGeom prst="roundRect">
            <a:avLst>
              <a:gd name="adj" fmla="val 8333"/>
            </a:avLst>
          </a:prstGeom>
          <a:solidFill>
            <a:srgbClr val="F5F7FC"/>
          </a:solidFill>
          <a:ln w="12700">
            <a:solidFill>
              <a:srgbClr val="E7EAF2"/>
            </a:solidFill>
            <a:prstDash val="solid"/>
          </a:ln>
        </p:spPr>
      </p:sp>
      <p:sp>
        <p:nvSpPr>
          <p:cNvPr id="14" name="Shape 12"/>
          <p:cNvSpPr/>
          <p:nvPr/>
        </p:nvSpPr>
        <p:spPr>
          <a:xfrm>
            <a:off x="777240" y="4133088"/>
            <a:ext cx="274320" cy="274320"/>
          </a:xfrm>
          <a:prstGeom prst="rect">
            <a:avLst/>
          </a:prstGeom>
          <a:solidFill>
            <a:srgbClr val="FFFFFF"/>
          </a:solidFill>
          <a:ln w="19050">
            <a:solidFill>
              <a:srgbClr val="1E2761"/>
            </a:solidFill>
            <a:prstDash val="solid"/>
          </a:ln>
        </p:spPr>
      </p:sp>
      <p:sp>
        <p:nvSpPr>
          <p:cNvPr id="15" name="Text 13"/>
          <p:cNvSpPr txBox="1"/>
          <p:nvPr/>
        </p:nvSpPr>
        <p:spPr>
          <a:xfrm>
            <a:off x="1234440" y="3941064"/>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Rancang SATU sesi PdP modular menggabungkan SP 6.1.1 dengan SP 7.1.1.</a:t>
            </a:r>
            <a:endParaRPr lang="en-US" sz="1150" dirty="0"/>
          </a:p>
        </p:txBody>
      </p:sp>
      <p:sp>
        <p:nvSpPr>
          <p:cNvPr id="16" name="Shape 14"/>
          <p:cNvSpPr/>
          <p:nvPr/>
        </p:nvSpPr>
        <p:spPr>
          <a:xfrm>
            <a:off x="548640" y="4690872"/>
            <a:ext cx="11064240" cy="658368"/>
          </a:xfrm>
          <a:prstGeom prst="roundRect">
            <a:avLst>
              <a:gd name="adj" fmla="val 8333"/>
            </a:avLst>
          </a:prstGeom>
          <a:solidFill>
            <a:srgbClr val="F5F7FC"/>
          </a:solidFill>
          <a:ln w="12700">
            <a:solidFill>
              <a:srgbClr val="E7EAF2"/>
            </a:solidFill>
            <a:prstDash val="solid"/>
          </a:ln>
        </p:spPr>
      </p:sp>
      <p:sp>
        <p:nvSpPr>
          <p:cNvPr id="17" name="Shape 15"/>
          <p:cNvSpPr/>
          <p:nvPr/>
        </p:nvSpPr>
        <p:spPr>
          <a:xfrm>
            <a:off x="777240" y="4882896"/>
            <a:ext cx="274320" cy="274320"/>
          </a:xfrm>
          <a:prstGeom prst="rect">
            <a:avLst/>
          </a:prstGeom>
          <a:solidFill>
            <a:srgbClr val="FFFFFF"/>
          </a:solidFill>
          <a:ln w="19050">
            <a:solidFill>
              <a:srgbClr val="1E2761"/>
            </a:solidFill>
            <a:prstDash val="solid"/>
          </a:ln>
        </p:spPr>
      </p:sp>
      <p:sp>
        <p:nvSpPr>
          <p:cNvPr id="18" name="Text 16"/>
          <p:cNvSpPr txBox="1"/>
          <p:nvPr/>
        </p:nvSpPr>
        <p:spPr>
          <a:xfrm>
            <a:off x="1234440" y="4690872"/>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Pastikan murid tetap berlatih menggunakan jangka lukis &amp; protraktor fizikal secara manual.</a:t>
            </a:r>
            <a:endParaRPr lang="en-US" sz="1150" dirty="0"/>
          </a:p>
        </p:txBody>
      </p:sp>
      <p:sp>
        <p:nvSpPr>
          <p:cNvPr id="19" name="Shape 17"/>
          <p:cNvSpPr/>
          <p:nvPr/>
        </p:nvSpPr>
        <p:spPr>
          <a:xfrm>
            <a:off x="548640" y="5440680"/>
            <a:ext cx="11064240" cy="658368"/>
          </a:xfrm>
          <a:prstGeom prst="roundRect">
            <a:avLst>
              <a:gd name="adj" fmla="val 8333"/>
            </a:avLst>
          </a:prstGeom>
          <a:solidFill>
            <a:srgbClr val="F5F7FC"/>
          </a:solidFill>
          <a:ln w="12700">
            <a:solidFill>
              <a:srgbClr val="E7EAF2"/>
            </a:solidFill>
            <a:prstDash val="solid"/>
          </a:ln>
        </p:spPr>
      </p:sp>
      <p:sp>
        <p:nvSpPr>
          <p:cNvPr id="20" name="Shape 18"/>
          <p:cNvSpPr/>
          <p:nvPr/>
        </p:nvSpPr>
        <p:spPr>
          <a:xfrm>
            <a:off x="777240" y="5632704"/>
            <a:ext cx="274320" cy="274320"/>
          </a:xfrm>
          <a:prstGeom prst="rect">
            <a:avLst/>
          </a:prstGeom>
          <a:solidFill>
            <a:srgbClr val="FFFFFF"/>
          </a:solidFill>
          <a:ln w="19050">
            <a:solidFill>
              <a:srgbClr val="1E2761"/>
            </a:solidFill>
            <a:prstDash val="solid"/>
          </a:ln>
        </p:spPr>
      </p:sp>
      <p:sp>
        <p:nvSpPr>
          <p:cNvPr id="21" name="Text 19"/>
          <p:cNvSpPr txBox="1"/>
          <p:nvPr/>
        </p:nvSpPr>
        <p:spPr>
          <a:xfrm>
            <a:off x="1234440" y="5440680"/>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Kongsikan bahan ini kepada rakan sekolah yang tidak dapat hadir sidang asal.</a:t>
            </a:r>
            <a:endParaRPr lang="en-US" sz="1150" dirty="0"/>
          </a:p>
        </p:txBody>
      </p:sp>
      <p:sp>
        <p:nvSpPr>
          <p:cNvPr id="22"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[CADANGAN PEMBANGUN MODUL] Senarai semak tindakan susulan</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6  |  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640080"/>
            <a:ext cx="9144000" cy="365760"/>
          </a:xfrm>
          <a:prstGeom prst="rect">
            <a:avLst/>
          </a:prstGeom>
          <a:noFill/>
          <a:ln/>
        </p:spPr>
        <p:txBody>
          <a:bodyPr wrap="square" rtlCol="0" anchor="ctr"/>
          <a:lstStyle/>
          <a:p>
            <a:pPr indent="0" marL="0">
              <a:buNone/>
            </a:pPr>
            <a:r>
              <a:rPr lang="en-US" sz="1400" b="1" spc="300" kern="0" dirty="0">
                <a:solidFill>
                  <a:srgbClr val="F2B705"/>
                </a:solidFill>
                <a:latin typeface="Calibri" pitchFamily="34" charset="0"/>
                <a:ea typeface="Calibri" pitchFamily="34" charset="-122"/>
                <a:cs typeface="Calibri" pitchFamily="34" charset="-120"/>
              </a:rPr>
              <a:t>TAKEAWAY</a:t>
            </a:r>
            <a:endParaRPr lang="en-US" sz="1400" dirty="0"/>
          </a:p>
        </p:txBody>
      </p:sp>
      <p:sp>
        <p:nvSpPr>
          <p:cNvPr id="5" name="Text 3"/>
          <p:cNvSpPr txBox="1"/>
          <p:nvPr/>
        </p:nvSpPr>
        <p:spPr>
          <a:xfrm>
            <a:off x="822960" y="1005840"/>
            <a:ext cx="100584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Perkara Wajib Dibawa Pulang</a:t>
            </a:r>
            <a:endParaRPr lang="en-US" sz="3200" dirty="0"/>
          </a:p>
        </p:txBody>
      </p:sp>
      <p:sp>
        <p:nvSpPr>
          <p:cNvPr id="6" name="Shape 4"/>
          <p:cNvSpPr/>
          <p:nvPr/>
        </p:nvSpPr>
        <p:spPr>
          <a:xfrm>
            <a:off x="822960" y="1965960"/>
            <a:ext cx="457200" cy="457200"/>
          </a:xfrm>
          <a:prstGeom prst="ellipse">
            <a:avLst/>
          </a:prstGeom>
          <a:solidFill>
            <a:srgbClr val="F2B705"/>
          </a:solidFill>
          <a:ln/>
        </p:spPr>
      </p:sp>
      <p:pic>
        <p:nvPicPr>
          <p:cNvPr id="7" name="Image 0" descr="/home/claude/shared_icons/icon_check.png">    </p:cNvPr>
          <p:cNvPicPr>
            <a:picLocks noChangeAspect="1"/>
          </p:cNvPicPr>
          <p:nvPr/>
        </p:nvPicPr>
        <p:blipFill>
          <a:blip r:embed="rId1"/>
          <a:stretch>
            <a:fillRect/>
          </a:stretch>
        </p:blipFill>
        <p:spPr>
          <a:xfrm>
            <a:off x="886968" y="2029968"/>
            <a:ext cx="329184" cy="329184"/>
          </a:xfrm>
          <a:prstGeom prst="rect">
            <a:avLst/>
          </a:prstGeom>
        </p:spPr>
      </p:pic>
      <p:sp>
        <p:nvSpPr>
          <p:cNvPr id="8" name="Text 5"/>
          <p:cNvSpPr txBox="1"/>
          <p:nvPr/>
        </p:nvSpPr>
        <p:spPr>
          <a:xfrm>
            <a:off x="1463040" y="1984248"/>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Tajuk 7 DKP2027 = gabungan Poligon Asas + Perimeter/Luas + Teorem Pythagoras (Tajuk 9+10+13 KSSM).</a:t>
            </a:r>
            <a:endParaRPr lang="en-US" sz="1300" dirty="0"/>
          </a:p>
        </p:txBody>
      </p:sp>
      <p:sp>
        <p:nvSpPr>
          <p:cNvPr id="9" name="Shape 6"/>
          <p:cNvSpPr/>
          <p:nvPr/>
        </p:nvSpPr>
        <p:spPr>
          <a:xfrm>
            <a:off x="822960" y="2624328"/>
            <a:ext cx="457200" cy="457200"/>
          </a:xfrm>
          <a:prstGeom prst="ellipse">
            <a:avLst/>
          </a:prstGeom>
          <a:solidFill>
            <a:srgbClr val="F2B705"/>
          </a:solidFill>
          <a:ln/>
        </p:spPr>
      </p:sp>
      <p:pic>
        <p:nvPicPr>
          <p:cNvPr id="10" name="Image 1" descr="/home/claude/shared_icons/icon_check.png">    </p:cNvPr>
          <p:cNvPicPr>
            <a:picLocks noChangeAspect="1"/>
          </p:cNvPicPr>
          <p:nvPr/>
        </p:nvPicPr>
        <p:blipFill>
          <a:blip r:embed="rId2"/>
          <a:stretch>
            <a:fillRect/>
          </a:stretch>
        </p:blipFill>
        <p:spPr>
          <a:xfrm>
            <a:off x="886968" y="2688336"/>
            <a:ext cx="329184" cy="329184"/>
          </a:xfrm>
          <a:prstGeom prst="rect">
            <a:avLst/>
          </a:prstGeom>
        </p:spPr>
      </p:pic>
      <p:sp>
        <p:nvSpPr>
          <p:cNvPr id="11" name="Text 7"/>
          <p:cNvSpPr txBox="1"/>
          <p:nvPr/>
        </p:nvSpPr>
        <p:spPr>
          <a:xfrm>
            <a:off x="1463040" y="2642616"/>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SP 6.2: sudut dongak/tunduk TIDAK dalam skop — hanya sepadan, selang-seli, pedalaman.</a:t>
            </a:r>
            <a:endParaRPr lang="en-US" sz="1300" dirty="0"/>
          </a:p>
        </p:txBody>
      </p:sp>
      <p:sp>
        <p:nvSpPr>
          <p:cNvPr id="12" name="Shape 8"/>
          <p:cNvSpPr/>
          <p:nvPr/>
        </p:nvSpPr>
        <p:spPr>
          <a:xfrm>
            <a:off x="822960" y="3282696"/>
            <a:ext cx="457200" cy="457200"/>
          </a:xfrm>
          <a:prstGeom prst="ellipse">
            <a:avLst/>
          </a:prstGeom>
          <a:solidFill>
            <a:srgbClr val="F2B705"/>
          </a:solidFill>
          <a:ln/>
        </p:spPr>
      </p:sp>
      <p:pic>
        <p:nvPicPr>
          <p:cNvPr id="13" name="Image 2" descr="/home/claude/shared_icons/icon_check.png">    </p:cNvPr>
          <p:cNvPicPr>
            <a:picLocks noChangeAspect="1"/>
          </p:cNvPicPr>
          <p:nvPr/>
        </p:nvPicPr>
        <p:blipFill>
          <a:blip r:embed="rId3"/>
          <a:stretch>
            <a:fillRect/>
          </a:stretch>
        </p:blipFill>
        <p:spPr>
          <a:xfrm>
            <a:off x="886968" y="3346704"/>
            <a:ext cx="329184" cy="329184"/>
          </a:xfrm>
          <a:prstGeom prst="rect">
            <a:avLst/>
          </a:prstGeom>
        </p:spPr>
      </p:pic>
      <p:sp>
        <p:nvSpPr>
          <p:cNvPr id="14" name="Text 9"/>
          <p:cNvSpPr txBox="1"/>
          <p:nvPr/>
        </p:nvSpPr>
        <p:spPr>
          <a:xfrm>
            <a:off x="1463040" y="3300984"/>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SP 7.2.2: Pythagoras bagi bentuk gabungan TERHAD kepada gabungan segi tiga sahaja.</a:t>
            </a:r>
            <a:endParaRPr lang="en-US" sz="1300" dirty="0"/>
          </a:p>
        </p:txBody>
      </p:sp>
      <p:sp>
        <p:nvSpPr>
          <p:cNvPr id="15" name="Shape 10"/>
          <p:cNvSpPr/>
          <p:nvPr/>
        </p:nvSpPr>
        <p:spPr>
          <a:xfrm>
            <a:off x="822960" y="3941064"/>
            <a:ext cx="457200" cy="457200"/>
          </a:xfrm>
          <a:prstGeom prst="ellipse">
            <a:avLst/>
          </a:prstGeom>
          <a:solidFill>
            <a:srgbClr val="F2B705"/>
          </a:solidFill>
          <a:ln/>
        </p:spPr>
      </p:sp>
      <p:pic>
        <p:nvPicPr>
          <p:cNvPr id="16" name="Image 3" descr="/home/claude/shared_icons/icon_check.png">    </p:cNvPr>
          <p:cNvPicPr>
            <a:picLocks noChangeAspect="1"/>
          </p:cNvPicPr>
          <p:nvPr/>
        </p:nvPicPr>
        <p:blipFill>
          <a:blip r:embed="rId4"/>
          <a:stretch>
            <a:fillRect/>
          </a:stretch>
        </p:blipFill>
        <p:spPr>
          <a:xfrm>
            <a:off x="886968" y="4005072"/>
            <a:ext cx="329184" cy="329184"/>
          </a:xfrm>
          <a:prstGeom prst="rect">
            <a:avLst/>
          </a:prstGeom>
        </p:spPr>
      </p:pic>
      <p:sp>
        <p:nvSpPr>
          <p:cNvPr id="17" name="Text 11"/>
          <p:cNvSpPr txBox="1"/>
          <p:nvPr/>
        </p:nvSpPr>
        <p:spPr>
          <a:xfrm>
            <a:off x="1463040" y="3959352"/>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Perisian dinamik digalakkan 4 kali dalam Nota — tetapi alatan fizikal tetap WAJIB.</a:t>
            </a:r>
            <a:endParaRPr lang="en-US" sz="1300" dirty="0"/>
          </a:p>
        </p:txBody>
      </p:sp>
      <p:sp>
        <p:nvSpPr>
          <p:cNvPr id="18" name="Shape 12"/>
          <p:cNvSpPr/>
          <p:nvPr/>
        </p:nvSpPr>
        <p:spPr>
          <a:xfrm>
            <a:off x="822960" y="4599432"/>
            <a:ext cx="457200" cy="457200"/>
          </a:xfrm>
          <a:prstGeom prst="ellipse">
            <a:avLst/>
          </a:prstGeom>
          <a:solidFill>
            <a:srgbClr val="F2B705"/>
          </a:solidFill>
          <a:ln/>
        </p:spPr>
      </p:sp>
      <p:pic>
        <p:nvPicPr>
          <p:cNvPr id="19" name="Image 4" descr="/home/claude/shared_icons/icon_check.png">    </p:cNvPr>
          <p:cNvPicPr>
            <a:picLocks noChangeAspect="1"/>
          </p:cNvPicPr>
          <p:nvPr/>
        </p:nvPicPr>
        <p:blipFill>
          <a:blip r:embed="rId5"/>
          <a:stretch>
            <a:fillRect/>
          </a:stretch>
        </p:blipFill>
        <p:spPr>
          <a:xfrm>
            <a:off x="886968" y="4663440"/>
            <a:ext cx="329184" cy="329184"/>
          </a:xfrm>
          <a:prstGeom prst="rect">
            <a:avLst/>
          </a:prstGeom>
        </p:spPr>
      </p:pic>
      <p:sp>
        <p:nvSpPr>
          <p:cNvPr id="20" name="Text 13"/>
          <p:cNvSpPr txBox="1"/>
          <p:nvPr/>
        </p:nvSpPr>
        <p:spPr>
          <a:xfrm>
            <a:off x="1463040" y="4617720"/>
            <a:ext cx="987552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Gabungkan SP 6.1.1 dengan SP 7.1.1 secara modular untuk PdP lebih bermakna.</a:t>
            </a:r>
            <a:endParaRPr lang="en-US" sz="1300" dirty="0"/>
          </a:p>
        </p:txBody>
      </p:sp>
      <p:sp>
        <p:nvSpPr>
          <p:cNvPr id="21" name="Shape 14"/>
          <p:cNvSpPr/>
          <p:nvPr/>
        </p:nvSpPr>
        <p:spPr>
          <a:xfrm>
            <a:off x="822960" y="5806440"/>
            <a:ext cx="10515600" cy="0"/>
          </a:xfrm>
          <a:prstGeom prst="line">
            <a:avLst/>
          </a:prstGeom>
          <a:noFill/>
          <a:ln w="19050">
            <a:solidFill>
              <a:srgbClr val="141A45"/>
            </a:solidFill>
            <a:prstDash val="solid"/>
          </a:ln>
        </p:spPr>
      </p:sp>
      <p:sp>
        <p:nvSpPr>
          <p:cNvPr id="22" name="Text 15"/>
          <p:cNvSpPr txBox="1"/>
          <p:nvPr/>
        </p:nvSpPr>
        <p:spPr>
          <a:xfrm>
            <a:off x="822960" y="5943600"/>
            <a:ext cx="1051560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Bahagian Pembangunan Kurikulum (BPK)  |  bpk.moe.gov.my  |  #kurikulumkita</a:t>
            </a:r>
            <a:endParaRPr lang="en-US" sz="1100" dirty="0"/>
          </a:p>
        </p:txBody>
      </p:sp>
      <p:sp>
        <p:nvSpPr>
          <p:cNvPr id="23" name="Text 16"/>
          <p:cNvSpPr txBox="1"/>
          <p:nvPr/>
        </p:nvSpPr>
        <p:spPr>
          <a:xfrm>
            <a:off x="822960" y="6263640"/>
            <a:ext cx="10515600"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Calibri" pitchFamily="34" charset="0"/>
                <a:ea typeface="Calibri" pitchFamily="34" charset="-122"/>
                <a:cs typeface="Calibri" pitchFamily="34" charset="-120"/>
              </a:rPr>
              <a:t>Bahan disintesis daripada Slaid Rasmi BPK Sidang 6, Analisis Rakaman Bengkel &amp; Dokumen Kurikulum Matematik. Perkara bertanda [CADANGAN PEMBANGUN MODUL] ialah cadangan penyampai, bukan arahan rasmi KPM.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2026-09-15T10:26:02Z</dcterms:created>
  <dcterms:modified xsi:type="dcterms:W3CDTF">2026-09-15T10:26:02Z</dcterms:modified>
</cp:coreProperties>
</file>