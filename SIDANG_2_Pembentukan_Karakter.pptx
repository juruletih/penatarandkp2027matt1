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1.png"/><Relationship Id="rId4" Type="http://schemas.openxmlformats.org/officeDocument/2006/relationships/image" Target="../media/image-2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1.png"/><Relationship Id="rId5" Type="http://schemas.openxmlformats.org/officeDocument/2006/relationships/image" Target="../media/image-2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PENATARAN KURIKULUM PERSEKOLAHAN 2027  •  SIDANG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Pembentukan Karakter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Penyepaduan dalam Mata Pelajaran KP2027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2194560" cy="0"/>
          </a:xfrm>
          <a:prstGeom prst="line">
            <a:avLst/>
          </a:prstGeom>
          <a:noFill/>
          <a:ln w="38100">
            <a:solidFill>
              <a:srgbClr val="F2B7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“Bina Karakter, Bina Insan Sejahtera”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566928" cy="566928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9" name="Image 0" descr="/home/claude/sidang2_build/icon_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0" y="5062850"/>
            <a:ext cx="408188" cy="4081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72768" y="4983480"/>
            <a:ext cx="566928" cy="566928"/>
          </a:xfrm>
          <a:prstGeom prst="ellipse">
            <a:avLst/>
          </a:prstGeom>
          <a:solidFill>
            <a:srgbClr val="7B4FE0"/>
          </a:solidFill>
          <a:ln/>
        </p:spPr>
      </p:sp>
      <p:pic>
        <p:nvPicPr>
          <p:cNvPr id="11" name="Image 1" descr="/home/claude/sidang2_build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138" y="5062850"/>
            <a:ext cx="408188" cy="4081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22576" y="4983480"/>
            <a:ext cx="566928" cy="566928"/>
          </a:xfrm>
          <a:prstGeom prst="ellipse">
            <a:avLst/>
          </a:prstGeom>
          <a:solidFill>
            <a:srgbClr val="E0A400"/>
          </a:solidFill>
          <a:ln/>
        </p:spPr>
      </p:sp>
      <p:pic>
        <p:nvPicPr>
          <p:cNvPr id="13" name="Image 2" descr="/home/claude/sidang2_build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946" y="5062850"/>
            <a:ext cx="408188" cy="4081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072384" y="4983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/home/claude/sidang2_build/icon_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754" y="5062850"/>
            <a:ext cx="408188" cy="40818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22960" y="5669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Penyayang   •   Berdaya Tahan   •   Berupaya Memimpin   •   Warganegara Aktif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Perkongsian Peringkat Sekolah  |  Disintesis daripada Slaid Rasmi BPK, Analisis Rakaman Bengkel &amp; Dokumen Kurikulum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PEMBELAJARAN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Selepas Sidang Ini, Guru Dapat...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idang2_build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173" y="2159813"/>
            <a:ext cx="526694" cy="526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Menjelaskan matlamat &amp; 4 teras karakter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794760"/>
            <a:ext cx="22494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matlamat Program Pembentukan Karakter dan menghuraikan 4 elemen teras karakter KP2027 berserta nilai di bawahnya.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idang2_build/icon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533" y="215981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Melaksanakan slot mandatori mengikut jadual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630168" y="3794760"/>
            <a:ext cx="22494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 peruntukan masa rasmi (60 minit seminggu) dan cara menyusunnya mengikut tahap persekolahan.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6948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idang2_build/icon_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893" y="215981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73952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Menyepadukan karakter dalam PdP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510528" y="3794760"/>
            <a:ext cx="22494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Mengaplikasikan kaedah penyepaduan elemen teras karakter dalam pengajaran mata pelajaran, termasuk Matematik.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7373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4984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idang2_build/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253" y="2159813"/>
            <a:ext cx="526694" cy="5266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54312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Melapor &amp; mendokumenkan dengan betul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390888" y="3794760"/>
            <a:ext cx="22494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Melaksanakan RPH, merekod ulasan sahsiah dalam SPPB, dan mengelakkan kesilapan lazim pelaksanaan.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Disintesis daripada Slaid BPK Sidang 2 &amp; Analisis Rakaman Bengkel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KESELURUHAN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Program Ini Diperkenalkan?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Pembentukan Karakter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ialah perkara baharu dalam KP2027 — program berbentuk amalan yang membudayakan nilai dan adab murid secara berstruktur dan kontekstual, dilaksanakan bermula peringkat Prasekolah (2026) dan diperluas berperingkat ke sekolah rendah &amp; menengah mulai 2027.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31089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idang2_build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31985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Perubahan Sosial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805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Pengaruh digital, tekanan akademik &amp; hubungan rakan sebaya meningkatkan risiko kepada emosi, tingkah laku dan nilai murid.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2834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31089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2" name="Image 1" descr="/home/claude/sidang2_build/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51" y="31985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Jenayah Kanak-kanak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44805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kes jenayah dalam kalangan kanak-kanak mencerminkan keperluan intervensi karakter.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834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0" y="31089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7" name="Image 2" descr="/home/claude/sidang2_build/icon_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11" y="31985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Isu Kesihatan Mental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44805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isu kesihatan mental murid &amp; remaja memerlukan intervensi yang lebih berfokus dan bersepadu.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89720" y="2834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95560" y="31089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2" name="Image 3" descr="/home/claude/sidang2_build/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1" y="319857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2688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Buli &amp; Buli Siber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9372600" y="44805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kes buli dalam kalangan murid menunjukkan keperluan langkah pencegahan yang lebih berkesan.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3–4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UTAMA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Matlamat Program Pembentukan Karakter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Membentuk insan sejahtera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penyayang, berdaya tahan, berupaya memimpin dan dapat menyumbang secara aktif serta mampan kepada kesejahteraan negara dan dunia sejagat.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Objektif Pembelajaran Program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649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31012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sikap sabar dan cekal dalam menghadapi segala cabaran.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877056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Mempamerkan sikap kasih sayang terhadap diri, komuniti dan alam sekitar.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988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43984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Mengurus emosi serta interaksi sosial secara positif dan berkeyakinan untuk mencapai kesejahteraan sejagat.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65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10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Memimpin dan membuat keputusan rasional dengan mengutamakan nilai integriti dan empati.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6327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632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577840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Melibatkan diri secara aktif dan bertanggungjawab sebagai warganegara demi kesejahteraan komuniti &amp; negara.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5–6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KANDUNGAN UTAMA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 Teras Karakter KP2027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4160520"/>
          </a:xfrm>
          <a:prstGeom prst="roundRect">
            <a:avLst>
              <a:gd name="adj" fmla="val 3448"/>
            </a:avLst>
          </a:prstGeom>
          <a:solidFill>
            <a:srgbClr val="E0435A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0574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sidang2_build/icon_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254" y="2172614"/>
            <a:ext cx="592531" cy="5925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PENYAYANG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840480"/>
            <a:ext cx="22494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Mempamerkan kasih sayang terhadap diri, individu lain, alam sekitar &amp; haiwan.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651760" cy="4160520"/>
          </a:xfrm>
          <a:prstGeom prst="roundRect">
            <a:avLst>
              <a:gd name="adj" fmla="val 3448"/>
            </a:avLst>
          </a:prstGeom>
          <a:solidFill>
            <a:srgbClr val="7B4FE0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0574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sidang2_build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14" y="217261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BERDAYA TAHAN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630168" y="3840480"/>
            <a:ext cx="22494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Sabar, cekal, dan mampu mengurus emosi dengan baik ketika menghadapi cabaran.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691640"/>
            <a:ext cx="2651760" cy="4160520"/>
          </a:xfrm>
          <a:prstGeom prst="roundRect">
            <a:avLst>
              <a:gd name="adj" fmla="val 3448"/>
            </a:avLst>
          </a:prstGeom>
          <a:solidFill>
            <a:srgbClr val="E0A400"/>
          </a:solidFill>
          <a:ln/>
        </p:spPr>
      </p:sp>
      <p:sp>
        <p:nvSpPr>
          <p:cNvPr id="15" name="Shape 11"/>
          <p:cNvSpPr/>
          <p:nvPr/>
        </p:nvSpPr>
        <p:spPr>
          <a:xfrm>
            <a:off x="7223760" y="20574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sidang2_build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974" y="217261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BERUPAYA MEMIMPIN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6510528" y="3840480"/>
            <a:ext cx="22494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Memimpin secara berintegriti untuk mencapai matlamat &amp; menjadi teladan.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691640"/>
            <a:ext cx="2651760" cy="4160520"/>
          </a:xfrm>
          <a:prstGeom prst="roundRect">
            <a:avLst>
              <a:gd name="adj" fmla="val 3448"/>
            </a:avLst>
          </a:prstGeom>
          <a:solidFill>
            <a:srgbClr val="1C729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04120" y="20574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sidang2_build/icon_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334" y="2172614"/>
            <a:ext cx="592531" cy="59253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WARGANEGARA AKTIF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9390888" y="3840480"/>
            <a:ext cx="22494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Terlibat aktif &amp; bertanggungjawab menyumbang kepada komuniti dan negara.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9–12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PENERANGAN TERPERINCI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Nilai di Bawah Setiap Teras Karakter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914400"/>
          </a:xfrm>
          <a:prstGeom prst="rect">
            <a:avLst/>
          </a:prstGeom>
          <a:solidFill>
            <a:srgbClr val="E0435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4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PENYAYANG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178308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Kasih Sayang &amp; Baik Hati • Hormat • Berterima Kasih &amp; Bersyukur • Kebersihan &amp; Berdisiplin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43200"/>
            <a:ext cx="109728" cy="914400"/>
          </a:xfrm>
          <a:prstGeom prst="rect">
            <a:avLst/>
          </a:prstGeom>
          <a:solidFill>
            <a:srgbClr val="7B4FE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926080"/>
            <a:ext cx="548640" cy="548640"/>
          </a:xfrm>
          <a:prstGeom prst="ellipse">
            <a:avLst/>
          </a:prstGeom>
          <a:solidFill>
            <a:srgbClr val="7B4F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834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4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BERDAYA TAHAN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28346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Diri • Tabah dan Tekal • Berkeyakinan dan Berdikari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94760"/>
            <a:ext cx="109728" cy="914400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977640"/>
            <a:ext cx="548640" cy="548640"/>
          </a:xfrm>
          <a:prstGeom prst="ellipse">
            <a:avLst/>
          </a:prstGeom>
          <a:solidFill>
            <a:srgbClr val="E0A4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BERUPAYA MEMIMPIN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160520" y="388620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Ihsan dan Empati • Rasional • Kejujuran dan Integriti • Keberanian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846320"/>
            <a:ext cx="10972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5029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4937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WARGANEGARA AKTIF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160520" y="49377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Taat Setia dan Patriotisme • Kerjasama dan Toleransi • Peka dan Prihatin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9–12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PENERANGAN TERPERINCI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Pelaksanaan Berperingkat (2026–2031)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55648" cy="31089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Prasekolah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342900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mula diperkenalkan secara rasmi.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31089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32304" y="1828800"/>
            <a:ext cx="1755648" cy="31089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32304" y="2011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523744" y="26060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Thn 1 &amp; Tkt 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42900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Bermula di rendah &amp; menengah.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69664" y="31089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15968" y="1828800"/>
            <a:ext cx="1755648" cy="31089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15968" y="2011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26060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Thn 1–2 &amp; Tkt 1–2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43984" y="342900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Diperluas ke kohort baharu.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31089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99632" y="1828800"/>
            <a:ext cx="1755648" cy="31089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99632" y="2011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291072" y="26060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Thn 1–3 &amp; Tkt 1–3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342900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Diperluas secara berperingkat.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1089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83296" y="1828800"/>
            <a:ext cx="1755648" cy="31089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83296" y="2011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174736" y="26060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Thn 1–4 &amp; Tkt 1–4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342900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Diperluas secara berperingkat.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820656" y="31089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966960" y="1828800"/>
            <a:ext cx="1755648" cy="3108960"/>
          </a:xfrm>
          <a:prstGeom prst="roundRect">
            <a:avLst>
              <a:gd name="adj" fmla="val 4167"/>
            </a:avLst>
          </a:prstGeom>
          <a:solidFill>
            <a:srgbClr val="F2B70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66960" y="2011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2031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6060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Thn 1–5 &amp; Tkt 1–5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094976" y="342900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Pelaksanaan menyeluruh.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Peruntukan pelaksanaan KP2027 diperluas secara berperingkat setiap tahun sehingga meliputi kesemua tahun/tingkatan menjelang 2031.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7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RASMI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Peruntukan Masa: 60 Minit Seminggu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828800" cy="1828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24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MINIT/MINGGU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8745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Peruntukan masa bagi Program Pembentukan Karakter ialah sekurang-kurangnya 60 minit seminggu, dilaksanakan secara berperingkat (15 minit sehari).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sidang2_build/icon_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8571" y="2969971"/>
            <a:ext cx="460858" cy="46085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017520" y="3657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Membina Sahsiah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39776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nilai murni murid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184648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sidang2_build/icon_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259" y="29699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93208" y="3657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Melahirkan Insan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5093208" y="39776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seimbang, berdaya saing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260336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sidang2_build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947" y="29699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68896" y="3657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Mengukuhkan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7168896" y="39776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&amp; kebersamaan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336024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sidang2_build/icon_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635" y="296997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44584" y="3657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Menyokong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9244584" y="39776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pembelajaran sepanjang hayat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7240" y="49834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TAHU: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wajib menulis RPH bagi slot ini dan melaksanakannya di dalam kelas. Jemaah Nazir akan memantau pelaksanaan dan kewujudan RPH semasa lawatan.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17  •  [BENGKEL] Analisis Pembinaan Karakter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PENERANGAN TERPERINCI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Jadual Pelaksanaan — Tahap I (Tahun 1 &amp; 2)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Dilaksanakan selama 15 minit SEBELUM WAKTU REHAT, pada SETIAP HARI persekolahan.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7EA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7.30–8.00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PdP (cth. BM)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32304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7EA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32304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8.00–8.30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05456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PdP (cth. Matematik)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69664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15968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7EA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15968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8.30–9.00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PdP (cth. Alam &amp; Manusia)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053328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99632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7EA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99632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9.00–9.30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PdP (cth. BI)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936992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83296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043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83296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9.30–9.45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Pembentukan Karakter (15 minit)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820656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966960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F2B70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66960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9.45–10.15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40112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Rehat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di bawah seliaan guru kelas / guru subjek sedia ada.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Tahap I diletakkan sejurus sebelum waktu rehat pagi.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18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PENERANGAN TERPERINCI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Jadual Pelaksanaan — Tahap II, III &amp; Menengah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minit pada WAKTU PERTAMA jadual, 4 KALI SEMINGGU — kecuali hari perhimpunan rasmi sekolah.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043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7.30–7.45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Pembentukan Karakter (15 minit)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32304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7EA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32304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7.45–8.15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05456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PdP (cth. BM)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69664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15968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7EA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15968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8.15–8.45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PdP (cth. Matematik)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053328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99632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7EA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99632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8.45–9.15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PdP (cth. Sejarah)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936992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83296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E7EA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83296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9.15–9.45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PdP (cth. BI)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820656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966960" y="2468880"/>
            <a:ext cx="1755648" cy="1645920"/>
          </a:xfrm>
          <a:prstGeom prst="roundRect">
            <a:avLst>
              <a:gd name="adj" fmla="val 4444"/>
            </a:avLst>
          </a:prstGeom>
          <a:solidFill>
            <a:srgbClr val="F2B70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66960" y="257860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9.45–10.15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40112" y="3017520"/>
            <a:ext cx="1609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Rehat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5720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tepat (cth. 7.30–7.45) adalah CONTOH sahaja — sekolah menyusun mengikut jadual waktu pertama masing-masing.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Tahap II ke atas, Guru Kaunselor sekolah bertanggungjawab merancang &amp; mengisi modul aktiviti bagi slot ini.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20  •  [BENGKEL] peranan Kaunselor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PENERANGAN TERPERINCI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Bimbingan Guru: Struktur Kandungan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disediakan berasingan bagi Sekolah Rendah &amp; Sekolah Menengah, disusun mengikut 4 elemen teras karakter. Setiap aktiviti dalam modul mengandungi 4 komponen: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 w="19050">
            <a:solidFill>
              <a:srgbClr val="E0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514600"/>
            <a:ext cx="640080" cy="64008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7" name="Image 0" descr="/home/claude/sidang2_build/icon_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26042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NILAI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murni yang ingin diterapkan dalam aktiviti.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2286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 w="19050">
            <a:solidFill>
              <a:srgbClr val="E0A4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2514600"/>
            <a:ext cx="640080" cy="640080"/>
          </a:xfrm>
          <a:prstGeom prst="ellipse">
            <a:avLst/>
          </a:prstGeom>
          <a:solidFill>
            <a:srgbClr val="E0A400"/>
          </a:solidFill>
          <a:ln/>
        </p:spPr>
      </p:sp>
      <p:pic>
        <p:nvPicPr>
          <p:cNvPr id="12" name="Image 1" descr="/home/claude/sidang2_build/icon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51" y="260421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SENARAI AMALAN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Amalan positif yang menyokong pembentukan karakter.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 w="19050">
            <a:solidFill>
              <a:srgbClr val="7B4F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0" y="2514600"/>
            <a:ext cx="640080" cy="640080"/>
          </a:xfrm>
          <a:prstGeom prst="ellipse">
            <a:avLst/>
          </a:prstGeom>
          <a:solidFill>
            <a:srgbClr val="7B4FE0"/>
          </a:solidFill>
          <a:ln/>
        </p:spPr>
      </p:sp>
      <p:pic>
        <p:nvPicPr>
          <p:cNvPr id="17" name="Image 2" descr="/home/claude/sidang2_build/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11" y="260421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080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4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FOKUS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utama yang ingin dicapai melalui aktiviti.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89720" y="2286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195560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sidang2_build/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1" y="260421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CADANGAN SITUASI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372600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situasi praktikal untuk pelaksanaan aktiviti.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84632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77240" y="4956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SEKOLAH RENDAH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disesuaikan dengan konteks &amp; bahasa murid Tahun 1 hingga 5.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217920" y="484632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6446520" y="4956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SEKOLAH MENENGAH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disesuaikan dengan konteks &amp; kematangan murid Tingkatan 1 ke atas.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23–25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MUDAH DIFAHAMI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Aktiviti (15 Minit): Warganegara Aktif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“Pengangkutan Awam Lebih Bermakna”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sidang2_build/icon_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452421"/>
            <a:ext cx="855878" cy="8558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48840" y="233172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melaksanakan simulasi situasi menawarkan tempat duduk kepada wanita mengandung semasa menaiki pengangkutan awam.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03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Teras: Warganegara Aktif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Nilai: Kerjasama, Toleransi, Peka &amp; Prihatin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Konteks: Diri → Individu Lain → Komuniti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074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sebenar dilaksanakan: 1 Alpha, 8 Mei 2026, 7.30 pagi.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17830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 RINGKAS CATATAN RPH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2860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Tarikh :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7432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: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3200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Tahun/Tingkatan :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36576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Teras Karakter : ☐ Penyayang  ☐ Berdaya Tahan  ☐ Berupaya Memimpin  ☐ Warganegara Aktif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4343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Aktiviti :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92240" y="4846320"/>
            <a:ext cx="46634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6492240" y="5212080"/>
            <a:ext cx="46634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6492240" y="53949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 ini boleh disalin ke buku rekod RPH masing-masing.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26–28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RASMI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Pelaporan Pembentukan Karakter dalam SPPB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idang2_build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20555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SIAPA TERLIBAT?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Kelas bertanggungjawab menyediakan ulasan.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idang2_build/icon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51" y="205557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UTAMA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ulasan keseluruhan meliputi nilai, sikap &amp; tingkah laku murid.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idang2_build/icon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11" y="205557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MANA DIREKODKAN?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ulasan dalam Sistem Pengurusan Pentaksiran Bersepadu (SPPB), 2 kali setahun.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89720" y="17373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9556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idang2_build/icon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1" y="205557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menyeluruh, sokong perkembangan sahsiah, bantu tindakan susulan.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77240" y="493776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SPPB ialah singkatan bagi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Pengurusan Pentaksiran Bersepadu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(bukan “Sistem Pentaksiran Pendidikan Kebangsaan” seperti tersalah rujuk dalam sesetengah nota). Pelaporan direkodkan 2 kali setahun.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29–31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UTAMA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Penyepaduan Elemen Teras Karakter dalam Mata Pelajaran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karakter TIDAK diajar sebagai subjek berasingan. Ia disisipkan secara terancang dalam PdP mata pelajaran sedia ada melalui pembelajaran aktif: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256032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idang2_build/icon_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051" y="264993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Perbincangan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88920" y="23317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256032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1" descr="/home/claude/sidang2_build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331" y="26499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036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 Kumpulan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0" y="23317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0" y="256032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5" name="Image 2" descr="/home/claude/sidang2_build/icon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11" y="264993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Penyelesaian Masalah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269480" y="23317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8" name="Shape 13"/>
          <p:cNvSpPr/>
          <p:nvPr/>
        </p:nvSpPr>
        <p:spPr>
          <a:xfrm>
            <a:off x="7955280" y="256032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3" descr="/home/claude/sidang2_build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891" y="2649931"/>
            <a:ext cx="460858" cy="46085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6092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509760" y="23317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10195560" y="256032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3" name="Image 4" descr="/home/claude/sidang2_build/icon_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5171" y="2649931"/>
            <a:ext cx="460858" cy="46085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60120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Penglibatan Komuniti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772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PENYEPADUAN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777240" y="484632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86968" y="4846320"/>
            <a:ext cx="22951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Kenal Pasti Tajuk DSKP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3273552" y="51389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3429000" y="484632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538728" y="4846320"/>
            <a:ext cx="22951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Pilih Elemen Teras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5925312" y="51389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26"/>
          <p:cNvSpPr/>
          <p:nvPr/>
        </p:nvSpPr>
        <p:spPr>
          <a:xfrm>
            <a:off x="6080760" y="484632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190488" y="4846320"/>
            <a:ext cx="22951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Rancang Aktiviti PdP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8577072" y="51389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29"/>
          <p:cNvSpPr/>
          <p:nvPr/>
        </p:nvSpPr>
        <p:spPr>
          <a:xfrm>
            <a:off x="8732520" y="484632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842248" y="4846320"/>
            <a:ext cx="22951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Laksana &amp; Nilai Sahsiah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33–35  •  [BENGKEL] prosedur penyepaduan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APLIKASI DALAM PDP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Matematik Tahun 1 — Tajuk “Wang”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idang2_build/icon_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18726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MATEMATIK TAHUN 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48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Bidang: Nombor dan Operasi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Tajuk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26060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Wang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08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Subtajuk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2606040" y="31089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Nilai Wang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611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Pembelajaran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361188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3.2.1 Menentukan nilai wang kertas hingga RM10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3.2.3 Membandingkan nilai wang kertas dengan wang kertas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466344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E0435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Teras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50109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PENYAYANG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5349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Prihatin terhadap keperluan diri &amp; orang lain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794760" y="466344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931920" y="47548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Karakter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501091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Berterima Kasih &amp; Bersyukur, Kasih Sayang &amp; Baik Hati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52360" y="160020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AKTIVITI: Mengenal Nilai Wang, Bijak Berbelanja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680960" y="2423160"/>
            <a:ext cx="320040" cy="3200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6809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092440" y="236829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memaparkan wang kertas (RM1, RM5, RM10) dan menunjukkan contoh kepada murid.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680960" y="3291840"/>
            <a:ext cx="320040" cy="3200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68096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92440" y="323697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menyebut nilai wang kertas yang ditunjukkan oleh guru.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680960" y="4160520"/>
            <a:ext cx="320040" cy="3200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68096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092440" y="410565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bersoal jawab: nilai wang belanja, cara guna dengan bijak, &amp; tindakan baik jika ada lebihan.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680960" y="5120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“Kira dengan tepat, belanja dengan bijak, hidup lebih baik.”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39–41  (SP rujukan DSKP Matematik Tahun 1)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APLIKASI DALAM PDP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Prinsip yang Sama Terpakai Rentas Mata Pelajaran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Bahasa Melayu (Thn 1)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69164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Kemahiran Mendengar — ucapan selamat, penghargaan, maaf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6916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Penyayang — Hormat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688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Matematik (Thn 1)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4688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Wang — mengenal &amp; membandingkan nilai wang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468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Penyayang — Bersyukur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461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Alam &amp; Manusia (Thn 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24612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 Saya &amp; Keluarga — bahagian tubuh, komunikasi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2461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Penyayang — Kasih Sayang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Pendidikan Moral (Thn 1)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02336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 Diri — maklumat diri, yakin berkongsi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40233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Berdaya Tahan — Harga Diri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B70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956048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PEMBANGUN MODUL: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Slaid rasmi &amp; bengkel hanya memaparkan contoh Tahun 1. Untuk Matematik Tingkatan 1, prinsip sama boleh diaplikasi pada tajuk seperti Pengurusan Kewangan (Nisbah, Kadar &amp; Perkadaran) atau Statistik (Pengendalian Data) — cadangan ini BELUM disahkan sebagai contoh rasmi BPK.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2, m/s 36–63  •  [CADANGAN PEMBANGUN MODUL] untuk Tingkatan 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PERKARA PENTING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yang Guru WAJIB Faham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4767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idang2_build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0136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Teras Karakter: Penyayang, Berdaya Tahan, Berupaya Memimpin, Warganegara Aktif.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94767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/home/claude/sidang2_build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929" y="2018081"/>
            <a:ext cx="362102" cy="3621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180136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Pelaksanaan mandatori: 60 minit seminggu, wajib dalam jadual waktu rasmi.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36499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4" name="Image 2" descr="/home/claude/sidang2_build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9" y="3435401"/>
            <a:ext cx="362102" cy="3621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21868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RPH mandatori: Nazir menyemak RPH pembentukan karakter semasa pemantauan.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3108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17" name="Shape 12"/>
          <p:cNvSpPr/>
          <p:nvPr/>
        </p:nvSpPr>
        <p:spPr>
          <a:xfrm>
            <a:off x="6446520" y="336499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8" name="Image 3" descr="/home/claude/sidang2_build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929" y="3435401"/>
            <a:ext cx="362102" cy="3621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86600" y="321868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Penyepaduan berstruktur: disisipkan dalam tajuk PdP, BUKAN subjek berasingan.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478231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2" name="Image 4" descr="/home/claude/sidang2_build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9" y="4852721"/>
            <a:ext cx="362102" cy="3621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463600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SPPB: Guru Kelas merekod ulasan sahsiah 2 kali setahun.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63640" y="45262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25" name="Shape 18"/>
          <p:cNvSpPr/>
          <p:nvPr/>
        </p:nvSpPr>
        <p:spPr>
          <a:xfrm>
            <a:off x="6446520" y="478231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6" name="Image 5" descr="/home/claude/sidang2_build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929" y="4852721"/>
            <a:ext cx="362102" cy="3621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86600" y="463600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Panitia: guru kelas &amp; panitia wajib berbincang membantu guru bukan opsyen &amp; Pendidikan Khas.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Rakaman Pembinaan Karakter, Bhg. 3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KESILAPAN PERLU DIELAKKAN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Salah Faham Lazim dalam Pelaksanaan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6" name="Image 0" descr="/home/claude/sidang2_build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19577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Menganggap slot ini waktu PdP subjek biasa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48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adalah waktu MANDATORI berasingan yang wajib dalam jadual waktu.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953512"/>
            <a:ext cx="594360" cy="59436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1" name="Image 1" descr="/home/claude/sidang2_build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" y="303672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8620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Meminta/menunggu templat RPH rasmi daripada BPK/Nazir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2278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BPK &amp; Nazir TIDAK mengeluarkan templat rasmi — guru bebas membina RPH sendiri secara kreatif.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962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032504"/>
            <a:ext cx="594360" cy="59436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6" name="Image 2" descr="/home/claude/sidang2_build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" y="4115714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94106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Membiarkan murid membuat keputusan semberono tanpa teguran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3068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perlu membetulkan murid yang memandai-mandai tanpa logik akal semasa aktiviti.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92861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5111496"/>
            <a:ext cx="594360" cy="59436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21" name="Image 3" descr="/home/claude/sidang2_build/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" y="5194706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02005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Membiarkan guru bukan opsyen &amp; Pendidikan Khas “syok sendiri”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3858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panitia wajib mengadakan PLC bersama untuk membimbing mereka merancang penyepaduan.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Rakaman Pembinaan Karakter, Bhg. 8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Implikasi kepada Guru dan Murid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idang2_build/icon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KEPADA GURU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menyediakan RPH khas untuk slot 15 minit setiap hari.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kreatif membina aktiviti sendiri — tiada templat rasmi disediakan.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menyepadukan elemen karakter secara terancang dalam PdP harian, bukan sekadar sisipan sekali sekala.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kelas bertanggungjawab merekod ulasan sahsiah dalam SPPB 2 kali setahun.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bekerjasama melalui PLC panitia, khususnya membantu guru bukan opsyen &amp; Pendidikan Khas.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sidang2_build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131" y="19184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KEPADA MURID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46888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Mendapat masa khusus dibimbing nilai murni secara berstruktur setiap minggu.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dibina melalui pengalaman kontekstual (simulasi, projek, penglibatan komuniti) — bukan hafalan.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Perkembangan sahsiah direkod &amp; dipantau secara berterusan sepanjang persekolahan.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murid turut dibentuk melalui teladan guru dalam PdP mata pelajaran seharian.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BPK + Analisis Bengkel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AMALAN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Keutamaan Pelaksanaan di Sekolah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914400" cy="914400"/>
          </a:xfrm>
          <a:prstGeom prst="ellipse">
            <a:avLst/>
          </a:prstGeom>
          <a:solidFill>
            <a:srgbClr val="E043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56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PENTING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03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 Bersepadu Panitia &amp; Pendidikan Khas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468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Pendidikan Khas kebanyakannya bukan opsyen — PLC membantu mereka merancang penyepaduan tanpa rasa terpinggir.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29000"/>
            <a:ext cx="914400" cy="914400"/>
          </a:xfrm>
          <a:prstGeom prst="ellipse">
            <a:avLst/>
          </a:prstGeom>
          <a:solidFill>
            <a:srgbClr val="E0A4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611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Pelaksanaan Waktu Mandatori &amp; RPH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977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Pekeliling KPM ini dipantau rasmi oleh Jemaah Nazir — RPH lengkap wajib disediakan setiap hari.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9377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873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SOKONGAN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5120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Kefahaman Pelaporan SPPB &amp; Model TP Baharu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5486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Persediaan awal guru memahami kaedah pentaksiran &amp; pelaporan sahsiah yang baharu.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[BENGKEL] Analisis Rakaman Pembinaan Karakter, Bhg. 9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PERBINCANGAN GURU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Aktiviti Refleksi: Rancang Satu Penyepaduan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kumpulan kecil mengikut panitia, bincangkan dan lengkapkan templat ringkas berikut untuk SATU tajuk PdP anda sendiri.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0720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Tajuk DSKP yang dipilih?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Nyatakan mata pelajaran, tajuk &amp; standard pembelajaran.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0720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Teras &amp; Nilai yang sesuai?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4612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1 daripada 4 teras karakter berserta nilai spesifik.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77316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Aktiviti PdP yang dirancang?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2120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Perbincangan / kerja kumpulan / penyelesaian masalah / projek / komuniti?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4114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77316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menilai sahsiah murid?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52120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bukti pemerhatian yang akan dicatat untuk ulasan SPPB?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Aktiviti fasilitasi sidang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RINGKAS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Soalan Lazim Guru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idang2_build/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0034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Adakah slot 15 minit ini waktu PdP subjek biasa?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945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Tidak. Ia waktu mandatori berasingan yang wajib dalam jadual waktu persekolahan.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090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idang2_build/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" y="317388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9535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Bolehkah kami rujuk contoh RPH rasmi daripada BPK/Nazir?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364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Tidak. BPK &amp; Nazir tidak mengeluarkan contoh RPH rasmi agar guru bebas berkreativiti.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3250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26110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idang2_build/icon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" y="4344314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1239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Berapa kali pelaporan direkod dalam SPPB setiap tahun?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5354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2 kali setahun oleh Guru Kelas, di ruang ulasan SPPB.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20293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543153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idang2_build/icon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" y="5514746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2943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Siapa uruskan slot pagi Tahap II ke atas?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70585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Diuruskan bersama Unit Kaunselor sekolah menggunakan modul aktiviti yang disediakan.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2 (soalan interaktif)  •  [BENGKEL] Ramalan Q&amp;A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Sidang 2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idang2_build/icon_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173" y="2159813"/>
            <a:ext cx="526694" cy="526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Matlamat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Membentuk insan sejahtera melalui 4 teras: Penyayang, Berdaya Tahan, Berupaya Memimpin, Warganegara Aktif.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1" descr="/home/claude/sidang2_build/icon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533" y="215981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Pelaksanaan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minit seminggu, mandatori, direkodkan dalam RPH &amp; dipantau Jemaah Nazir.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2" descr="/home/claude/sidang2_build/icon_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893" y="215981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Penyepaduan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Disisipkan dalam PdP mata pelajaran (termasuk Matematik) — bukan subjek berasingan.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4984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1" name="Image 3" descr="/home/claude/sidang2_build/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253" y="2159813"/>
            <a:ext cx="526694" cy="5266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Pelaporan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sahsiah oleh Guru Kelas, direkod dalam SPPB 2 kali setahun.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murid bermula daripada teladan karakter guru itu sendiri. Mari kita bekerjasama (PLC) menyampaikan ilmu daripada jiwa.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BPK + Analisis Bengkel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GURU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Perlu Dibuat Selepas Sidang Ini?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8366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69164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slot 15 minit Program Pembentukan Karakter ke dalam jadual waktu sekolah/kelas.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3347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441448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RPH ringkas mengikut templat sendiri (rujuk contoh templat di Slaid 12).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832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91256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SATU aktiviti penyepaduan karakter untuk tajuk Matematik yang bakal diajar.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3308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941064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Sertai / aturkan sesi PLC panitia — utamakan sokongan kepada guru bukan opsyen &amp; Pendidikan Khas.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828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690872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Maklumkan Guru Kelas berkaitan tanggungjawab ulasan sahsiah dalam SPPB (2x setahun).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63270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544068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Kongsikan bahan ini kepada rakan sekolah yang tidak dapat hadir sidang asal.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Senarai semak tindakan susulan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2  |  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Wajib Dibawa Pulang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idang2_build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Teras: Penyayang • Berdaya Tahan • Berupaya Memimpin • Warganegara Aktif.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624328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/home/claude/sidang2_build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883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6426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minit seminggu — mandatori, wajib RPH, dipantau Nazir.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22960" y="3282696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3" name="Image 2" descr="/home/claude/sidang2_build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467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30098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Sisipkan dalam PdP mata pelajaran — bukan subjek berasingan (cth. Matematik: tajuk Wang).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22960" y="3941064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3" descr="/home/claude/sidang2_build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0050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959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sahsiah oleh Guru Kelas dalam SPPB, 2 kali setahun.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22960" y="459943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4" descr="/home/claude/sidang2_build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66344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4617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Panitia wajib — sokong guru bukan opsyen &amp; Pendidikan Khas.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9050">
            <a:solidFill>
              <a:srgbClr val="141A4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Bahagian Pembangunan Kurikulum (BPK)  |  bpk.moe.gov.my  |  #kurikulumkita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disintesis daripada Slaid Rasmi BPK Sidang 2, Analisis Rakaman Bengkel &amp; Dokumen Kurikulum. Perkara bertanda [CADANGAN PEMBANGUN MODUL] ialah cadangan penyampai, bukan arahan rasmi KPM.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2026-09-10T09:58:36Z</dcterms:created>
  <dcterms:modified xsi:type="dcterms:W3CDTF">2026-09-10T09:58:36Z</dcterms:modified>
</cp:coreProperties>
</file>