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PENATARAN KURIKULUM PERSEKOLAHAN 2027  •  SIDANG 10 (PENUTUP)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Keseluruhan: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Daripada Rangka Kurikulum kepada Aksi Bilik Darjah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3566160"/>
            <a:ext cx="2194560" cy="0"/>
          </a:xfrm>
          <a:prstGeom prst="line">
            <a:avLst/>
          </a:prstGeom>
          <a:noFill/>
          <a:ln w="38100">
            <a:solidFill>
              <a:srgbClr val="F2B7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21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“Daripada Standard kepada Kefahaman Bermakna — Kesimpulan Siri Penataran”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Merangkumi: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Perkongsian Jemaah Nazir  •  Rumusan Video Kritik  •  Refleksi Sidang 3–8  •  Pelan Tindakan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Perkongsian Peringkat Sekolah  |  Disintesis daripada Slaid Rasmi BPK &amp; Analisis Rakaman Bengkel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SESI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Sesi Penutup Penataran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merumuskan keseluruhan siri penataran — daripada perkongsian Jemaah Nazir, rumusan kritikan video, refleksi menyeluruh Sidang 3–8, sehingga pelan tindakan susulan.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6517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hared_icons/icon_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27413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474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Perkongsian Jemaah Nazir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pemerhatian rasmi daripada pihak penyeliaan kualiti kurikulum.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3182112" y="37490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29000" y="23774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6517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3" name="Image 1" descr="/home/claude/shared_icons/icon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51" y="27413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3474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Rumusan Video Kritik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pembelajaran daripada sesi kritikan pengajaran mikro (Sidang 9).</a:t>
            </a:r>
            <a:endParaRPr lang="en-US" sz="980" dirty="0"/>
          </a:p>
        </p:txBody>
      </p:sp>
      <p:sp>
        <p:nvSpPr>
          <p:cNvPr id="16" name="Text 12"/>
          <p:cNvSpPr txBox="1"/>
          <p:nvPr/>
        </p:nvSpPr>
        <p:spPr>
          <a:xfrm>
            <a:off x="6062472" y="37490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309360" y="23774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0" y="26517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2" descr="/home/claude/shared_icons/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11" y="274137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46520" y="3474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Refleksi Sidang 3–8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Selami semula semua bidang pembelajaran &amp; pengajaran mikro secara menyeluruh.</a:t>
            </a:r>
            <a:endParaRPr lang="en-US" sz="980" dirty="0"/>
          </a:p>
        </p:txBody>
      </p:sp>
      <p:sp>
        <p:nvSpPr>
          <p:cNvPr id="22" name="Text 17"/>
          <p:cNvSpPr txBox="1"/>
          <p:nvPr/>
        </p:nvSpPr>
        <p:spPr>
          <a:xfrm>
            <a:off x="8942832" y="37490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9189720" y="23774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4" name="Shape 19"/>
          <p:cNvSpPr/>
          <p:nvPr/>
        </p:nvSpPr>
        <p:spPr>
          <a:xfrm>
            <a:off x="10195560" y="26517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5" name="Image 3" descr="/home/claude/shared_icons/icon_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1" y="2741371"/>
            <a:ext cx="460858" cy="46085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26880" y="3474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Pelan Tindakan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37260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Merangka agenda susulan — “apakah yang akan anda buat nanti?”</a:t>
            </a:r>
            <a:endParaRPr lang="en-US" sz="98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10, m/s 1–5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UTAMA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 Tuju KP2027: Berorientasikan Kompetensi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 bentuk kurikulum baharu memberikan fokus kepada BUKTI keupayaan murid untuk bertindak dan belajar (evidence of action) secara berpusatkan murid, dengan guru bertindak sebagai pemudah cara bilik darjah.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5F7F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8820" y="288036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7" name="Image 0" descr="/home/claude/shared_icons/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431" y="29699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7033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Unlearn &amp; Relearn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3434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Melupakan kaedah pengajaran lama yang tidak lagi relevan bagi memberi laluan kepada strategi baharu yang lebih berkesan.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43400" y="26060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5F7FC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83580" y="288036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2" name="Image 1" descr="/home/claude/shared_icons/icon_chalk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91" y="29699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37033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Guru Sebagai Pemudah Cara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3434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tidak lagi menerangkan jawapan secara langsung, sebaliknya merancang aktiviti penerokaan, penaakulan &amp; komunikasi matematik.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5F7FC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78340" y="288036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7" name="Image 2" descr="/home/claude/shared_icons/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29699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37033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Bukti Keupayaan Murid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43434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membuktikan kefahaman dengan justifikasi bertulis — bukan sekadar menghafal teori atau prosedur.</a:t>
            </a:r>
            <a:endParaRPr lang="en-US" sz="103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ISI 5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EMAS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Peraturan Emas Pentaksiran Standard Prestasi (SPi)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2B70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TIADA perekodan atau penetapan Tahap Penguasaan (TP) bagi SETIAP sesi PdP harian.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murid hanya ditentukan &amp; dilaporkan secara holistik SELEPAS SELESAI SATU TAJUK/BAB LENGKAP.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349240" cy="2560320"/>
          </a:xfrm>
          <a:prstGeom prst="roundRect">
            <a:avLst>
              <a:gd name="adj" fmla="val 2857"/>
            </a:avLst>
          </a:prstGeom>
          <a:solidFill>
            <a:srgbClr val="141A4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TP3 (Buat)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soalan RUTIN — murid melaksanakan prosedur/pengiraan standard yang telah dipelajari.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3337560"/>
            <a:ext cx="5349240" cy="2560320"/>
          </a:xfrm>
          <a:prstGeom prst="roundRect">
            <a:avLst>
              <a:gd name="adj" fmla="val 2857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TP4 (Amal)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886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soalan BUKAN RUTIN / kompleks / situasi sebenar yang memerlukan justifikasi bertulis.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 ini mengurangkan tekanan kerja guru secara drastik — tiada lagi beban merekod TP setiap hari.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3, 9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PROSEDUR RASMI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Langkah Pentaksiran Standard Prestasi (SPi)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Jalankan PdP Harian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7830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PdP harian seperti biasa mengikut Standard Pembelajaran (SP) yang dirancang.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535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9535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6207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 Secara Tidak Formal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86207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penguasaan murid secara tidak formal dalam rekod perkembangan peribadi guru.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3250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0325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4106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Selesaikan Semua SP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94106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 semua Standard Pembelajaran (SP) di bawah satu tajuk besar/bab.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1149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1114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020056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Tetapkan TP (1–4)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5020056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pertimbangan profesional berdasarkan bukti kerja murid dan tetapkan Tahap Penguasaan bagi bab tersebut.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Istilah dan Konsep Penting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 Approach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719072"/>
            <a:ext cx="7909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Pictorial, Abstract — mula dengan objek fizikal, diikuti visual, sebelum simbol abstrak (cth. blok → Model Bar → pemboleh ubah x).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60904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Competency-Oriented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60904"/>
            <a:ext cx="7909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kurikulum kepada bukti nyata murid boleh melaksanakan kemahiran — bukan sekadar menghafal teori.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02736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Unlearn &amp; Relearn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602736"/>
            <a:ext cx="7909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Melepaskan kaedah lama tidak relevan bagi memberi laluan kepada strategi PdP baharu yang berkesan.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544568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Heuristik (Heuristics)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4544568"/>
            <a:ext cx="7909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Strategi/kaedah pintas generik untuk menyelesaikan masalah matematik kompleks secara kreatif (cth. model bar, cuba jaya, bekerja ke belakang).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541324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48640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5486400"/>
            <a:ext cx="7909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aktiviti yang memerlukan murid mengesahkan sendiri ketepatan data/jawapan melalui kaedah alternatif.</a:t>
            </a:r>
            <a:endParaRPr lang="en-US" sz="103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PERKARA PENTING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yang Guru WAJIB Faham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2880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6916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Akhir (UASA) &amp; peperiksaan sekolah akan mempunyai format baharu yang dikeluarkan secara rasmi oleh Lembaga Peperiksaan tidak lama lagi.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82880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928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13448" y="16916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Kalkulator dibenarkan bermula Tingkatan 1, namun pengiraan mental (mencongak) tetap diperkenalkan secara selari untuk membina kepekaan nombor.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313639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13" name="Shape 9"/>
          <p:cNvSpPr/>
          <p:nvPr/>
        </p:nvSpPr>
        <p:spPr>
          <a:xfrm>
            <a:off x="713232" y="336499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4" name="Image 2" descr="/home/claude/shared_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2900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3227832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 RPH sedia ada masih SAH digunakan — guru hanya perlu sesuaikan kandungan mengikut elemen standard proses, kemahiran &amp; pembentukan karakter baharu.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63640" y="313639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17" name="Shape 12"/>
          <p:cNvSpPr/>
          <p:nvPr/>
        </p:nvSpPr>
        <p:spPr>
          <a:xfrm>
            <a:off x="6428232" y="336499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8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42900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3448" y="3227832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Bar ialah alat bantu visual menterjemah masalah berayat — BUKAN kaedah wajib untuk diuji dalam soalan peperiksaan.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467258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21" name="Shape 15"/>
          <p:cNvSpPr/>
          <p:nvPr/>
        </p:nvSpPr>
        <p:spPr>
          <a:xfrm>
            <a:off x="713232" y="4901184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2" name="Image 4" descr="/home/claude/shared_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6519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98448" y="4764024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Elakkan Model Bar untuk tajuk nombor negatif kerana perwakilan visualnya janggal &amp; sukar diukur.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263640" y="467258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25" name="Shape 18"/>
          <p:cNvSpPr/>
          <p:nvPr/>
        </p:nvSpPr>
        <p:spPr>
          <a:xfrm>
            <a:off x="6428232" y="4901184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6" name="Image 5" descr="/home/claude/shared_icons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965192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13448" y="4764024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UDM (Ujian Diagnostik Matematik) kini menggunakan sistem pengisian markah manual (templat sedia ada) untuk kesan kemerosotan prestasi mengikut topik.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3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KESILAPAN PERLU DIELAKKAN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Larangan Penting KP2027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74520"/>
            <a:ext cx="594360" cy="59436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6" name="Image 0" descr="/home/claude/shared_icons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9577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Jangan Guna AI Tanpa Tapisan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488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Elakkan mengambil teks/bahan/item pengajaran daripada ChatGPT/Notebook secara bulat-bulat — kerap mengandungi laras bahasa Indonesia yang merosakkan bahasa Melayu.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3035808"/>
            <a:ext cx="594360" cy="59436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1" name="Image 1" descr="/home/claude/shared_icons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3119018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916936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Jangan Tetapkan TP Harian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3101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Dilarang menetapkan Tahap Penguasaan murid bagi setiap sesi kelas harian — menyalahi konsep SPi &amp; membebankan guru.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48640" y="396849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4197096"/>
            <a:ext cx="594360" cy="59436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6" name="Image 2" descr="/home/claude/shared_icons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4280306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7822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Jangan Jadikan Model Bar Item Ujian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47141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Elakkan membina soalan ujian yang memaksa murid melukis Model Bar — ia alat bantu visual, bukan standard kandungan yang dinilai.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512978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5358384"/>
            <a:ext cx="594360" cy="59436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21" name="Image 3" descr="/home/claude/shared_icons/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" y="5441594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23951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Jangan Sekat Penerokaan Murid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63270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tidak boleh menyekat/menghukum cepat jawapan tidak formal murid (cth. “lebih kecil” vs “kurang daripada”) agar mereka tidak takut meneroka.</a:t>
            </a:r>
            <a:endParaRPr lang="en-US" sz="103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8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AMALAN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Keutamaan Perkongsian kepada Guru Sekolah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914400" cy="914400"/>
          </a:xfrm>
          <a:prstGeom prst="ellipse">
            <a:avLst/>
          </a:prstGeom>
          <a:solidFill>
            <a:srgbClr val="E043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56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PENTING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03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Prosedur Pentaksiran SPi Baharu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468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sering keliru &amp; bimbang tentang perekodan TP harian. Penjelasan TP hanya selepas satu bab lengkap akan kurangkan tekanan kerja secara drastik.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29000"/>
            <a:ext cx="914400" cy="9144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611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Tapisan Penggunaan Teknologi (AI) dalam PdP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9776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perlu berhati-hati dengan laras bahasa Indonesia daripada hasil AI bagi mengekalkan kredibiliti profesionalisme bahasa Melayu.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93776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873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SOKONGAN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5120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Model Bar (CPA) Sebagai Alat Bantu Visual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54864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guru menggunakan Model Bar membantu visualisasi masalah berayat tanpa menjadikannya beban ujian peperiksaan.</a:t>
            </a:r>
            <a:endParaRPr lang="en-US" sz="103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9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Keseluruhan: Perjalanan Sidang 2–9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1A4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 Karakter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1A45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03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Membongkar Dokumen Kurikulum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1A45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103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Nombor dan Operasi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3716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1A4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150876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97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103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Perkaitan dan Algebra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1A45"/>
          </a:solidFill>
          <a:ln w="19050">
            <a:solidFill>
              <a:srgbClr val="E043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337560"/>
            <a:ext cx="502920" cy="502920"/>
          </a:xfrm>
          <a:prstGeom prst="ellipse">
            <a:avLst/>
          </a:prstGeom>
          <a:solidFill>
            <a:srgbClr val="E043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Sukatan dan Geometri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2004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1A4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333756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204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dan Kebarangkalian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2004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1A45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337560"/>
            <a:ext cx="502920" cy="502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550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 Cipta PdP Bermakna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32004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1A45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89720" y="3337560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8972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Berimpak Tinggi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Daripada karakter murid hingga penguasaan mendalam setiap bidang, sehingga refleksi pengajaran sebenar — satu perjalanan bersepadu membina guru Matematik KP2027.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Rumusan Siri Penataran Sidang 2–9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 PANTAS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“Cheat Sheet” Penataran Kurikulum 2027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709160"/>
          </a:xfrm>
          <a:prstGeom prst="roundRect">
            <a:avLst>
              <a:gd name="adj" fmla="val 777"/>
            </a:avLst>
          </a:prstGeom>
          <a:solidFill>
            <a:srgbClr val="F5F7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Hala Tuju Kurikulum Baharu (KP 2027)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6712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Berasaskan Standard &amp; Berorientasikan Kompetensi (bukti murid boleh buat).</a:t>
            </a:r>
            <a:endParaRPr lang="en-US" sz="980" dirty="0"/>
          </a:p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Peranan guru: Pemudah cara (“Unlearn &amp; Relearn” amalan lama).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83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Peraturan Emas Pentaksiran (SPi)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6712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TIADA perekodan/penetapan TP harian.</a:t>
            </a:r>
            <a:endParaRPr lang="en-US" sz="980" dirty="0"/>
          </a:p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ditentukan holistik HANYA selepas selesai SATU BAB LENGKAP.</a:t>
            </a:r>
            <a:endParaRPr lang="en-US" sz="980" dirty="0"/>
          </a:p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TP3 = soalan rutin; TP4 = soalan bukan rutin/kompleks.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Garis Panduan Model Bar (Bar Model)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5312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bantu visual (Nisbah, Pecahan, Peratus, Algebra).</a:t>
            </a:r>
            <a:endParaRPr lang="en-US" sz="980" dirty="0"/>
          </a:p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kaedah wajib diuji/dinilai dalam peperiksaan.</a:t>
            </a:r>
            <a:endParaRPr lang="en-US" sz="980" dirty="0"/>
          </a:p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Elakkan penggunaan untuk tajuk nombor negatif.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069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Amaran Penggunaan Teknologi (AI)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45312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Tapis ketat hasil ChatGPT/Notebook sebelum dikongsi.</a:t>
            </a:r>
            <a:endParaRPr lang="en-US" sz="980" dirty="0"/>
          </a:p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Berhati-hati laras bahasa Indonesia yang terselit.</a:t>
            </a:r>
            <a:endParaRPr lang="en-US" sz="980" dirty="0"/>
          </a:p>
          <a:p>
            <a:pPr marL="228600" indent="-228600">
              <a:spcAft>
                <a:spcPts val="300"/>
              </a:spcAft>
              <a:buSzPct val="100000"/>
              <a:buChar char="▪"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 pelbagai sumber sahih di luar buku teks.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11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AKTIVITI PENUTUP RASMI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Pelan Tindakan: Apakah yang Akan Anda Buat Nanti?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Soalan rasmi penutup Penataran Dokumen Kurikulum Persekolahan 2027 — disesuaikan di sini untuk refleksi peribadi guru/panitia selepas mengikuti keseluruhan siri Sidang 2–9.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688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Dalam Bilik Darjah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6207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SATU perubahan segera akan anda buat dalam PdP minggu depan (cth. sesi mencongak induktif, Model Bar, teknik verifikasi)?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688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Dalam Perancangan RPH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86207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anda akan sesuaikan templat RPH sedia ada dengan elemen standard proses &amp; pembentukan karakter KP2027?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343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Dalam Pentaksiran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3659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anda akan ubah amalan merekod TP — daripada harian kepada selepas satu tajuk lengkap?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42062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4343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Dalam Panitia/PLC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73659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SATU amalan (rubrik kritikan, bank video, modular) akan anda cadangkan kepada panitia?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10, m/s 5 (disesuaikan untuk refleksi individu)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RINGKAS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Soalan Lazim Guru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824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hared_icons/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1759306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91056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Adakah saya perlu menetapkan TP murid bagi setiap sesi PdP harian?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385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Tidak perlu. TP murid hanya dilaporkan selepas selesai satu bab penuh secara bertulis.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548640" y="25054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hared_icons/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2" y="27285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560320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Adakah templat RPH lama masih boleh digunakan?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907792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Ya, tetapi guru mesti sesuaikan kandungannya mengikut elemen standard proses, kemahiran &amp; pembentukan karakter kurikulum baharu.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362102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hared_icons/icon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3697834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529584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Bolehkah murid guna kalkulator dalam kelas Matematik Tingkatan 1?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877056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Boleh. Namun kemahiran pengiraan mental (mencongak) tetap diperkenalkan secara selari untuk melatih kepekaan nombor.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444398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5902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hared_icons/icon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2" y="4667098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498848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Adakah saya wajib mengajar murid melukis Model Bar untuk peperiksaan?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1417320" y="4846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Tidak. Model Bar ialah kaedah visual bantu kefahaman — bukan standard kandungan yang wajib diuji melukisnya.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48640" y="541324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55595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shared_icons/icon_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2" y="5636362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5468112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Di mana boleh saya rujuk bahan penataran kurikulum yang sahih?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5815584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Rujuk terus portal rasmi BPK (bpk.moe.gov.my). Elakkan dokumen tidak sahih yang tular di media sosial.</a:t>
            </a:r>
            <a:endParaRPr lang="en-US" sz="98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Pembentangan &amp; Penutup, Bhg. 12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GURU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Senarai Semak Tindakan Susulan Keseluruhan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8366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69164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Kongsikan kesemua bahan Sidang 2–9 kepada rakan sekolah yang tidak dapat hadir.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3347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441448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 &amp; sesuaikan templat RPH sedia ada mengikut elemen KP2027 (standard proses, karakter).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832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91256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amalan pentaksiran: hentikan rekod TP harian, mula rekod selepas satu bab lengkap.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3308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941064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sesi PLC panitia pertama menggunakan salah satu bahan Sidang 2–9 sebagai asas.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828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690872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Lengkapkan Pelan Tindakan peribadi (Slaid 12) dan kongsikan dengan Ketua Panitia.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63270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544068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tarikh susulan untuk semak kemajuan pelaksanaan KP2027 di sekolah anda.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Senarai semak tindakan susulan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10  |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Wajib Dibawa Pulang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KP2027 berorientasikan kompetensi — guru sebagai pemudah cara, bukan penyampai sehala.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2624328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883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6426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Emas: TP hanya selepas SATU BAB LENGKAP, bukan setiap sesi PdP harian.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282696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3" name="Image 2" descr="/home/claude/shared_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467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30098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Bar &amp; AI ialah alat bantu — gunakan dengan bijak, bukan sebagai beban ujian/kandungan bulat-bulat.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3941064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0050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959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sekat penerokaan murid — idea tidak formal ialah titik permulaan pembelajaran bermakna.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22960" y="459943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4" descr="/home/claude/shared_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66344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4617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Sidang 2–9 membina asas lengkap untuk PdP Matematik KP2027 yang berkualiti.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9050">
            <a:solidFill>
              <a:srgbClr val="141A4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Bahagian Pembangunan Kurikulum (BPK)  |  bpk.moe.gov.my  |  #kurikulumkita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disintesis daripada Slaid Rasmi BPK Sidang 10 &amp; Analisis Rakaman Bengkel. Perkara bertanda [CADANGAN PEMBANGUN MODUL] ialah cadangan penyampai, bukan arahan rasmi KPM. Ini melengkapkan keseluruhan siri Sidang 2–10.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2026-09-15T10:14:40Z</dcterms:created>
  <dcterms:modified xsi:type="dcterms:W3CDTF">2026-09-15T10:14:40Z</dcterms:modified>
</cp:coreProperties>
</file>